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8"/>
  </p:notesMasterIdLst>
  <p:sldIdLst>
    <p:sldId id="256" r:id="rId2"/>
    <p:sldId id="269" r:id="rId3"/>
    <p:sldId id="270" r:id="rId4"/>
    <p:sldId id="309" r:id="rId5"/>
    <p:sldId id="271" r:id="rId6"/>
    <p:sldId id="258" r:id="rId7"/>
    <p:sldId id="343" r:id="rId8"/>
    <p:sldId id="259" r:id="rId9"/>
    <p:sldId id="344" r:id="rId10"/>
    <p:sldId id="260" r:id="rId11"/>
    <p:sldId id="261" r:id="rId12"/>
    <p:sldId id="262" r:id="rId13"/>
    <p:sldId id="349" r:id="rId14"/>
    <p:sldId id="345" r:id="rId15"/>
    <p:sldId id="347" r:id="rId16"/>
    <p:sldId id="329" r:id="rId17"/>
    <p:sldId id="348" r:id="rId18"/>
    <p:sldId id="263" r:id="rId19"/>
    <p:sldId id="264" r:id="rId20"/>
    <p:sldId id="266" r:id="rId21"/>
    <p:sldId id="267" r:id="rId22"/>
    <p:sldId id="268" r:id="rId23"/>
    <p:sldId id="273" r:id="rId24"/>
    <p:sldId id="316" r:id="rId25"/>
    <p:sldId id="308" r:id="rId26"/>
    <p:sldId id="274" r:id="rId27"/>
    <p:sldId id="275" r:id="rId28"/>
    <p:sldId id="311" r:id="rId29"/>
    <p:sldId id="276" r:id="rId30"/>
    <p:sldId id="277" r:id="rId31"/>
    <p:sldId id="337" r:id="rId32"/>
    <p:sldId id="312" r:id="rId33"/>
    <p:sldId id="330" r:id="rId34"/>
    <p:sldId id="279" r:id="rId35"/>
    <p:sldId id="313" r:id="rId36"/>
    <p:sldId id="315" r:id="rId37"/>
    <p:sldId id="336" r:id="rId38"/>
    <p:sldId id="334" r:id="rId39"/>
    <p:sldId id="322" r:id="rId40"/>
    <p:sldId id="323" r:id="rId41"/>
    <p:sldId id="324" r:id="rId42"/>
    <p:sldId id="350" r:id="rId43"/>
    <p:sldId id="331" r:id="rId44"/>
    <p:sldId id="333" r:id="rId45"/>
    <p:sldId id="338" r:id="rId46"/>
    <p:sldId id="332" r:id="rId47"/>
    <p:sldId id="283" r:id="rId48"/>
    <p:sldId id="335" r:id="rId49"/>
    <p:sldId id="285" r:id="rId50"/>
    <p:sldId id="339" r:id="rId51"/>
    <p:sldId id="341" r:id="rId52"/>
    <p:sldId id="340" r:id="rId53"/>
    <p:sldId id="342" r:id="rId54"/>
    <p:sldId id="319" r:id="rId55"/>
    <p:sldId id="286" r:id="rId56"/>
    <p:sldId id="287"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8151" autoAdjust="0"/>
  </p:normalViewPr>
  <p:slideViewPr>
    <p:cSldViewPr snapToGrid="0">
      <p:cViewPr varScale="1">
        <p:scale>
          <a:sx n="73" d="100"/>
          <a:sy n="73" d="100"/>
        </p:scale>
        <p:origin x="1070"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272A61-9170-4A84-B98A-BEC801B00C03}" type="datetimeFigureOut">
              <a:rPr lang="en-US" smtClean="0"/>
              <a:t>05-Mar-2025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BF37F3-1E9D-4A50-9E92-4ABD0576BF3E}" type="slidenum">
              <a:rPr lang="en-US" smtClean="0"/>
              <a:t>‹#›</a:t>
            </a:fld>
            <a:endParaRPr lang="en-US"/>
          </a:p>
        </p:txBody>
      </p:sp>
    </p:spTree>
    <p:extLst>
      <p:ext uri="{BB962C8B-B14F-4D97-AF65-F5344CB8AC3E}">
        <p14:creationId xmlns:p14="http://schemas.microsoft.com/office/powerpoint/2010/main" val="882764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i="0" kern="1200" dirty="0">
                <a:solidFill>
                  <a:schemeClr val="tx1"/>
                </a:solidFill>
                <a:effectLst/>
                <a:latin typeface="+mn-lt"/>
                <a:ea typeface="+mn-ea"/>
                <a:cs typeface="+mn-cs"/>
              </a:rPr>
              <a:t>tasks </a:t>
            </a:r>
            <a:r>
              <a:rPr lang="en-US" sz="1200" b="0" i="0" kern="1200" dirty="0">
                <a:solidFill>
                  <a:schemeClr val="tx1"/>
                </a:solidFill>
                <a:effectLst/>
                <a:latin typeface="+mn-lt"/>
                <a:ea typeface="+mn-ea"/>
                <a:cs typeface="+mn-cs"/>
              </a:rPr>
              <a:t>- operations on the concepts of the domain</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i="0" kern="1200" dirty="0">
                <a:solidFill>
                  <a:schemeClr val="tx1"/>
                </a:solidFill>
                <a:effectLst/>
                <a:latin typeface="+mn-lt"/>
                <a:ea typeface="+mn-ea"/>
                <a:cs typeface="+mn-cs"/>
              </a:rPr>
              <a:t>core language </a:t>
            </a:r>
            <a:r>
              <a:rPr lang="en-US" sz="1200" b="0" i="0" kern="1200" dirty="0">
                <a:solidFill>
                  <a:schemeClr val="tx1"/>
                </a:solidFill>
                <a:effectLst/>
                <a:latin typeface="+mn-lt"/>
                <a:ea typeface="+mn-ea"/>
                <a:cs typeface="+mn-cs"/>
              </a:rPr>
              <a:t>- language that describes the computational attributes of the domain relevant to the system state</a:t>
            </a:r>
            <a:endParaRPr lang="en-US" sz="1200" b="1"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Articulation</a:t>
            </a:r>
            <a:r>
              <a:rPr lang="en-US" sz="1200" b="0" i="0" kern="1200" dirty="0">
                <a:solidFill>
                  <a:schemeClr val="tx1"/>
                </a:solidFill>
                <a:effectLst/>
                <a:latin typeface="+mn-lt"/>
                <a:ea typeface="+mn-ea"/>
                <a:cs typeface="+mn-cs"/>
              </a:rPr>
              <a:t> is the user's translation of their task into the input language.  Consider a user who wants to turn on the lights at the far end of a room.</a:t>
            </a:r>
          </a:p>
          <a:p>
            <a:pPr marL="628650" lvl="1" indent="-171450">
              <a:buFont typeface="Arial" panose="020B0604020202020204" pitchFamily="34" charset="0"/>
              <a:buChar char="•"/>
            </a:pPr>
            <a:r>
              <a:rPr lang="en-US" sz="1200" b="1" i="0" kern="1200" dirty="0">
                <a:solidFill>
                  <a:schemeClr val="tx1"/>
                </a:solidFill>
                <a:effectLst/>
                <a:latin typeface="+mn-lt"/>
                <a:ea typeface="+mn-ea"/>
                <a:cs typeface="+mn-cs"/>
              </a:rPr>
              <a:t>Poor Articulation</a:t>
            </a:r>
          </a:p>
          <a:p>
            <a:r>
              <a:rPr lang="en-US" sz="1200" b="0" i="0" kern="1200" dirty="0">
                <a:solidFill>
                  <a:schemeClr val="tx1"/>
                </a:solidFill>
                <a:effectLst/>
                <a:latin typeface="+mn-lt"/>
                <a:ea typeface="+mn-ea"/>
                <a:cs typeface="+mn-cs"/>
              </a:rPr>
              <a:t>	The user sees a bank of </a:t>
            </a:r>
            <a:r>
              <a:rPr lang="en-US" sz="1200" b="0" i="0" kern="1200" dirty="0" err="1">
                <a:solidFill>
                  <a:schemeClr val="tx1"/>
                </a:solidFill>
                <a:effectLst/>
                <a:latin typeface="+mn-lt"/>
                <a:ea typeface="+mn-ea"/>
                <a:cs typeface="+mn-cs"/>
              </a:rPr>
              <a:t>unlabelled</a:t>
            </a:r>
            <a:r>
              <a:rPr lang="en-US" sz="1200" b="0" i="0" kern="1200" dirty="0">
                <a:solidFill>
                  <a:schemeClr val="tx1"/>
                </a:solidFill>
                <a:effectLst/>
                <a:latin typeface="+mn-lt"/>
                <a:ea typeface="+mn-ea"/>
                <a:cs typeface="+mn-cs"/>
              </a:rPr>
              <a:t> switches.  The user has no idea which switch controls the lights at the far end of the room. The problem here is that the 	</a:t>
            </a:r>
            <a:r>
              <a:rPr lang="en-US" sz="1200" b="0" i="0" kern="1200" dirty="0" err="1">
                <a:solidFill>
                  <a:schemeClr val="tx1"/>
                </a:solidFill>
                <a:effectLst/>
                <a:latin typeface="+mn-lt"/>
                <a:ea typeface="+mn-ea"/>
                <a:cs typeface="+mn-cs"/>
              </a:rPr>
              <a:t>langauge</a:t>
            </a:r>
            <a:r>
              <a:rPr lang="en-US" sz="1200" b="0" i="0" kern="1200" dirty="0">
                <a:solidFill>
                  <a:schemeClr val="tx1"/>
                </a:solidFill>
                <a:effectLst/>
                <a:latin typeface="+mn-lt"/>
                <a:ea typeface="+mn-ea"/>
                <a:cs typeface="+mn-cs"/>
              </a:rPr>
              <a:t> provided (the </a:t>
            </a:r>
            <a:r>
              <a:rPr lang="en-US" sz="1200" b="0" i="0" kern="1200" dirty="0" err="1">
                <a:solidFill>
                  <a:schemeClr val="tx1"/>
                </a:solidFill>
                <a:effectLst/>
                <a:latin typeface="+mn-lt"/>
                <a:ea typeface="+mn-ea"/>
                <a:cs typeface="+mn-cs"/>
              </a:rPr>
              <a:t>unlabelled</a:t>
            </a:r>
            <a:r>
              <a:rPr lang="en-US" sz="1200" b="0" i="0" kern="1200" dirty="0">
                <a:solidFill>
                  <a:schemeClr val="tx1"/>
                </a:solidFill>
                <a:effectLst/>
                <a:latin typeface="+mn-lt"/>
                <a:ea typeface="+mn-ea"/>
                <a:cs typeface="+mn-cs"/>
              </a:rPr>
              <a:t> switches) does not allow the user to articulate the goal (turn on the lights at the far end of the room).</a:t>
            </a:r>
          </a:p>
          <a:p>
            <a:pPr marL="628650" lvl="1" indent="-171450">
              <a:buFont typeface="Arial" panose="020B0604020202020204" pitchFamily="34" charset="0"/>
              <a:buChar char="•"/>
            </a:pPr>
            <a:r>
              <a:rPr lang="en-US" sz="1200" b="1" i="0" kern="1200" dirty="0">
                <a:solidFill>
                  <a:schemeClr val="tx1"/>
                </a:solidFill>
                <a:effectLst/>
                <a:latin typeface="+mn-lt"/>
                <a:ea typeface="+mn-ea"/>
                <a:cs typeface="+mn-cs"/>
              </a:rPr>
              <a:t>Good Articulation</a:t>
            </a:r>
          </a:p>
          <a:p>
            <a:r>
              <a:rPr lang="en-US" sz="1200" b="0" i="0" kern="1200" dirty="0">
                <a:solidFill>
                  <a:schemeClr val="tx1"/>
                </a:solidFill>
                <a:effectLst/>
                <a:latin typeface="+mn-lt"/>
                <a:ea typeface="+mn-ea"/>
                <a:cs typeface="+mn-cs"/>
              </a:rPr>
              <a:t>	The switches are clearly labelled.  The user articulates their task of pressing the switch that is labelled "the far end of the room".</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The language provided here 	(the labelled switches) allows the user to articulate their task without difficulty.</a:t>
            </a:r>
          </a:p>
          <a:p>
            <a:endParaRPr lang="en-US"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Performance</a:t>
            </a:r>
          </a:p>
          <a:p>
            <a:r>
              <a:rPr lang="en-US" sz="1200" b="0" i="0" kern="1200" dirty="0">
                <a:solidFill>
                  <a:schemeClr val="tx1"/>
                </a:solidFill>
                <a:effectLst/>
                <a:latin typeface="+mn-lt"/>
                <a:ea typeface="+mn-ea"/>
                <a:cs typeface="+mn-cs"/>
              </a:rPr>
              <a:t>	Performance is the interface's translation of the input language into stimuli to the system.  This translation is determined by the designer or programmer (not 	the user). </a:t>
            </a:r>
          </a:p>
          <a:p>
            <a:pPr marL="628650" lvl="1" indent="-171450">
              <a:buFont typeface="Arial" panose="020B0604020202020204" pitchFamily="34" charset="0"/>
              <a:buChar char="•"/>
            </a:pPr>
            <a:r>
              <a:rPr lang="en-US" sz="1200" b="1" i="0" kern="1200" dirty="0">
                <a:solidFill>
                  <a:schemeClr val="tx1"/>
                </a:solidFill>
                <a:effectLst/>
                <a:latin typeface="+mn-lt"/>
                <a:ea typeface="+mn-ea"/>
                <a:cs typeface="+mn-cs"/>
              </a:rPr>
              <a:t>Poor Performance</a:t>
            </a:r>
          </a:p>
          <a:p>
            <a:r>
              <a:rPr lang="en-US" sz="1200" b="0" i="0" kern="1200" dirty="0">
                <a:solidFill>
                  <a:schemeClr val="tx1"/>
                </a:solidFill>
                <a:effectLst/>
                <a:latin typeface="+mn-lt"/>
                <a:ea typeface="+mn-ea"/>
                <a:cs typeface="+mn-cs"/>
              </a:rPr>
              <a:t>	Consider a remote control for a television without a button for turning off the television.  The user must go directly to the device and turn it off on the control </a:t>
            </a:r>
          </a:p>
          <a:p>
            <a:r>
              <a:rPr lang="en-US" sz="1200" b="0" i="0" kern="1200" dirty="0">
                <a:solidFill>
                  <a:schemeClr val="tx1"/>
                </a:solidFill>
                <a:effectLst/>
                <a:latin typeface="+mn-lt"/>
                <a:ea typeface="+mn-ea"/>
                <a:cs typeface="+mn-cs"/>
              </a:rPr>
              <a:t>	panel.</a:t>
            </a:r>
          </a:p>
          <a:p>
            <a:endParaRPr lang="en-US"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Presentation</a:t>
            </a:r>
          </a:p>
          <a:p>
            <a:r>
              <a:rPr lang="en-US" sz="1200" b="0" i="0" kern="1200" dirty="0">
                <a:solidFill>
                  <a:schemeClr val="tx1"/>
                </a:solidFill>
                <a:effectLst/>
                <a:latin typeface="+mn-lt"/>
                <a:ea typeface="+mn-ea"/>
                <a:cs typeface="+mn-cs"/>
              </a:rPr>
              <a:t>	Presentation is the translation of the system's new state into the output language of the interface.  This translation is determined by the designer or 	programmer. </a:t>
            </a:r>
          </a:p>
          <a:p>
            <a:pPr marL="628650" lvl="1" indent="-171450">
              <a:buFont typeface="Arial" panose="020B0604020202020204" pitchFamily="34" charset="0"/>
              <a:buChar char="•"/>
            </a:pPr>
            <a:r>
              <a:rPr lang="en-US" sz="1200" b="1" i="0" kern="1200" dirty="0">
                <a:solidFill>
                  <a:schemeClr val="tx1"/>
                </a:solidFill>
                <a:effectLst/>
                <a:latin typeface="+mn-lt"/>
                <a:ea typeface="+mn-ea"/>
                <a:cs typeface="+mn-cs"/>
              </a:rPr>
              <a:t>Poor Presentation</a:t>
            </a:r>
          </a:p>
          <a:p>
            <a:r>
              <a:rPr lang="en-US" sz="1200" b="0" i="0" kern="1200" dirty="0">
                <a:solidFill>
                  <a:schemeClr val="tx1"/>
                </a:solidFill>
                <a:effectLst/>
                <a:latin typeface="+mn-lt"/>
                <a:ea typeface="+mn-ea"/>
                <a:cs typeface="+mn-cs"/>
              </a:rPr>
              <a:t>	Consider writing an essay using a word processor.  You need to see the effects of your editing as a whole.  However, the word processor only displays the 	immediate paragraph without the surrounding text or other pages.  The surrounding text and other pages may have changed as well during the editing.  In 	effect, all of the state changes cannot be displayed in the output language.  You cannot readily confirm the effect of your editing throughout the essay. </a:t>
            </a:r>
          </a:p>
          <a:p>
            <a:endParaRPr lang="en-US"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Observation</a:t>
            </a:r>
          </a:p>
          <a:p>
            <a:r>
              <a:rPr lang="en-US" sz="1200" b="0" i="0" kern="1200" dirty="0">
                <a:solidFill>
                  <a:schemeClr val="tx1"/>
                </a:solidFill>
                <a:effectLst/>
                <a:latin typeface="+mn-lt"/>
                <a:ea typeface="+mn-ea"/>
                <a:cs typeface="+mn-cs"/>
              </a:rPr>
              <a:t>	Observation is the translation of the output language into personal understanding.  This translation is done by the user.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https://cs.senecac.on.ca/~bth740/pages/content/model.html</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 </a:t>
            </a:r>
          </a:p>
          <a:p>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4FBF37F3-1E9D-4A50-9E92-4ABD0576BF3E}" type="slidenum">
              <a:rPr lang="en-US" smtClean="0"/>
              <a:t>4</a:t>
            </a:fld>
            <a:endParaRPr lang="en-US"/>
          </a:p>
        </p:txBody>
      </p:sp>
    </p:spTree>
    <p:extLst>
      <p:ext uri="{BB962C8B-B14F-4D97-AF65-F5344CB8AC3E}">
        <p14:creationId xmlns:p14="http://schemas.microsoft.com/office/powerpoint/2010/main" val="19027391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model is an abstraction, of course.  But it’s an abstraction that actually gives us </a:t>
            </a:r>
            <a:r>
              <a:rPr lang="en-US" sz="1200" b="0" i="1" kern="1200" dirty="0">
                <a:solidFill>
                  <a:schemeClr val="tx1"/>
                </a:solidFill>
                <a:effectLst/>
                <a:latin typeface="+mn-lt"/>
                <a:ea typeface="+mn-ea"/>
                <a:cs typeface="+mn-cs"/>
              </a:rPr>
              <a:t>numerical parameters </a:t>
            </a:r>
            <a:r>
              <a:rPr lang="en-US" sz="1200" b="0" i="0" kern="1200" dirty="0">
                <a:solidFill>
                  <a:schemeClr val="tx1"/>
                </a:solidFill>
                <a:effectLst/>
                <a:latin typeface="+mn-lt"/>
                <a:ea typeface="+mn-ea"/>
                <a:cs typeface="+mn-cs"/>
              </a:rPr>
              <a:t>describing how we behave. Just as a computer has memory and processor, so does our model of a human.  Actually, the model has several different kinds of memory, and several different processors.</a:t>
            </a:r>
          </a:p>
          <a:p>
            <a:r>
              <a:rPr lang="en-US" sz="1200" b="0" i="0" kern="1200" dirty="0">
                <a:solidFill>
                  <a:schemeClr val="tx1"/>
                </a:solidFill>
                <a:effectLst/>
                <a:latin typeface="+mn-lt"/>
                <a:ea typeface="+mn-ea"/>
                <a:cs typeface="+mn-cs"/>
              </a:rPr>
              <a:t>Input from the eyes and ears is first stored in the </a:t>
            </a:r>
            <a:r>
              <a:rPr lang="en-US" sz="1200" b="1" i="0" kern="1200" dirty="0">
                <a:solidFill>
                  <a:schemeClr val="tx1"/>
                </a:solidFill>
                <a:effectLst/>
                <a:latin typeface="+mn-lt"/>
                <a:ea typeface="+mn-ea"/>
                <a:cs typeface="+mn-cs"/>
              </a:rPr>
              <a:t>short-term sensory store</a:t>
            </a:r>
            <a:r>
              <a:rPr lang="en-US" sz="1200" b="0" i="0" kern="1200" dirty="0">
                <a:solidFill>
                  <a:schemeClr val="tx1"/>
                </a:solidFill>
                <a:effectLst/>
                <a:latin typeface="+mn-lt"/>
                <a:ea typeface="+mn-ea"/>
                <a:cs typeface="+mn-cs"/>
              </a:rPr>
              <a:t>. As a computer hardware analogy, this memory is like a frame buffer, storing a single frame of perception.</a:t>
            </a:r>
          </a:p>
          <a:p>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perceptual processor </a:t>
            </a:r>
            <a:r>
              <a:rPr lang="en-US" sz="1200" b="0" i="0" kern="1200" dirty="0">
                <a:solidFill>
                  <a:schemeClr val="tx1"/>
                </a:solidFill>
                <a:effectLst/>
                <a:latin typeface="+mn-lt"/>
                <a:ea typeface="+mn-ea"/>
                <a:cs typeface="+mn-cs"/>
              </a:rPr>
              <a:t>takes the stored sensory input and attempts to recognize </a:t>
            </a:r>
            <a:r>
              <a:rPr lang="en-US" sz="1200" b="0" i="1" kern="1200" dirty="0">
                <a:solidFill>
                  <a:schemeClr val="tx1"/>
                </a:solidFill>
                <a:effectLst/>
                <a:latin typeface="+mn-lt"/>
                <a:ea typeface="+mn-ea"/>
                <a:cs typeface="+mn-cs"/>
              </a:rPr>
              <a:t>symbols</a:t>
            </a:r>
            <a:r>
              <a:rPr lang="en-US" sz="1200" b="0" i="0" kern="1200" dirty="0">
                <a:solidFill>
                  <a:schemeClr val="tx1"/>
                </a:solidFill>
                <a:effectLst/>
                <a:latin typeface="+mn-lt"/>
                <a:ea typeface="+mn-ea"/>
                <a:cs typeface="+mn-cs"/>
              </a:rPr>
              <a:t> in it: letters, words, phonemes, icons. It is aided in this recognition by the </a:t>
            </a:r>
            <a:r>
              <a:rPr lang="en-US" sz="1200" b="1" i="0" kern="1200" dirty="0">
                <a:solidFill>
                  <a:schemeClr val="tx1"/>
                </a:solidFill>
                <a:effectLst/>
                <a:latin typeface="+mn-lt"/>
                <a:ea typeface="+mn-ea"/>
                <a:cs typeface="+mn-cs"/>
              </a:rPr>
              <a:t>long-term memory</a:t>
            </a:r>
            <a:r>
              <a:rPr lang="en-US" sz="1200" b="0" i="0" kern="1200" dirty="0">
                <a:solidFill>
                  <a:schemeClr val="tx1"/>
                </a:solidFill>
                <a:effectLst/>
                <a:latin typeface="+mn-lt"/>
                <a:ea typeface="+mn-ea"/>
                <a:cs typeface="+mn-cs"/>
              </a:rPr>
              <a:t>, which stores the symbols you know how to recognize.</a:t>
            </a:r>
          </a:p>
          <a:p>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cognitive processor </a:t>
            </a:r>
            <a:r>
              <a:rPr lang="en-US" sz="1200" b="0" i="0" kern="1200" dirty="0">
                <a:solidFill>
                  <a:schemeClr val="tx1"/>
                </a:solidFill>
                <a:effectLst/>
                <a:latin typeface="+mn-lt"/>
                <a:ea typeface="+mn-ea"/>
                <a:cs typeface="+mn-cs"/>
              </a:rPr>
              <a:t>takes the symbols recognized by the perceptual processor and makes comparisons and decisions.  It might also store and fetch symbols in </a:t>
            </a:r>
            <a:r>
              <a:rPr lang="en-US" sz="1200" b="1" i="0" kern="1200" dirty="0">
                <a:solidFill>
                  <a:schemeClr val="tx1"/>
                </a:solidFill>
                <a:effectLst/>
                <a:latin typeface="+mn-lt"/>
                <a:ea typeface="+mn-ea"/>
                <a:cs typeface="+mn-cs"/>
              </a:rPr>
              <a:t>working memory</a:t>
            </a:r>
            <a:r>
              <a:rPr lang="en-US" sz="1200" b="0" i="0" kern="1200" dirty="0">
                <a:solidFill>
                  <a:schemeClr val="tx1"/>
                </a:solidFill>
                <a:effectLst/>
                <a:latin typeface="+mn-lt"/>
                <a:ea typeface="+mn-ea"/>
                <a:cs typeface="+mn-cs"/>
              </a:rPr>
              <a:t> (which you might think of as RAM, although it’s pretty small).  The cognitive processor does most of the work that we think of as “thinking”.</a:t>
            </a:r>
          </a:p>
          <a:p>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motor processor </a:t>
            </a:r>
            <a:r>
              <a:rPr lang="en-US" sz="1200" b="0" i="0" kern="1200" dirty="0">
                <a:solidFill>
                  <a:schemeClr val="tx1"/>
                </a:solidFill>
                <a:effectLst/>
                <a:latin typeface="+mn-lt"/>
                <a:ea typeface="+mn-ea"/>
                <a:cs typeface="+mn-cs"/>
              </a:rPr>
              <a:t>receives an action from the cognitive processor and instructs the muscles to execute it.  There’s an implicit </a:t>
            </a:r>
            <a:r>
              <a:rPr lang="en-US" sz="1200" b="1" i="0" kern="1200" dirty="0">
                <a:solidFill>
                  <a:schemeClr val="tx1"/>
                </a:solidFill>
                <a:effectLst/>
                <a:latin typeface="+mn-lt"/>
                <a:ea typeface="+mn-ea"/>
                <a:cs typeface="+mn-cs"/>
              </a:rPr>
              <a:t>feedback</a:t>
            </a:r>
            <a:r>
              <a:rPr lang="en-US" sz="1200" b="0" i="0" kern="1200" dirty="0">
                <a:solidFill>
                  <a:schemeClr val="tx1"/>
                </a:solidFill>
                <a:effectLst/>
                <a:latin typeface="+mn-lt"/>
                <a:ea typeface="+mn-ea"/>
                <a:cs typeface="+mn-cs"/>
              </a:rPr>
              <a:t> loop here: the effect of the action (either on the position of your body or on the state of the world) can be observed by your senses, and used to correct the motion in a continuous process.</a:t>
            </a:r>
          </a:p>
          <a:p>
            <a:r>
              <a:rPr lang="en-US" sz="1200" b="0" i="0" kern="1200" dirty="0">
                <a:solidFill>
                  <a:schemeClr val="tx1"/>
                </a:solidFill>
                <a:effectLst/>
                <a:latin typeface="+mn-lt"/>
                <a:ea typeface="+mn-ea"/>
                <a:cs typeface="+mn-cs"/>
              </a:rPr>
              <a:t>Finally, there is a component corresponding to your </a:t>
            </a:r>
            <a:r>
              <a:rPr lang="en-US" sz="1200" b="1" i="0" kern="1200" dirty="0">
                <a:solidFill>
                  <a:schemeClr val="tx1"/>
                </a:solidFill>
                <a:effectLst/>
                <a:latin typeface="+mn-lt"/>
                <a:ea typeface="+mn-ea"/>
                <a:cs typeface="+mn-cs"/>
              </a:rPr>
              <a:t>attention</a:t>
            </a:r>
            <a:r>
              <a:rPr lang="en-US" sz="1200" b="0" i="0" kern="1200" dirty="0">
                <a:solidFill>
                  <a:schemeClr val="tx1"/>
                </a:solidFill>
                <a:effectLst/>
                <a:latin typeface="+mn-lt"/>
                <a:ea typeface="+mn-ea"/>
                <a:cs typeface="+mn-cs"/>
              </a:rPr>
              <a:t>, which might be thought of like a thread of control in a computer system.</a:t>
            </a:r>
          </a:p>
          <a:p>
            <a:r>
              <a:rPr lang="en-US" sz="1200" b="0" i="0" kern="1200" dirty="0">
                <a:solidFill>
                  <a:schemeClr val="tx1"/>
                </a:solidFill>
                <a:effectLst/>
                <a:latin typeface="+mn-lt"/>
                <a:ea typeface="+mn-ea"/>
                <a:cs typeface="+mn-cs"/>
              </a:rPr>
              <a:t>Note that this model isn’t meant to reflect the anatomy of your nervous system.  There probably isn’t a single area  in your brain corresponding to the perceptual processor, for example.  But it’s a useful abstraction nevertheless.</a:t>
            </a:r>
          </a:p>
          <a:p>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0F8BF18D-4DAE-4DDD-BFAC-F0C99AA07095}" type="slidenum">
              <a:rPr lang="en-US" smtClean="0"/>
              <a:t>7</a:t>
            </a:fld>
            <a:endParaRPr lang="en-US"/>
          </a:p>
        </p:txBody>
      </p:sp>
    </p:spTree>
    <p:extLst>
      <p:ext uri="{BB962C8B-B14F-4D97-AF65-F5344CB8AC3E}">
        <p14:creationId xmlns:p14="http://schemas.microsoft.com/office/powerpoint/2010/main" val="11987041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http://faculty.washington.edu/chudler/stm0.html</a:t>
            </a:r>
          </a:p>
          <a:p>
            <a:r>
              <a:rPr lang="en-US" dirty="0"/>
              <a:t>http://www.human-memory.net/types_short.html</a:t>
            </a:r>
          </a:p>
          <a:p>
            <a:r>
              <a:rPr lang="en-US" dirty="0"/>
              <a:t>http://memory.ucsf.edu/brain/memory/episodic</a:t>
            </a:r>
          </a:p>
          <a:p>
            <a:endParaRPr lang="en-US" dirty="0"/>
          </a:p>
        </p:txBody>
      </p:sp>
      <p:sp>
        <p:nvSpPr>
          <p:cNvPr id="4" name="Slide Number Placeholder 3"/>
          <p:cNvSpPr>
            <a:spLocks noGrp="1"/>
          </p:cNvSpPr>
          <p:nvPr>
            <p:ph type="sldNum" sz="quarter" idx="10"/>
          </p:nvPr>
        </p:nvSpPr>
        <p:spPr/>
        <p:txBody>
          <a:bodyPr/>
          <a:lstStyle/>
          <a:p>
            <a:fld id="{4FBF37F3-1E9D-4A50-9E92-4ABD0576BF3E}" type="slidenum">
              <a:rPr lang="en-US" smtClean="0"/>
              <a:t>8</a:t>
            </a:fld>
            <a:endParaRPr lang="en-US"/>
          </a:p>
        </p:txBody>
      </p:sp>
    </p:spTree>
    <p:extLst>
      <p:ext uri="{BB962C8B-B14F-4D97-AF65-F5344CB8AC3E}">
        <p14:creationId xmlns:p14="http://schemas.microsoft.com/office/powerpoint/2010/main" val="3529074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a:solidFill>
                  <a:schemeClr val="tx1"/>
                </a:solidFill>
                <a:latin typeface="+mn-lt"/>
                <a:ea typeface="+mn-ea"/>
                <a:cs typeface="+mn-cs"/>
              </a:rPr>
              <a:t>Maintenance rehearsal </a:t>
            </a:r>
            <a:r>
              <a:rPr lang="en-US" sz="1200" b="0" i="0" u="none" strike="noStrike" kern="1200" baseline="0" dirty="0">
                <a:solidFill>
                  <a:schemeClr val="tx1"/>
                </a:solidFill>
                <a:latin typeface="+mn-lt"/>
                <a:ea typeface="+mn-ea"/>
                <a:cs typeface="+mn-cs"/>
              </a:rPr>
              <a:t>– repeating the items to yourself – fends off this decay, but maintenance rehearsal requires attention. So distractions can easily destroy working memory. </a:t>
            </a:r>
          </a:p>
          <a:p>
            <a:r>
              <a:rPr lang="en-US" sz="1200" b="1" i="0" u="none" strike="noStrike" kern="1200" baseline="0" dirty="0">
                <a:solidFill>
                  <a:schemeClr val="tx1"/>
                </a:solidFill>
                <a:latin typeface="+mn-lt"/>
                <a:ea typeface="+mn-ea"/>
                <a:cs typeface="+mn-cs"/>
              </a:rPr>
              <a:t>elaborative rehearsal</a:t>
            </a:r>
            <a:r>
              <a:rPr lang="en-US" sz="1200" b="0" i="0" u="none" strike="noStrike" kern="1200" baseline="0" dirty="0">
                <a:solidFill>
                  <a:schemeClr val="tx1"/>
                </a:solidFill>
                <a:latin typeface="+mn-lt"/>
                <a:ea typeface="+mn-ea"/>
                <a:cs typeface="+mn-cs"/>
              </a:rPr>
              <a:t>, which seeks to make connections with existing chunks </a:t>
            </a:r>
            <a:endParaRPr lang="en-US" dirty="0"/>
          </a:p>
        </p:txBody>
      </p:sp>
      <p:sp>
        <p:nvSpPr>
          <p:cNvPr id="4" name="Slide Number Placeholder 3"/>
          <p:cNvSpPr>
            <a:spLocks noGrp="1"/>
          </p:cNvSpPr>
          <p:nvPr>
            <p:ph type="sldNum" sz="quarter" idx="10"/>
          </p:nvPr>
        </p:nvSpPr>
        <p:spPr/>
        <p:txBody>
          <a:bodyPr/>
          <a:lstStyle/>
          <a:p>
            <a:fld id="{4FBF37F3-1E9D-4A50-9E92-4ABD0576BF3E}" type="slidenum">
              <a:rPr lang="en-US" smtClean="0"/>
              <a:t>10</a:t>
            </a:fld>
            <a:endParaRPr lang="en-US"/>
          </a:p>
        </p:txBody>
      </p:sp>
    </p:spTree>
    <p:extLst>
      <p:ext uri="{BB962C8B-B14F-4D97-AF65-F5344CB8AC3E}">
        <p14:creationId xmlns:p14="http://schemas.microsoft.com/office/powerpoint/2010/main" val="14900788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TLA =  Three Letter Acronyms</a:t>
            </a:r>
          </a:p>
        </p:txBody>
      </p:sp>
      <p:sp>
        <p:nvSpPr>
          <p:cNvPr id="4" name="Slide Number Placeholder 3"/>
          <p:cNvSpPr>
            <a:spLocks noGrp="1"/>
          </p:cNvSpPr>
          <p:nvPr>
            <p:ph type="sldNum" sz="quarter" idx="10"/>
          </p:nvPr>
        </p:nvSpPr>
        <p:spPr/>
        <p:txBody>
          <a:bodyPr/>
          <a:lstStyle/>
          <a:p>
            <a:fld id="{4FBF37F3-1E9D-4A50-9E92-4ABD0576BF3E}" type="slidenum">
              <a:rPr lang="en-US" smtClean="0"/>
              <a:t>12</a:t>
            </a:fld>
            <a:endParaRPr lang="en-US"/>
          </a:p>
        </p:txBody>
      </p:sp>
    </p:spTree>
    <p:extLst>
      <p:ext uri="{BB962C8B-B14F-4D97-AF65-F5344CB8AC3E}">
        <p14:creationId xmlns:p14="http://schemas.microsoft.com/office/powerpoint/2010/main" val="25432409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 language</a:t>
            </a:r>
            <a:r>
              <a:rPr lang="en-US" baseline="0" dirty="0"/>
              <a:t> (CL)</a:t>
            </a:r>
          </a:p>
          <a:p>
            <a:r>
              <a:rPr lang="en-US" baseline="0" dirty="0"/>
              <a:t>Menus &amp; forms (MF)</a:t>
            </a:r>
          </a:p>
          <a:p>
            <a:r>
              <a:rPr lang="en-US" baseline="0" dirty="0"/>
              <a:t>Direct manipulation (DM)</a:t>
            </a:r>
          </a:p>
          <a:p>
            <a:r>
              <a:rPr lang="en-US" baseline="0" dirty="0"/>
              <a:t>Speech dialogue</a:t>
            </a:r>
            <a:endParaRPr lang="en-US" dirty="0"/>
          </a:p>
        </p:txBody>
      </p:sp>
      <p:sp>
        <p:nvSpPr>
          <p:cNvPr id="4" name="Slide Number Placeholder 3"/>
          <p:cNvSpPr>
            <a:spLocks noGrp="1"/>
          </p:cNvSpPr>
          <p:nvPr>
            <p:ph type="sldNum" sz="quarter" idx="10"/>
          </p:nvPr>
        </p:nvSpPr>
        <p:spPr/>
        <p:txBody>
          <a:bodyPr/>
          <a:lstStyle/>
          <a:p>
            <a:fld id="{4FBF37F3-1E9D-4A50-9E92-4ABD0576BF3E}" type="slidenum">
              <a:rPr lang="en-US" smtClean="0"/>
              <a:t>23</a:t>
            </a:fld>
            <a:endParaRPr lang="en-US"/>
          </a:p>
        </p:txBody>
      </p:sp>
    </p:spTree>
    <p:extLst>
      <p:ext uri="{BB962C8B-B14F-4D97-AF65-F5344CB8AC3E}">
        <p14:creationId xmlns:p14="http://schemas.microsoft.com/office/powerpoint/2010/main" val="3719418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The </a:t>
            </a:r>
            <a:r>
              <a:rPr lang="en-US" sz="1200" b="1" i="0" u="none" strike="noStrike" kern="1200" baseline="0" dirty="0">
                <a:solidFill>
                  <a:schemeClr val="tx1"/>
                </a:solidFill>
                <a:latin typeface="+mn-lt"/>
                <a:ea typeface="+mn-ea"/>
                <a:cs typeface="+mn-cs"/>
              </a:rPr>
              <a:t>system model </a:t>
            </a:r>
            <a:r>
              <a:rPr lang="en-US" sz="1200" b="0" i="0" u="none" strike="noStrike" kern="1200" baseline="0" dirty="0">
                <a:solidFill>
                  <a:schemeClr val="tx1"/>
                </a:solidFill>
                <a:latin typeface="+mn-lt"/>
                <a:ea typeface="+mn-ea"/>
                <a:cs typeface="+mn-cs"/>
              </a:rPr>
              <a:t>(sometimes called implementation model) is how the system actually works.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The </a:t>
            </a:r>
            <a:r>
              <a:rPr lang="en-US" sz="1200" b="1" i="0" u="none" strike="noStrike" kern="1200" baseline="0" dirty="0">
                <a:solidFill>
                  <a:schemeClr val="tx1"/>
                </a:solidFill>
                <a:latin typeface="+mn-lt"/>
                <a:ea typeface="+mn-ea"/>
                <a:cs typeface="+mn-cs"/>
              </a:rPr>
              <a:t>interface model </a:t>
            </a:r>
            <a:r>
              <a:rPr lang="en-US" sz="1200" b="0" i="0" u="none" strike="noStrike" kern="1200" baseline="0" dirty="0">
                <a:solidFill>
                  <a:schemeClr val="tx1"/>
                </a:solidFill>
                <a:latin typeface="+mn-lt"/>
                <a:ea typeface="+mn-ea"/>
                <a:cs typeface="+mn-cs"/>
              </a:rPr>
              <a:t>(or manifest model) is the model that the system presents to the user through its user interface.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The </a:t>
            </a:r>
            <a:r>
              <a:rPr lang="en-US" sz="1200" b="1" i="0" u="none" strike="noStrike" kern="1200" baseline="0" dirty="0">
                <a:solidFill>
                  <a:schemeClr val="tx1"/>
                </a:solidFill>
                <a:latin typeface="+mn-lt"/>
                <a:ea typeface="+mn-ea"/>
                <a:cs typeface="+mn-cs"/>
              </a:rPr>
              <a:t>user model </a:t>
            </a:r>
            <a:r>
              <a:rPr lang="en-US" sz="1200" b="0" i="0" u="none" strike="noStrike" kern="1200" baseline="0" dirty="0">
                <a:solidFill>
                  <a:schemeClr val="tx1"/>
                </a:solidFill>
                <a:latin typeface="+mn-lt"/>
                <a:ea typeface="+mn-ea"/>
                <a:cs typeface="+mn-cs"/>
              </a:rPr>
              <a:t>(or conceptual model) is how the user </a:t>
            </a:r>
            <a:r>
              <a:rPr lang="en-US" sz="1200" b="0" i="1" u="none" strike="noStrike" kern="1200" baseline="0" dirty="0">
                <a:solidFill>
                  <a:schemeClr val="tx1"/>
                </a:solidFill>
                <a:latin typeface="+mn-lt"/>
                <a:ea typeface="+mn-ea"/>
                <a:cs typeface="+mn-cs"/>
              </a:rPr>
              <a:t>thinks </a:t>
            </a:r>
            <a:r>
              <a:rPr lang="en-US" sz="1200" b="0" i="0" u="none" strike="noStrike" kern="1200" baseline="0" dirty="0">
                <a:solidFill>
                  <a:schemeClr val="tx1"/>
                </a:solidFill>
                <a:latin typeface="+mn-lt"/>
                <a:ea typeface="+mn-ea"/>
                <a:cs typeface="+mn-cs"/>
              </a:rPr>
              <a:t>the system works. </a:t>
            </a:r>
            <a:endParaRPr lang="en-US" dirty="0"/>
          </a:p>
        </p:txBody>
      </p:sp>
      <p:sp>
        <p:nvSpPr>
          <p:cNvPr id="4" name="Slide Number Placeholder 3"/>
          <p:cNvSpPr>
            <a:spLocks noGrp="1"/>
          </p:cNvSpPr>
          <p:nvPr>
            <p:ph type="sldNum" sz="quarter" idx="10"/>
          </p:nvPr>
        </p:nvSpPr>
        <p:spPr/>
        <p:txBody>
          <a:bodyPr/>
          <a:lstStyle/>
          <a:p>
            <a:fld id="{4FBF37F3-1E9D-4A50-9E92-4ABD0576BF3E}" type="slidenum">
              <a:rPr lang="en-US" smtClean="0"/>
              <a:t>26</a:t>
            </a:fld>
            <a:endParaRPr lang="en-US"/>
          </a:p>
        </p:txBody>
      </p:sp>
    </p:spTree>
    <p:extLst>
      <p:ext uri="{BB962C8B-B14F-4D97-AF65-F5344CB8AC3E}">
        <p14:creationId xmlns:p14="http://schemas.microsoft.com/office/powerpoint/2010/main" val="17692314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Affordances are rarely natural – they are learned from experience. We recognize properties suitable for sitting on the basis of our long experience with chairs. We recognize that </a:t>
            </a:r>
            <a:r>
              <a:rPr lang="en-US" sz="1200" b="0" i="0" u="none" strike="noStrike" kern="1200" baseline="0" dirty="0" err="1">
                <a:solidFill>
                  <a:schemeClr val="tx1"/>
                </a:solidFill>
                <a:latin typeface="+mn-lt"/>
                <a:ea typeface="+mn-ea"/>
                <a:cs typeface="+mn-cs"/>
              </a:rPr>
              <a:t>listboxes</a:t>
            </a:r>
            <a:r>
              <a:rPr lang="en-US" sz="1200" b="0" i="0" u="none" strike="noStrike" kern="1200" baseline="0" dirty="0">
                <a:solidFill>
                  <a:schemeClr val="tx1"/>
                </a:solidFill>
                <a:latin typeface="+mn-lt"/>
                <a:ea typeface="+mn-ea"/>
                <a:cs typeface="+mn-cs"/>
              </a:rPr>
              <a:t> allow you to make a selection because we’ve seen and used many </a:t>
            </a:r>
            <a:r>
              <a:rPr lang="en-US" sz="1200" b="0" i="0" u="none" strike="noStrike" kern="1200" baseline="0" dirty="0" err="1">
                <a:solidFill>
                  <a:schemeClr val="tx1"/>
                </a:solidFill>
                <a:latin typeface="+mn-lt"/>
                <a:ea typeface="+mn-ea"/>
                <a:cs typeface="+mn-cs"/>
              </a:rPr>
              <a:t>listboxes</a:t>
            </a:r>
            <a:r>
              <a:rPr lang="en-US" sz="1200" b="0" i="0" u="none" strike="noStrike" kern="1200" baseline="0" dirty="0">
                <a:solidFill>
                  <a:schemeClr val="tx1"/>
                </a:solidFill>
                <a:latin typeface="+mn-lt"/>
                <a:ea typeface="+mn-ea"/>
                <a:cs typeface="+mn-cs"/>
              </a:rPr>
              <a:t>, and that’s what they do.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Note that </a:t>
            </a:r>
            <a:r>
              <a:rPr lang="en-US" sz="1200" b="1" i="0" u="none" strike="noStrike" kern="1200" baseline="0" dirty="0">
                <a:solidFill>
                  <a:schemeClr val="tx1"/>
                </a:solidFill>
                <a:latin typeface="+mn-lt"/>
                <a:ea typeface="+mn-ea"/>
                <a:cs typeface="+mn-cs"/>
              </a:rPr>
              <a:t>perceived </a:t>
            </a:r>
            <a:r>
              <a:rPr lang="en-US" sz="1200" b="0" i="0" u="none" strike="noStrike" kern="1200" baseline="0" dirty="0">
                <a:solidFill>
                  <a:schemeClr val="tx1"/>
                </a:solidFill>
                <a:latin typeface="+mn-lt"/>
                <a:ea typeface="+mn-ea"/>
                <a:cs typeface="+mn-cs"/>
              </a:rPr>
              <a:t>affordance is not the same as </a:t>
            </a:r>
            <a:r>
              <a:rPr lang="en-US" sz="1200" b="1" i="0" u="none" strike="noStrike" kern="1200" baseline="0" dirty="0">
                <a:solidFill>
                  <a:schemeClr val="tx1"/>
                </a:solidFill>
                <a:latin typeface="+mn-lt"/>
                <a:ea typeface="+mn-ea"/>
                <a:cs typeface="+mn-cs"/>
              </a:rPr>
              <a:t>actual </a:t>
            </a:r>
            <a:r>
              <a:rPr lang="en-US" sz="1200" b="0" i="0" u="none" strike="noStrike" kern="1200" baseline="0" dirty="0">
                <a:solidFill>
                  <a:schemeClr val="tx1"/>
                </a:solidFill>
                <a:latin typeface="+mn-lt"/>
                <a:ea typeface="+mn-ea"/>
                <a:cs typeface="+mn-cs"/>
              </a:rPr>
              <a:t>affordance</a:t>
            </a:r>
            <a:r>
              <a:rPr lang="en-US" sz="1200" b="0" i="1" u="none" strike="noStrike" kern="1200" baseline="0" dirty="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A facsimile of a chair made of </a:t>
            </a:r>
            <a:r>
              <a:rPr lang="en-US" sz="1200" b="0" i="0" u="none" strike="noStrike" kern="1200" baseline="0" dirty="0" err="1">
                <a:solidFill>
                  <a:schemeClr val="tx1"/>
                </a:solidFill>
                <a:latin typeface="+mn-lt"/>
                <a:ea typeface="+mn-ea"/>
                <a:cs typeface="+mn-cs"/>
              </a:rPr>
              <a:t>papier</a:t>
            </a:r>
            <a:r>
              <a:rPr lang="en-US" sz="1200" b="0" i="0" u="none" strike="noStrike" kern="1200" baseline="0" dirty="0">
                <a:solidFill>
                  <a:schemeClr val="tx1"/>
                </a:solidFill>
                <a:latin typeface="+mn-lt"/>
                <a:ea typeface="+mn-ea"/>
                <a:cs typeface="+mn-cs"/>
              </a:rPr>
              <a:t> </a:t>
            </a:r>
            <a:r>
              <a:rPr lang="en-US" sz="1200" b="0" i="0" u="none" strike="noStrike" kern="1200" baseline="0" dirty="0" err="1">
                <a:solidFill>
                  <a:schemeClr val="tx1"/>
                </a:solidFill>
                <a:latin typeface="+mn-lt"/>
                <a:ea typeface="+mn-ea"/>
                <a:cs typeface="+mn-cs"/>
              </a:rPr>
              <a:t>mache</a:t>
            </a:r>
            <a:r>
              <a:rPr lang="en-US" sz="1200" b="0" i="0" u="none" strike="noStrike" kern="1200" baseline="0" dirty="0">
                <a:solidFill>
                  <a:schemeClr val="tx1"/>
                </a:solidFill>
                <a:latin typeface="+mn-lt"/>
                <a:ea typeface="+mn-ea"/>
                <a:cs typeface="+mn-cs"/>
              </a:rPr>
              <a:t> has a perceived affordance for sitting, but it doesn’t actually afford sitting: it collapses under your weight. Conversely, a fire hydrant has no perceived affordance for sitting, since it lacks a flat, human-width horizontal surface, but it actually does afford sitting, albeit uncomfortably.  </a:t>
            </a:r>
            <a:endParaRPr lang="en-US" dirty="0"/>
          </a:p>
        </p:txBody>
      </p:sp>
      <p:sp>
        <p:nvSpPr>
          <p:cNvPr id="4" name="Slide Number Placeholder 3"/>
          <p:cNvSpPr>
            <a:spLocks noGrp="1"/>
          </p:cNvSpPr>
          <p:nvPr>
            <p:ph type="sldNum" sz="quarter" idx="10"/>
          </p:nvPr>
        </p:nvSpPr>
        <p:spPr/>
        <p:txBody>
          <a:bodyPr/>
          <a:lstStyle/>
          <a:p>
            <a:fld id="{4FBF37F3-1E9D-4A50-9E92-4ABD0576BF3E}" type="slidenum">
              <a:rPr lang="en-US" smtClean="0"/>
              <a:t>30</a:t>
            </a:fld>
            <a:endParaRPr lang="en-US"/>
          </a:p>
        </p:txBody>
      </p:sp>
    </p:spTree>
    <p:extLst>
      <p:ext uri="{BB962C8B-B14F-4D97-AF65-F5344CB8AC3E}">
        <p14:creationId xmlns:p14="http://schemas.microsoft.com/office/powerpoint/2010/main" val="31172853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Relationships between controls and their effects on a system.</a:t>
            </a:r>
          </a:p>
          <a:p>
            <a:endParaRPr lang="en-US" dirty="0"/>
          </a:p>
        </p:txBody>
      </p:sp>
      <p:sp>
        <p:nvSpPr>
          <p:cNvPr id="4" name="Slide Number Placeholder 3"/>
          <p:cNvSpPr>
            <a:spLocks noGrp="1"/>
          </p:cNvSpPr>
          <p:nvPr>
            <p:ph type="sldNum" sz="quarter" idx="10"/>
          </p:nvPr>
        </p:nvSpPr>
        <p:spPr/>
        <p:txBody>
          <a:bodyPr/>
          <a:lstStyle/>
          <a:p>
            <a:fld id="{4FBF37F3-1E9D-4A50-9E92-4ABD0576BF3E}" type="slidenum">
              <a:rPr lang="en-US" smtClean="0"/>
              <a:t>34</a:t>
            </a:fld>
            <a:endParaRPr lang="en-US"/>
          </a:p>
        </p:txBody>
      </p:sp>
    </p:spTree>
    <p:extLst>
      <p:ext uri="{BB962C8B-B14F-4D97-AF65-F5344CB8AC3E}">
        <p14:creationId xmlns:p14="http://schemas.microsoft.com/office/powerpoint/2010/main" val="17546861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5"/>
          <p:cNvSpPr>
            <a:spLocks noGrp="1" noChangeArrowheads="1"/>
          </p:cNvSpPr>
          <p:nvPr>
            <p:ph type="sldNum" sz="quarter" idx="5"/>
          </p:nvPr>
        </p:nvSpPr>
        <p:spPr>
          <a:noFill/>
        </p:spPr>
        <p:txBody>
          <a:bodyPr/>
          <a:lstStyle>
            <a:lvl1pPr defTabSz="934005" eaLnBrk="0" hangingPunct="0">
              <a:defRPr sz="2300">
                <a:solidFill>
                  <a:schemeClr val="tx1"/>
                </a:solidFill>
                <a:latin typeface="Comic Sans MS" pitchFamily="66" charset="0"/>
              </a:defRPr>
            </a:lvl1pPr>
            <a:lvl2pPr marL="702756" indent="-270291" defTabSz="934005" eaLnBrk="0" hangingPunct="0">
              <a:defRPr sz="2300">
                <a:solidFill>
                  <a:schemeClr val="tx1"/>
                </a:solidFill>
                <a:latin typeface="Comic Sans MS" pitchFamily="66" charset="0"/>
              </a:defRPr>
            </a:lvl2pPr>
            <a:lvl3pPr marL="1081164" indent="-216233" defTabSz="934005" eaLnBrk="0" hangingPunct="0">
              <a:defRPr sz="2300">
                <a:solidFill>
                  <a:schemeClr val="tx1"/>
                </a:solidFill>
                <a:latin typeface="Comic Sans MS" pitchFamily="66" charset="0"/>
              </a:defRPr>
            </a:lvl3pPr>
            <a:lvl4pPr marL="1513629" indent="-216233" defTabSz="934005" eaLnBrk="0" hangingPunct="0">
              <a:defRPr sz="2300">
                <a:solidFill>
                  <a:schemeClr val="tx1"/>
                </a:solidFill>
                <a:latin typeface="Comic Sans MS" pitchFamily="66" charset="0"/>
              </a:defRPr>
            </a:lvl4pPr>
            <a:lvl5pPr marL="1946095" indent="-216233" defTabSz="934005" eaLnBrk="0" hangingPunct="0">
              <a:defRPr sz="2300">
                <a:solidFill>
                  <a:schemeClr val="tx1"/>
                </a:solidFill>
                <a:latin typeface="Comic Sans MS" pitchFamily="66" charset="0"/>
              </a:defRPr>
            </a:lvl5pPr>
            <a:lvl6pPr marL="2378560" indent="-216233" defTabSz="934005" eaLnBrk="0" fontAlgn="base" hangingPunct="0">
              <a:spcBef>
                <a:spcPct val="0"/>
              </a:spcBef>
              <a:spcAft>
                <a:spcPct val="0"/>
              </a:spcAft>
              <a:defRPr sz="2300">
                <a:solidFill>
                  <a:schemeClr val="tx1"/>
                </a:solidFill>
                <a:latin typeface="Comic Sans MS" pitchFamily="66" charset="0"/>
              </a:defRPr>
            </a:lvl6pPr>
            <a:lvl7pPr marL="2811026" indent="-216233" defTabSz="934005" eaLnBrk="0" fontAlgn="base" hangingPunct="0">
              <a:spcBef>
                <a:spcPct val="0"/>
              </a:spcBef>
              <a:spcAft>
                <a:spcPct val="0"/>
              </a:spcAft>
              <a:defRPr sz="2300">
                <a:solidFill>
                  <a:schemeClr val="tx1"/>
                </a:solidFill>
                <a:latin typeface="Comic Sans MS" pitchFamily="66" charset="0"/>
              </a:defRPr>
            </a:lvl7pPr>
            <a:lvl8pPr marL="3243491" indent="-216233" defTabSz="934005" eaLnBrk="0" fontAlgn="base" hangingPunct="0">
              <a:spcBef>
                <a:spcPct val="0"/>
              </a:spcBef>
              <a:spcAft>
                <a:spcPct val="0"/>
              </a:spcAft>
              <a:defRPr sz="2300">
                <a:solidFill>
                  <a:schemeClr val="tx1"/>
                </a:solidFill>
                <a:latin typeface="Comic Sans MS" pitchFamily="66" charset="0"/>
              </a:defRPr>
            </a:lvl8pPr>
            <a:lvl9pPr marL="3675957" indent="-216233" defTabSz="934005" eaLnBrk="0" fontAlgn="base" hangingPunct="0">
              <a:spcBef>
                <a:spcPct val="0"/>
              </a:spcBef>
              <a:spcAft>
                <a:spcPct val="0"/>
              </a:spcAft>
              <a:defRPr sz="2300">
                <a:solidFill>
                  <a:schemeClr val="tx1"/>
                </a:solidFill>
                <a:latin typeface="Comic Sans MS" pitchFamily="66" charset="0"/>
              </a:defRPr>
            </a:lvl9pPr>
          </a:lstStyle>
          <a:p>
            <a:fld id="{9DC70354-9C92-464E-85DC-7E85C85702A2}" type="slidenum">
              <a:rPr lang="en-US" sz="900">
                <a:latin typeface="Times New Roman" pitchFamily="18" charset="0"/>
              </a:rPr>
              <a:pPr/>
              <a:t>36</a:t>
            </a:fld>
            <a:endParaRPr lang="en-US" sz="900" dirty="0">
              <a:latin typeface="Times New Roman" pitchFamily="18" charset="0"/>
            </a:endParaRPr>
          </a:p>
        </p:txBody>
      </p:sp>
      <p:sp>
        <p:nvSpPr>
          <p:cNvPr id="67587" name="Rectangle 2"/>
          <p:cNvSpPr>
            <a:spLocks noGrp="1" noRot="1" noChangeAspect="1" noChangeArrowheads="1" noTextEdit="1"/>
          </p:cNvSpPr>
          <p:nvPr>
            <p:ph type="sldImg"/>
          </p:nvPr>
        </p:nvSpPr>
        <p:spPr>
          <a:ln cap="flat"/>
        </p:spPr>
      </p:sp>
      <p:sp>
        <p:nvSpPr>
          <p:cNvPr id="67588" name="Rectangle 3"/>
          <p:cNvSpPr>
            <a:spLocks noGrp="1" noChangeArrowheads="1"/>
          </p:cNvSpPr>
          <p:nvPr>
            <p:ph type="body" idx="1"/>
          </p:nvPr>
        </p:nvSpPr>
        <p:spPr>
          <a:noFill/>
        </p:spPr>
        <p:txBody>
          <a:bodyPr/>
          <a:lstStyle/>
          <a:p>
            <a:pPr>
              <a:lnSpc>
                <a:spcPct val="100000"/>
              </a:lnSpc>
              <a:spcBef>
                <a:spcPct val="0"/>
              </a:spcBef>
            </a:pPr>
            <a:endParaRPr lang="en-CA" sz="2400" dirty="0">
              <a:latin typeface="Times New Roman" pitchFamily="18" charset="0"/>
            </a:endParaRPr>
          </a:p>
        </p:txBody>
      </p:sp>
    </p:spTree>
    <p:extLst>
      <p:ext uri="{BB962C8B-B14F-4D97-AF65-F5344CB8AC3E}">
        <p14:creationId xmlns:p14="http://schemas.microsoft.com/office/powerpoint/2010/main" val="31525001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a:solidFill>
                  <a:schemeClr val="tx1"/>
                </a:solidFill>
                <a:latin typeface="+mn-lt"/>
                <a:ea typeface="+mn-ea"/>
                <a:cs typeface="+mn-cs"/>
              </a:rPr>
              <a:t>Breadcrumb</a:t>
            </a:r>
            <a:r>
              <a:rPr lang="en-US" sz="1200" b="0" i="0" u="none" strike="noStrike" kern="1200" baseline="0" dirty="0">
                <a:solidFill>
                  <a:schemeClr val="tx1"/>
                </a:solidFill>
                <a:latin typeface="+mn-lt"/>
                <a:ea typeface="+mn-ea"/>
                <a:cs typeface="+mn-cs"/>
              </a:rPr>
              <a:t> trails show where you are as a path through the site’s hierarchy.</a:t>
            </a:r>
            <a:endParaRPr lang="en-US" dirty="0"/>
          </a:p>
        </p:txBody>
      </p:sp>
      <p:sp>
        <p:nvSpPr>
          <p:cNvPr id="4" name="Slide Number Placeholder 3"/>
          <p:cNvSpPr>
            <a:spLocks noGrp="1"/>
          </p:cNvSpPr>
          <p:nvPr>
            <p:ph type="sldNum" sz="quarter" idx="10"/>
          </p:nvPr>
        </p:nvSpPr>
        <p:spPr/>
        <p:txBody>
          <a:bodyPr/>
          <a:lstStyle/>
          <a:p>
            <a:fld id="{4FBF37F3-1E9D-4A50-9E92-4ABD0576BF3E}" type="slidenum">
              <a:rPr lang="en-US" smtClean="0"/>
              <a:t>38</a:t>
            </a:fld>
            <a:endParaRPr lang="en-US"/>
          </a:p>
        </p:txBody>
      </p:sp>
    </p:spTree>
    <p:extLst>
      <p:ext uri="{BB962C8B-B14F-4D97-AF65-F5344CB8AC3E}">
        <p14:creationId xmlns:p14="http://schemas.microsoft.com/office/powerpoint/2010/main" val="25582209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FBF37F3-1E9D-4A50-9E92-4ABD0576BF3E}" type="slidenum">
              <a:rPr lang="en-US" smtClean="0"/>
              <a:t>39</a:t>
            </a:fld>
            <a:endParaRPr lang="en-US"/>
          </a:p>
        </p:txBody>
      </p:sp>
    </p:spTree>
    <p:extLst>
      <p:ext uri="{BB962C8B-B14F-4D97-AF65-F5344CB8AC3E}">
        <p14:creationId xmlns:p14="http://schemas.microsoft.com/office/powerpoint/2010/main" val="28331763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5"/>
          <p:cNvSpPr>
            <a:spLocks noGrp="1" noChangeArrowheads="1"/>
          </p:cNvSpPr>
          <p:nvPr>
            <p:ph type="sldNum" sz="quarter" idx="5"/>
          </p:nvPr>
        </p:nvSpPr>
        <p:spPr>
          <a:noFill/>
        </p:spPr>
        <p:txBody>
          <a:bodyPr/>
          <a:lstStyle>
            <a:lvl1pPr defTabSz="934005" eaLnBrk="0" hangingPunct="0">
              <a:defRPr sz="2300">
                <a:solidFill>
                  <a:schemeClr val="tx1"/>
                </a:solidFill>
                <a:latin typeface="Comic Sans MS" pitchFamily="66" charset="0"/>
              </a:defRPr>
            </a:lvl1pPr>
            <a:lvl2pPr marL="702756" indent="-270291" defTabSz="934005" eaLnBrk="0" hangingPunct="0">
              <a:defRPr sz="2300">
                <a:solidFill>
                  <a:schemeClr val="tx1"/>
                </a:solidFill>
                <a:latin typeface="Comic Sans MS" pitchFamily="66" charset="0"/>
              </a:defRPr>
            </a:lvl2pPr>
            <a:lvl3pPr marL="1081164" indent="-216233" defTabSz="934005" eaLnBrk="0" hangingPunct="0">
              <a:defRPr sz="2300">
                <a:solidFill>
                  <a:schemeClr val="tx1"/>
                </a:solidFill>
                <a:latin typeface="Comic Sans MS" pitchFamily="66" charset="0"/>
              </a:defRPr>
            </a:lvl3pPr>
            <a:lvl4pPr marL="1513629" indent="-216233" defTabSz="934005" eaLnBrk="0" hangingPunct="0">
              <a:defRPr sz="2300">
                <a:solidFill>
                  <a:schemeClr val="tx1"/>
                </a:solidFill>
                <a:latin typeface="Comic Sans MS" pitchFamily="66" charset="0"/>
              </a:defRPr>
            </a:lvl4pPr>
            <a:lvl5pPr marL="1946095" indent="-216233" defTabSz="934005" eaLnBrk="0" hangingPunct="0">
              <a:defRPr sz="2300">
                <a:solidFill>
                  <a:schemeClr val="tx1"/>
                </a:solidFill>
                <a:latin typeface="Comic Sans MS" pitchFamily="66" charset="0"/>
              </a:defRPr>
            </a:lvl5pPr>
            <a:lvl6pPr marL="2378560" indent="-216233" defTabSz="934005" eaLnBrk="0" fontAlgn="base" hangingPunct="0">
              <a:spcBef>
                <a:spcPct val="0"/>
              </a:spcBef>
              <a:spcAft>
                <a:spcPct val="0"/>
              </a:spcAft>
              <a:defRPr sz="2300">
                <a:solidFill>
                  <a:schemeClr val="tx1"/>
                </a:solidFill>
                <a:latin typeface="Comic Sans MS" pitchFamily="66" charset="0"/>
              </a:defRPr>
            </a:lvl6pPr>
            <a:lvl7pPr marL="2811026" indent="-216233" defTabSz="934005" eaLnBrk="0" fontAlgn="base" hangingPunct="0">
              <a:spcBef>
                <a:spcPct val="0"/>
              </a:spcBef>
              <a:spcAft>
                <a:spcPct val="0"/>
              </a:spcAft>
              <a:defRPr sz="2300">
                <a:solidFill>
                  <a:schemeClr val="tx1"/>
                </a:solidFill>
                <a:latin typeface="Comic Sans MS" pitchFamily="66" charset="0"/>
              </a:defRPr>
            </a:lvl7pPr>
            <a:lvl8pPr marL="3243491" indent="-216233" defTabSz="934005" eaLnBrk="0" fontAlgn="base" hangingPunct="0">
              <a:spcBef>
                <a:spcPct val="0"/>
              </a:spcBef>
              <a:spcAft>
                <a:spcPct val="0"/>
              </a:spcAft>
              <a:defRPr sz="2300">
                <a:solidFill>
                  <a:schemeClr val="tx1"/>
                </a:solidFill>
                <a:latin typeface="Comic Sans MS" pitchFamily="66" charset="0"/>
              </a:defRPr>
            </a:lvl8pPr>
            <a:lvl9pPr marL="3675957" indent="-216233" defTabSz="934005" eaLnBrk="0" fontAlgn="base" hangingPunct="0">
              <a:spcBef>
                <a:spcPct val="0"/>
              </a:spcBef>
              <a:spcAft>
                <a:spcPct val="0"/>
              </a:spcAft>
              <a:defRPr sz="2300">
                <a:solidFill>
                  <a:schemeClr val="tx1"/>
                </a:solidFill>
                <a:latin typeface="Comic Sans MS" pitchFamily="66" charset="0"/>
              </a:defRPr>
            </a:lvl9pPr>
          </a:lstStyle>
          <a:p>
            <a:fld id="{A7519B17-1784-4132-9B27-CF831CF40B3A}" type="slidenum">
              <a:rPr lang="en-US" sz="900">
                <a:latin typeface="Times New Roman" pitchFamily="18" charset="0"/>
              </a:rPr>
              <a:pPr/>
              <a:t>40</a:t>
            </a:fld>
            <a:endParaRPr lang="en-US" sz="900" dirty="0">
              <a:latin typeface="Times New Roman" pitchFamily="18" charset="0"/>
            </a:endParaRPr>
          </a:p>
        </p:txBody>
      </p:sp>
      <p:sp>
        <p:nvSpPr>
          <p:cNvPr id="64515" name="Rectangle 2"/>
          <p:cNvSpPr>
            <a:spLocks noGrp="1" noRot="1" noChangeAspect="1" noChangeArrowheads="1" noTextEdit="1"/>
          </p:cNvSpPr>
          <p:nvPr>
            <p:ph type="sldImg"/>
          </p:nvPr>
        </p:nvSpPr>
        <p:spPr>
          <a:ln cap="flat"/>
        </p:spPr>
      </p:sp>
      <p:sp>
        <p:nvSpPr>
          <p:cNvPr id="64516" name="Rectangle 3"/>
          <p:cNvSpPr>
            <a:spLocks noGrp="1" noChangeArrowheads="1"/>
          </p:cNvSpPr>
          <p:nvPr>
            <p:ph type="body" idx="1"/>
          </p:nvPr>
        </p:nvSpPr>
        <p:spPr>
          <a:noFill/>
        </p:spPr>
        <p:txBody>
          <a:bodyPr/>
          <a:lstStyle/>
          <a:p>
            <a:pPr defTabSz="899469">
              <a:spcBef>
                <a:spcPct val="0"/>
              </a:spcBef>
            </a:pPr>
            <a:r>
              <a:rPr lang="en-US" sz="1200" b="0" i="0" u="none" strike="noStrike" kern="1200" baseline="0" dirty="0">
                <a:solidFill>
                  <a:schemeClr val="tx1"/>
                </a:solidFill>
                <a:latin typeface="+mn-lt"/>
                <a:ea typeface="+mn-ea"/>
                <a:cs typeface="+mn-cs"/>
              </a:rPr>
              <a:t>If the user can’t </a:t>
            </a:r>
            <a:r>
              <a:rPr lang="en-US" sz="1200" b="0" i="1" u="none" strike="noStrike" kern="1200" baseline="0" dirty="0">
                <a:solidFill>
                  <a:schemeClr val="tx1"/>
                </a:solidFill>
                <a:latin typeface="+mn-lt"/>
                <a:ea typeface="+mn-ea"/>
                <a:cs typeface="+mn-cs"/>
              </a:rPr>
              <a:t>see </a:t>
            </a:r>
            <a:r>
              <a:rPr lang="en-US" sz="1200" b="0" i="0" u="none" strike="noStrike" kern="1200" baseline="0" dirty="0">
                <a:solidFill>
                  <a:schemeClr val="tx1"/>
                </a:solidFill>
                <a:latin typeface="+mn-lt"/>
                <a:ea typeface="+mn-ea"/>
                <a:cs typeface="+mn-cs"/>
              </a:rPr>
              <a:t>an important control, they would have to (1) guess that it exists, and (2) guess where it is. </a:t>
            </a:r>
          </a:p>
          <a:p>
            <a:pPr defTabSz="899469">
              <a:spcBef>
                <a:spcPct val="0"/>
              </a:spcBef>
            </a:pPr>
            <a:endParaRPr lang="en-US" sz="1200" b="0" i="0" u="none" strike="noStrike" kern="1200" baseline="0" dirty="0">
              <a:solidFill>
                <a:schemeClr val="tx1"/>
              </a:solidFill>
              <a:latin typeface="+mn-lt"/>
              <a:ea typeface="+mn-ea"/>
              <a:cs typeface="+mn-cs"/>
            </a:endParaRPr>
          </a:p>
          <a:p>
            <a:pPr defTabSz="899469">
              <a:spcBef>
                <a:spcPct val="0"/>
              </a:spcBef>
            </a:pPr>
            <a:r>
              <a:rPr lang="en-US" sz="1200" b="0" i="0" u="none" strike="noStrike" kern="1200" baseline="0" dirty="0">
                <a:solidFill>
                  <a:schemeClr val="tx1"/>
                </a:solidFill>
                <a:latin typeface="+mn-lt"/>
                <a:ea typeface="+mn-ea"/>
                <a:cs typeface="+mn-cs"/>
              </a:rPr>
              <a:t>Interestingly, lack of visibility is responsible for a common learnability flaw in direct manipulation interfaces that use </a:t>
            </a:r>
            <a:r>
              <a:rPr lang="en-US" sz="1200" b="1" i="0" u="none" strike="noStrike" kern="1200" baseline="0" dirty="0">
                <a:solidFill>
                  <a:schemeClr val="tx1"/>
                </a:solidFill>
                <a:latin typeface="+mn-lt"/>
                <a:ea typeface="+mn-ea"/>
                <a:cs typeface="+mn-cs"/>
              </a:rPr>
              <a:t>drag &amp; drop</a:t>
            </a:r>
            <a:r>
              <a:rPr lang="en-US" sz="1200" b="0" i="0" u="none" strike="noStrike" kern="1200" baseline="0" dirty="0">
                <a:solidFill>
                  <a:schemeClr val="tx1"/>
                </a:solidFill>
                <a:latin typeface="+mn-lt"/>
                <a:ea typeface="+mn-ea"/>
                <a:cs typeface="+mn-cs"/>
              </a:rPr>
              <a:t>. Drag &amp; drop is an incredibly powerful direct manipulation technique, but it has so little visibility that many users simply don’t realize when drag &amp; drop is possible, and when it isn’t. As a result, this wonderful direct-manipulation technique is often secondary, a shortcut used only by expert users who know about it, while some less usable (often menu &amp; form style) interface is used by the bulk of novice and casual users. </a:t>
            </a:r>
          </a:p>
          <a:p>
            <a:pPr defTabSz="899469">
              <a:spcBef>
                <a:spcPct val="0"/>
              </a:spcBef>
            </a:pPr>
            <a:endParaRPr lang="en-US" sz="1200" b="0" i="0" u="none" strike="noStrike" kern="1200" baseline="0" dirty="0">
              <a:solidFill>
                <a:schemeClr val="tx1"/>
              </a:solidFill>
              <a:latin typeface="+mn-lt"/>
              <a:ea typeface="+mn-ea"/>
              <a:cs typeface="+mn-cs"/>
            </a:endParaRPr>
          </a:p>
          <a:p>
            <a:pPr defTabSz="899469">
              <a:spcBef>
                <a:spcPct val="0"/>
              </a:spcBef>
            </a:pPr>
            <a:r>
              <a:rPr lang="en-US" sz="1200" b="0" i="0" u="none" strike="noStrike" kern="1200" baseline="0" dirty="0">
                <a:solidFill>
                  <a:schemeClr val="tx1"/>
                </a:solidFill>
                <a:latin typeface="+mn-lt"/>
                <a:ea typeface="+mn-ea"/>
                <a:cs typeface="+mn-cs"/>
              </a:rPr>
              <a:t>There’s an interesting experiment from cognitive psychology (mainly concerned with biases in problem solving, not with learnability). Two ropes are hanging from ceiling, more than an arm span apart, and the goal is to tie their ends together. People were more likely to solve the problem if the experimenter gently swung one rope a bit while explaining the goal. (Maier, "Reasoning in humans," </a:t>
            </a:r>
            <a:r>
              <a:rPr lang="en-US" sz="1200" b="0" i="1" u="none" strike="noStrike" kern="1200" baseline="0" dirty="0">
                <a:solidFill>
                  <a:schemeClr val="tx1"/>
                </a:solidFill>
                <a:latin typeface="+mn-lt"/>
                <a:ea typeface="+mn-ea"/>
                <a:cs typeface="+mn-cs"/>
              </a:rPr>
              <a:t>J Comp Psych </a:t>
            </a:r>
            <a:r>
              <a:rPr lang="en-US" sz="1200" b="0" i="0" u="none" strike="noStrike" kern="1200" baseline="0" dirty="0">
                <a:solidFill>
                  <a:schemeClr val="tx1"/>
                </a:solidFill>
                <a:latin typeface="+mn-lt"/>
                <a:ea typeface="+mn-ea"/>
                <a:cs typeface="+mn-cs"/>
              </a:rPr>
              <a:t>v12, 181-194, 1931.) In other words, a visual hint helped a lot. Perhaps drag able things might make themselves visible by wiggling a bit when you come near them, or when you’re dragging them toward a likely target. </a:t>
            </a:r>
            <a:endParaRPr lang="en-CA" sz="2400" dirty="0">
              <a:latin typeface="Times New Roman" pitchFamily="18" charset="0"/>
            </a:endParaRPr>
          </a:p>
        </p:txBody>
      </p:sp>
    </p:spTree>
    <p:extLst>
      <p:ext uri="{BB962C8B-B14F-4D97-AF65-F5344CB8AC3E}">
        <p14:creationId xmlns:p14="http://schemas.microsoft.com/office/powerpoint/2010/main" val="5646774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feedback: what the system does when you perform an action. When the user successfully makes a part work, it should appear to respond. Push buttons depress and release. Scrollbar thumbs move. Dragged objects follow the cursor.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Feedback doesn’t always have to be visual. </a:t>
            </a:r>
            <a:r>
              <a:rPr lang="en-US" sz="1200" b="1" i="0" u="none" strike="noStrike" kern="1200" baseline="0" dirty="0">
                <a:solidFill>
                  <a:schemeClr val="tx1"/>
                </a:solidFill>
                <a:latin typeface="+mn-lt"/>
                <a:ea typeface="+mn-ea"/>
                <a:cs typeface="+mn-cs"/>
              </a:rPr>
              <a:t>Audio </a:t>
            </a:r>
            <a:r>
              <a:rPr lang="en-US" sz="1200" b="0" i="0" u="none" strike="noStrike" kern="1200" baseline="0" dirty="0">
                <a:solidFill>
                  <a:schemeClr val="tx1"/>
                </a:solidFill>
                <a:latin typeface="+mn-lt"/>
                <a:ea typeface="+mn-ea"/>
                <a:cs typeface="+mn-cs"/>
              </a:rPr>
              <a:t>feedback – like the clicks that a keyboard makes – is another form. So is </a:t>
            </a:r>
            <a:r>
              <a:rPr lang="en-US" sz="1200" b="1" i="0" u="none" strike="noStrike" kern="1200" baseline="0" dirty="0">
                <a:solidFill>
                  <a:schemeClr val="tx1"/>
                </a:solidFill>
                <a:latin typeface="+mn-lt"/>
                <a:ea typeface="+mn-ea"/>
                <a:cs typeface="+mn-cs"/>
              </a:rPr>
              <a:t>haptic </a:t>
            </a:r>
            <a:r>
              <a:rPr lang="en-US" sz="1200" b="0" i="0" u="none" strike="noStrike" kern="1200" baseline="0" dirty="0">
                <a:solidFill>
                  <a:schemeClr val="tx1"/>
                </a:solidFill>
                <a:latin typeface="+mn-lt"/>
                <a:ea typeface="+mn-ea"/>
                <a:cs typeface="+mn-cs"/>
              </a:rPr>
              <a:t>feedback, conveyed by the sense of touch. The mouse button gives you haptic feedback in your finger when you feel the vibration of the click. That’s much better feedback then you get from a touchscreen, which doesn’t give you any physical sense when you’ve pressed it hard enough to register. </a:t>
            </a:r>
          </a:p>
          <a:p>
            <a:endParaRPr lang="en-US" sz="1200" b="0" i="0" u="none" strike="noStrike" kern="1200" baseline="0" dirty="0">
              <a:solidFill>
                <a:schemeClr val="tx1"/>
              </a:solidFill>
              <a:latin typeface="+mn-lt"/>
              <a:ea typeface="+mn-ea"/>
              <a:cs typeface="+mn-cs"/>
            </a:endParaRPr>
          </a:p>
          <a:p>
            <a:r>
              <a:rPr lang="en-US" sz="1200" b="1" i="0" kern="1200" dirty="0">
                <a:solidFill>
                  <a:schemeClr val="tx1"/>
                </a:solidFill>
                <a:effectLst/>
                <a:latin typeface="+mn-lt"/>
                <a:ea typeface="+mn-ea"/>
                <a:cs typeface="+mn-cs"/>
              </a:rPr>
              <a:t>PERCEPTUAL FUSION</a:t>
            </a:r>
            <a:r>
              <a:rPr lang="en-US" sz="1200" b="0" i="0" kern="1200" dirty="0">
                <a:solidFill>
                  <a:schemeClr val="tx1"/>
                </a:solidFill>
                <a:effectLst/>
                <a:latin typeface="+mn-lt"/>
                <a:ea typeface="+mn-ea"/>
                <a:cs typeface="+mn-cs"/>
              </a:rPr>
              <a:t>. The sensations created in our environments rarely exist in a single modality. Especially visual events are usually accompanied by auditory events. When an object falls and breaks, the simultaneous reception of the visual and auditory inputs form a single perception of this event.</a:t>
            </a:r>
          </a:p>
          <a:p>
            <a:endParaRPr lang="en-US" sz="1200" b="0" i="0" kern="1200" dirty="0">
              <a:solidFill>
                <a:schemeClr val="tx1"/>
              </a:solidFill>
              <a:effectLst/>
              <a:latin typeface="+mn-lt"/>
              <a:ea typeface="+mn-ea"/>
              <a:cs typeface="+mn-cs"/>
            </a:endParaRPr>
          </a:p>
          <a:p>
            <a:r>
              <a:rPr lang="en-US" sz="1200" b="1" i="0" u="none" strike="noStrike" kern="1200" baseline="0" dirty="0">
                <a:solidFill>
                  <a:schemeClr val="tx1"/>
                </a:solidFill>
                <a:latin typeface="+mn-lt"/>
                <a:ea typeface="+mn-ea"/>
                <a:cs typeface="+mn-cs"/>
              </a:rPr>
              <a:t>Low-level feedback </a:t>
            </a:r>
            <a:r>
              <a:rPr lang="en-US" sz="1200" b="0" i="0" u="none" strike="noStrike" kern="1200" baseline="0" dirty="0">
                <a:solidFill>
                  <a:schemeClr val="tx1"/>
                </a:solidFill>
                <a:latin typeface="+mn-lt"/>
                <a:ea typeface="+mn-ea"/>
                <a:cs typeface="+mn-cs"/>
              </a:rPr>
              <a:t>is provided by a view object itself, like push-button feedback. This kind of feedback shows that the interface at least took notice of the user’s input, and is responding to it. (It also distinguishes between disabled widgets, which don’t respond at all.)</a:t>
            </a:r>
          </a:p>
          <a:p>
            <a:endParaRPr lang="en-US" sz="1200" b="0" i="0" u="none" strike="noStrike" kern="1200" baseline="0" dirty="0">
              <a:solidFill>
                <a:schemeClr val="tx1"/>
              </a:solidFill>
              <a:latin typeface="+mn-lt"/>
              <a:ea typeface="+mn-ea"/>
              <a:cs typeface="+mn-cs"/>
            </a:endParaRPr>
          </a:p>
          <a:p>
            <a:r>
              <a:rPr lang="en-US" sz="1200" b="1" i="0" u="none" strike="noStrike" kern="1200" baseline="0" dirty="0">
                <a:solidFill>
                  <a:schemeClr val="tx1"/>
                </a:solidFill>
                <a:latin typeface="+mn-lt"/>
                <a:ea typeface="+mn-ea"/>
                <a:cs typeface="+mn-cs"/>
              </a:rPr>
              <a:t>High-level feedback</a:t>
            </a:r>
            <a:r>
              <a:rPr lang="en-US" sz="1200" b="0" i="0" u="none" strike="noStrike" kern="1200" baseline="0" dirty="0">
                <a:solidFill>
                  <a:schemeClr val="tx1"/>
                </a:solidFill>
                <a:latin typeface="+mn-lt"/>
                <a:ea typeface="+mn-ea"/>
                <a:cs typeface="+mn-cs"/>
              </a:rPr>
              <a:t> is the actual result of the user’s action, like changing the state of the model.</a:t>
            </a:r>
            <a:endParaRPr lang="en-US" dirty="0"/>
          </a:p>
        </p:txBody>
      </p:sp>
      <p:sp>
        <p:nvSpPr>
          <p:cNvPr id="4" name="Slide Number Placeholder 3"/>
          <p:cNvSpPr>
            <a:spLocks noGrp="1"/>
          </p:cNvSpPr>
          <p:nvPr>
            <p:ph type="sldNum" sz="quarter" idx="10"/>
          </p:nvPr>
        </p:nvSpPr>
        <p:spPr/>
        <p:txBody>
          <a:bodyPr/>
          <a:lstStyle/>
          <a:p>
            <a:fld id="{4FBF37F3-1E9D-4A50-9E92-4ABD0576BF3E}" type="slidenum">
              <a:rPr lang="en-US" smtClean="0"/>
              <a:t>43</a:t>
            </a:fld>
            <a:endParaRPr lang="en-US"/>
          </a:p>
        </p:txBody>
      </p:sp>
    </p:spTree>
    <p:extLst>
      <p:ext uri="{BB962C8B-B14F-4D97-AF65-F5344CB8AC3E}">
        <p14:creationId xmlns:p14="http://schemas.microsoft.com/office/powerpoint/2010/main" val="1753955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a:solidFill>
                  <a:schemeClr val="tx1"/>
                </a:solidFill>
                <a:latin typeface="+mn-lt"/>
                <a:ea typeface="+mn-ea"/>
                <a:cs typeface="+mn-cs"/>
              </a:rPr>
              <a:t>internal consistency </a:t>
            </a:r>
            <a:r>
              <a:rPr lang="en-US" sz="1200" b="0" i="0" u="none" strike="noStrike" kern="1200" baseline="0" dirty="0">
                <a:solidFill>
                  <a:schemeClr val="tx1"/>
                </a:solidFill>
                <a:latin typeface="+mn-lt"/>
                <a:ea typeface="+mn-ea"/>
                <a:cs typeface="+mn-cs"/>
              </a:rPr>
              <a:t>within your application</a:t>
            </a:r>
          </a:p>
          <a:p>
            <a:r>
              <a:rPr lang="en-US" sz="1200" b="1" i="0" u="none" strike="noStrike" kern="1200" baseline="0" dirty="0">
                <a:solidFill>
                  <a:schemeClr val="tx1"/>
                </a:solidFill>
                <a:latin typeface="+mn-lt"/>
                <a:ea typeface="+mn-ea"/>
                <a:cs typeface="+mn-cs"/>
              </a:rPr>
              <a:t>external consistency </a:t>
            </a:r>
            <a:r>
              <a:rPr lang="en-US" sz="1200" b="0" i="0" u="none" strike="noStrike" kern="1200" baseline="0" dirty="0">
                <a:solidFill>
                  <a:schemeClr val="tx1"/>
                </a:solidFill>
                <a:latin typeface="+mn-lt"/>
                <a:ea typeface="+mn-ea"/>
                <a:cs typeface="+mn-cs"/>
              </a:rPr>
              <a:t>with other applications on the same platform</a:t>
            </a:r>
          </a:p>
          <a:p>
            <a:r>
              <a:rPr lang="en-US" sz="1200" b="1" i="0" u="none" strike="noStrike" kern="1200" baseline="0" dirty="0">
                <a:solidFill>
                  <a:schemeClr val="tx1"/>
                </a:solidFill>
                <a:latin typeface="+mn-lt"/>
                <a:ea typeface="+mn-ea"/>
                <a:cs typeface="+mn-cs"/>
              </a:rPr>
              <a:t>metaphorical consistency </a:t>
            </a:r>
            <a:r>
              <a:rPr lang="en-US" sz="1200" b="0" i="0" u="none" strike="noStrike" kern="1200" baseline="0" dirty="0">
                <a:solidFill>
                  <a:schemeClr val="tx1"/>
                </a:solidFill>
                <a:latin typeface="+mn-lt"/>
                <a:ea typeface="+mn-ea"/>
                <a:cs typeface="+mn-cs"/>
              </a:rPr>
              <a:t>with your interface metaphor or similar real-world objects </a:t>
            </a:r>
            <a:endParaRPr lang="en-US" dirty="0"/>
          </a:p>
        </p:txBody>
      </p:sp>
      <p:sp>
        <p:nvSpPr>
          <p:cNvPr id="4" name="Slide Number Placeholder 3"/>
          <p:cNvSpPr>
            <a:spLocks noGrp="1"/>
          </p:cNvSpPr>
          <p:nvPr>
            <p:ph type="sldNum" sz="quarter" idx="10"/>
          </p:nvPr>
        </p:nvSpPr>
        <p:spPr/>
        <p:txBody>
          <a:bodyPr/>
          <a:lstStyle/>
          <a:p>
            <a:fld id="{4FBF37F3-1E9D-4A50-9E92-4ABD0576BF3E}" type="slidenum">
              <a:rPr lang="en-US" smtClean="0"/>
              <a:t>47</a:t>
            </a:fld>
            <a:endParaRPr lang="en-US"/>
          </a:p>
        </p:txBody>
      </p:sp>
    </p:spTree>
    <p:extLst>
      <p:ext uri="{BB962C8B-B14F-4D97-AF65-F5344CB8AC3E}">
        <p14:creationId xmlns:p14="http://schemas.microsoft.com/office/powerpoint/2010/main" val="25230941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i="0" u="none" strike="noStrike" kern="1200" baseline="0" dirty="0">
                <a:solidFill>
                  <a:schemeClr val="tx1"/>
                </a:solidFill>
                <a:latin typeface="+mn-lt"/>
                <a:ea typeface="+mn-ea"/>
                <a:cs typeface="+mn-cs"/>
              </a:rPr>
              <a:t>internal consistency </a:t>
            </a:r>
            <a:r>
              <a:rPr lang="en-US" sz="1200" b="0" i="0" u="none" strike="noStrike" kern="1200" baseline="0" dirty="0">
                <a:solidFill>
                  <a:schemeClr val="tx1"/>
                </a:solidFill>
                <a:latin typeface="+mn-lt"/>
                <a:ea typeface="+mn-ea"/>
                <a:cs typeface="+mn-cs"/>
              </a:rPr>
              <a:t>within your application</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kern="1200" baseline="0" dirty="0">
                <a:solidFill>
                  <a:schemeClr val="tx1"/>
                </a:solidFill>
                <a:latin typeface="+mn-lt"/>
                <a:ea typeface="+mn-ea"/>
                <a:cs typeface="+mn-cs"/>
              </a:rPr>
              <a:t>One important area of consistency is in layout – where controls and information are displayed on the screen.</a:t>
            </a:r>
          </a:p>
          <a:p>
            <a:endParaRPr lang="en-US" dirty="0"/>
          </a:p>
        </p:txBody>
      </p:sp>
      <p:sp>
        <p:nvSpPr>
          <p:cNvPr id="4" name="Slide Number Placeholder 3"/>
          <p:cNvSpPr>
            <a:spLocks noGrp="1"/>
          </p:cNvSpPr>
          <p:nvPr>
            <p:ph type="sldNum" sz="quarter" idx="10"/>
          </p:nvPr>
        </p:nvSpPr>
        <p:spPr/>
        <p:txBody>
          <a:bodyPr/>
          <a:lstStyle/>
          <a:p>
            <a:fld id="{4FBF37F3-1E9D-4A50-9E92-4ABD0576BF3E}" type="slidenum">
              <a:rPr lang="en-US" smtClean="0"/>
              <a:t>48</a:t>
            </a:fld>
            <a:endParaRPr lang="en-US"/>
          </a:p>
        </p:txBody>
      </p:sp>
    </p:spTree>
    <p:extLst>
      <p:ext uri="{BB962C8B-B14F-4D97-AF65-F5344CB8AC3E}">
        <p14:creationId xmlns:p14="http://schemas.microsoft.com/office/powerpoint/2010/main" val="24048720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baseline="0" dirty="0">
                <a:solidFill>
                  <a:schemeClr val="tx1"/>
                </a:solidFill>
                <a:latin typeface="+mn-lt"/>
                <a:ea typeface="+mn-ea"/>
                <a:cs typeface="+mn-cs"/>
              </a:rPr>
              <a:t>external consistency </a:t>
            </a:r>
            <a:r>
              <a:rPr lang="en-US" sz="1200" b="0" i="0" u="none" strike="noStrike" kern="1200" baseline="0" dirty="0">
                <a:solidFill>
                  <a:schemeClr val="tx1"/>
                </a:solidFill>
                <a:latin typeface="+mn-lt"/>
                <a:ea typeface="+mn-ea"/>
                <a:cs typeface="+mn-cs"/>
              </a:rPr>
              <a:t>with other applications on the same platform</a:t>
            </a:r>
          </a:p>
          <a:p>
            <a:endParaRPr lang="en-US" dirty="0"/>
          </a:p>
        </p:txBody>
      </p:sp>
      <p:sp>
        <p:nvSpPr>
          <p:cNvPr id="4" name="Slide Number Placeholder 3"/>
          <p:cNvSpPr>
            <a:spLocks noGrp="1"/>
          </p:cNvSpPr>
          <p:nvPr>
            <p:ph type="sldNum" sz="quarter" idx="10"/>
          </p:nvPr>
        </p:nvSpPr>
        <p:spPr/>
        <p:txBody>
          <a:bodyPr/>
          <a:lstStyle/>
          <a:p>
            <a:fld id="{4FBF37F3-1E9D-4A50-9E92-4ABD0576BF3E}" type="slidenum">
              <a:rPr lang="en-US" smtClean="0"/>
              <a:t>49</a:t>
            </a:fld>
            <a:endParaRPr lang="en-US"/>
          </a:p>
        </p:txBody>
      </p:sp>
    </p:spTree>
    <p:extLst>
      <p:ext uri="{BB962C8B-B14F-4D97-AF65-F5344CB8AC3E}">
        <p14:creationId xmlns:p14="http://schemas.microsoft.com/office/powerpoint/2010/main" val="22619860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Use the same terms throughout your user interface. If your interface says •share price in one place, •stock price in another, and •stock quote in a third, users will wonder whether these are three different things you’re talking about. Don’t get creative when you’re writing text for a user interface; keep it simple and uniform, just like all technical writing. </a:t>
            </a:r>
            <a:endParaRPr lang="en-US" dirty="0"/>
          </a:p>
        </p:txBody>
      </p:sp>
      <p:sp>
        <p:nvSpPr>
          <p:cNvPr id="4" name="Slide Number Placeholder 3"/>
          <p:cNvSpPr>
            <a:spLocks noGrp="1"/>
          </p:cNvSpPr>
          <p:nvPr>
            <p:ph type="sldNum" sz="quarter" idx="10"/>
          </p:nvPr>
        </p:nvSpPr>
        <p:spPr/>
        <p:txBody>
          <a:bodyPr/>
          <a:lstStyle/>
          <a:p>
            <a:fld id="{4FBF37F3-1E9D-4A50-9E92-4ABD0576BF3E}" type="slidenum">
              <a:rPr lang="en-US" smtClean="0"/>
              <a:t>50</a:t>
            </a:fld>
            <a:endParaRPr lang="en-US"/>
          </a:p>
        </p:txBody>
      </p:sp>
    </p:spTree>
    <p:extLst>
      <p:ext uri="{BB962C8B-B14F-4D97-AF65-F5344CB8AC3E}">
        <p14:creationId xmlns:p14="http://schemas.microsoft.com/office/powerpoint/2010/main" val="42592129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baseline="0" dirty="0">
                <a:solidFill>
                  <a:schemeClr val="tx1"/>
                </a:solidFill>
                <a:latin typeface="+mn-lt"/>
                <a:ea typeface="+mn-ea"/>
                <a:cs typeface="+mn-cs"/>
              </a:rPr>
              <a:t>metaphorical consistency </a:t>
            </a:r>
            <a:r>
              <a:rPr lang="en-US" sz="1200" b="0" i="0" u="none" strike="noStrike" kern="1200" baseline="0" dirty="0">
                <a:solidFill>
                  <a:schemeClr val="tx1"/>
                </a:solidFill>
                <a:latin typeface="+mn-lt"/>
                <a:ea typeface="+mn-ea"/>
                <a:cs typeface="+mn-cs"/>
              </a:rPr>
              <a:t>with your interface metaphor or similar real-world objects </a:t>
            </a:r>
            <a:endParaRPr lang="en-US" dirty="0"/>
          </a:p>
          <a:p>
            <a:endParaRPr lang="en-US" dirty="0"/>
          </a:p>
        </p:txBody>
      </p:sp>
      <p:sp>
        <p:nvSpPr>
          <p:cNvPr id="4" name="Slide Number Placeholder 3"/>
          <p:cNvSpPr>
            <a:spLocks noGrp="1"/>
          </p:cNvSpPr>
          <p:nvPr>
            <p:ph type="sldNum" sz="quarter" idx="10"/>
          </p:nvPr>
        </p:nvSpPr>
        <p:spPr/>
        <p:txBody>
          <a:bodyPr/>
          <a:lstStyle/>
          <a:p>
            <a:fld id="{4FBF37F3-1E9D-4A50-9E92-4ABD0576BF3E}" type="slidenum">
              <a:rPr lang="en-US" smtClean="0"/>
              <a:t>54</a:t>
            </a:fld>
            <a:endParaRPr lang="en-US"/>
          </a:p>
        </p:txBody>
      </p:sp>
    </p:spTree>
    <p:extLst>
      <p:ext uri="{BB962C8B-B14F-4D97-AF65-F5344CB8AC3E}">
        <p14:creationId xmlns:p14="http://schemas.microsoft.com/office/powerpoint/2010/main" val="6466078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2192" y="6053328"/>
            <a:ext cx="2999232"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3145536" y="6044184"/>
            <a:ext cx="90464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3149600" y="4038600"/>
            <a:ext cx="8636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3149600" y="6050037"/>
            <a:ext cx="89408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101600" y="6068699"/>
            <a:ext cx="2743200" cy="685800"/>
          </a:xfrm>
        </p:spPr>
        <p:txBody>
          <a:bodyPr>
            <a:noAutofit/>
          </a:bodyPr>
          <a:lstStyle>
            <a:lvl1pPr algn="ctr">
              <a:defRPr sz="2000">
                <a:solidFill>
                  <a:srgbClr val="FFFFFF"/>
                </a:solidFill>
              </a:defRPr>
            </a:lvl1pPr>
          </a:lstStyle>
          <a:p>
            <a:fld id="{42CBEF2B-A049-45DD-8FAF-C32FB9B72985}" type="datetimeFigureOut">
              <a:rPr lang="en-US" smtClean="0"/>
              <a:t>05-Mar-2025</a:t>
            </a:fld>
            <a:endParaRPr lang="en-US"/>
          </a:p>
        </p:txBody>
      </p:sp>
      <p:sp>
        <p:nvSpPr>
          <p:cNvPr id="17" name="Footer Placeholder 16"/>
          <p:cNvSpPr>
            <a:spLocks noGrp="1"/>
          </p:cNvSpPr>
          <p:nvPr>
            <p:ph type="ftr" sz="quarter" idx="11"/>
          </p:nvPr>
        </p:nvSpPr>
        <p:spPr>
          <a:xfrm>
            <a:off x="2780524" y="236539"/>
            <a:ext cx="78232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10668000" y="228600"/>
            <a:ext cx="1117600" cy="381000"/>
          </a:xfrm>
        </p:spPr>
        <p:txBody>
          <a:bodyPr/>
          <a:lstStyle>
            <a:lvl1pPr>
              <a:defRPr>
                <a:solidFill>
                  <a:schemeClr val="tx2"/>
                </a:solidFill>
              </a:defRPr>
            </a:lvl1pPr>
          </a:lstStyle>
          <a:p>
            <a:fld id="{4E0C72FD-FF45-4032-BF5D-AEB34CE21515}"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6864" y="228600"/>
            <a:ext cx="10871200" cy="990600"/>
          </a:xfrm>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42CBEF2B-A049-45DD-8FAF-C32FB9B72985}" type="datetimeFigureOut">
              <a:rPr lang="en-US" smtClean="0"/>
              <a:t>05-Mar-2025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4E0C72FD-FF45-4032-BF5D-AEB34CE21515}" type="slidenum">
              <a:rPr lang="en-US" smtClean="0"/>
              <a:t>‹#›</a:t>
            </a:fld>
            <a:endParaRPr lang="en-US"/>
          </a:p>
        </p:txBody>
      </p:sp>
      <p:sp>
        <p:nvSpPr>
          <p:cNvPr id="8" name="Content Placeholder 7"/>
          <p:cNvSpPr>
            <a:spLocks noGrp="1"/>
          </p:cNvSpPr>
          <p:nvPr>
            <p:ph sz="quarter" idx="1"/>
          </p:nvPr>
        </p:nvSpPr>
        <p:spPr>
          <a:xfrm>
            <a:off x="816864" y="1600200"/>
            <a:ext cx="108712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828801" y="2743200"/>
            <a:ext cx="9497484"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12192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7272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828800" y="1600200"/>
            <a:ext cx="103632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828800" y="1600200"/>
            <a:ext cx="1016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42CBEF2B-A049-45DD-8FAF-C32FB9B72985}" type="datetimeFigureOut">
              <a:rPr lang="en-US" smtClean="0"/>
              <a:t>05-Mar-2025</a:t>
            </a:fld>
            <a:endParaRPr lang="en-US"/>
          </a:p>
        </p:txBody>
      </p:sp>
      <p:sp>
        <p:nvSpPr>
          <p:cNvPr id="13" name="Slide Number Placeholder 12"/>
          <p:cNvSpPr>
            <a:spLocks noGrp="1"/>
          </p:cNvSpPr>
          <p:nvPr>
            <p:ph type="sldNum" sz="quarter" idx="11"/>
          </p:nvPr>
        </p:nvSpPr>
        <p:spPr>
          <a:xfrm>
            <a:off x="0" y="1752600"/>
            <a:ext cx="1727200" cy="701676"/>
          </a:xfrm>
        </p:spPr>
        <p:txBody>
          <a:bodyPr>
            <a:noAutofit/>
          </a:bodyPr>
          <a:lstStyle>
            <a:lvl1pPr>
              <a:defRPr sz="2400">
                <a:solidFill>
                  <a:srgbClr val="FFFFFF"/>
                </a:solidFill>
              </a:defRPr>
            </a:lvl1pPr>
          </a:lstStyle>
          <a:p>
            <a:fld id="{4E0C72FD-FF45-4032-BF5D-AEB34CE21515}" type="slidenum">
              <a:rPr lang="en-US" smtClean="0"/>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812800" y="1589567"/>
            <a:ext cx="5181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459868" y="1589567"/>
            <a:ext cx="5181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42CBEF2B-A049-45DD-8FAF-C32FB9B72985}" type="datetimeFigureOut">
              <a:rPr lang="en-US" smtClean="0"/>
              <a:t>05-Mar-2025</a:t>
            </a:fld>
            <a:endParaRPr lang="en-US"/>
          </a:p>
        </p:txBody>
      </p:sp>
      <p:sp>
        <p:nvSpPr>
          <p:cNvPr id="10" name="Slide Number Placeholder 9"/>
          <p:cNvSpPr>
            <a:spLocks noGrp="1"/>
          </p:cNvSpPr>
          <p:nvPr>
            <p:ph type="sldNum" sz="quarter" idx="16"/>
          </p:nvPr>
        </p:nvSpPr>
        <p:spPr/>
        <p:txBody>
          <a:bodyPr rtlCol="0"/>
          <a:lstStyle/>
          <a:p>
            <a:fld id="{4E0C72FD-FF45-4032-BF5D-AEB34CE21515}" type="slidenum">
              <a:rPr lang="en-US" smtClean="0"/>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11200" y="273050"/>
            <a:ext cx="108712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812800" y="2438400"/>
            <a:ext cx="51816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400800" y="2438400"/>
            <a:ext cx="51816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42CBEF2B-A049-45DD-8FAF-C32FB9B72985}" type="datetimeFigureOut">
              <a:rPr lang="en-US" smtClean="0"/>
              <a:t>05-Mar-2025</a:t>
            </a:fld>
            <a:endParaRPr lang="en-US"/>
          </a:p>
        </p:txBody>
      </p:sp>
      <p:sp>
        <p:nvSpPr>
          <p:cNvPr id="12" name="Slide Number Placeholder 11"/>
          <p:cNvSpPr>
            <a:spLocks noGrp="1"/>
          </p:cNvSpPr>
          <p:nvPr>
            <p:ph type="sldNum" sz="quarter" idx="16"/>
          </p:nvPr>
        </p:nvSpPr>
        <p:spPr/>
        <p:txBody>
          <a:bodyPr rtlCol="0"/>
          <a:lstStyle/>
          <a:p>
            <a:fld id="{4E0C72FD-FF45-4032-BF5D-AEB34CE21515}" type="slidenum">
              <a:rPr lang="en-US" smtClean="0"/>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812800" y="1752600"/>
            <a:ext cx="51816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6400800" y="1752600"/>
            <a:ext cx="51816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42CBEF2B-A049-45DD-8FAF-C32FB9B72985}" type="datetimeFigureOut">
              <a:rPr lang="en-US" smtClean="0"/>
              <a:t>05-Mar-2025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4E0C72FD-FF45-4032-BF5D-AEB34CE21515}"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CBEF2B-A049-45DD-8FAF-C32FB9B72985}" type="datetimeFigureOut">
              <a:rPr lang="en-US" smtClean="0"/>
              <a:t>05-Mar-2025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711200" cy="381000"/>
          </a:xfrm>
        </p:spPr>
        <p:txBody>
          <a:bodyPr/>
          <a:lstStyle>
            <a:lvl1pPr>
              <a:defRPr>
                <a:solidFill>
                  <a:schemeClr val="tx2"/>
                </a:solidFill>
              </a:defRPr>
            </a:lvl1pPr>
          </a:lstStyle>
          <a:p>
            <a:fld id="{4E0C72FD-FF45-4032-BF5D-AEB34CE21515}"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0" y="273050"/>
            <a:ext cx="107696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42CBEF2B-A049-45DD-8FAF-C32FB9B72985}" type="datetimeFigureOut">
              <a:rPr lang="en-US" smtClean="0"/>
              <a:t>05-Mar-2025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4E0C72FD-FF45-4032-BF5D-AEB34CE21515}" type="slidenum">
              <a:rPr lang="en-US" smtClean="0"/>
              <a:t>‹#›</a:t>
            </a:fld>
            <a:endParaRPr lang="en-US"/>
          </a:p>
        </p:txBody>
      </p:sp>
      <p:sp>
        <p:nvSpPr>
          <p:cNvPr id="3" name="Text Placeholder 2"/>
          <p:cNvSpPr>
            <a:spLocks noGrp="1"/>
          </p:cNvSpPr>
          <p:nvPr>
            <p:ph type="body" idx="2"/>
          </p:nvPr>
        </p:nvSpPr>
        <p:spPr>
          <a:xfrm>
            <a:off x="812800" y="1752600"/>
            <a:ext cx="21336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3149600" y="1752600"/>
            <a:ext cx="85344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2133600" y="5486400"/>
            <a:ext cx="97536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12192" y="4572000"/>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2192" y="4663440"/>
            <a:ext cx="195072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2060448" y="4654296"/>
            <a:ext cx="10131552"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133600" y="4648200"/>
            <a:ext cx="97536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930400" y="0"/>
            <a:ext cx="134112"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8331200" y="6248401"/>
            <a:ext cx="3556000" cy="365125"/>
          </a:xfrm>
        </p:spPr>
        <p:txBody>
          <a:bodyPr rtlCol="0"/>
          <a:lstStyle/>
          <a:p>
            <a:fld id="{42CBEF2B-A049-45DD-8FAF-C32FB9B72985}" type="datetimeFigureOut">
              <a:rPr lang="en-US" smtClean="0"/>
              <a:t>05-Mar-2025</a:t>
            </a:fld>
            <a:endParaRPr lang="en-US"/>
          </a:p>
        </p:txBody>
      </p:sp>
      <p:sp>
        <p:nvSpPr>
          <p:cNvPr id="13" name="Slide Number Placeholder 12"/>
          <p:cNvSpPr>
            <a:spLocks noGrp="1"/>
          </p:cNvSpPr>
          <p:nvPr>
            <p:ph type="sldNum" sz="quarter" idx="11"/>
          </p:nvPr>
        </p:nvSpPr>
        <p:spPr>
          <a:xfrm>
            <a:off x="0" y="4667249"/>
            <a:ext cx="1930400" cy="663578"/>
          </a:xfrm>
        </p:spPr>
        <p:txBody>
          <a:bodyPr rtlCol="0"/>
          <a:lstStyle>
            <a:lvl1pPr>
              <a:defRPr sz="2800"/>
            </a:lvl1pPr>
          </a:lstStyle>
          <a:p>
            <a:fld id="{4E0C72FD-FF45-4032-BF5D-AEB34CE21515}" type="slidenum">
              <a:rPr lang="en-US" smtClean="0"/>
              <a:t>‹#›</a:t>
            </a:fld>
            <a:endParaRPr lang="en-US"/>
          </a:p>
        </p:txBody>
      </p:sp>
      <p:sp>
        <p:nvSpPr>
          <p:cNvPr id="14" name="Footer Placeholder 13"/>
          <p:cNvSpPr>
            <a:spLocks noGrp="1"/>
          </p:cNvSpPr>
          <p:nvPr>
            <p:ph type="ftr" sz="quarter" idx="12"/>
          </p:nvPr>
        </p:nvSpPr>
        <p:spPr>
          <a:xfrm>
            <a:off x="2133600" y="6248207"/>
            <a:ext cx="6096000" cy="365125"/>
          </a:xfrm>
        </p:spPr>
        <p:txBody>
          <a:bodyPr rtlCol="0"/>
          <a:lstStyle/>
          <a:p>
            <a:endParaRPr lang="en-US"/>
          </a:p>
        </p:txBody>
      </p:sp>
      <p:sp>
        <p:nvSpPr>
          <p:cNvPr id="3" name="Picture Placeholder 2"/>
          <p:cNvSpPr>
            <a:spLocks noGrp="1"/>
          </p:cNvSpPr>
          <p:nvPr>
            <p:ph type="pic" idx="1"/>
          </p:nvPr>
        </p:nvSpPr>
        <p:spPr>
          <a:xfrm>
            <a:off x="2080768" y="0"/>
            <a:ext cx="10111232"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2CBEF2B-A049-45DD-8FAF-C32FB9B72985}" type="datetimeFigureOut">
              <a:rPr lang="en-US" smtClean="0"/>
              <a:t>05-Mar-2025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0C72FD-FF45-4032-BF5D-AEB34CE21515}"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609601"/>
            <a:ext cx="27432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609600"/>
            <a:ext cx="74168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8737600" y="6248403"/>
            <a:ext cx="2946400" cy="365125"/>
          </a:xfrm>
        </p:spPr>
        <p:txBody>
          <a:bodyPr/>
          <a:lstStyle/>
          <a:p>
            <a:fld id="{42CBEF2B-A049-45DD-8FAF-C32FB9B72985}" type="datetimeFigureOut">
              <a:rPr lang="en-US" smtClean="0"/>
              <a:t>05-Mar-2025</a:t>
            </a:fld>
            <a:endParaRPr lang="en-US"/>
          </a:p>
        </p:txBody>
      </p:sp>
      <p:sp>
        <p:nvSpPr>
          <p:cNvPr id="5" name="Footer Placeholder 4"/>
          <p:cNvSpPr>
            <a:spLocks noGrp="1"/>
          </p:cNvSpPr>
          <p:nvPr>
            <p:ph type="ftr" sz="quarter" idx="11"/>
          </p:nvPr>
        </p:nvSpPr>
        <p:spPr>
          <a:xfrm>
            <a:off x="609602" y="6248208"/>
            <a:ext cx="7431311" cy="365125"/>
          </a:xfrm>
        </p:spPr>
        <p:txBody>
          <a:bodyPr/>
          <a:lstStyle/>
          <a:p>
            <a:endParaRPr lang="en-US"/>
          </a:p>
        </p:txBody>
      </p:sp>
      <p:sp>
        <p:nvSpPr>
          <p:cNvPr id="7" name="Rectangle 6"/>
          <p:cNvSpPr/>
          <p:nvPr/>
        </p:nvSpPr>
        <p:spPr bwMode="white">
          <a:xfrm>
            <a:off x="8128424" y="0"/>
            <a:ext cx="42672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8189384" y="609600"/>
            <a:ext cx="3048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8189384" y="0"/>
            <a:ext cx="3048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8075084" y="103716"/>
            <a:ext cx="533400" cy="325968"/>
          </a:xfrm>
        </p:spPr>
        <p:txBody>
          <a:bodyPr/>
          <a:lstStyle/>
          <a:p>
            <a:fld id="{4E0C72FD-FF45-4032-BF5D-AEB34CE21515}"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812800" y="228600"/>
            <a:ext cx="108712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816864" y="1600200"/>
            <a:ext cx="108712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128000" y="6248401"/>
            <a:ext cx="3556000" cy="365125"/>
          </a:xfrm>
          <a:prstGeom prst="rect">
            <a:avLst/>
          </a:prstGeom>
        </p:spPr>
        <p:txBody>
          <a:bodyPr vert="horz" anchor="ctr" anchorCtr="0"/>
          <a:lstStyle>
            <a:lvl1pPr algn="l" eaLnBrk="1" latinLnBrk="0" hangingPunct="1">
              <a:defRPr kumimoji="0" sz="1400">
                <a:solidFill>
                  <a:schemeClr val="tx2"/>
                </a:solidFill>
              </a:defRPr>
            </a:lvl1pPr>
          </a:lstStyle>
          <a:p>
            <a:fld id="{42CBEF2B-A049-45DD-8FAF-C32FB9B72985}" type="datetimeFigureOut">
              <a:rPr lang="en-US" smtClean="0"/>
              <a:t>05-Mar-2025</a:t>
            </a:fld>
            <a:endParaRPr lang="en-US"/>
          </a:p>
        </p:txBody>
      </p:sp>
      <p:sp>
        <p:nvSpPr>
          <p:cNvPr id="3" name="Footer Placeholder 2"/>
          <p:cNvSpPr>
            <a:spLocks noGrp="1"/>
          </p:cNvSpPr>
          <p:nvPr>
            <p:ph type="ftr" sz="quarter" idx="3"/>
          </p:nvPr>
        </p:nvSpPr>
        <p:spPr>
          <a:xfrm>
            <a:off x="812801" y="6248207"/>
            <a:ext cx="7228111"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12192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7112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787400" y="1280160"/>
            <a:ext cx="1140460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7112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4E0C72FD-FF45-4032-BF5D-AEB34CE21515}"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0.wmf"/><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oleObject" Target="../embeddings/oleObject1.bin"/><Relationship Id="rId5" Type="http://schemas.openxmlformats.org/officeDocument/2006/relationships/image" Target="../media/image29.png"/><Relationship Id="rId4" Type="http://schemas.openxmlformats.org/officeDocument/2006/relationships/image" Target="../media/image2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8.gi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49.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2.jpeg"/></Relationships>
</file>

<file path=ppt/slides/_rels/slide5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4.gi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Learnability and Memorability </a:t>
            </a:r>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2801190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do people learn </a:t>
            </a:r>
          </a:p>
        </p:txBody>
      </p:sp>
      <p:sp>
        <p:nvSpPr>
          <p:cNvPr id="3" name="Content Placeholder 2"/>
          <p:cNvSpPr>
            <a:spLocks noGrp="1"/>
          </p:cNvSpPr>
          <p:nvPr>
            <p:ph sz="quarter" idx="1"/>
          </p:nvPr>
        </p:nvSpPr>
        <p:spPr/>
        <p:txBody>
          <a:bodyPr/>
          <a:lstStyle/>
          <a:p>
            <a:r>
              <a:rPr lang="en-US" dirty="0"/>
              <a:t>How do people learn?</a:t>
            </a:r>
          </a:p>
          <a:p>
            <a:pPr lvl="1"/>
            <a:r>
              <a:rPr lang="en-US" dirty="0"/>
              <a:t>Reading manuals </a:t>
            </a:r>
          </a:p>
          <a:p>
            <a:pPr lvl="1"/>
            <a:r>
              <a:rPr lang="en-US" dirty="0"/>
              <a:t>Receiving trainings </a:t>
            </a:r>
          </a:p>
          <a:p>
            <a:pPr lvl="1"/>
            <a:r>
              <a:rPr lang="en-US" dirty="0"/>
              <a:t>Learning by doing </a:t>
            </a:r>
          </a:p>
          <a:p>
            <a:pPr lvl="1"/>
            <a:r>
              <a:rPr lang="en-US" dirty="0"/>
              <a:t>Learning by watching </a:t>
            </a:r>
          </a:p>
          <a:p>
            <a:pPr lvl="1"/>
            <a:r>
              <a:rPr lang="en-US" dirty="0"/>
              <a:t>Any other? </a:t>
            </a:r>
          </a:p>
          <a:p>
            <a:pPr lvl="1"/>
            <a:endParaRPr lang="en-US" dirty="0"/>
          </a:p>
          <a:p>
            <a:r>
              <a:rPr lang="en-US" dirty="0"/>
              <a:t>Is it dependent on context? </a:t>
            </a:r>
          </a:p>
        </p:txBody>
      </p:sp>
    </p:spTree>
    <p:extLst>
      <p:ext uri="{BB962C8B-B14F-4D97-AF65-F5344CB8AC3E}">
        <p14:creationId xmlns:p14="http://schemas.microsoft.com/office/powerpoint/2010/main" val="29925622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by Doing </a:t>
            </a:r>
          </a:p>
        </p:txBody>
      </p:sp>
      <p:sp>
        <p:nvSpPr>
          <p:cNvPr id="3" name="Content Placeholder 2"/>
          <p:cNvSpPr>
            <a:spLocks noGrp="1"/>
          </p:cNvSpPr>
          <p:nvPr>
            <p:ph sz="quarter" idx="1"/>
          </p:nvPr>
        </p:nvSpPr>
        <p:spPr/>
        <p:txBody>
          <a:bodyPr/>
          <a:lstStyle/>
          <a:p>
            <a:r>
              <a:rPr lang="en-US" dirty="0"/>
              <a:t>User has a goal to achieve </a:t>
            </a:r>
          </a:p>
          <a:p>
            <a:pPr lvl="1"/>
            <a:r>
              <a:rPr lang="en-US" dirty="0"/>
              <a:t>Explores the interface to achieve that goal </a:t>
            </a:r>
          </a:p>
          <a:p>
            <a:endParaRPr lang="en-US" dirty="0"/>
          </a:p>
          <a:p>
            <a:r>
              <a:rPr lang="en-US" dirty="0"/>
              <a:t>But, the Users’ goal is not learning! </a:t>
            </a:r>
          </a:p>
          <a:p>
            <a:endParaRPr lang="en-US" dirty="0"/>
          </a:p>
          <a:p>
            <a:pPr marL="0" indent="0">
              <a:buNone/>
            </a:pPr>
            <a:endParaRPr lang="en-US" dirty="0"/>
          </a:p>
        </p:txBody>
      </p:sp>
    </p:spTree>
    <p:extLst>
      <p:ext uri="{BB962C8B-B14F-4D97-AF65-F5344CB8AC3E}">
        <p14:creationId xmlns:p14="http://schemas.microsoft.com/office/powerpoint/2010/main" val="28843983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82579" y="365125"/>
            <a:ext cx="11191741" cy="1325563"/>
          </a:xfrm>
        </p:spPr>
        <p:txBody>
          <a:bodyPr/>
          <a:lstStyle/>
          <a:p>
            <a:r>
              <a:rPr lang="en-US" dirty="0"/>
              <a:t>Interaction Model: </a:t>
            </a:r>
            <a:r>
              <a:rPr lang="en-US" dirty="0" err="1"/>
              <a:t>Abowd</a:t>
            </a:r>
            <a:r>
              <a:rPr lang="en-US" dirty="0"/>
              <a:t> and Beale Framework </a:t>
            </a:r>
          </a:p>
        </p:txBody>
      </p:sp>
      <p:pic>
        <p:nvPicPr>
          <p:cNvPr id="4" name="Picture 2"/>
          <p:cNvPicPr>
            <a:picLocks noGrp="1" noChangeAspect="1" noChangeArrowheads="1"/>
          </p:cNvPicPr>
          <p:nvPr>
            <p:ph sz="quarter" idx="1"/>
          </p:nvPr>
        </p:nvPicPr>
        <p:blipFill>
          <a:blip r:embed="rId3" cstate="print"/>
          <a:stretch>
            <a:fillRect/>
          </a:stretch>
        </p:blipFill>
        <p:spPr bwMode="auto">
          <a:xfrm>
            <a:off x="3849574" y="2631563"/>
            <a:ext cx="4857750" cy="3133725"/>
          </a:xfrm>
          <a:prstGeom prst="rect">
            <a:avLst/>
          </a:prstGeom>
          <a:noFill/>
          <a:ln w="9525">
            <a:noFill/>
            <a:miter lim="800000"/>
            <a:headEnd/>
            <a:tailEnd/>
          </a:ln>
          <a:effectLst/>
        </p:spPr>
      </p:pic>
      <p:cxnSp>
        <p:nvCxnSpPr>
          <p:cNvPr id="6" name="Straight Connector 5"/>
          <p:cNvCxnSpPr/>
          <p:nvPr/>
        </p:nvCxnSpPr>
        <p:spPr>
          <a:xfrm flipV="1">
            <a:off x="103031" y="4198426"/>
            <a:ext cx="11243256" cy="12966"/>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Content Placeholder 2"/>
          <p:cNvSpPr txBox="1">
            <a:spLocks/>
          </p:cNvSpPr>
          <p:nvPr/>
        </p:nvSpPr>
        <p:spPr>
          <a:xfrm>
            <a:off x="838200" y="3628672"/>
            <a:ext cx="2600459" cy="5827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chemeClr val="accent2"/>
                </a:solidFill>
              </a:rPr>
              <a:t>Evaluation Area</a:t>
            </a:r>
          </a:p>
        </p:txBody>
      </p:sp>
      <p:sp>
        <p:nvSpPr>
          <p:cNvPr id="9" name="Content Placeholder 2"/>
          <p:cNvSpPr txBox="1">
            <a:spLocks/>
          </p:cNvSpPr>
          <p:nvPr/>
        </p:nvSpPr>
        <p:spPr>
          <a:xfrm>
            <a:off x="836052" y="4283342"/>
            <a:ext cx="2600459" cy="55911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chemeClr val="accent2"/>
                </a:solidFill>
              </a:rPr>
              <a:t>Execution Area</a:t>
            </a:r>
          </a:p>
        </p:txBody>
      </p:sp>
    </p:spTree>
    <p:extLst>
      <p:ext uri="{BB962C8B-B14F-4D97-AF65-F5344CB8AC3E}">
        <p14:creationId xmlns:p14="http://schemas.microsoft.com/office/powerpoint/2010/main" val="23496995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Lesson </a:t>
            </a:r>
          </a:p>
        </p:txBody>
      </p:sp>
      <p:sp>
        <p:nvSpPr>
          <p:cNvPr id="3" name="Content Placeholder 2"/>
          <p:cNvSpPr>
            <a:spLocks noGrp="1"/>
          </p:cNvSpPr>
          <p:nvPr>
            <p:ph sz="quarter" idx="1"/>
          </p:nvPr>
        </p:nvSpPr>
        <p:spPr/>
        <p:txBody>
          <a:bodyPr/>
          <a:lstStyle/>
          <a:p>
            <a:r>
              <a:rPr lang="en-US" dirty="0"/>
              <a:t>Know users’ goals </a:t>
            </a:r>
          </a:p>
          <a:p>
            <a:pPr lvl="1"/>
            <a:r>
              <a:rPr lang="en-US" dirty="0"/>
              <a:t>By applying techniques we learn later </a:t>
            </a:r>
          </a:p>
          <a:p>
            <a:endParaRPr lang="en-US" dirty="0"/>
          </a:p>
          <a:p>
            <a:r>
              <a:rPr lang="en-US" dirty="0"/>
              <a:t>Interface shall communicate how it works and how to use it </a:t>
            </a:r>
          </a:p>
          <a:p>
            <a:pPr lvl="1"/>
            <a:r>
              <a:rPr lang="en-US" dirty="0"/>
              <a:t>By incorporating messages in design, we learn later </a:t>
            </a:r>
          </a:p>
          <a:p>
            <a:endParaRPr lang="en-US" dirty="0"/>
          </a:p>
          <a:p>
            <a:r>
              <a:rPr lang="en-US" dirty="0"/>
              <a:t>Provide goal-oriented help </a:t>
            </a:r>
          </a:p>
          <a:p>
            <a:pPr lvl="1"/>
            <a:r>
              <a:rPr lang="en-US" dirty="0"/>
              <a:t>User is not interested in anything/any information other than his goal </a:t>
            </a:r>
          </a:p>
          <a:p>
            <a:endParaRPr lang="en-US" dirty="0"/>
          </a:p>
          <a:p>
            <a:endParaRPr lang="en-US" dirty="0"/>
          </a:p>
        </p:txBody>
      </p:sp>
    </p:spTree>
    <p:extLst>
      <p:ext uri="{BB962C8B-B14F-4D97-AF65-F5344CB8AC3E}">
        <p14:creationId xmlns:p14="http://schemas.microsoft.com/office/powerpoint/2010/main" val="4217625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789" y="365125"/>
            <a:ext cx="12063211" cy="1325563"/>
          </a:xfrm>
        </p:spPr>
        <p:txBody>
          <a:bodyPr>
            <a:normAutofit fontScale="90000"/>
          </a:bodyPr>
          <a:lstStyle/>
          <a:p>
            <a:r>
              <a:rPr lang="en-US" b="1" dirty="0"/>
              <a:t>Just because you've said it, doesn't mean they know it </a:t>
            </a:r>
            <a:endParaRPr lang="en-US" dirty="0"/>
          </a:p>
        </p:txBody>
      </p:sp>
      <p:sp>
        <p:nvSpPr>
          <p:cNvPr id="3" name="Content Placeholder 2"/>
          <p:cNvSpPr>
            <a:spLocks noGrp="1"/>
          </p:cNvSpPr>
          <p:nvPr>
            <p:ph sz="quarter" idx="1"/>
          </p:nvPr>
        </p:nvSpPr>
        <p:spPr>
          <a:xfrm>
            <a:off x="838200" y="4893977"/>
            <a:ext cx="10515600" cy="1429551"/>
          </a:xfrm>
        </p:spPr>
        <p:txBody>
          <a:bodyPr/>
          <a:lstStyle/>
          <a:p>
            <a:r>
              <a:rPr lang="en-US" dirty="0"/>
              <a:t>Modal Dialogue: vanishes as soon as you click OK</a:t>
            </a:r>
          </a:p>
          <a:p>
            <a:r>
              <a:rPr lang="en-US" dirty="0"/>
              <a:t>Users struggle to remember the sequence </a:t>
            </a:r>
          </a:p>
        </p:txBody>
      </p:sp>
      <p:pic>
        <p:nvPicPr>
          <p:cNvPr id="5" name="Picture 4"/>
          <p:cNvPicPr>
            <a:picLocks noChangeAspect="1"/>
          </p:cNvPicPr>
          <p:nvPr/>
        </p:nvPicPr>
        <p:blipFill>
          <a:blip r:embed="rId2"/>
          <a:stretch>
            <a:fillRect/>
          </a:stretch>
        </p:blipFill>
        <p:spPr>
          <a:xfrm>
            <a:off x="1045624" y="1372344"/>
            <a:ext cx="10199908" cy="3315573"/>
          </a:xfrm>
          <a:prstGeom prst="rect">
            <a:avLst/>
          </a:prstGeom>
        </p:spPr>
      </p:pic>
    </p:spTree>
    <p:extLst>
      <p:ext uri="{BB962C8B-B14F-4D97-AF65-F5344CB8AC3E}">
        <p14:creationId xmlns:p14="http://schemas.microsoft.com/office/powerpoint/2010/main" val="177503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Human Information Processing </a:t>
            </a:r>
          </a:p>
        </p:txBody>
      </p:sp>
      <p:pic>
        <p:nvPicPr>
          <p:cNvPr id="4" name="Content Placeholder 3"/>
          <p:cNvPicPr>
            <a:picLocks noGrp="1" noChangeAspect="1"/>
          </p:cNvPicPr>
          <p:nvPr>
            <p:ph idx="1"/>
          </p:nvPr>
        </p:nvPicPr>
        <p:blipFill>
          <a:blip r:embed="rId3"/>
          <a:stretch>
            <a:fillRect/>
          </a:stretch>
        </p:blipFill>
        <p:spPr>
          <a:xfrm>
            <a:off x="3385930" y="1494219"/>
            <a:ext cx="7053470" cy="5176949"/>
          </a:xfrm>
          <a:prstGeom prst="rect">
            <a:avLst/>
          </a:prstGeom>
        </p:spPr>
      </p:pic>
      <p:sp>
        <p:nvSpPr>
          <p:cNvPr id="3" name="TextBox 2"/>
          <p:cNvSpPr txBox="1"/>
          <p:nvPr/>
        </p:nvSpPr>
        <p:spPr>
          <a:xfrm>
            <a:off x="1562100" y="1494219"/>
            <a:ext cx="4419600" cy="461665"/>
          </a:xfrm>
          <a:prstGeom prst="rect">
            <a:avLst/>
          </a:prstGeom>
          <a:noFill/>
        </p:spPr>
        <p:txBody>
          <a:bodyPr wrap="square" rtlCol="0">
            <a:spAutoFit/>
          </a:bodyPr>
          <a:lstStyle/>
          <a:p>
            <a:r>
              <a:rPr lang="en-US" sz="2400" dirty="0"/>
              <a:t>Model Human Processor (MHP)</a:t>
            </a:r>
          </a:p>
        </p:txBody>
      </p:sp>
    </p:spTree>
    <p:extLst>
      <p:ext uri="{BB962C8B-B14F-4D97-AF65-F5344CB8AC3E}">
        <p14:creationId xmlns:p14="http://schemas.microsoft.com/office/powerpoint/2010/main" val="15739945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do people store information</a:t>
            </a:r>
          </a:p>
        </p:txBody>
      </p:sp>
      <p:pic>
        <p:nvPicPr>
          <p:cNvPr id="4" name="Picture 2"/>
          <p:cNvPicPr>
            <a:picLocks noChangeAspect="1" noChangeArrowheads="1"/>
          </p:cNvPicPr>
          <p:nvPr/>
        </p:nvPicPr>
        <p:blipFill>
          <a:blip r:embed="rId3" cstate="print"/>
          <a:srcRect/>
          <a:stretch>
            <a:fillRect/>
          </a:stretch>
        </p:blipFill>
        <p:spPr bwMode="auto">
          <a:xfrm>
            <a:off x="1623259" y="1321238"/>
            <a:ext cx="8735578" cy="5506782"/>
          </a:xfrm>
          <a:prstGeom prst="rect">
            <a:avLst/>
          </a:prstGeom>
          <a:noFill/>
          <a:ln w="9525">
            <a:noFill/>
            <a:miter lim="800000"/>
            <a:headEnd/>
            <a:tailEnd/>
          </a:ln>
          <a:effectLst/>
        </p:spPr>
      </p:pic>
    </p:spTree>
    <p:extLst>
      <p:ext uri="{BB962C8B-B14F-4D97-AF65-F5344CB8AC3E}">
        <p14:creationId xmlns:p14="http://schemas.microsoft.com/office/powerpoint/2010/main" val="334051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ED2C8-D5CB-4915-B802-777428241D7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9CDF7FC-264A-4880-89B6-30083F583598}"/>
              </a:ext>
            </a:extLst>
          </p:cNvPr>
          <p:cNvSpPr>
            <a:spLocks noGrp="1"/>
          </p:cNvSpPr>
          <p:nvPr>
            <p:ph sz="quarter" idx="1"/>
          </p:nvPr>
        </p:nvSpPr>
        <p:spPr/>
        <p:txBody>
          <a:bodyPr>
            <a:normAutofit fontScale="70000" lnSpcReduction="20000"/>
          </a:bodyPr>
          <a:lstStyle/>
          <a:p>
            <a:r>
              <a:rPr lang="en-US" dirty="0"/>
              <a:t>PRE-ATTENTION </a:t>
            </a:r>
          </a:p>
          <a:p>
            <a:pPr lvl="1"/>
            <a:r>
              <a:rPr lang="en-US" dirty="0"/>
              <a:t>SENSORY MEMORY: In-node processing: reflexes and Filtration system </a:t>
            </a:r>
          </a:p>
          <a:p>
            <a:pPr lvl="1"/>
            <a:r>
              <a:rPr lang="en-US" dirty="0"/>
              <a:t>PERCEPTUAL PROCESSING </a:t>
            </a:r>
          </a:p>
          <a:p>
            <a:pPr lvl="1"/>
            <a:r>
              <a:rPr lang="en-US" dirty="0"/>
              <a:t>COGNITIVE PROCESSING: SKILL BASED </a:t>
            </a:r>
          </a:p>
          <a:p>
            <a:pPr lvl="1"/>
            <a:r>
              <a:rPr lang="en-US" dirty="0"/>
              <a:t>Extremely fast </a:t>
            </a:r>
          </a:p>
          <a:p>
            <a:pPr lvl="1"/>
            <a:r>
              <a:rPr lang="en-US" dirty="0"/>
              <a:t>Before conscious mind </a:t>
            </a:r>
          </a:p>
          <a:p>
            <a:endParaRPr lang="en-US" dirty="0"/>
          </a:p>
          <a:p>
            <a:r>
              <a:rPr lang="en-US" dirty="0"/>
              <a:t>ATTENTION </a:t>
            </a:r>
          </a:p>
          <a:p>
            <a:pPr lvl="1"/>
            <a:r>
              <a:rPr lang="en-US" dirty="0"/>
              <a:t>Conscious mind </a:t>
            </a:r>
          </a:p>
          <a:p>
            <a:pPr lvl="1"/>
            <a:r>
              <a:rPr lang="en-US" dirty="0"/>
              <a:t>Main processors: perceptive + cognitive + motor </a:t>
            </a:r>
          </a:p>
          <a:p>
            <a:pPr lvl="1"/>
            <a:r>
              <a:rPr lang="en-US" dirty="0"/>
              <a:t>Considerably slower than pre-attentive processing </a:t>
            </a:r>
          </a:p>
          <a:p>
            <a:pPr lvl="1"/>
            <a:r>
              <a:rPr lang="en-US" dirty="0"/>
              <a:t>Two main parts (Perception + Cognition) </a:t>
            </a:r>
          </a:p>
          <a:p>
            <a:pPr lvl="1"/>
            <a:endParaRPr lang="en-US" dirty="0"/>
          </a:p>
          <a:p>
            <a:r>
              <a:rPr lang="en-US" dirty="0"/>
              <a:t>WHENEVER YOU BYPASS ATTENTION: YOU INCREASE CHANCES OF ERRORS BY MULTIFOLD </a:t>
            </a:r>
          </a:p>
          <a:p>
            <a:endParaRPr lang="en-US" dirty="0"/>
          </a:p>
        </p:txBody>
      </p:sp>
    </p:spTree>
    <p:extLst>
      <p:ext uri="{BB962C8B-B14F-4D97-AF65-F5344CB8AC3E}">
        <p14:creationId xmlns:p14="http://schemas.microsoft.com/office/powerpoint/2010/main" val="30010229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Human Memory </a:t>
            </a:r>
          </a:p>
        </p:txBody>
      </p:sp>
      <p:sp>
        <p:nvSpPr>
          <p:cNvPr id="3" name="Content Placeholder 2"/>
          <p:cNvSpPr>
            <a:spLocks noGrp="1"/>
          </p:cNvSpPr>
          <p:nvPr>
            <p:ph sz="quarter" idx="1"/>
          </p:nvPr>
        </p:nvSpPr>
        <p:spPr/>
        <p:txBody>
          <a:bodyPr>
            <a:normAutofit/>
          </a:bodyPr>
          <a:lstStyle/>
          <a:p>
            <a:r>
              <a:rPr lang="en-US" dirty="0"/>
              <a:t>Short Term Memory (Working Memory)</a:t>
            </a:r>
          </a:p>
          <a:p>
            <a:pPr lvl="1"/>
            <a:r>
              <a:rPr lang="en-US" dirty="0"/>
              <a:t>limited capacity: 7± 2 chunks</a:t>
            </a:r>
          </a:p>
          <a:p>
            <a:pPr lvl="1"/>
            <a:r>
              <a:rPr lang="en-US" dirty="0"/>
              <a:t>rapid decay: ~ 10s</a:t>
            </a:r>
          </a:p>
          <a:p>
            <a:pPr lvl="1"/>
            <a:r>
              <a:rPr lang="en-US" dirty="0"/>
              <a:t>Maintenance rehearsal fends off decay (but costs attention) </a:t>
            </a:r>
          </a:p>
          <a:p>
            <a:endParaRPr lang="en-US" dirty="0"/>
          </a:p>
          <a:p>
            <a:r>
              <a:rPr lang="en-US" dirty="0"/>
              <a:t>Long Term Memory </a:t>
            </a:r>
          </a:p>
          <a:p>
            <a:pPr lvl="1"/>
            <a:r>
              <a:rPr lang="en-US" dirty="0"/>
              <a:t>Infinite size </a:t>
            </a:r>
          </a:p>
          <a:p>
            <a:pPr lvl="1"/>
            <a:r>
              <a:rPr lang="en-US" dirty="0"/>
              <a:t>Elaborative rehearsal (making connections to existing chunks) transfers chunk to LTM </a:t>
            </a:r>
          </a:p>
          <a:p>
            <a:pPr marL="0" indent="0">
              <a:buNone/>
            </a:pPr>
            <a:endParaRPr lang="en-US" dirty="0"/>
          </a:p>
        </p:txBody>
      </p:sp>
      <p:pic>
        <p:nvPicPr>
          <p:cNvPr id="4" name="Picture 3"/>
          <p:cNvPicPr>
            <a:picLocks noChangeAspect="1"/>
          </p:cNvPicPr>
          <p:nvPr/>
        </p:nvPicPr>
        <p:blipFill>
          <a:blip r:embed="rId3"/>
          <a:stretch>
            <a:fillRect/>
          </a:stretch>
        </p:blipFill>
        <p:spPr>
          <a:xfrm>
            <a:off x="8678164" y="1600200"/>
            <a:ext cx="3009900" cy="800100"/>
          </a:xfrm>
          <a:prstGeom prst="rect">
            <a:avLst/>
          </a:prstGeom>
        </p:spPr>
      </p:pic>
    </p:spTree>
    <p:extLst>
      <p:ext uri="{BB962C8B-B14F-4D97-AF65-F5344CB8AC3E}">
        <p14:creationId xmlns:p14="http://schemas.microsoft.com/office/powerpoint/2010/main" val="38736400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Lesson </a:t>
            </a:r>
          </a:p>
        </p:txBody>
      </p:sp>
      <p:sp>
        <p:nvSpPr>
          <p:cNvPr id="3" name="Content Placeholder 2"/>
          <p:cNvSpPr>
            <a:spLocks noGrp="1"/>
          </p:cNvSpPr>
          <p:nvPr>
            <p:ph sz="quarter" idx="1"/>
          </p:nvPr>
        </p:nvSpPr>
        <p:spPr/>
        <p:txBody>
          <a:bodyPr/>
          <a:lstStyle/>
          <a:p>
            <a:r>
              <a:rPr lang="en-US" dirty="0"/>
              <a:t>Making Memorability and Learnability easy … </a:t>
            </a:r>
          </a:p>
          <a:p>
            <a:pPr lvl="1"/>
            <a:r>
              <a:rPr lang="en-US" dirty="0"/>
              <a:t>Present well designed chunks </a:t>
            </a:r>
          </a:p>
          <a:p>
            <a:pPr lvl="1"/>
            <a:r>
              <a:rPr lang="en-US" dirty="0"/>
              <a:t>Familiarity </a:t>
            </a:r>
          </a:p>
          <a:p>
            <a:pPr lvl="1"/>
            <a:r>
              <a:rPr lang="en-US" dirty="0"/>
              <a:t>make connection making as easy as possible </a:t>
            </a:r>
          </a:p>
        </p:txBody>
      </p:sp>
    </p:spTree>
    <p:extLst>
      <p:ext uri="{BB962C8B-B14F-4D97-AF65-F5344CB8AC3E}">
        <p14:creationId xmlns:p14="http://schemas.microsoft.com/office/powerpoint/2010/main" val="16789081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Lesson: Make Chunking Easier </a:t>
            </a:r>
          </a:p>
        </p:txBody>
      </p:sp>
      <p:sp>
        <p:nvSpPr>
          <p:cNvPr id="3" name="Content Placeholder 2"/>
          <p:cNvSpPr>
            <a:spLocks noGrp="1"/>
          </p:cNvSpPr>
          <p:nvPr>
            <p:ph sz="quarter" idx="1"/>
          </p:nvPr>
        </p:nvSpPr>
        <p:spPr>
          <a:xfrm>
            <a:off x="6994358" y="2224870"/>
            <a:ext cx="5008763" cy="4351338"/>
          </a:xfrm>
        </p:spPr>
        <p:txBody>
          <a:bodyPr/>
          <a:lstStyle/>
          <a:p>
            <a:pPr marL="0" indent="0" algn="ctr">
              <a:buNone/>
            </a:pPr>
            <a:endParaRPr lang="en-US" b="1" dirty="0">
              <a:solidFill>
                <a:schemeClr val="accent2"/>
              </a:solidFill>
            </a:endParaRPr>
          </a:p>
          <a:p>
            <a:pPr marL="0" indent="0" algn="ctr">
              <a:buNone/>
            </a:pPr>
            <a:r>
              <a:rPr lang="en-US" b="1" dirty="0">
                <a:solidFill>
                  <a:schemeClr val="accent2"/>
                </a:solidFill>
              </a:rPr>
              <a:t>M W B C R A L O A B I M B F I </a:t>
            </a:r>
          </a:p>
          <a:p>
            <a:pPr marL="0" indent="0" algn="ctr">
              <a:buNone/>
            </a:pPr>
            <a:endParaRPr lang="en-US" b="1" dirty="0">
              <a:solidFill>
                <a:schemeClr val="accent2"/>
              </a:solidFill>
            </a:endParaRPr>
          </a:p>
          <a:p>
            <a:pPr marL="0" indent="0" algn="ctr">
              <a:buNone/>
            </a:pPr>
            <a:r>
              <a:rPr lang="en-US" b="1" dirty="0">
                <a:solidFill>
                  <a:schemeClr val="accent2"/>
                </a:solidFill>
              </a:rPr>
              <a:t>MWB CRA LOA BIM BFI </a:t>
            </a:r>
          </a:p>
          <a:p>
            <a:pPr marL="0" indent="0" algn="ctr">
              <a:buNone/>
            </a:pPr>
            <a:endParaRPr lang="en-US" b="1" dirty="0">
              <a:solidFill>
                <a:schemeClr val="accent2"/>
              </a:solidFill>
            </a:endParaRPr>
          </a:p>
          <a:p>
            <a:pPr marL="0" indent="0" algn="ctr">
              <a:buNone/>
            </a:pPr>
            <a:r>
              <a:rPr lang="en-US" b="1" dirty="0">
                <a:solidFill>
                  <a:schemeClr val="accent2"/>
                </a:solidFill>
              </a:rPr>
              <a:t>BMW RCA AOL IBM FBI </a:t>
            </a:r>
          </a:p>
        </p:txBody>
      </p:sp>
      <p:sp>
        <p:nvSpPr>
          <p:cNvPr id="5" name="Content Placeholder 2"/>
          <p:cNvSpPr txBox="1">
            <a:spLocks/>
          </p:cNvSpPr>
          <p:nvPr/>
        </p:nvSpPr>
        <p:spPr>
          <a:xfrm>
            <a:off x="566665" y="2237753"/>
            <a:ext cx="5893158" cy="4351338"/>
          </a:xfrm>
          <a:prstGeom prst="rect">
            <a:avLst/>
          </a:prstGeom>
          <a:ln w="28575">
            <a:solidFill>
              <a:schemeClr val="accent2"/>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Chunks </a:t>
            </a:r>
          </a:p>
          <a:p>
            <a:pPr lvl="1"/>
            <a:r>
              <a:rPr lang="en-US" dirty="0"/>
              <a:t>Symbols in memory </a:t>
            </a:r>
          </a:p>
          <a:p>
            <a:pPr lvl="1"/>
            <a:r>
              <a:rPr lang="en-US" dirty="0"/>
              <a:t>Depends strongly on how information is presented </a:t>
            </a:r>
          </a:p>
          <a:p>
            <a:pPr lvl="1"/>
            <a:r>
              <a:rPr lang="en-US" dirty="0"/>
              <a:t>Familiarity plays a big role </a:t>
            </a:r>
          </a:p>
          <a:p>
            <a:pPr lvl="1"/>
            <a:r>
              <a:rPr lang="en-US" dirty="0"/>
              <a:t>Better able to retain TLA on the right </a:t>
            </a:r>
          </a:p>
          <a:p>
            <a:endParaRPr lang="en-US" dirty="0"/>
          </a:p>
        </p:txBody>
      </p:sp>
    </p:spTree>
    <p:extLst>
      <p:ext uri="{BB962C8B-B14F-4D97-AF65-F5344CB8AC3E}">
        <p14:creationId xmlns:p14="http://schemas.microsoft.com/office/powerpoint/2010/main" val="512537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10DC8-AAB0-4E6B-8035-5DECF684C3C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B550690-A4AE-4379-A0AC-397C1ADFD49D}"/>
              </a:ext>
            </a:extLst>
          </p:cNvPr>
          <p:cNvSpPr>
            <a:spLocks noGrp="1"/>
          </p:cNvSpPr>
          <p:nvPr>
            <p:ph sz="quarter" idx="1"/>
          </p:nvPr>
        </p:nvSpPr>
        <p:spPr/>
        <p:txBody>
          <a:bodyPr/>
          <a:lstStyle/>
          <a:p>
            <a:pPr algn="ctr"/>
            <a:r>
              <a:rPr lang="en-US" b="1" dirty="0">
                <a:solidFill>
                  <a:schemeClr val="accent2"/>
                </a:solidFill>
              </a:rPr>
              <a:t>M W B C R A L O A B I M B F I</a:t>
            </a:r>
          </a:p>
          <a:p>
            <a:pPr algn="ctr"/>
            <a:r>
              <a:rPr lang="en-US" b="1" dirty="0">
                <a:solidFill>
                  <a:schemeClr val="accent2"/>
                </a:solidFill>
              </a:rPr>
              <a:t>5 +- 2 </a:t>
            </a:r>
          </a:p>
          <a:p>
            <a:pPr algn="ctr"/>
            <a:r>
              <a:rPr lang="en-US" b="1" dirty="0">
                <a:solidFill>
                  <a:schemeClr val="accent2"/>
                </a:solidFill>
              </a:rPr>
              <a:t>MWB   CRA   LOA   BIM   BFI </a:t>
            </a:r>
          </a:p>
          <a:p>
            <a:pPr algn="ctr"/>
            <a:endParaRPr lang="en-US" b="1" dirty="0">
              <a:solidFill>
                <a:schemeClr val="accent2"/>
              </a:solidFill>
            </a:endParaRPr>
          </a:p>
          <a:p>
            <a:pPr marL="0" indent="0" algn="ctr">
              <a:buNone/>
            </a:pPr>
            <a:r>
              <a:rPr lang="en-US" b="1" dirty="0">
                <a:solidFill>
                  <a:schemeClr val="accent2"/>
                </a:solidFill>
              </a:rPr>
              <a:t>BMW   RCA   AOL    IBM    FBI </a:t>
            </a:r>
          </a:p>
          <a:p>
            <a:endParaRPr lang="en-US" dirty="0"/>
          </a:p>
        </p:txBody>
      </p:sp>
    </p:spTree>
    <p:extLst>
      <p:ext uri="{BB962C8B-B14F-4D97-AF65-F5344CB8AC3E}">
        <p14:creationId xmlns:p14="http://schemas.microsoft.com/office/powerpoint/2010/main" val="12706388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88C75-918A-4A8A-80FF-033F97AD2B6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C2404EE-7DD6-4B28-BE33-6CA1C7262EC6}"/>
              </a:ext>
            </a:extLst>
          </p:cNvPr>
          <p:cNvSpPr>
            <a:spLocks noGrp="1"/>
          </p:cNvSpPr>
          <p:nvPr>
            <p:ph sz="quarter" idx="1"/>
          </p:nvPr>
        </p:nvSpPr>
        <p:spPr/>
        <p:txBody>
          <a:bodyPr>
            <a:normAutofit/>
          </a:bodyPr>
          <a:lstStyle/>
          <a:p>
            <a:pPr algn="ctr"/>
            <a:r>
              <a:rPr lang="en-US" b="1" dirty="0">
                <a:solidFill>
                  <a:schemeClr val="accent2"/>
                </a:solidFill>
              </a:rPr>
              <a:t>M W B C     R A L O       A B I M      B F I</a:t>
            </a:r>
          </a:p>
          <a:p>
            <a:pPr algn="ctr"/>
            <a:endParaRPr lang="en-US" b="1" dirty="0">
              <a:solidFill>
                <a:schemeClr val="accent2"/>
              </a:solidFill>
            </a:endParaRPr>
          </a:p>
          <a:p>
            <a:pPr algn="ctr"/>
            <a:r>
              <a:rPr lang="en-US" b="1" dirty="0">
                <a:solidFill>
                  <a:schemeClr val="accent2"/>
                </a:solidFill>
              </a:rPr>
              <a:t>MWB CRA LOA BIM BFI </a:t>
            </a:r>
          </a:p>
          <a:p>
            <a:pPr algn="ctr"/>
            <a:endParaRPr lang="en-US" b="1" dirty="0">
              <a:solidFill>
                <a:schemeClr val="accent2"/>
              </a:solidFill>
            </a:endParaRPr>
          </a:p>
          <a:p>
            <a:pPr marL="0" indent="0" algn="ctr">
              <a:buNone/>
            </a:pPr>
            <a:r>
              <a:rPr lang="en-US" b="1" dirty="0">
                <a:solidFill>
                  <a:schemeClr val="accent2"/>
                </a:solidFill>
              </a:rPr>
              <a:t>BMW RCA AOL IBM FBI </a:t>
            </a:r>
          </a:p>
          <a:p>
            <a:pPr marL="0" indent="0" algn="ctr">
              <a:buNone/>
            </a:pPr>
            <a:endParaRPr lang="en-US" b="1" dirty="0">
              <a:solidFill>
                <a:schemeClr val="accent2"/>
              </a:solidFill>
            </a:endParaRPr>
          </a:p>
          <a:p>
            <a:pPr algn="ctr"/>
            <a:endParaRPr lang="en-US" dirty="0"/>
          </a:p>
        </p:txBody>
      </p:sp>
    </p:spTree>
    <p:extLst>
      <p:ext uri="{BB962C8B-B14F-4D97-AF65-F5344CB8AC3E}">
        <p14:creationId xmlns:p14="http://schemas.microsoft.com/office/powerpoint/2010/main" val="20524502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F6AC8-BC53-4A31-97E0-B91A126553B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868CE43-D002-48EE-B151-3F7B3C0502B7}"/>
              </a:ext>
            </a:extLst>
          </p:cNvPr>
          <p:cNvSpPr>
            <a:spLocks noGrp="1"/>
          </p:cNvSpPr>
          <p:nvPr>
            <p:ph sz="quarter" idx="1"/>
          </p:nvPr>
        </p:nvSpPr>
        <p:spPr/>
        <p:txBody>
          <a:bodyPr>
            <a:normAutofit/>
          </a:bodyPr>
          <a:lstStyle/>
          <a:p>
            <a:pPr marL="0" indent="0" algn="ctr">
              <a:buNone/>
            </a:pPr>
            <a:r>
              <a:rPr lang="en-US" b="1" dirty="0">
                <a:solidFill>
                  <a:schemeClr val="accent2"/>
                </a:solidFill>
              </a:rPr>
              <a:t>M W B C R A L O A B I M B F I </a:t>
            </a:r>
          </a:p>
          <a:p>
            <a:pPr algn="ctr"/>
            <a:r>
              <a:rPr lang="en-US" dirty="0"/>
              <a:t>5 +- 2 </a:t>
            </a:r>
          </a:p>
          <a:p>
            <a:pPr algn="ctr"/>
            <a:r>
              <a:rPr lang="en-US" b="1" dirty="0">
                <a:solidFill>
                  <a:schemeClr val="accent2"/>
                </a:solidFill>
              </a:rPr>
              <a:t>MWB   CRA    LOA    BIM     BFI</a:t>
            </a:r>
          </a:p>
          <a:p>
            <a:pPr algn="ctr"/>
            <a:endParaRPr lang="en-US" b="1" dirty="0">
              <a:solidFill>
                <a:schemeClr val="accent2"/>
              </a:solidFill>
            </a:endParaRPr>
          </a:p>
          <a:p>
            <a:pPr algn="ctr"/>
            <a:r>
              <a:rPr lang="en-US" b="1" dirty="0">
                <a:solidFill>
                  <a:schemeClr val="accent2"/>
                </a:solidFill>
              </a:rPr>
              <a:t>BMW    RCA    AOL    IBM    FBI </a:t>
            </a:r>
          </a:p>
        </p:txBody>
      </p:sp>
    </p:spTree>
    <p:extLst>
      <p:ext uri="{BB962C8B-B14F-4D97-AF65-F5344CB8AC3E}">
        <p14:creationId xmlns:p14="http://schemas.microsoft.com/office/powerpoint/2010/main" val="8415931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Connection </a:t>
            </a:r>
          </a:p>
        </p:txBody>
      </p:sp>
      <p:sp>
        <p:nvSpPr>
          <p:cNvPr id="3" name="Content Placeholder 2"/>
          <p:cNvSpPr>
            <a:spLocks noGrp="1"/>
          </p:cNvSpPr>
          <p:nvPr>
            <p:ph sz="quarter" idx="1"/>
          </p:nvPr>
        </p:nvSpPr>
        <p:spPr>
          <a:xfrm>
            <a:off x="528106" y="1872916"/>
            <a:ext cx="10871200" cy="4495800"/>
          </a:xfrm>
        </p:spPr>
        <p:txBody>
          <a:bodyPr/>
          <a:lstStyle/>
          <a:p>
            <a:pPr marL="0" indent="0">
              <a:buNone/>
            </a:pPr>
            <a:r>
              <a:rPr lang="en-US" sz="3200" dirty="0">
                <a:latin typeface="GillSans"/>
              </a:rPr>
              <a:t>1 	bun 		SHOE		6	sticks</a:t>
            </a:r>
          </a:p>
          <a:p>
            <a:pPr marL="0" indent="0">
              <a:buNone/>
            </a:pPr>
            <a:r>
              <a:rPr lang="en-US" sz="3200" dirty="0">
                <a:latin typeface="GillSans"/>
              </a:rPr>
              <a:t>2 	shoe 		DOOR	7 	heaven</a:t>
            </a:r>
          </a:p>
          <a:p>
            <a:pPr marL="0" indent="0">
              <a:buNone/>
            </a:pPr>
            <a:r>
              <a:rPr lang="en-US" sz="3200" dirty="0">
                <a:latin typeface="GillSans"/>
              </a:rPr>
              <a:t>3 	tree 				8 	gate</a:t>
            </a:r>
          </a:p>
          <a:p>
            <a:pPr marL="0" indent="0">
              <a:buNone/>
            </a:pPr>
            <a:r>
              <a:rPr lang="en-US" sz="3200" dirty="0">
                <a:latin typeface="GillSans"/>
              </a:rPr>
              <a:t>4 	door 				9 	wine </a:t>
            </a:r>
          </a:p>
          <a:p>
            <a:pPr marL="0" indent="0">
              <a:buNone/>
            </a:pPr>
            <a:r>
              <a:rPr lang="en-US" sz="3200" dirty="0">
                <a:latin typeface="GillSans"/>
              </a:rPr>
              <a:t>5 	hive 				10 	hen</a:t>
            </a:r>
            <a:endParaRPr lang="en-US" dirty="0"/>
          </a:p>
        </p:txBody>
      </p:sp>
    </p:spTree>
    <p:extLst>
      <p:ext uri="{BB962C8B-B14F-4D97-AF65-F5344CB8AC3E}">
        <p14:creationId xmlns:p14="http://schemas.microsoft.com/office/powerpoint/2010/main" val="16472683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643EF-B1DB-4AC9-87B6-9C6DA90D3402}"/>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822297F2-DE17-4A2E-84A9-EE094AD02105}"/>
              </a:ext>
            </a:extLst>
          </p:cNvPr>
          <p:cNvSpPr>
            <a:spLocks noGrp="1"/>
          </p:cNvSpPr>
          <p:nvPr>
            <p:ph sz="quarter" idx="1"/>
          </p:nvPr>
        </p:nvSpPr>
        <p:spPr/>
        <p:txBody>
          <a:bodyPr/>
          <a:lstStyle/>
          <a:p>
            <a:r>
              <a:rPr lang="en-US" dirty="0"/>
              <a:t>CHUNKING </a:t>
            </a:r>
          </a:p>
          <a:p>
            <a:endParaRPr lang="en-US" dirty="0"/>
          </a:p>
          <a:p>
            <a:r>
              <a:rPr lang="en-US" dirty="0"/>
              <a:t>MAKE CONNECTIONS </a:t>
            </a:r>
          </a:p>
          <a:p>
            <a:endParaRPr lang="en-US" dirty="0"/>
          </a:p>
          <a:p>
            <a:endParaRPr lang="en-US" dirty="0"/>
          </a:p>
          <a:p>
            <a:r>
              <a:rPr lang="en-US" dirty="0"/>
              <a:t>RECOGNITION RATHER THAN RECALL </a:t>
            </a:r>
          </a:p>
        </p:txBody>
      </p:sp>
    </p:spTree>
    <p:extLst>
      <p:ext uri="{BB962C8B-B14F-4D97-AF65-F5344CB8AC3E}">
        <p14:creationId xmlns:p14="http://schemas.microsoft.com/office/powerpoint/2010/main" val="11629340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Recognition Rather than Recall </a:t>
            </a:r>
          </a:p>
        </p:txBody>
      </p:sp>
      <p:sp>
        <p:nvSpPr>
          <p:cNvPr id="3" name="Content Placeholder 2"/>
          <p:cNvSpPr>
            <a:spLocks noGrp="1"/>
          </p:cNvSpPr>
          <p:nvPr>
            <p:ph sz="quarter" idx="1"/>
          </p:nvPr>
        </p:nvSpPr>
        <p:spPr/>
        <p:txBody>
          <a:bodyPr/>
          <a:lstStyle/>
          <a:p>
            <a:r>
              <a:rPr lang="en-US" b="1" dirty="0"/>
              <a:t>Recognition </a:t>
            </a:r>
          </a:p>
          <a:p>
            <a:pPr lvl="1"/>
            <a:r>
              <a:rPr lang="en-US" dirty="0"/>
              <a:t>Knowledge in the world </a:t>
            </a:r>
          </a:p>
          <a:p>
            <a:pPr lvl="1"/>
            <a:r>
              <a:rPr lang="en-US" dirty="0"/>
              <a:t>Remembering with the help of a visible cue</a:t>
            </a:r>
          </a:p>
          <a:p>
            <a:pPr lvl="1"/>
            <a:endParaRPr lang="en-US" dirty="0"/>
          </a:p>
          <a:p>
            <a:r>
              <a:rPr lang="en-US" b="1" dirty="0"/>
              <a:t>Recall </a:t>
            </a:r>
          </a:p>
          <a:p>
            <a:pPr lvl="1"/>
            <a:r>
              <a:rPr lang="en-US" dirty="0"/>
              <a:t>Knowledge in the head 	</a:t>
            </a:r>
            <a:endParaRPr lang="en-US" b="1" dirty="0"/>
          </a:p>
          <a:p>
            <a:pPr lvl="1"/>
            <a:r>
              <a:rPr lang="en-US" dirty="0"/>
              <a:t>Remembering something with no help from the outside world</a:t>
            </a:r>
          </a:p>
          <a:p>
            <a:pPr lvl="1"/>
            <a:endParaRPr lang="en-US" dirty="0"/>
          </a:p>
          <a:p>
            <a:r>
              <a:rPr lang="en-US" dirty="0"/>
              <a:t>Recognition is far easier than recall </a:t>
            </a:r>
          </a:p>
        </p:txBody>
      </p:sp>
    </p:spTree>
    <p:extLst>
      <p:ext uri="{BB962C8B-B14F-4D97-AF65-F5344CB8AC3E}">
        <p14:creationId xmlns:p14="http://schemas.microsoft.com/office/powerpoint/2010/main" val="17539279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Recognition Rather than Recall </a:t>
            </a:r>
          </a:p>
        </p:txBody>
      </p:sp>
      <p:sp>
        <p:nvSpPr>
          <p:cNvPr id="3" name="Content Placeholder 2"/>
          <p:cNvSpPr>
            <a:spLocks noGrp="1"/>
          </p:cNvSpPr>
          <p:nvPr>
            <p:ph sz="quarter" idx="1"/>
          </p:nvPr>
        </p:nvSpPr>
        <p:spPr/>
        <p:txBody>
          <a:bodyPr>
            <a:normAutofit/>
          </a:bodyPr>
          <a:lstStyle/>
          <a:p>
            <a:r>
              <a:rPr lang="en-US" b="1" dirty="0"/>
              <a:t>Recognition rather than recall </a:t>
            </a:r>
          </a:p>
          <a:p>
            <a:pPr lvl="1"/>
            <a:r>
              <a:rPr lang="en-US" dirty="0"/>
              <a:t>Make objects, actions and options visible. </a:t>
            </a:r>
          </a:p>
          <a:p>
            <a:pPr lvl="1"/>
            <a:r>
              <a:rPr lang="en-US" dirty="0"/>
              <a:t>The user should not have to remember information from one part of the dialog to another. </a:t>
            </a:r>
          </a:p>
          <a:p>
            <a:pPr lvl="1"/>
            <a:r>
              <a:rPr lang="en-US" dirty="0"/>
              <a:t>Provide examples, default values, easily retrievable instructions.</a:t>
            </a:r>
          </a:p>
        </p:txBody>
      </p:sp>
    </p:spTree>
    <p:extLst>
      <p:ext uri="{BB962C8B-B14F-4D97-AF65-F5344CB8AC3E}">
        <p14:creationId xmlns:p14="http://schemas.microsoft.com/office/powerpoint/2010/main" val="166107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4" name="Rectangle 1032"/>
          <p:cNvSpPr>
            <a:spLocks noGrp="1" noChangeArrowheads="1"/>
          </p:cNvSpPr>
          <p:nvPr>
            <p:ph type="title"/>
          </p:nvPr>
        </p:nvSpPr>
        <p:spPr/>
        <p:txBody>
          <a:bodyPr/>
          <a:lstStyle/>
          <a:p>
            <a:r>
              <a:rPr lang="en-US" dirty="0"/>
              <a:t>Recognition Rather than Recall </a:t>
            </a:r>
          </a:p>
        </p:txBody>
      </p:sp>
      <p:sp>
        <p:nvSpPr>
          <p:cNvPr id="80905" name="Rectangle 1033"/>
          <p:cNvSpPr>
            <a:spLocks noGrp="1" noChangeArrowheads="1"/>
          </p:cNvSpPr>
          <p:nvPr>
            <p:ph sz="quarter" idx="1"/>
          </p:nvPr>
        </p:nvSpPr>
        <p:spPr/>
        <p:txBody>
          <a:bodyPr/>
          <a:lstStyle/>
          <a:p>
            <a:r>
              <a:rPr lang="en-US" dirty="0"/>
              <a:t>Give input format, example and default</a:t>
            </a:r>
            <a:br>
              <a:rPr lang="en-US" dirty="0"/>
            </a:br>
            <a:br>
              <a:rPr lang="en-US" dirty="0"/>
            </a:br>
            <a:br>
              <a:rPr lang="en-US" dirty="0"/>
            </a:br>
            <a:br>
              <a:rPr lang="en-US" dirty="0"/>
            </a:br>
            <a:br>
              <a:rPr lang="en-US" dirty="0"/>
            </a:br>
            <a:br>
              <a:rPr lang="en-US" dirty="0"/>
            </a:br>
            <a:br>
              <a:rPr lang="en-US" dirty="0"/>
            </a:br>
            <a:endParaRPr lang="en-US" dirty="0"/>
          </a:p>
        </p:txBody>
      </p:sp>
      <p:pic>
        <p:nvPicPr>
          <p:cNvPr id="80901" name="Picture 1029"/>
          <p:cNvPicPr>
            <a:picLocks noChangeAspect="1" noChangeArrowheads="1"/>
          </p:cNvPicPr>
          <p:nvPr/>
        </p:nvPicPr>
        <p:blipFill>
          <a:blip r:embed="rId2" cstate="print"/>
          <a:srcRect/>
          <a:stretch>
            <a:fillRect/>
          </a:stretch>
        </p:blipFill>
        <p:spPr bwMode="auto">
          <a:xfrm>
            <a:off x="631066" y="2867697"/>
            <a:ext cx="3653575" cy="3351508"/>
          </a:xfrm>
          <a:prstGeom prst="rect">
            <a:avLst/>
          </a:prstGeom>
          <a:noFill/>
          <a:ln w="12699">
            <a:noFill/>
            <a:miter lim="800000"/>
            <a:headEnd type="none" w="sm" len="sm"/>
            <a:tailEnd type="none" w="sm" len="sm"/>
          </a:ln>
          <a:effectLst/>
        </p:spPr>
      </p:pic>
      <p:pic>
        <p:nvPicPr>
          <p:cNvPr id="80903" name="Picture 1031"/>
          <p:cNvPicPr>
            <a:picLocks noChangeAspect="1" noChangeArrowheads="1"/>
          </p:cNvPicPr>
          <p:nvPr/>
        </p:nvPicPr>
        <p:blipFill>
          <a:blip r:embed="rId3" cstate="print"/>
          <a:srcRect/>
          <a:stretch>
            <a:fillRect/>
          </a:stretch>
        </p:blipFill>
        <p:spPr bwMode="auto">
          <a:xfrm>
            <a:off x="5535586" y="2673511"/>
            <a:ext cx="5048838" cy="3739880"/>
          </a:xfrm>
          <a:prstGeom prst="rect">
            <a:avLst/>
          </a:prstGeom>
          <a:noFill/>
          <a:ln w="12699">
            <a:noFill/>
            <a:miter lim="800000"/>
            <a:headEnd type="none" w="sm" len="sm"/>
            <a:tailEnd type="none" w="sm" len="sm"/>
          </a:ln>
          <a:effectLst/>
        </p:spPr>
      </p:pic>
    </p:spTree>
    <p:extLst>
      <p:ext uri="{BB962C8B-B14F-4D97-AF65-F5344CB8AC3E}">
        <p14:creationId xmlns:p14="http://schemas.microsoft.com/office/powerpoint/2010/main" val="8252930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wifi_connection01"/>
          <p:cNvPicPr>
            <a:picLocks noChangeAspect="1" noChangeArrowheads="1"/>
          </p:cNvPicPr>
          <p:nvPr/>
        </p:nvPicPr>
        <p:blipFill>
          <a:blip r:embed="rId2" cstate="print"/>
          <a:srcRect r="20723" b="22034"/>
          <a:stretch>
            <a:fillRect/>
          </a:stretch>
        </p:blipFill>
        <p:spPr bwMode="auto">
          <a:xfrm>
            <a:off x="5125792" y="1581419"/>
            <a:ext cx="6868733" cy="5161898"/>
          </a:xfrm>
          <a:prstGeom prst="rect">
            <a:avLst/>
          </a:prstGeom>
          <a:noFill/>
          <a:ln w="9525">
            <a:noFill/>
            <a:miter lim="800000"/>
            <a:headEnd/>
            <a:tailEnd/>
          </a:ln>
        </p:spPr>
      </p:pic>
      <p:pic>
        <p:nvPicPr>
          <p:cNvPr id="5" name="Picture 8"/>
          <p:cNvPicPr>
            <a:picLocks noChangeAspect="1" noChangeArrowheads="1"/>
          </p:cNvPicPr>
          <p:nvPr/>
        </p:nvPicPr>
        <p:blipFill>
          <a:blip r:embed="rId3" cstate="print"/>
          <a:srcRect/>
          <a:stretch>
            <a:fillRect/>
          </a:stretch>
        </p:blipFill>
        <p:spPr bwMode="auto">
          <a:xfrm>
            <a:off x="416417" y="2438400"/>
            <a:ext cx="3733800" cy="3852163"/>
          </a:xfrm>
          <a:prstGeom prst="rect">
            <a:avLst/>
          </a:prstGeom>
          <a:noFill/>
          <a:ln w="9525">
            <a:noFill/>
            <a:miter lim="800000"/>
            <a:headEnd/>
            <a:tailEnd/>
          </a:ln>
        </p:spPr>
      </p:pic>
      <p:sp>
        <p:nvSpPr>
          <p:cNvPr id="6" name="Rectangle 1032"/>
          <p:cNvSpPr txBox="1">
            <a:spLocks noChangeArrowheads="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Recognition Rather than Recall </a:t>
            </a:r>
            <a:endParaRPr lang="en-US" dirty="0"/>
          </a:p>
        </p:txBody>
      </p:sp>
    </p:spTree>
    <p:extLst>
      <p:ext uri="{BB962C8B-B14F-4D97-AF65-F5344CB8AC3E}">
        <p14:creationId xmlns:p14="http://schemas.microsoft.com/office/powerpoint/2010/main" val="9989251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004" name="Picture 4" descr="The world's longest error message?"/>
          <p:cNvPicPr>
            <a:picLocks noChangeAspect="1" noChangeArrowheads="1"/>
          </p:cNvPicPr>
          <p:nvPr/>
        </p:nvPicPr>
        <p:blipFill>
          <a:blip r:embed="rId2" cstate="print"/>
          <a:srcRect/>
          <a:stretch>
            <a:fillRect/>
          </a:stretch>
        </p:blipFill>
        <p:spPr bwMode="auto">
          <a:xfrm>
            <a:off x="2063750" y="1557339"/>
            <a:ext cx="8001000" cy="4929187"/>
          </a:xfrm>
          <a:prstGeom prst="rect">
            <a:avLst/>
          </a:prstGeom>
          <a:noFill/>
        </p:spPr>
      </p:pic>
      <p:sp>
        <p:nvSpPr>
          <p:cNvPr id="5" name="Rectangle 1032"/>
          <p:cNvSpPr>
            <a:spLocks noGrp="1" noChangeArrowheads="1"/>
          </p:cNvSpPr>
          <p:nvPr>
            <p:ph type="title"/>
          </p:nvPr>
        </p:nvSpPr>
        <p:spPr/>
        <p:txBody>
          <a:bodyPr/>
          <a:lstStyle/>
          <a:p>
            <a:r>
              <a:rPr lang="en-US" dirty="0"/>
              <a:t>Recognition Rather than Recall </a:t>
            </a:r>
          </a:p>
        </p:txBody>
      </p:sp>
    </p:spTree>
    <p:extLst>
      <p:ext uri="{BB962C8B-B14F-4D97-AF65-F5344CB8AC3E}">
        <p14:creationId xmlns:p14="http://schemas.microsoft.com/office/powerpoint/2010/main" val="20042969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lstStyle/>
          <a:p>
            <a:r>
              <a:rPr lang="en-US" dirty="0"/>
              <a:t>Interaction Styles </a:t>
            </a:r>
          </a:p>
        </p:txBody>
      </p:sp>
      <p:pic>
        <p:nvPicPr>
          <p:cNvPr id="6" name="Picture 2"/>
          <p:cNvPicPr>
            <a:picLocks noGrp="1" noChangeAspect="1" noChangeArrowheads="1"/>
          </p:cNvPicPr>
          <p:nvPr>
            <p:ph sz="quarter" idx="1"/>
          </p:nvPr>
        </p:nvPicPr>
        <p:blipFill>
          <a:blip r:embed="rId3" cstate="print"/>
          <a:srcRect/>
          <a:stretch>
            <a:fillRect/>
          </a:stretch>
        </p:blipFill>
        <p:spPr bwMode="auto">
          <a:xfrm>
            <a:off x="4093134" y="1228652"/>
            <a:ext cx="4664090" cy="2682566"/>
          </a:xfrm>
          <a:prstGeom prst="rect">
            <a:avLst/>
          </a:prstGeom>
          <a:noFill/>
          <a:ln w="28575">
            <a:solidFill>
              <a:schemeClr val="accent3"/>
            </a:solidFill>
          </a:ln>
        </p:spPr>
      </p:pic>
      <p:pic>
        <p:nvPicPr>
          <p:cNvPr id="4" name="Picture 3"/>
          <p:cNvPicPr>
            <a:picLocks noChangeAspect="1"/>
          </p:cNvPicPr>
          <p:nvPr/>
        </p:nvPicPr>
        <p:blipFill>
          <a:blip r:embed="rId4"/>
          <a:stretch>
            <a:fillRect/>
          </a:stretch>
        </p:blipFill>
        <p:spPr>
          <a:xfrm>
            <a:off x="425001" y="1478071"/>
            <a:ext cx="3445541" cy="2433147"/>
          </a:xfrm>
          <a:prstGeom prst="rect">
            <a:avLst/>
          </a:prstGeom>
          <a:ln w="28575">
            <a:solidFill>
              <a:schemeClr val="accent1"/>
            </a:solidFill>
          </a:ln>
        </p:spPr>
      </p:pic>
      <p:pic>
        <p:nvPicPr>
          <p:cNvPr id="5" name="Picture 4"/>
          <p:cNvPicPr>
            <a:picLocks noChangeAspect="1"/>
          </p:cNvPicPr>
          <p:nvPr/>
        </p:nvPicPr>
        <p:blipFill>
          <a:blip r:embed="rId5"/>
          <a:stretch>
            <a:fillRect/>
          </a:stretch>
        </p:blipFill>
        <p:spPr>
          <a:xfrm>
            <a:off x="425000" y="4054838"/>
            <a:ext cx="7817126" cy="2632135"/>
          </a:xfrm>
          <a:prstGeom prst="rect">
            <a:avLst/>
          </a:prstGeom>
          <a:ln w="28575">
            <a:solidFill>
              <a:schemeClr val="accent2"/>
            </a:solidFill>
          </a:ln>
        </p:spPr>
      </p:pic>
      <p:pic>
        <p:nvPicPr>
          <p:cNvPr id="7" name="Picture 2" descr="http://farm4.static.flickr.com/3630/3612703566_52304223da_o.png"/>
          <p:cNvPicPr>
            <a:picLocks noChangeAspect="1" noChangeArrowheads="1"/>
          </p:cNvPicPr>
          <p:nvPr/>
        </p:nvPicPr>
        <p:blipFill rotWithShape="1">
          <a:blip r:embed="rId6" cstate="print"/>
          <a:srcRect r="32724"/>
          <a:stretch/>
        </p:blipFill>
        <p:spPr bwMode="auto">
          <a:xfrm>
            <a:off x="8751359" y="459743"/>
            <a:ext cx="3336842" cy="3480134"/>
          </a:xfrm>
          <a:prstGeom prst="rect">
            <a:avLst/>
          </a:prstGeom>
          <a:noFill/>
        </p:spPr>
      </p:pic>
      <p:pic>
        <p:nvPicPr>
          <p:cNvPr id="3074"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751359" y="4054838"/>
            <a:ext cx="3290561" cy="29328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66610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Comparison of Interaction Styles </a:t>
            </a:r>
          </a:p>
        </p:txBody>
      </p:sp>
      <p:sp>
        <p:nvSpPr>
          <p:cNvPr id="3" name="Content Placeholder 2"/>
          <p:cNvSpPr>
            <a:spLocks noGrp="1"/>
          </p:cNvSpPr>
          <p:nvPr>
            <p:ph sz="quarter" idx="1"/>
          </p:nvPr>
        </p:nvSpPr>
        <p:spPr/>
        <p:txBody>
          <a:bodyPr/>
          <a:lstStyle/>
          <a:p>
            <a:r>
              <a:rPr lang="en-US" dirty="0"/>
              <a:t>Efficiency </a:t>
            </a:r>
          </a:p>
          <a:p>
            <a:r>
              <a:rPr lang="en-US" dirty="0"/>
              <a:t>Error Handling </a:t>
            </a:r>
          </a:p>
          <a:p>
            <a:r>
              <a:rPr lang="en-US" dirty="0"/>
              <a:t>User Experience for different user classes </a:t>
            </a:r>
          </a:p>
          <a:p>
            <a:r>
              <a:rPr lang="en-US" dirty="0"/>
              <a:t>Ease of use </a:t>
            </a:r>
          </a:p>
          <a:p>
            <a:endParaRPr lang="en-US" dirty="0"/>
          </a:p>
        </p:txBody>
      </p:sp>
    </p:spTree>
    <p:extLst>
      <p:ext uri="{BB962C8B-B14F-4D97-AF65-F5344CB8AC3E}">
        <p14:creationId xmlns:p14="http://schemas.microsoft.com/office/powerpoint/2010/main" val="8095282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Lesson</a:t>
            </a:r>
          </a:p>
        </p:txBody>
      </p:sp>
      <p:sp>
        <p:nvSpPr>
          <p:cNvPr id="3" name="Content Placeholder 2"/>
          <p:cNvSpPr>
            <a:spLocks noGrp="1"/>
          </p:cNvSpPr>
          <p:nvPr>
            <p:ph sz="quarter" idx="1"/>
          </p:nvPr>
        </p:nvSpPr>
        <p:spPr/>
        <p:txBody>
          <a:bodyPr>
            <a:normAutofit lnSpcReduction="10000"/>
          </a:bodyPr>
          <a:lstStyle/>
          <a:p>
            <a:r>
              <a:rPr lang="en-US" dirty="0"/>
              <a:t>Select appropriate interaction style </a:t>
            </a:r>
          </a:p>
          <a:p>
            <a:pPr lvl="1"/>
            <a:endParaRPr lang="en-US" dirty="0"/>
          </a:p>
          <a:p>
            <a:pPr lvl="1"/>
            <a:r>
              <a:rPr lang="en-US" dirty="0"/>
              <a:t>Direct manipulation, Menu, and Form all have learnability and memorability </a:t>
            </a:r>
          </a:p>
          <a:p>
            <a:pPr lvl="1"/>
            <a:endParaRPr lang="en-US" dirty="0"/>
          </a:p>
          <a:p>
            <a:pPr lvl="1"/>
            <a:r>
              <a:rPr lang="en-US" dirty="0"/>
              <a:t>Command Line and Speech dialogue are efficient and have boundaries defined in a better way</a:t>
            </a:r>
          </a:p>
          <a:p>
            <a:pPr lvl="1"/>
            <a:endParaRPr lang="en-US" dirty="0"/>
          </a:p>
          <a:p>
            <a:pPr lvl="1"/>
            <a:r>
              <a:rPr lang="en-US" dirty="0"/>
              <a:t>Different user classes have different experience, experts prefer CL</a:t>
            </a:r>
          </a:p>
          <a:p>
            <a:endParaRPr lang="en-US" dirty="0"/>
          </a:p>
          <a:p>
            <a:r>
              <a:rPr lang="en-US" dirty="0"/>
              <a:t>Use multiple interaction styles to gain benefits of all </a:t>
            </a:r>
          </a:p>
          <a:p>
            <a:pPr marL="0" indent="0">
              <a:buNone/>
            </a:pPr>
            <a:endParaRPr lang="en-US" dirty="0"/>
          </a:p>
          <a:p>
            <a:endParaRPr lang="en-US" dirty="0"/>
          </a:p>
          <a:p>
            <a:endParaRPr lang="en-US" dirty="0"/>
          </a:p>
          <a:p>
            <a:endParaRPr lang="en-US" dirty="0"/>
          </a:p>
        </p:txBody>
      </p:sp>
    </p:spTree>
    <p:extLst>
      <p:ext uri="{BB962C8B-B14F-4D97-AF65-F5344CB8AC3E}">
        <p14:creationId xmlns:p14="http://schemas.microsoft.com/office/powerpoint/2010/main" val="16528226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63" y="184887"/>
            <a:ext cx="10871200" cy="990600"/>
          </a:xfrm>
        </p:spPr>
        <p:txBody>
          <a:bodyPr/>
          <a:lstStyle/>
          <a:p>
            <a:r>
              <a:rPr lang="en-US" dirty="0"/>
              <a:t>Models of a System</a:t>
            </a:r>
          </a:p>
        </p:txBody>
      </p:sp>
      <p:sp>
        <p:nvSpPr>
          <p:cNvPr id="3" name="Content Placeholder 2"/>
          <p:cNvSpPr>
            <a:spLocks noGrp="1"/>
          </p:cNvSpPr>
          <p:nvPr>
            <p:ph sz="quarter" idx="1"/>
          </p:nvPr>
        </p:nvSpPr>
        <p:spPr>
          <a:xfrm>
            <a:off x="0" y="1723735"/>
            <a:ext cx="6232301" cy="4351338"/>
          </a:xfrm>
        </p:spPr>
        <p:txBody>
          <a:bodyPr>
            <a:normAutofit/>
          </a:bodyPr>
          <a:lstStyle/>
          <a:p>
            <a:r>
              <a:rPr lang="en-US" dirty="0"/>
              <a:t>How text editor stores text</a:t>
            </a:r>
          </a:p>
          <a:p>
            <a:pPr lvl="1"/>
            <a:r>
              <a:rPr lang="en-US" dirty="0"/>
              <a:t>Strings vs lines? </a:t>
            </a:r>
          </a:p>
          <a:p>
            <a:pPr lvl="1"/>
            <a:r>
              <a:rPr lang="en-US" dirty="0"/>
              <a:t>User does not </a:t>
            </a:r>
            <a:r>
              <a:rPr lang="en-US" dirty="0" err="1"/>
              <a:t>needConceptual</a:t>
            </a:r>
            <a:r>
              <a:rPr lang="en-US" dirty="0"/>
              <a:t> to know </a:t>
            </a:r>
          </a:p>
          <a:p>
            <a:pPr lvl="1"/>
            <a:endParaRPr lang="en-US" dirty="0"/>
          </a:p>
          <a:p>
            <a:r>
              <a:rPr lang="en-US" dirty="0"/>
              <a:t>Users’ models may (or may not) be wrong </a:t>
            </a:r>
          </a:p>
          <a:p>
            <a:pPr lvl="1"/>
            <a:r>
              <a:rPr lang="en-US" dirty="0"/>
              <a:t>Harmless: Electricity as flowing water </a:t>
            </a:r>
          </a:p>
          <a:p>
            <a:pPr lvl="1"/>
            <a:r>
              <a:rPr lang="en-US" dirty="0"/>
              <a:t>Harmful: Thermostat as a valve, feedback problem </a:t>
            </a:r>
          </a:p>
        </p:txBody>
      </p:sp>
      <p:grpSp>
        <p:nvGrpSpPr>
          <p:cNvPr id="6" name="Group 5"/>
          <p:cNvGrpSpPr/>
          <p:nvPr/>
        </p:nvGrpSpPr>
        <p:grpSpPr>
          <a:xfrm>
            <a:off x="5863843" y="1175487"/>
            <a:ext cx="5670430" cy="5237007"/>
            <a:chOff x="7376280" y="2593507"/>
            <a:chExt cx="4785081" cy="3934953"/>
          </a:xfrm>
        </p:grpSpPr>
        <p:pic>
          <p:nvPicPr>
            <p:cNvPr id="5" name="Picture 4"/>
            <p:cNvPicPr>
              <a:picLocks noChangeAspect="1"/>
            </p:cNvPicPr>
            <p:nvPr/>
          </p:nvPicPr>
          <p:blipFill rotWithShape="1">
            <a:blip r:embed="rId3"/>
            <a:srcRect l="3542" t="4385" b="2796"/>
            <a:stretch/>
          </p:blipFill>
          <p:spPr>
            <a:xfrm>
              <a:off x="7376280" y="3077894"/>
              <a:ext cx="4785081" cy="3450566"/>
            </a:xfrm>
            <a:prstGeom prst="rect">
              <a:avLst/>
            </a:prstGeom>
          </p:spPr>
        </p:pic>
        <p:pic>
          <p:nvPicPr>
            <p:cNvPr id="4" name="Picture 3"/>
            <p:cNvPicPr>
              <a:picLocks noChangeAspect="1"/>
            </p:cNvPicPr>
            <p:nvPr/>
          </p:nvPicPr>
          <p:blipFill>
            <a:blip r:embed="rId4"/>
            <a:stretch>
              <a:fillRect/>
            </a:stretch>
          </p:blipFill>
          <p:spPr>
            <a:xfrm>
              <a:off x="7724203" y="2593507"/>
              <a:ext cx="3974823" cy="484387"/>
            </a:xfrm>
            <a:prstGeom prst="rect">
              <a:avLst/>
            </a:prstGeom>
          </p:spPr>
        </p:pic>
      </p:grpSp>
    </p:spTree>
    <p:extLst>
      <p:ext uri="{BB962C8B-B14F-4D97-AF65-F5344CB8AC3E}">
        <p14:creationId xmlns:p14="http://schemas.microsoft.com/office/powerpoint/2010/main" val="42451334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Lesson</a:t>
            </a:r>
          </a:p>
        </p:txBody>
      </p:sp>
      <p:sp>
        <p:nvSpPr>
          <p:cNvPr id="3" name="Content Placeholder 2"/>
          <p:cNvSpPr>
            <a:spLocks noGrp="1"/>
          </p:cNvSpPr>
          <p:nvPr>
            <p:ph sz="quarter" idx="1"/>
          </p:nvPr>
        </p:nvSpPr>
        <p:spPr/>
        <p:txBody>
          <a:bodyPr/>
          <a:lstStyle/>
          <a:p>
            <a:r>
              <a:rPr lang="en-US" dirty="0"/>
              <a:t>Interface model shall reflect Mental model (users’ model of the task) </a:t>
            </a:r>
          </a:p>
          <a:p>
            <a:r>
              <a:rPr lang="en-US" dirty="0"/>
              <a:t>Well communicated </a:t>
            </a:r>
          </a:p>
          <a:p>
            <a:r>
              <a:rPr lang="en-US" dirty="0"/>
              <a:t>Simple enough </a:t>
            </a:r>
          </a:p>
          <a:p>
            <a:pPr lvl="1"/>
            <a:r>
              <a:rPr lang="en-US" dirty="0"/>
              <a:t>Cell phone presents a simpler model like landline, while system model is quite complex </a:t>
            </a:r>
          </a:p>
          <a:p>
            <a:endParaRPr lang="en-US" dirty="0"/>
          </a:p>
        </p:txBody>
      </p:sp>
    </p:spTree>
    <p:extLst>
      <p:ext uri="{BB962C8B-B14F-4D97-AF65-F5344CB8AC3E}">
        <p14:creationId xmlns:p14="http://schemas.microsoft.com/office/powerpoint/2010/main" val="13331132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endParaRPr lang="en-US" dirty="0"/>
          </a:p>
        </p:txBody>
      </p:sp>
      <p:sp>
        <p:nvSpPr>
          <p:cNvPr id="2" name="Title 1"/>
          <p:cNvSpPr>
            <a:spLocks noGrp="1"/>
          </p:cNvSpPr>
          <p:nvPr>
            <p:ph type="title"/>
          </p:nvPr>
        </p:nvSpPr>
        <p:spPr/>
        <p:txBody>
          <a:bodyPr>
            <a:normAutofit fontScale="90000"/>
          </a:bodyPr>
          <a:lstStyle/>
          <a:p>
            <a:r>
              <a:rPr lang="en-US" dirty="0"/>
              <a:t>Learnability and Memorability Design Principles </a:t>
            </a:r>
          </a:p>
        </p:txBody>
      </p:sp>
    </p:spTree>
    <p:extLst>
      <p:ext uri="{BB962C8B-B14F-4D97-AF65-F5344CB8AC3E}">
        <p14:creationId xmlns:p14="http://schemas.microsoft.com/office/powerpoint/2010/main" val="24611803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984606" cy="1325563"/>
          </a:xfrm>
        </p:spPr>
        <p:txBody>
          <a:bodyPr/>
          <a:lstStyle/>
          <a:p>
            <a:r>
              <a:rPr lang="en-US" dirty="0"/>
              <a:t>Communicating the System Model </a:t>
            </a:r>
          </a:p>
        </p:txBody>
      </p:sp>
      <p:sp>
        <p:nvSpPr>
          <p:cNvPr id="3" name="Content Placeholder 2"/>
          <p:cNvSpPr>
            <a:spLocks noGrp="1"/>
          </p:cNvSpPr>
          <p:nvPr>
            <p:ph sz="quarter" idx="1"/>
          </p:nvPr>
        </p:nvSpPr>
        <p:spPr/>
        <p:txBody>
          <a:bodyPr>
            <a:normAutofit fontScale="92500" lnSpcReduction="10000"/>
          </a:bodyPr>
          <a:lstStyle/>
          <a:p>
            <a:r>
              <a:rPr lang="en-US" dirty="0"/>
              <a:t>Affordances </a:t>
            </a:r>
          </a:p>
          <a:p>
            <a:r>
              <a:rPr lang="en-US" dirty="0"/>
              <a:t>Mapping </a:t>
            </a:r>
          </a:p>
          <a:p>
            <a:r>
              <a:rPr lang="en-US" dirty="0"/>
              <a:t>Feedback </a:t>
            </a:r>
          </a:p>
          <a:p>
            <a:r>
              <a:rPr lang="en-US" dirty="0"/>
              <a:t>Visibility </a:t>
            </a:r>
          </a:p>
          <a:p>
            <a:r>
              <a:rPr lang="en-US" dirty="0"/>
              <a:t>CONSTRAINTS </a:t>
            </a:r>
          </a:p>
          <a:p>
            <a:r>
              <a:rPr lang="en-US" dirty="0"/>
              <a:t>Consistency </a:t>
            </a:r>
          </a:p>
          <a:p>
            <a:pPr lvl="2"/>
            <a:r>
              <a:rPr lang="en-US" dirty="0"/>
              <a:t>Internal </a:t>
            </a:r>
          </a:p>
          <a:p>
            <a:pPr lvl="2"/>
            <a:r>
              <a:rPr lang="en-US" dirty="0"/>
              <a:t>External </a:t>
            </a:r>
          </a:p>
          <a:p>
            <a:pPr lvl="2"/>
            <a:r>
              <a:rPr lang="en-US" dirty="0"/>
              <a:t>Speak user’s language </a:t>
            </a:r>
          </a:p>
          <a:p>
            <a:pPr lvl="2"/>
            <a:r>
              <a:rPr lang="en-US" dirty="0"/>
              <a:t>Platform Standards </a:t>
            </a:r>
          </a:p>
          <a:p>
            <a:endParaRPr lang="en-US" dirty="0"/>
          </a:p>
        </p:txBody>
      </p:sp>
    </p:spTree>
    <p:extLst>
      <p:ext uri="{BB962C8B-B14F-4D97-AF65-F5344CB8AC3E}">
        <p14:creationId xmlns:p14="http://schemas.microsoft.com/office/powerpoint/2010/main" val="18060725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Affordances </a:t>
            </a:r>
          </a:p>
        </p:txBody>
      </p:sp>
      <p:sp>
        <p:nvSpPr>
          <p:cNvPr id="3" name="Content Placeholder 2"/>
          <p:cNvSpPr>
            <a:spLocks noGrp="1"/>
          </p:cNvSpPr>
          <p:nvPr>
            <p:ph sz="quarter" idx="1"/>
          </p:nvPr>
        </p:nvSpPr>
        <p:spPr>
          <a:xfrm>
            <a:off x="816864" y="1558925"/>
            <a:ext cx="10849864" cy="4351338"/>
          </a:xfrm>
        </p:spPr>
        <p:txBody>
          <a:bodyPr/>
          <a:lstStyle/>
          <a:p>
            <a:r>
              <a:rPr lang="en-US" dirty="0"/>
              <a:t>Perceived and actual properties of a thing that determine how the thing could be used.</a:t>
            </a:r>
          </a:p>
          <a:p>
            <a:r>
              <a:rPr lang="en-US" dirty="0"/>
              <a:t>Interface communicates non verbally how an object can be used</a:t>
            </a:r>
          </a:p>
          <a:p>
            <a:r>
              <a:rPr lang="en-US" dirty="0"/>
              <a:t>Affordances are rarely natural,</a:t>
            </a:r>
          </a:p>
          <a:p>
            <a:pPr marL="0" indent="0">
              <a:buNone/>
            </a:pPr>
            <a:r>
              <a:rPr lang="en-US" dirty="0"/>
              <a:t>   they are learned from experience. </a:t>
            </a:r>
          </a:p>
          <a:p>
            <a:endParaRPr lang="en-US" dirty="0"/>
          </a:p>
        </p:txBody>
      </p:sp>
      <p:pic>
        <p:nvPicPr>
          <p:cNvPr id="1026" name="Picture 2" descr="http://qph.is.quoracdn.net/main-qimg-f0a341a110341f5a58a93b75b491448d?convert_to_webp=tru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6619" y="3312532"/>
            <a:ext cx="5865381" cy="347085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1.bp.blogspot.com/-EPNW20NCtZc/UyhtIXCbOTI/AAAAAAAACyA/rtIhC61aOLg/s1600/Affordance+types.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5" y="4524374"/>
            <a:ext cx="6086475" cy="23336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2892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9466" y="319791"/>
            <a:ext cx="12097778" cy="6505074"/>
          </a:xfrm>
          <a:prstGeom prst="rect">
            <a:avLst/>
          </a:prstGeom>
        </p:spPr>
      </p:pic>
      <p:sp>
        <p:nvSpPr>
          <p:cNvPr id="2" name="Title 1"/>
          <p:cNvSpPr>
            <a:spLocks noGrp="1"/>
          </p:cNvSpPr>
          <p:nvPr>
            <p:ph type="title"/>
          </p:nvPr>
        </p:nvSpPr>
        <p:spPr/>
        <p:txBody>
          <a:bodyPr/>
          <a:lstStyle/>
          <a:p>
            <a:r>
              <a:rPr lang="en-US" dirty="0"/>
              <a:t>Perceived affordances</a:t>
            </a:r>
          </a:p>
        </p:txBody>
      </p:sp>
    </p:spTree>
    <p:extLst>
      <p:ext uri="{BB962C8B-B14F-4D97-AF65-F5344CB8AC3E}">
        <p14:creationId xmlns:p14="http://schemas.microsoft.com/office/powerpoint/2010/main" val="15944433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t>Perceived Affordance Problems</a:t>
            </a:r>
            <a:endParaRPr lang="en-CA"/>
          </a:p>
        </p:txBody>
      </p:sp>
      <p:pic>
        <p:nvPicPr>
          <p:cNvPr id="1433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4038" y="2271713"/>
            <a:ext cx="6997700" cy="4227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340" name="Line 6"/>
          <p:cNvSpPr>
            <a:spLocks noChangeShapeType="1"/>
          </p:cNvSpPr>
          <p:nvPr/>
        </p:nvSpPr>
        <p:spPr bwMode="auto">
          <a:xfrm flipV="1">
            <a:off x="2608263" y="4005263"/>
            <a:ext cx="2119312" cy="576262"/>
          </a:xfrm>
          <a:prstGeom prst="line">
            <a:avLst/>
          </a:prstGeom>
          <a:noFill/>
          <a:ln w="381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spAutoFit/>
          </a:bodyPr>
          <a:lstStyle/>
          <a:p>
            <a:endParaRPr lang="en-US"/>
          </a:p>
        </p:txBody>
      </p:sp>
      <p:sp>
        <p:nvSpPr>
          <p:cNvPr id="14341" name="Text Box 8"/>
          <p:cNvSpPr txBox="1">
            <a:spLocks noChangeArrowheads="1"/>
          </p:cNvSpPr>
          <p:nvPr/>
        </p:nvSpPr>
        <p:spPr bwMode="auto">
          <a:xfrm>
            <a:off x="1524001" y="4156075"/>
            <a:ext cx="117316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sz="2400">
                <a:solidFill>
                  <a:schemeClr val="tx1"/>
                </a:solidFill>
                <a:latin typeface="Comic Sans MS" pitchFamily="66" charset="0"/>
              </a:defRPr>
            </a:lvl1pPr>
            <a:lvl2pPr marL="742950" indent="-285750" eaLnBrk="0" hangingPunct="0">
              <a:defRPr sz="2400">
                <a:solidFill>
                  <a:schemeClr val="tx1"/>
                </a:solidFill>
                <a:latin typeface="Comic Sans MS" pitchFamily="66" charset="0"/>
              </a:defRPr>
            </a:lvl2pPr>
            <a:lvl3pPr marL="1143000" indent="-228600" eaLnBrk="0" hangingPunct="0">
              <a:defRPr sz="2400">
                <a:solidFill>
                  <a:schemeClr val="tx1"/>
                </a:solidFill>
                <a:latin typeface="Comic Sans MS" pitchFamily="66" charset="0"/>
              </a:defRPr>
            </a:lvl3pPr>
            <a:lvl4pPr marL="1600200" indent="-228600" eaLnBrk="0" hangingPunct="0">
              <a:defRPr sz="2400">
                <a:solidFill>
                  <a:schemeClr val="tx1"/>
                </a:solidFill>
                <a:latin typeface="Comic Sans MS" pitchFamily="66" charset="0"/>
              </a:defRPr>
            </a:lvl4pPr>
            <a:lvl5pPr marL="2057400" indent="-228600" eaLnBrk="0" hangingPunct="0">
              <a:defRPr sz="2400">
                <a:solidFill>
                  <a:schemeClr val="tx1"/>
                </a:solidFill>
                <a:latin typeface="Comic Sans MS" pitchFamily="66" charset="0"/>
              </a:defRPr>
            </a:lvl5pPr>
            <a:lvl6pPr marL="2514600" indent="-228600" eaLnBrk="0" fontAlgn="base" hangingPunct="0">
              <a:spcBef>
                <a:spcPct val="0"/>
              </a:spcBef>
              <a:spcAft>
                <a:spcPct val="0"/>
              </a:spcAft>
              <a:defRPr sz="2400">
                <a:solidFill>
                  <a:schemeClr val="tx1"/>
                </a:solidFill>
                <a:latin typeface="Comic Sans MS" pitchFamily="66" charset="0"/>
              </a:defRPr>
            </a:lvl6pPr>
            <a:lvl7pPr marL="2971800" indent="-228600" eaLnBrk="0" fontAlgn="base" hangingPunct="0">
              <a:spcBef>
                <a:spcPct val="0"/>
              </a:spcBef>
              <a:spcAft>
                <a:spcPct val="0"/>
              </a:spcAft>
              <a:defRPr sz="2400">
                <a:solidFill>
                  <a:schemeClr val="tx1"/>
                </a:solidFill>
                <a:latin typeface="Comic Sans MS" pitchFamily="66" charset="0"/>
              </a:defRPr>
            </a:lvl7pPr>
            <a:lvl8pPr marL="3429000" indent="-228600" eaLnBrk="0" fontAlgn="base" hangingPunct="0">
              <a:spcBef>
                <a:spcPct val="0"/>
              </a:spcBef>
              <a:spcAft>
                <a:spcPct val="0"/>
              </a:spcAft>
              <a:defRPr sz="2400">
                <a:solidFill>
                  <a:schemeClr val="tx1"/>
                </a:solidFill>
                <a:latin typeface="Comic Sans MS" pitchFamily="66" charset="0"/>
              </a:defRPr>
            </a:lvl8pPr>
            <a:lvl9pPr marL="3886200" indent="-228600" eaLnBrk="0" fontAlgn="base" hangingPunct="0">
              <a:spcBef>
                <a:spcPct val="0"/>
              </a:spcBef>
              <a:spcAft>
                <a:spcPct val="0"/>
              </a:spcAft>
              <a:defRPr sz="2400">
                <a:solidFill>
                  <a:schemeClr val="tx1"/>
                </a:solidFill>
                <a:latin typeface="Comic Sans MS" pitchFamily="66" charset="0"/>
              </a:defRPr>
            </a:lvl9pPr>
          </a:lstStyle>
          <a:p>
            <a:pPr algn="r">
              <a:spcBef>
                <a:spcPct val="50000"/>
              </a:spcBef>
            </a:pPr>
            <a:r>
              <a:rPr lang="en-US" sz="1800">
                <a:latin typeface="Arial" charset="0"/>
              </a:rPr>
              <a:t>are these buttons?</a:t>
            </a:r>
          </a:p>
        </p:txBody>
      </p:sp>
      <p:sp>
        <p:nvSpPr>
          <p:cNvPr id="14342" name="Line 9"/>
          <p:cNvSpPr>
            <a:spLocks noChangeShapeType="1"/>
          </p:cNvSpPr>
          <p:nvPr/>
        </p:nvSpPr>
        <p:spPr bwMode="auto">
          <a:xfrm>
            <a:off x="2640014" y="4583113"/>
            <a:ext cx="1273175" cy="1655762"/>
          </a:xfrm>
          <a:prstGeom prst="line">
            <a:avLst/>
          </a:prstGeom>
          <a:noFill/>
          <a:ln w="381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spAutoFit/>
          </a:bodyPr>
          <a:lstStyle/>
          <a:p>
            <a:endParaRPr lang="en-US"/>
          </a:p>
        </p:txBody>
      </p:sp>
      <p:sp>
        <p:nvSpPr>
          <p:cNvPr id="14343" name="Text Box 10"/>
          <p:cNvSpPr txBox="1">
            <a:spLocks noChangeArrowheads="1"/>
          </p:cNvSpPr>
          <p:nvPr/>
        </p:nvSpPr>
        <p:spPr bwMode="auto">
          <a:xfrm>
            <a:off x="3143251" y="1563688"/>
            <a:ext cx="29686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sz="2400">
                <a:solidFill>
                  <a:schemeClr val="tx1"/>
                </a:solidFill>
                <a:latin typeface="Comic Sans MS" pitchFamily="66" charset="0"/>
              </a:defRPr>
            </a:lvl1pPr>
            <a:lvl2pPr marL="742950" indent="-285750" eaLnBrk="0" hangingPunct="0">
              <a:defRPr sz="2400">
                <a:solidFill>
                  <a:schemeClr val="tx1"/>
                </a:solidFill>
                <a:latin typeface="Comic Sans MS" pitchFamily="66" charset="0"/>
              </a:defRPr>
            </a:lvl2pPr>
            <a:lvl3pPr marL="1143000" indent="-228600" eaLnBrk="0" hangingPunct="0">
              <a:defRPr sz="2400">
                <a:solidFill>
                  <a:schemeClr val="tx1"/>
                </a:solidFill>
                <a:latin typeface="Comic Sans MS" pitchFamily="66" charset="0"/>
              </a:defRPr>
            </a:lvl3pPr>
            <a:lvl4pPr marL="1600200" indent="-228600" eaLnBrk="0" hangingPunct="0">
              <a:defRPr sz="2400">
                <a:solidFill>
                  <a:schemeClr val="tx1"/>
                </a:solidFill>
                <a:latin typeface="Comic Sans MS" pitchFamily="66" charset="0"/>
              </a:defRPr>
            </a:lvl4pPr>
            <a:lvl5pPr marL="2057400" indent="-228600" eaLnBrk="0" hangingPunct="0">
              <a:defRPr sz="2400">
                <a:solidFill>
                  <a:schemeClr val="tx1"/>
                </a:solidFill>
                <a:latin typeface="Comic Sans MS" pitchFamily="66" charset="0"/>
              </a:defRPr>
            </a:lvl5pPr>
            <a:lvl6pPr marL="2514600" indent="-228600" eaLnBrk="0" fontAlgn="base" hangingPunct="0">
              <a:spcBef>
                <a:spcPct val="0"/>
              </a:spcBef>
              <a:spcAft>
                <a:spcPct val="0"/>
              </a:spcAft>
              <a:defRPr sz="2400">
                <a:solidFill>
                  <a:schemeClr val="tx1"/>
                </a:solidFill>
                <a:latin typeface="Comic Sans MS" pitchFamily="66" charset="0"/>
              </a:defRPr>
            </a:lvl6pPr>
            <a:lvl7pPr marL="2971800" indent="-228600" eaLnBrk="0" fontAlgn="base" hangingPunct="0">
              <a:spcBef>
                <a:spcPct val="0"/>
              </a:spcBef>
              <a:spcAft>
                <a:spcPct val="0"/>
              </a:spcAft>
              <a:defRPr sz="2400">
                <a:solidFill>
                  <a:schemeClr val="tx1"/>
                </a:solidFill>
                <a:latin typeface="Comic Sans MS" pitchFamily="66" charset="0"/>
              </a:defRPr>
            </a:lvl7pPr>
            <a:lvl8pPr marL="3429000" indent="-228600" eaLnBrk="0" fontAlgn="base" hangingPunct="0">
              <a:spcBef>
                <a:spcPct val="0"/>
              </a:spcBef>
              <a:spcAft>
                <a:spcPct val="0"/>
              </a:spcAft>
              <a:defRPr sz="2400">
                <a:solidFill>
                  <a:schemeClr val="tx1"/>
                </a:solidFill>
                <a:latin typeface="Comic Sans MS" pitchFamily="66" charset="0"/>
              </a:defRPr>
            </a:lvl8pPr>
            <a:lvl9pPr marL="3886200" indent="-228600" eaLnBrk="0" fontAlgn="base" hangingPunct="0">
              <a:spcBef>
                <a:spcPct val="0"/>
              </a:spcBef>
              <a:spcAft>
                <a:spcPct val="0"/>
              </a:spcAft>
              <a:defRPr sz="2400">
                <a:solidFill>
                  <a:schemeClr val="tx1"/>
                </a:solidFill>
                <a:latin typeface="Comic Sans MS" pitchFamily="66" charset="0"/>
              </a:defRPr>
            </a:lvl9pPr>
          </a:lstStyle>
          <a:p>
            <a:pPr algn="r">
              <a:spcBef>
                <a:spcPct val="50000"/>
              </a:spcBef>
            </a:pPr>
            <a:r>
              <a:rPr lang="en-US" sz="1800">
                <a:latin typeface="Arial" charset="0"/>
              </a:rPr>
              <a:t>is this equalizer control a toggle or button? </a:t>
            </a:r>
          </a:p>
        </p:txBody>
      </p:sp>
      <p:sp>
        <p:nvSpPr>
          <p:cNvPr id="14344" name="Line 14"/>
          <p:cNvSpPr>
            <a:spLocks noChangeShapeType="1"/>
          </p:cNvSpPr>
          <p:nvPr/>
        </p:nvSpPr>
        <p:spPr bwMode="auto">
          <a:xfrm>
            <a:off x="6024564" y="1916114"/>
            <a:ext cx="935037" cy="433387"/>
          </a:xfrm>
          <a:prstGeom prst="line">
            <a:avLst/>
          </a:prstGeom>
          <a:noFill/>
          <a:ln w="381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spAutoFit/>
          </a:bodyPr>
          <a:lstStyle/>
          <a:p>
            <a:endParaRPr lang="en-US"/>
          </a:p>
        </p:txBody>
      </p:sp>
      <p:sp>
        <p:nvSpPr>
          <p:cNvPr id="14345" name="Line 15"/>
          <p:cNvSpPr>
            <a:spLocks noChangeShapeType="1"/>
          </p:cNvSpPr>
          <p:nvPr/>
        </p:nvSpPr>
        <p:spPr bwMode="auto">
          <a:xfrm>
            <a:off x="2620964" y="4583113"/>
            <a:ext cx="2035175" cy="1008062"/>
          </a:xfrm>
          <a:prstGeom prst="line">
            <a:avLst/>
          </a:prstGeom>
          <a:noFill/>
          <a:ln w="381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spAutoFit/>
          </a:bodyPr>
          <a:lstStyle/>
          <a:p>
            <a:endParaRPr lang="en-US"/>
          </a:p>
        </p:txBody>
      </p:sp>
      <p:sp>
        <p:nvSpPr>
          <p:cNvPr id="14346" name="Line 16"/>
          <p:cNvSpPr>
            <a:spLocks noChangeShapeType="1"/>
          </p:cNvSpPr>
          <p:nvPr/>
        </p:nvSpPr>
        <p:spPr bwMode="auto">
          <a:xfrm flipH="1">
            <a:off x="8256588" y="1916113"/>
            <a:ext cx="144462" cy="360362"/>
          </a:xfrm>
          <a:prstGeom prst="line">
            <a:avLst/>
          </a:prstGeom>
          <a:noFill/>
          <a:ln w="381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spAutoFit/>
          </a:bodyPr>
          <a:lstStyle/>
          <a:p>
            <a:endParaRPr lang="en-US"/>
          </a:p>
        </p:txBody>
      </p:sp>
      <p:sp>
        <p:nvSpPr>
          <p:cNvPr id="14347" name="Text Box 17"/>
          <p:cNvSpPr txBox="1">
            <a:spLocks noChangeArrowheads="1"/>
          </p:cNvSpPr>
          <p:nvPr/>
        </p:nvSpPr>
        <p:spPr bwMode="auto">
          <a:xfrm>
            <a:off x="8256589" y="1557338"/>
            <a:ext cx="22320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sz="2400">
                <a:solidFill>
                  <a:schemeClr val="tx1"/>
                </a:solidFill>
                <a:latin typeface="Comic Sans MS" pitchFamily="66" charset="0"/>
              </a:defRPr>
            </a:lvl1pPr>
            <a:lvl2pPr marL="742950" indent="-285750" eaLnBrk="0" hangingPunct="0">
              <a:defRPr sz="2400">
                <a:solidFill>
                  <a:schemeClr val="tx1"/>
                </a:solidFill>
                <a:latin typeface="Comic Sans MS" pitchFamily="66" charset="0"/>
              </a:defRPr>
            </a:lvl2pPr>
            <a:lvl3pPr marL="1143000" indent="-228600" eaLnBrk="0" hangingPunct="0">
              <a:defRPr sz="2400">
                <a:solidFill>
                  <a:schemeClr val="tx1"/>
                </a:solidFill>
                <a:latin typeface="Comic Sans MS" pitchFamily="66" charset="0"/>
              </a:defRPr>
            </a:lvl3pPr>
            <a:lvl4pPr marL="1600200" indent="-228600" eaLnBrk="0" hangingPunct="0">
              <a:defRPr sz="2400">
                <a:solidFill>
                  <a:schemeClr val="tx1"/>
                </a:solidFill>
                <a:latin typeface="Comic Sans MS" pitchFamily="66" charset="0"/>
              </a:defRPr>
            </a:lvl4pPr>
            <a:lvl5pPr marL="2057400" indent="-228600" eaLnBrk="0" hangingPunct="0">
              <a:defRPr sz="2400">
                <a:solidFill>
                  <a:schemeClr val="tx1"/>
                </a:solidFill>
                <a:latin typeface="Comic Sans MS" pitchFamily="66" charset="0"/>
              </a:defRPr>
            </a:lvl5pPr>
            <a:lvl6pPr marL="2514600" indent="-228600" eaLnBrk="0" fontAlgn="base" hangingPunct="0">
              <a:spcBef>
                <a:spcPct val="0"/>
              </a:spcBef>
              <a:spcAft>
                <a:spcPct val="0"/>
              </a:spcAft>
              <a:defRPr sz="2400">
                <a:solidFill>
                  <a:schemeClr val="tx1"/>
                </a:solidFill>
                <a:latin typeface="Comic Sans MS" pitchFamily="66" charset="0"/>
              </a:defRPr>
            </a:lvl6pPr>
            <a:lvl7pPr marL="2971800" indent="-228600" eaLnBrk="0" fontAlgn="base" hangingPunct="0">
              <a:spcBef>
                <a:spcPct val="0"/>
              </a:spcBef>
              <a:spcAft>
                <a:spcPct val="0"/>
              </a:spcAft>
              <a:defRPr sz="2400">
                <a:solidFill>
                  <a:schemeClr val="tx1"/>
                </a:solidFill>
                <a:latin typeface="Comic Sans MS" pitchFamily="66" charset="0"/>
              </a:defRPr>
            </a:lvl7pPr>
            <a:lvl8pPr marL="3429000" indent="-228600" eaLnBrk="0" fontAlgn="base" hangingPunct="0">
              <a:spcBef>
                <a:spcPct val="0"/>
              </a:spcBef>
              <a:spcAft>
                <a:spcPct val="0"/>
              </a:spcAft>
              <a:defRPr sz="2400">
                <a:solidFill>
                  <a:schemeClr val="tx1"/>
                </a:solidFill>
                <a:latin typeface="Comic Sans MS" pitchFamily="66" charset="0"/>
              </a:defRPr>
            </a:lvl8pPr>
            <a:lvl9pPr marL="3886200" indent="-228600" eaLnBrk="0" fontAlgn="base" hangingPunct="0">
              <a:spcBef>
                <a:spcPct val="0"/>
              </a:spcBef>
              <a:spcAft>
                <a:spcPct val="0"/>
              </a:spcAft>
              <a:defRPr sz="2400">
                <a:solidFill>
                  <a:schemeClr val="tx1"/>
                </a:solidFill>
                <a:latin typeface="Comic Sans MS" pitchFamily="66" charset="0"/>
              </a:defRPr>
            </a:lvl9pPr>
          </a:lstStyle>
          <a:p>
            <a:pPr algn="r">
              <a:spcBef>
                <a:spcPct val="50000"/>
              </a:spcBef>
            </a:pPr>
            <a:r>
              <a:rPr lang="en-US" sz="1800">
                <a:latin typeface="Arial" charset="0"/>
              </a:rPr>
              <a:t>button for pressing, </a:t>
            </a:r>
            <a:br>
              <a:rPr lang="en-US" sz="1800">
                <a:latin typeface="Arial" charset="0"/>
              </a:rPr>
            </a:br>
            <a:r>
              <a:rPr lang="en-US" sz="1800">
                <a:latin typeface="Arial" charset="0"/>
              </a:rPr>
              <a:t>but action unknown</a:t>
            </a:r>
          </a:p>
        </p:txBody>
      </p:sp>
    </p:spTree>
    <p:extLst>
      <p:ext uri="{BB962C8B-B14F-4D97-AF65-F5344CB8AC3E}">
        <p14:creationId xmlns:p14="http://schemas.microsoft.com/office/powerpoint/2010/main" val="25253979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appropriate affordances</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203" y="1916480"/>
            <a:ext cx="11536471" cy="479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170021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Mapping </a:t>
            </a:r>
          </a:p>
        </p:txBody>
      </p:sp>
      <p:pic>
        <p:nvPicPr>
          <p:cNvPr id="7" name="Content Placeholder 6"/>
          <p:cNvPicPr>
            <a:picLocks noGrp="1" noChangeAspect="1"/>
          </p:cNvPicPr>
          <p:nvPr>
            <p:ph sz="quarter" idx="1"/>
          </p:nvPr>
        </p:nvPicPr>
        <p:blipFill>
          <a:blip r:embed="rId3">
            <a:extLst>
              <a:ext uri="{28A0092B-C50C-407E-A947-70E740481C1C}">
                <a14:useLocalDpi xmlns:a14="http://schemas.microsoft.com/office/drawing/2010/main" val="0"/>
              </a:ext>
            </a:extLst>
          </a:blip>
          <a:stretch>
            <a:fillRect/>
          </a:stretch>
        </p:blipFill>
        <p:spPr>
          <a:xfrm>
            <a:off x="3261833" y="1795144"/>
            <a:ext cx="8796685" cy="4716843"/>
          </a:xfrm>
        </p:spPr>
      </p:pic>
      <p:sp>
        <p:nvSpPr>
          <p:cNvPr id="4" name="Content Placeholder 2"/>
          <p:cNvSpPr txBox="1">
            <a:spLocks/>
          </p:cNvSpPr>
          <p:nvPr/>
        </p:nvSpPr>
        <p:spPr>
          <a:xfrm>
            <a:off x="182880" y="1825625"/>
            <a:ext cx="2971800" cy="4351338"/>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r>
              <a:rPr lang="en-US" dirty="0"/>
              <a:t>Relationship between controls and their effects on a system</a:t>
            </a:r>
          </a:p>
        </p:txBody>
      </p:sp>
    </p:spTree>
    <p:extLst>
      <p:ext uri="{BB962C8B-B14F-4D97-AF65-F5344CB8AC3E}">
        <p14:creationId xmlns:p14="http://schemas.microsoft.com/office/powerpoint/2010/main" val="24401260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Mapping </a:t>
            </a:r>
          </a:p>
        </p:txBody>
      </p:sp>
      <p:pic>
        <p:nvPicPr>
          <p:cNvPr id="4" name="Content Placeholder 3"/>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816864" y="1541929"/>
            <a:ext cx="7088094" cy="5316071"/>
          </a:xfrm>
        </p:spPr>
      </p:pic>
    </p:spTree>
    <p:extLst>
      <p:ext uri="{BB962C8B-B14F-4D97-AF65-F5344CB8AC3E}">
        <p14:creationId xmlns:p14="http://schemas.microsoft.com/office/powerpoint/2010/main" val="21593762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noFill/>
        </p:spPr>
        <p:txBody>
          <a:bodyPr vert="horz" lIns="92075" tIns="46038" rIns="92075" bIns="46038" rtlCol="0" anchor="ctr">
            <a:normAutofit/>
          </a:bodyPr>
          <a:lstStyle/>
          <a:p>
            <a:r>
              <a:rPr lang="en-US" dirty="0"/>
              <a:t>Mapping</a:t>
            </a:r>
          </a:p>
        </p:txBody>
      </p:sp>
      <p:sp>
        <p:nvSpPr>
          <p:cNvPr id="26631" name="Line 14"/>
          <p:cNvSpPr>
            <a:spLocks noChangeShapeType="1"/>
          </p:cNvSpPr>
          <p:nvPr/>
        </p:nvSpPr>
        <p:spPr bwMode="auto">
          <a:xfrm>
            <a:off x="9652457" y="1654056"/>
            <a:ext cx="0" cy="719137"/>
          </a:xfrm>
          <a:prstGeom prst="line">
            <a:avLst/>
          </a:prstGeom>
          <a:noFill/>
          <a:ln w="762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spAutoFit/>
          </a:bodyPr>
          <a:lstStyle/>
          <a:p>
            <a:endParaRPr lang="en-US"/>
          </a:p>
        </p:txBody>
      </p:sp>
      <p:pic>
        <p:nvPicPr>
          <p:cNvPr id="26633" name="Picture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3808" y="553917"/>
            <a:ext cx="2808287" cy="2611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634" name="Text Box 17"/>
          <p:cNvSpPr txBox="1">
            <a:spLocks noChangeArrowheads="1"/>
          </p:cNvSpPr>
          <p:nvPr/>
        </p:nvSpPr>
        <p:spPr bwMode="auto">
          <a:xfrm>
            <a:off x="6988633" y="4462343"/>
            <a:ext cx="2808287"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sz="2400">
                <a:solidFill>
                  <a:schemeClr val="tx1"/>
                </a:solidFill>
                <a:latin typeface="Comic Sans MS" pitchFamily="66" charset="0"/>
              </a:defRPr>
            </a:lvl1pPr>
            <a:lvl2pPr marL="742950" indent="-285750" eaLnBrk="0" hangingPunct="0">
              <a:defRPr sz="2400">
                <a:solidFill>
                  <a:schemeClr val="tx1"/>
                </a:solidFill>
                <a:latin typeface="Comic Sans MS" pitchFamily="66" charset="0"/>
              </a:defRPr>
            </a:lvl2pPr>
            <a:lvl3pPr marL="1143000" indent="-228600" eaLnBrk="0" hangingPunct="0">
              <a:defRPr sz="2400">
                <a:solidFill>
                  <a:schemeClr val="tx1"/>
                </a:solidFill>
                <a:latin typeface="Comic Sans MS" pitchFamily="66" charset="0"/>
              </a:defRPr>
            </a:lvl3pPr>
            <a:lvl4pPr marL="1600200" indent="-228600" eaLnBrk="0" hangingPunct="0">
              <a:defRPr sz="2400">
                <a:solidFill>
                  <a:schemeClr val="tx1"/>
                </a:solidFill>
                <a:latin typeface="Comic Sans MS" pitchFamily="66" charset="0"/>
              </a:defRPr>
            </a:lvl4pPr>
            <a:lvl5pPr marL="2057400" indent="-228600" eaLnBrk="0" hangingPunct="0">
              <a:defRPr sz="2400">
                <a:solidFill>
                  <a:schemeClr val="tx1"/>
                </a:solidFill>
                <a:latin typeface="Comic Sans MS" pitchFamily="66" charset="0"/>
              </a:defRPr>
            </a:lvl5pPr>
            <a:lvl6pPr marL="2514600" indent="-228600" eaLnBrk="0" fontAlgn="base" hangingPunct="0">
              <a:spcBef>
                <a:spcPct val="0"/>
              </a:spcBef>
              <a:spcAft>
                <a:spcPct val="0"/>
              </a:spcAft>
              <a:defRPr sz="2400">
                <a:solidFill>
                  <a:schemeClr val="tx1"/>
                </a:solidFill>
                <a:latin typeface="Comic Sans MS" pitchFamily="66" charset="0"/>
              </a:defRPr>
            </a:lvl6pPr>
            <a:lvl7pPr marL="2971800" indent="-228600" eaLnBrk="0" fontAlgn="base" hangingPunct="0">
              <a:spcBef>
                <a:spcPct val="0"/>
              </a:spcBef>
              <a:spcAft>
                <a:spcPct val="0"/>
              </a:spcAft>
              <a:defRPr sz="2400">
                <a:solidFill>
                  <a:schemeClr val="tx1"/>
                </a:solidFill>
                <a:latin typeface="Comic Sans MS" pitchFamily="66" charset="0"/>
              </a:defRPr>
            </a:lvl7pPr>
            <a:lvl8pPr marL="3429000" indent="-228600" eaLnBrk="0" fontAlgn="base" hangingPunct="0">
              <a:spcBef>
                <a:spcPct val="0"/>
              </a:spcBef>
              <a:spcAft>
                <a:spcPct val="0"/>
              </a:spcAft>
              <a:defRPr sz="2400">
                <a:solidFill>
                  <a:schemeClr val="tx1"/>
                </a:solidFill>
                <a:latin typeface="Comic Sans MS" pitchFamily="66" charset="0"/>
              </a:defRPr>
            </a:lvl8pPr>
            <a:lvl9pPr marL="3886200" indent="-228600" eaLnBrk="0" fontAlgn="base" hangingPunct="0">
              <a:spcBef>
                <a:spcPct val="0"/>
              </a:spcBef>
              <a:spcAft>
                <a:spcPct val="0"/>
              </a:spcAft>
              <a:defRPr sz="2400">
                <a:solidFill>
                  <a:schemeClr val="tx1"/>
                </a:solidFill>
                <a:latin typeface="Comic Sans MS" pitchFamily="66" charset="0"/>
              </a:defRPr>
            </a:lvl9pPr>
          </a:lstStyle>
          <a:p>
            <a:pPr algn="r" eaLnBrk="1" hangingPunct="1">
              <a:spcBef>
                <a:spcPct val="50000"/>
              </a:spcBef>
            </a:pPr>
            <a:r>
              <a:rPr lang="en-US" sz="1600">
                <a:solidFill>
                  <a:srgbClr val="000066"/>
                </a:solidFill>
                <a:latin typeface="Verdana" pitchFamily="34" charset="0"/>
              </a:rPr>
              <a:t>scroll bar – scroll down viewport goes down</a:t>
            </a:r>
          </a:p>
        </p:txBody>
      </p:sp>
      <p:grpSp>
        <p:nvGrpSpPr>
          <p:cNvPr id="2" name="Group 22"/>
          <p:cNvGrpSpPr>
            <a:grpSpLocks/>
          </p:cNvGrpSpPr>
          <p:nvPr/>
        </p:nvGrpSpPr>
        <p:grpSpPr bwMode="auto">
          <a:xfrm>
            <a:off x="9796920" y="572968"/>
            <a:ext cx="1223963" cy="3960813"/>
            <a:chOff x="4921" y="1570"/>
            <a:chExt cx="635" cy="2313"/>
          </a:xfrm>
        </p:grpSpPr>
        <p:pic>
          <p:nvPicPr>
            <p:cNvPr id="26640" name="Picture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21" y="1570"/>
              <a:ext cx="635" cy="1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641" name="Picture 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21" y="2950"/>
              <a:ext cx="635" cy="9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6636" name="Rectangle 13"/>
          <p:cNvSpPr>
            <a:spLocks noChangeArrowheads="1"/>
          </p:cNvSpPr>
          <p:nvPr/>
        </p:nvSpPr>
        <p:spPr bwMode="auto">
          <a:xfrm>
            <a:off x="9796920" y="1792918"/>
            <a:ext cx="792163" cy="369974"/>
          </a:xfrm>
          <a:prstGeom prst="rect">
            <a:avLst/>
          </a:prstGeom>
          <a:noFill/>
          <a:ln w="57150">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spAutoFit/>
          </a:bodyPr>
          <a:lstStyle/>
          <a:p>
            <a:endParaRPr lang="en-US"/>
          </a:p>
        </p:txBody>
      </p:sp>
      <p:sp>
        <p:nvSpPr>
          <p:cNvPr id="26637" name="Line 21"/>
          <p:cNvSpPr>
            <a:spLocks noChangeShapeType="1"/>
          </p:cNvSpPr>
          <p:nvPr/>
        </p:nvSpPr>
        <p:spPr bwMode="auto">
          <a:xfrm>
            <a:off x="9365119" y="1654056"/>
            <a:ext cx="0" cy="719137"/>
          </a:xfrm>
          <a:prstGeom prst="line">
            <a:avLst/>
          </a:prstGeom>
          <a:noFill/>
          <a:ln w="28575">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spAutoFit/>
          </a:bodyPr>
          <a:lstStyle/>
          <a:p>
            <a:endParaRPr lang="en-US"/>
          </a:p>
        </p:txBody>
      </p:sp>
      <p:sp>
        <p:nvSpPr>
          <p:cNvPr id="26638" name="Line 23"/>
          <p:cNvSpPr>
            <a:spLocks noChangeShapeType="1"/>
          </p:cNvSpPr>
          <p:nvPr/>
        </p:nvSpPr>
        <p:spPr bwMode="auto">
          <a:xfrm>
            <a:off x="9365120" y="1509593"/>
            <a:ext cx="358775" cy="144463"/>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spAutoFit/>
          </a:bodyPr>
          <a:lstStyle/>
          <a:p>
            <a:endParaRPr lang="en-US"/>
          </a:p>
        </p:txBody>
      </p:sp>
      <p:sp>
        <p:nvSpPr>
          <p:cNvPr id="26639" name="Line 24"/>
          <p:cNvSpPr>
            <a:spLocks noChangeShapeType="1"/>
          </p:cNvSpPr>
          <p:nvPr/>
        </p:nvSpPr>
        <p:spPr bwMode="auto">
          <a:xfrm flipH="1">
            <a:off x="9292094" y="2373193"/>
            <a:ext cx="431800" cy="504825"/>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spAutoFit/>
          </a:bodyPr>
          <a:lstStyle/>
          <a:p>
            <a:endParaRPr lang="en-US"/>
          </a:p>
        </p:txBody>
      </p:sp>
      <p:graphicFrame>
        <p:nvGraphicFramePr>
          <p:cNvPr id="18" name="Object 3"/>
          <p:cNvGraphicFramePr>
            <a:graphicFrameLocks/>
          </p:cNvGraphicFramePr>
          <p:nvPr>
            <p:extLst>
              <p:ext uri="{D42A27DB-BD31-4B8C-83A1-F6EECF244321}">
                <p14:modId xmlns:p14="http://schemas.microsoft.com/office/powerpoint/2010/main" val="2798001133"/>
              </p:ext>
            </p:extLst>
          </p:nvPr>
        </p:nvGraphicFramePr>
        <p:xfrm>
          <a:off x="491864" y="2892014"/>
          <a:ext cx="4170169" cy="2218559"/>
        </p:xfrm>
        <a:graphic>
          <a:graphicData uri="http://schemas.openxmlformats.org/presentationml/2006/ole">
            <mc:AlternateContent xmlns:mc="http://schemas.openxmlformats.org/markup-compatibility/2006">
              <mc:Choice xmlns:v="urn:schemas-microsoft-com:vml" Requires="v">
                <p:oleObj name="Document" r:id="rId6" imgW="1098804" imgH="574548" progId="Word.Document.8">
                  <p:embed/>
                </p:oleObj>
              </mc:Choice>
              <mc:Fallback>
                <p:oleObj name="Document" r:id="rId6" imgW="1098804" imgH="574548" progId="Word.Document.8">
                  <p:embed/>
                  <p:pic>
                    <p:nvPicPr>
                      <p:cNvPr id="0" nam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1864" y="2892014"/>
                        <a:ext cx="4170169" cy="2218559"/>
                      </a:xfrm>
                      <a:prstGeom prst="rect">
                        <a:avLst/>
                      </a:prstGeom>
                      <a:noFill/>
                      <a:ln>
                        <a:noFill/>
                      </a:ln>
                      <a:effectLst/>
                    </p:spPr>
                  </p:pic>
                </p:oleObj>
              </mc:Fallback>
            </mc:AlternateContent>
          </a:graphicData>
        </a:graphic>
      </p:graphicFrame>
      <p:sp>
        <p:nvSpPr>
          <p:cNvPr id="19" name="Text Box 4"/>
          <p:cNvSpPr txBox="1">
            <a:spLocks noChangeArrowheads="1"/>
          </p:cNvSpPr>
          <p:nvPr/>
        </p:nvSpPr>
        <p:spPr bwMode="auto">
          <a:xfrm>
            <a:off x="44693" y="5607289"/>
            <a:ext cx="2130425"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sz="2400">
                <a:solidFill>
                  <a:schemeClr val="tx1"/>
                </a:solidFill>
                <a:latin typeface="Comic Sans MS" pitchFamily="66" charset="0"/>
              </a:defRPr>
            </a:lvl1pPr>
            <a:lvl2pPr marL="742950" indent="-285750" eaLnBrk="0" hangingPunct="0">
              <a:defRPr sz="2400">
                <a:solidFill>
                  <a:schemeClr val="tx1"/>
                </a:solidFill>
                <a:latin typeface="Comic Sans MS" pitchFamily="66" charset="0"/>
              </a:defRPr>
            </a:lvl2pPr>
            <a:lvl3pPr marL="1143000" indent="-228600" eaLnBrk="0" hangingPunct="0">
              <a:defRPr sz="2400">
                <a:solidFill>
                  <a:schemeClr val="tx1"/>
                </a:solidFill>
                <a:latin typeface="Comic Sans MS" pitchFamily="66" charset="0"/>
              </a:defRPr>
            </a:lvl3pPr>
            <a:lvl4pPr marL="1600200" indent="-228600" eaLnBrk="0" hangingPunct="0">
              <a:defRPr sz="2400">
                <a:solidFill>
                  <a:schemeClr val="tx1"/>
                </a:solidFill>
                <a:latin typeface="Comic Sans MS" pitchFamily="66" charset="0"/>
              </a:defRPr>
            </a:lvl4pPr>
            <a:lvl5pPr marL="2057400" indent="-228600" eaLnBrk="0" hangingPunct="0">
              <a:defRPr sz="2400">
                <a:solidFill>
                  <a:schemeClr val="tx1"/>
                </a:solidFill>
                <a:latin typeface="Comic Sans MS" pitchFamily="66" charset="0"/>
              </a:defRPr>
            </a:lvl5pPr>
            <a:lvl6pPr marL="2514600" indent="-228600" eaLnBrk="0" fontAlgn="base" hangingPunct="0">
              <a:spcBef>
                <a:spcPct val="0"/>
              </a:spcBef>
              <a:spcAft>
                <a:spcPct val="0"/>
              </a:spcAft>
              <a:defRPr sz="2400">
                <a:solidFill>
                  <a:schemeClr val="tx1"/>
                </a:solidFill>
                <a:latin typeface="Comic Sans MS" pitchFamily="66" charset="0"/>
              </a:defRPr>
            </a:lvl6pPr>
            <a:lvl7pPr marL="2971800" indent="-228600" eaLnBrk="0" fontAlgn="base" hangingPunct="0">
              <a:spcBef>
                <a:spcPct val="0"/>
              </a:spcBef>
              <a:spcAft>
                <a:spcPct val="0"/>
              </a:spcAft>
              <a:defRPr sz="2400">
                <a:solidFill>
                  <a:schemeClr val="tx1"/>
                </a:solidFill>
                <a:latin typeface="Comic Sans MS" pitchFamily="66" charset="0"/>
              </a:defRPr>
            </a:lvl7pPr>
            <a:lvl8pPr marL="3429000" indent="-228600" eaLnBrk="0" fontAlgn="base" hangingPunct="0">
              <a:spcBef>
                <a:spcPct val="0"/>
              </a:spcBef>
              <a:spcAft>
                <a:spcPct val="0"/>
              </a:spcAft>
              <a:defRPr sz="2400">
                <a:solidFill>
                  <a:schemeClr val="tx1"/>
                </a:solidFill>
                <a:latin typeface="Comic Sans MS" pitchFamily="66" charset="0"/>
              </a:defRPr>
            </a:lvl8pPr>
            <a:lvl9pPr marL="3886200" indent="-228600" eaLnBrk="0" fontAlgn="base" hangingPunct="0">
              <a:spcBef>
                <a:spcPct val="0"/>
              </a:spcBef>
              <a:spcAft>
                <a:spcPct val="0"/>
              </a:spcAft>
              <a:defRPr sz="2400">
                <a:solidFill>
                  <a:schemeClr val="tx1"/>
                </a:solidFill>
                <a:latin typeface="Comic Sans MS" pitchFamily="66" charset="0"/>
              </a:defRPr>
            </a:lvl9pPr>
          </a:lstStyle>
          <a:p>
            <a:pPr algn="r">
              <a:spcBef>
                <a:spcPct val="50000"/>
              </a:spcBef>
            </a:pPr>
            <a:r>
              <a:rPr lang="en-US" sz="1800" dirty="0">
                <a:latin typeface="Arial" charset="0"/>
              </a:rPr>
              <a:t>Depressed button indicates current mapped item</a:t>
            </a:r>
          </a:p>
        </p:txBody>
      </p:sp>
      <p:sp>
        <p:nvSpPr>
          <p:cNvPr id="20" name="Text Box 6"/>
          <p:cNvSpPr txBox="1">
            <a:spLocks noChangeArrowheads="1"/>
          </p:cNvSpPr>
          <p:nvPr/>
        </p:nvSpPr>
        <p:spPr bwMode="auto">
          <a:xfrm>
            <a:off x="3745332" y="5509334"/>
            <a:ext cx="2438400"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sz="2400">
                <a:solidFill>
                  <a:schemeClr val="tx1"/>
                </a:solidFill>
                <a:latin typeface="Comic Sans MS" pitchFamily="66" charset="0"/>
              </a:defRPr>
            </a:lvl1pPr>
            <a:lvl2pPr marL="742950" indent="-285750" eaLnBrk="0" hangingPunct="0">
              <a:defRPr sz="2400">
                <a:solidFill>
                  <a:schemeClr val="tx1"/>
                </a:solidFill>
                <a:latin typeface="Comic Sans MS" pitchFamily="66" charset="0"/>
              </a:defRPr>
            </a:lvl2pPr>
            <a:lvl3pPr marL="1143000" indent="-228600" eaLnBrk="0" hangingPunct="0">
              <a:defRPr sz="2400">
                <a:solidFill>
                  <a:schemeClr val="tx1"/>
                </a:solidFill>
                <a:latin typeface="Comic Sans MS" pitchFamily="66" charset="0"/>
              </a:defRPr>
            </a:lvl3pPr>
            <a:lvl4pPr marL="1600200" indent="-228600" eaLnBrk="0" hangingPunct="0">
              <a:defRPr sz="2400">
                <a:solidFill>
                  <a:schemeClr val="tx1"/>
                </a:solidFill>
                <a:latin typeface="Comic Sans MS" pitchFamily="66" charset="0"/>
              </a:defRPr>
            </a:lvl4pPr>
            <a:lvl5pPr marL="2057400" indent="-228600" eaLnBrk="0" hangingPunct="0">
              <a:defRPr sz="2400">
                <a:solidFill>
                  <a:schemeClr val="tx1"/>
                </a:solidFill>
                <a:latin typeface="Comic Sans MS" pitchFamily="66" charset="0"/>
              </a:defRPr>
            </a:lvl5pPr>
            <a:lvl6pPr marL="2514600" indent="-228600" eaLnBrk="0" fontAlgn="base" hangingPunct="0">
              <a:spcBef>
                <a:spcPct val="0"/>
              </a:spcBef>
              <a:spcAft>
                <a:spcPct val="0"/>
              </a:spcAft>
              <a:defRPr sz="2400">
                <a:solidFill>
                  <a:schemeClr val="tx1"/>
                </a:solidFill>
                <a:latin typeface="Comic Sans MS" pitchFamily="66" charset="0"/>
              </a:defRPr>
            </a:lvl6pPr>
            <a:lvl7pPr marL="2971800" indent="-228600" eaLnBrk="0" fontAlgn="base" hangingPunct="0">
              <a:spcBef>
                <a:spcPct val="0"/>
              </a:spcBef>
              <a:spcAft>
                <a:spcPct val="0"/>
              </a:spcAft>
              <a:defRPr sz="2400">
                <a:solidFill>
                  <a:schemeClr val="tx1"/>
                </a:solidFill>
                <a:latin typeface="Comic Sans MS" pitchFamily="66" charset="0"/>
              </a:defRPr>
            </a:lvl7pPr>
            <a:lvl8pPr marL="3429000" indent="-228600" eaLnBrk="0" fontAlgn="base" hangingPunct="0">
              <a:spcBef>
                <a:spcPct val="0"/>
              </a:spcBef>
              <a:spcAft>
                <a:spcPct val="0"/>
              </a:spcAft>
              <a:defRPr sz="2400">
                <a:solidFill>
                  <a:schemeClr val="tx1"/>
                </a:solidFill>
                <a:latin typeface="Comic Sans MS" pitchFamily="66" charset="0"/>
              </a:defRPr>
            </a:lvl8pPr>
            <a:lvl9pPr marL="3886200" indent="-228600" eaLnBrk="0" fontAlgn="base" hangingPunct="0">
              <a:spcBef>
                <a:spcPct val="0"/>
              </a:spcBef>
              <a:spcAft>
                <a:spcPct val="0"/>
              </a:spcAft>
              <a:defRPr sz="2400">
                <a:solidFill>
                  <a:schemeClr val="tx1"/>
                </a:solidFill>
                <a:latin typeface="Comic Sans MS" pitchFamily="66" charset="0"/>
              </a:defRPr>
            </a:lvl9pPr>
          </a:lstStyle>
          <a:p>
            <a:pPr>
              <a:spcBef>
                <a:spcPct val="50000"/>
              </a:spcBef>
            </a:pPr>
            <a:r>
              <a:rPr lang="en-US" sz="1800" dirty="0">
                <a:latin typeface="Arial" charset="0"/>
              </a:rPr>
              <a:t>Cursor re-enforces selection of current item</a:t>
            </a:r>
          </a:p>
        </p:txBody>
      </p:sp>
      <p:sp>
        <p:nvSpPr>
          <p:cNvPr id="21" name="Line 7"/>
          <p:cNvSpPr>
            <a:spLocks noChangeShapeType="1"/>
          </p:cNvSpPr>
          <p:nvPr/>
        </p:nvSpPr>
        <p:spPr bwMode="auto">
          <a:xfrm flipH="1" flipV="1">
            <a:off x="3745331" y="4365625"/>
            <a:ext cx="916702" cy="1143707"/>
          </a:xfrm>
          <a:prstGeom prst="line">
            <a:avLst/>
          </a:prstGeom>
          <a:noFill/>
          <a:ln w="381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nchor="ctr">
            <a:spAutoFit/>
          </a:bodyPr>
          <a:lstStyle/>
          <a:p>
            <a:endParaRPr lang="en-US"/>
          </a:p>
        </p:txBody>
      </p:sp>
      <p:sp>
        <p:nvSpPr>
          <p:cNvPr id="22" name="Line 11"/>
          <p:cNvSpPr>
            <a:spLocks noChangeShapeType="1"/>
          </p:cNvSpPr>
          <p:nvPr/>
        </p:nvSpPr>
        <p:spPr bwMode="auto">
          <a:xfrm flipH="1" flipV="1">
            <a:off x="1310186" y="5110573"/>
            <a:ext cx="95533" cy="496716"/>
          </a:xfrm>
          <a:prstGeom prst="line">
            <a:avLst/>
          </a:prstGeom>
          <a:noFill/>
          <a:ln w="381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nchor="ctr">
            <a:spAutoFit/>
          </a:bodyPr>
          <a:lstStyle/>
          <a:p>
            <a:endParaRPr lang="en-US"/>
          </a:p>
        </p:txBody>
      </p:sp>
      <p:sp>
        <p:nvSpPr>
          <p:cNvPr id="3" name="TextBox 2"/>
          <p:cNvSpPr txBox="1"/>
          <p:nvPr/>
        </p:nvSpPr>
        <p:spPr>
          <a:xfrm>
            <a:off x="7782486" y="5140000"/>
            <a:ext cx="1762021" cy="369332"/>
          </a:xfrm>
          <a:prstGeom prst="rect">
            <a:avLst/>
          </a:prstGeom>
          <a:noFill/>
        </p:spPr>
        <p:txBody>
          <a:bodyPr wrap="none" rtlCol="0">
            <a:spAutoFit/>
          </a:bodyPr>
          <a:lstStyle/>
          <a:p>
            <a:r>
              <a:rPr lang="en-US" dirty="0"/>
              <a:t>Cause and effect</a:t>
            </a:r>
          </a:p>
        </p:txBody>
      </p:sp>
    </p:spTree>
    <p:extLst>
      <p:ext uri="{BB962C8B-B14F-4D97-AF65-F5344CB8AC3E}">
        <p14:creationId xmlns:p14="http://schemas.microsoft.com/office/powerpoint/2010/main" val="4028689441"/>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Visibility </a:t>
            </a:r>
          </a:p>
        </p:txBody>
      </p:sp>
      <p:sp>
        <p:nvSpPr>
          <p:cNvPr id="3" name="Content Placeholder 2"/>
          <p:cNvSpPr>
            <a:spLocks noGrp="1"/>
          </p:cNvSpPr>
          <p:nvPr>
            <p:ph sz="quarter" idx="1"/>
          </p:nvPr>
        </p:nvSpPr>
        <p:spPr/>
        <p:txBody>
          <a:bodyPr/>
          <a:lstStyle/>
          <a:p>
            <a:r>
              <a:rPr lang="en-US" dirty="0"/>
              <a:t>Relevant parts of system should be visible</a:t>
            </a:r>
          </a:p>
          <a:p>
            <a:pPr lvl="1"/>
            <a:r>
              <a:rPr lang="en-US" dirty="0"/>
              <a:t>Not usually a problem in the real world</a:t>
            </a:r>
          </a:p>
          <a:p>
            <a:pPr lvl="1"/>
            <a:r>
              <a:rPr lang="en-US" dirty="0"/>
              <a:t>But takes extra effort in computer interfaces</a:t>
            </a:r>
          </a:p>
          <a:p>
            <a:pPr lvl="1"/>
            <a:r>
              <a:rPr lang="en-US" dirty="0"/>
              <a:t>Availability of drag &amp; drop is often invisible</a:t>
            </a:r>
          </a:p>
        </p:txBody>
      </p:sp>
    </p:spTree>
    <p:extLst>
      <p:ext uri="{BB962C8B-B14F-4D97-AF65-F5344CB8AC3E}">
        <p14:creationId xmlns:p14="http://schemas.microsoft.com/office/powerpoint/2010/main" val="16781538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Visible Navigation state</a:t>
            </a: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6864" y="1866900"/>
            <a:ext cx="7981950"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ight Brace 2"/>
          <p:cNvSpPr/>
          <p:nvPr/>
        </p:nvSpPr>
        <p:spPr>
          <a:xfrm>
            <a:off x="8387255" y="1866900"/>
            <a:ext cx="411559" cy="671348"/>
          </a:xfrm>
          <a:prstGeom prst="rightBrace">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4" name="TextBox 3"/>
          <p:cNvSpPr txBox="1"/>
          <p:nvPr/>
        </p:nvSpPr>
        <p:spPr>
          <a:xfrm>
            <a:off x="9153952" y="1740908"/>
            <a:ext cx="2717483" cy="923330"/>
          </a:xfrm>
          <a:prstGeom prst="rect">
            <a:avLst/>
          </a:prstGeom>
          <a:noFill/>
        </p:spPr>
        <p:txBody>
          <a:bodyPr wrap="square" rtlCol="0">
            <a:spAutoFit/>
          </a:bodyPr>
          <a:lstStyle/>
          <a:p>
            <a:r>
              <a:rPr lang="en-US" dirty="0"/>
              <a:t>It shows where you are as a path through the site’s hierarchy</a:t>
            </a:r>
          </a:p>
        </p:txBody>
      </p:sp>
      <p:sp>
        <p:nvSpPr>
          <p:cNvPr id="6" name="Right Brace 5"/>
          <p:cNvSpPr/>
          <p:nvPr/>
        </p:nvSpPr>
        <p:spPr>
          <a:xfrm>
            <a:off x="8387254" y="3185947"/>
            <a:ext cx="411559" cy="1795955"/>
          </a:xfrm>
          <a:prstGeom prst="rightBrace">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5" name="TextBox 4"/>
          <p:cNvSpPr txBox="1"/>
          <p:nvPr/>
        </p:nvSpPr>
        <p:spPr>
          <a:xfrm>
            <a:off x="9144001" y="3342290"/>
            <a:ext cx="2727434" cy="1200329"/>
          </a:xfrm>
          <a:prstGeom prst="rect">
            <a:avLst/>
          </a:prstGeom>
          <a:noFill/>
        </p:spPr>
        <p:txBody>
          <a:bodyPr wrap="square" rtlCol="0">
            <a:spAutoFit/>
          </a:bodyPr>
          <a:lstStyle/>
          <a:p>
            <a:r>
              <a:rPr lang="en-US" dirty="0"/>
              <a:t>They show the user where they are, along with some context of where else they could go</a:t>
            </a:r>
          </a:p>
        </p:txBody>
      </p:sp>
    </p:spTree>
    <p:extLst>
      <p:ext uri="{BB962C8B-B14F-4D97-AF65-F5344CB8AC3E}">
        <p14:creationId xmlns:p14="http://schemas.microsoft.com/office/powerpoint/2010/main" val="25862920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Visible Constraints</a:t>
            </a:r>
          </a:p>
        </p:txBody>
      </p:sp>
      <p:sp>
        <p:nvSpPr>
          <p:cNvPr id="3" name="Content Placeholder 2"/>
          <p:cNvSpPr>
            <a:spLocks noGrp="1"/>
          </p:cNvSpPr>
          <p:nvPr>
            <p:ph sz="quarter" idx="1"/>
          </p:nvPr>
        </p:nvSpPr>
        <p:spPr/>
        <p:txBody>
          <a:bodyPr>
            <a:normAutofit/>
          </a:bodyPr>
          <a:lstStyle/>
          <a:p>
            <a:r>
              <a:rPr lang="en-US" dirty="0"/>
              <a:t>The difficulty of dealing with a new situation is directly related to the number of possibilities.</a:t>
            </a:r>
          </a:p>
          <a:p>
            <a:endParaRPr lang="en-US" dirty="0"/>
          </a:p>
          <a:p>
            <a:r>
              <a:rPr lang="en-US" dirty="0"/>
              <a:t>Where affordances suggest the range of possibilities, constraints (restrictions) limit the number of alternatives.</a:t>
            </a:r>
          </a:p>
        </p:txBody>
      </p:sp>
      <p:sp>
        <p:nvSpPr>
          <p:cNvPr id="4" name="Rectangle 3">
            <a:extLst>
              <a:ext uri="{FF2B5EF4-FFF2-40B4-BE49-F238E27FC236}">
                <a16:creationId xmlns:a16="http://schemas.microsoft.com/office/drawing/2014/main" id="{09B4C20C-2584-4FE0-828D-1E67A86CAE23}"/>
              </a:ext>
            </a:extLst>
          </p:cNvPr>
          <p:cNvSpPr/>
          <p:nvPr/>
        </p:nvSpPr>
        <p:spPr>
          <a:xfrm>
            <a:off x="2338466" y="4616970"/>
            <a:ext cx="1229193" cy="5396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9F0BD1A-C49A-4957-9B69-F0FCB8A1107A}"/>
              </a:ext>
            </a:extLst>
          </p:cNvPr>
          <p:cNvSpPr/>
          <p:nvPr/>
        </p:nvSpPr>
        <p:spPr>
          <a:xfrm>
            <a:off x="3837482" y="4616970"/>
            <a:ext cx="3207895" cy="5396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633496D-17B2-46F3-B72D-92C69A0112E0}"/>
              </a:ext>
            </a:extLst>
          </p:cNvPr>
          <p:cNvSpPr/>
          <p:nvPr/>
        </p:nvSpPr>
        <p:spPr>
          <a:xfrm>
            <a:off x="7315200" y="4616970"/>
            <a:ext cx="419725" cy="5396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F2000C4-8F37-4591-B634-07163E365370}"/>
              </a:ext>
            </a:extLst>
          </p:cNvPr>
          <p:cNvSpPr/>
          <p:nvPr/>
        </p:nvSpPr>
        <p:spPr>
          <a:xfrm>
            <a:off x="2338466" y="5426439"/>
            <a:ext cx="5396459" cy="5396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May 12 2021 </a:t>
            </a:r>
          </a:p>
        </p:txBody>
      </p:sp>
    </p:spTree>
    <p:extLst>
      <p:ext uri="{BB962C8B-B14F-4D97-AF65-F5344CB8AC3E}">
        <p14:creationId xmlns:p14="http://schemas.microsoft.com/office/powerpoint/2010/main" val="32188166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noFill/>
        </p:spPr>
        <p:txBody>
          <a:bodyPr vert="horz" lIns="92075" tIns="46038" rIns="92075" bIns="46038" rtlCol="0" anchor="ctr">
            <a:normAutofit/>
          </a:bodyPr>
          <a:lstStyle/>
          <a:p>
            <a:r>
              <a:rPr lang="en-US"/>
              <a:t>Visible Constraints</a:t>
            </a:r>
          </a:p>
        </p:txBody>
      </p:sp>
      <p:sp>
        <p:nvSpPr>
          <p:cNvPr id="18435" name="Rectangle 3"/>
          <p:cNvSpPr>
            <a:spLocks noGrp="1" noChangeArrowheads="1"/>
          </p:cNvSpPr>
          <p:nvPr>
            <p:ph sz="quarter" idx="1"/>
          </p:nvPr>
        </p:nvSpPr>
        <p:spPr/>
        <p:txBody>
          <a:bodyPr vert="horz" lIns="92075" tIns="46038" rIns="92075" bIns="46038" rtlCol="0">
            <a:normAutofit/>
          </a:bodyPr>
          <a:lstStyle/>
          <a:p>
            <a:r>
              <a:rPr lang="en-US" sz="2000"/>
              <a:t>Limitations of the actions possible perceived from object’s appearance</a:t>
            </a:r>
          </a:p>
          <a:p>
            <a:pPr lvl="1"/>
            <a:r>
              <a:rPr lang="en-US" sz="1800"/>
              <a:t>provides people with a range of usage possibilities</a:t>
            </a:r>
            <a:br>
              <a:rPr lang="en-US" sz="1800"/>
            </a:br>
            <a:br>
              <a:rPr lang="en-US" sz="1800"/>
            </a:br>
            <a:br>
              <a:rPr lang="en-US"/>
            </a:br>
            <a:endParaRPr lang="en-US"/>
          </a:p>
        </p:txBody>
      </p:sp>
      <p:grpSp>
        <p:nvGrpSpPr>
          <p:cNvPr id="2" name="Group 281"/>
          <p:cNvGrpSpPr>
            <a:grpSpLocks/>
          </p:cNvGrpSpPr>
          <p:nvPr/>
        </p:nvGrpSpPr>
        <p:grpSpPr bwMode="auto">
          <a:xfrm>
            <a:off x="2368551" y="4476751"/>
            <a:ext cx="1336675" cy="2227263"/>
            <a:chOff x="542" y="2452"/>
            <a:chExt cx="842" cy="1403"/>
          </a:xfrm>
        </p:grpSpPr>
        <p:sp>
          <p:nvSpPr>
            <p:cNvPr id="18499" name="Rectangle 5"/>
            <p:cNvSpPr>
              <a:spLocks noChangeArrowheads="1"/>
            </p:cNvSpPr>
            <p:nvPr/>
          </p:nvSpPr>
          <p:spPr bwMode="auto">
            <a:xfrm>
              <a:off x="600" y="2452"/>
              <a:ext cx="600" cy="1176"/>
            </a:xfrm>
            <a:prstGeom prst="rect">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00" name="Oval 6"/>
            <p:cNvSpPr>
              <a:spLocks noChangeArrowheads="1"/>
            </p:cNvSpPr>
            <p:nvPr/>
          </p:nvSpPr>
          <p:spPr bwMode="auto">
            <a:xfrm>
              <a:off x="1056" y="2972"/>
              <a:ext cx="64" cy="72"/>
            </a:xfrm>
            <a:prstGeom prst="ellipse">
              <a:avLst/>
            </a:prstGeom>
            <a:solidFill>
              <a:schemeClr val="bg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501" name="Rectangle 9"/>
            <p:cNvSpPr>
              <a:spLocks noChangeArrowheads="1"/>
            </p:cNvSpPr>
            <p:nvPr/>
          </p:nvSpPr>
          <p:spPr bwMode="auto">
            <a:xfrm>
              <a:off x="542" y="3676"/>
              <a:ext cx="842"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90000"/>
                </a:lnSpc>
                <a:spcBef>
                  <a:spcPct val="90000"/>
                </a:spcBef>
              </a:pPr>
              <a:r>
                <a:rPr lang="en-US" sz="1400">
                  <a:latin typeface="Verdana" pitchFamily="34" charset="0"/>
                </a:rPr>
                <a:t>Push or pull?</a:t>
              </a:r>
            </a:p>
          </p:txBody>
        </p:sp>
      </p:grpSp>
      <p:grpSp>
        <p:nvGrpSpPr>
          <p:cNvPr id="3" name="Group 282"/>
          <p:cNvGrpSpPr>
            <a:grpSpLocks/>
          </p:cNvGrpSpPr>
          <p:nvPr/>
        </p:nvGrpSpPr>
        <p:grpSpPr bwMode="auto">
          <a:xfrm>
            <a:off x="5314950" y="4451351"/>
            <a:ext cx="1244600" cy="2239963"/>
            <a:chOff x="2398" y="2436"/>
            <a:chExt cx="784" cy="1411"/>
          </a:xfrm>
        </p:grpSpPr>
        <p:sp>
          <p:nvSpPr>
            <p:cNvPr id="18494" name="Rectangle 7"/>
            <p:cNvSpPr>
              <a:spLocks noChangeArrowheads="1"/>
            </p:cNvSpPr>
            <p:nvPr/>
          </p:nvSpPr>
          <p:spPr bwMode="auto">
            <a:xfrm>
              <a:off x="2456" y="2436"/>
              <a:ext cx="600" cy="1176"/>
            </a:xfrm>
            <a:prstGeom prst="rect">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95" name="Rectangle 10"/>
            <p:cNvSpPr>
              <a:spLocks noChangeArrowheads="1"/>
            </p:cNvSpPr>
            <p:nvPr/>
          </p:nvSpPr>
          <p:spPr bwMode="auto">
            <a:xfrm>
              <a:off x="2398" y="3668"/>
              <a:ext cx="784"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90000"/>
                </a:lnSpc>
                <a:spcBef>
                  <a:spcPct val="90000"/>
                </a:spcBef>
              </a:pPr>
              <a:r>
                <a:rPr lang="en-US" sz="1400">
                  <a:latin typeface="Verdana" pitchFamily="34" charset="0"/>
                </a:rPr>
                <a:t>Which side?</a:t>
              </a:r>
            </a:p>
          </p:txBody>
        </p:sp>
        <p:sp>
          <p:nvSpPr>
            <p:cNvPr id="18496" name="Line 12"/>
            <p:cNvSpPr>
              <a:spLocks noChangeShapeType="1"/>
            </p:cNvSpPr>
            <p:nvPr/>
          </p:nvSpPr>
          <p:spPr bwMode="auto">
            <a:xfrm>
              <a:off x="2536" y="2980"/>
              <a:ext cx="0" cy="12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97" name="Line 13"/>
            <p:cNvSpPr>
              <a:spLocks noChangeShapeType="1"/>
            </p:cNvSpPr>
            <p:nvPr/>
          </p:nvSpPr>
          <p:spPr bwMode="auto">
            <a:xfrm>
              <a:off x="2976" y="2964"/>
              <a:ext cx="0" cy="12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98" name="Line 14"/>
            <p:cNvSpPr>
              <a:spLocks noChangeShapeType="1"/>
            </p:cNvSpPr>
            <p:nvPr/>
          </p:nvSpPr>
          <p:spPr bwMode="auto">
            <a:xfrm>
              <a:off x="2528" y="3100"/>
              <a:ext cx="448"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 name="Group 283"/>
          <p:cNvGrpSpPr>
            <a:grpSpLocks/>
          </p:cNvGrpSpPr>
          <p:nvPr/>
        </p:nvGrpSpPr>
        <p:grpSpPr bwMode="auto">
          <a:xfrm>
            <a:off x="7824789" y="4425950"/>
            <a:ext cx="2543175" cy="2432050"/>
            <a:chOff x="4150" y="2420"/>
            <a:chExt cx="1602" cy="1532"/>
          </a:xfrm>
        </p:grpSpPr>
        <p:sp>
          <p:nvSpPr>
            <p:cNvPr id="18490" name="Rectangle 8"/>
            <p:cNvSpPr>
              <a:spLocks noChangeArrowheads="1"/>
            </p:cNvSpPr>
            <p:nvPr/>
          </p:nvSpPr>
          <p:spPr bwMode="auto">
            <a:xfrm>
              <a:off x="4312" y="2420"/>
              <a:ext cx="600" cy="1176"/>
            </a:xfrm>
            <a:prstGeom prst="rect">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91" name="Rectangle 11"/>
            <p:cNvSpPr>
              <a:spLocks noChangeArrowheads="1"/>
            </p:cNvSpPr>
            <p:nvPr/>
          </p:nvSpPr>
          <p:spPr bwMode="auto">
            <a:xfrm>
              <a:off x="4150" y="3652"/>
              <a:ext cx="1602"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lnSpc>
                  <a:spcPct val="90000"/>
                </a:lnSpc>
                <a:spcBef>
                  <a:spcPct val="90000"/>
                </a:spcBef>
              </a:pPr>
              <a:r>
                <a:rPr lang="en-US" sz="1400">
                  <a:latin typeface="Verdana" pitchFamily="34" charset="0"/>
                </a:rPr>
                <a:t>Can only push,</a:t>
              </a:r>
              <a:br>
                <a:rPr lang="en-US" sz="1400">
                  <a:latin typeface="Verdana" pitchFamily="34" charset="0"/>
                </a:rPr>
              </a:br>
              <a:r>
                <a:rPr lang="en-US" sz="1400">
                  <a:latin typeface="Verdana" pitchFamily="34" charset="0"/>
                </a:rPr>
                <a:t>side to push clearly visible</a:t>
              </a:r>
            </a:p>
          </p:txBody>
        </p:sp>
        <p:sp>
          <p:nvSpPr>
            <p:cNvPr id="18492" name="Line 15"/>
            <p:cNvSpPr>
              <a:spLocks noChangeShapeType="1"/>
            </p:cNvSpPr>
            <p:nvPr/>
          </p:nvSpPr>
          <p:spPr bwMode="auto">
            <a:xfrm>
              <a:off x="4384" y="3036"/>
              <a:ext cx="448"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93" name="Rectangle 16"/>
            <p:cNvSpPr>
              <a:spLocks noChangeArrowheads="1"/>
            </p:cNvSpPr>
            <p:nvPr/>
          </p:nvSpPr>
          <p:spPr bwMode="auto">
            <a:xfrm>
              <a:off x="4632" y="3004"/>
              <a:ext cx="232" cy="72"/>
            </a:xfrm>
            <a:prstGeom prst="rect">
              <a:avLst/>
            </a:prstGeom>
            <a:solidFill>
              <a:schemeClr val="tx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8439" name="Line 17"/>
          <p:cNvSpPr>
            <a:spLocks noChangeShapeType="1"/>
          </p:cNvSpPr>
          <p:nvPr/>
        </p:nvSpPr>
        <p:spPr bwMode="auto">
          <a:xfrm>
            <a:off x="2208213" y="4292600"/>
            <a:ext cx="7975600"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40" name="Line 18"/>
          <p:cNvSpPr>
            <a:spLocks noChangeShapeType="1"/>
          </p:cNvSpPr>
          <p:nvPr/>
        </p:nvSpPr>
        <p:spPr bwMode="auto">
          <a:xfrm>
            <a:off x="5916613" y="2819400"/>
            <a:ext cx="0" cy="147320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5" name="Group 57"/>
          <p:cNvGrpSpPr>
            <a:grpSpLocks/>
          </p:cNvGrpSpPr>
          <p:nvPr/>
        </p:nvGrpSpPr>
        <p:grpSpPr bwMode="auto">
          <a:xfrm>
            <a:off x="3935413" y="2736851"/>
            <a:ext cx="685800" cy="1431925"/>
            <a:chOff x="1529" y="1311"/>
            <a:chExt cx="432" cy="902"/>
          </a:xfrm>
        </p:grpSpPr>
        <p:sp>
          <p:nvSpPr>
            <p:cNvPr id="18452" name="Oval 19"/>
            <p:cNvSpPr>
              <a:spLocks noChangeArrowheads="1"/>
            </p:cNvSpPr>
            <p:nvPr/>
          </p:nvSpPr>
          <p:spPr bwMode="auto">
            <a:xfrm>
              <a:off x="1606" y="1944"/>
              <a:ext cx="281" cy="257"/>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53" name="Freeform 20"/>
            <p:cNvSpPr>
              <a:spLocks/>
            </p:cNvSpPr>
            <p:nvPr/>
          </p:nvSpPr>
          <p:spPr bwMode="auto">
            <a:xfrm>
              <a:off x="1529" y="1326"/>
              <a:ext cx="411" cy="755"/>
            </a:xfrm>
            <a:custGeom>
              <a:avLst/>
              <a:gdLst>
                <a:gd name="T0" fmla="*/ 1 w 411"/>
                <a:gd name="T1" fmla="*/ 0 h 755"/>
                <a:gd name="T2" fmla="*/ 409 w 411"/>
                <a:gd name="T3" fmla="*/ 0 h 755"/>
                <a:gd name="T4" fmla="*/ 410 w 411"/>
                <a:gd name="T5" fmla="*/ 754 h 755"/>
                <a:gd name="T6" fmla="*/ 0 w 411"/>
                <a:gd name="T7" fmla="*/ 753 h 755"/>
                <a:gd name="T8" fmla="*/ 1 w 411"/>
                <a:gd name="T9" fmla="*/ 0 h 7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1" h="755">
                  <a:moveTo>
                    <a:pt x="1" y="0"/>
                  </a:moveTo>
                  <a:lnTo>
                    <a:pt x="409" y="0"/>
                  </a:lnTo>
                  <a:lnTo>
                    <a:pt x="410" y="754"/>
                  </a:lnTo>
                  <a:lnTo>
                    <a:pt x="0" y="753"/>
                  </a:lnTo>
                  <a:lnTo>
                    <a:pt x="1" y="0"/>
                  </a:lnTo>
                </a:path>
              </a:pathLst>
            </a:custGeom>
            <a:solidFill>
              <a:srgbClr val="FF9F1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54" name="Oval 21"/>
            <p:cNvSpPr>
              <a:spLocks noChangeArrowheads="1"/>
            </p:cNvSpPr>
            <p:nvPr/>
          </p:nvSpPr>
          <p:spPr bwMode="auto">
            <a:xfrm>
              <a:off x="1593" y="1956"/>
              <a:ext cx="281" cy="257"/>
            </a:xfrm>
            <a:prstGeom prst="ellipse">
              <a:avLst/>
            </a:prstGeom>
            <a:solidFill>
              <a:srgbClr val="FF9F1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55" name="Freeform 22"/>
            <p:cNvSpPr>
              <a:spLocks/>
            </p:cNvSpPr>
            <p:nvPr/>
          </p:nvSpPr>
          <p:spPr bwMode="auto">
            <a:xfrm>
              <a:off x="1530" y="1311"/>
              <a:ext cx="424" cy="17"/>
            </a:xfrm>
            <a:custGeom>
              <a:avLst/>
              <a:gdLst>
                <a:gd name="T0" fmla="*/ 15 w 424"/>
                <a:gd name="T1" fmla="*/ 0 h 17"/>
                <a:gd name="T2" fmla="*/ 423 w 424"/>
                <a:gd name="T3" fmla="*/ 0 h 17"/>
                <a:gd name="T4" fmla="*/ 408 w 424"/>
                <a:gd name="T5" fmla="*/ 16 h 17"/>
                <a:gd name="T6" fmla="*/ 0 w 424"/>
                <a:gd name="T7" fmla="*/ 16 h 17"/>
                <a:gd name="T8" fmla="*/ 15 w 424"/>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4" h="17">
                  <a:moveTo>
                    <a:pt x="15" y="0"/>
                  </a:moveTo>
                  <a:lnTo>
                    <a:pt x="423" y="0"/>
                  </a:lnTo>
                  <a:lnTo>
                    <a:pt x="408" y="16"/>
                  </a:lnTo>
                  <a:lnTo>
                    <a:pt x="0" y="16"/>
                  </a:lnTo>
                  <a:lnTo>
                    <a:pt x="15" y="0"/>
                  </a:lnTo>
                </a:path>
              </a:pathLst>
            </a:custGeom>
            <a:solidFill>
              <a:srgbClr val="FFBF5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56" name="Freeform 23"/>
            <p:cNvSpPr>
              <a:spLocks/>
            </p:cNvSpPr>
            <p:nvPr/>
          </p:nvSpPr>
          <p:spPr bwMode="auto">
            <a:xfrm>
              <a:off x="1944" y="1312"/>
              <a:ext cx="17" cy="768"/>
            </a:xfrm>
            <a:custGeom>
              <a:avLst/>
              <a:gdLst>
                <a:gd name="T0" fmla="*/ 14 w 17"/>
                <a:gd name="T1" fmla="*/ 0 h 768"/>
                <a:gd name="T2" fmla="*/ 0 w 17"/>
                <a:gd name="T3" fmla="*/ 14 h 768"/>
                <a:gd name="T4" fmla="*/ 1 w 17"/>
                <a:gd name="T5" fmla="*/ 767 h 768"/>
                <a:gd name="T6" fmla="*/ 16 w 17"/>
                <a:gd name="T7" fmla="*/ 753 h 768"/>
                <a:gd name="T8" fmla="*/ 14 w 17"/>
                <a:gd name="T9" fmla="*/ 0 h 7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768">
                  <a:moveTo>
                    <a:pt x="14" y="0"/>
                  </a:moveTo>
                  <a:lnTo>
                    <a:pt x="0" y="14"/>
                  </a:lnTo>
                  <a:lnTo>
                    <a:pt x="1" y="767"/>
                  </a:lnTo>
                  <a:lnTo>
                    <a:pt x="16" y="753"/>
                  </a:lnTo>
                  <a:lnTo>
                    <a:pt x="14"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57" name="Oval 24"/>
            <p:cNvSpPr>
              <a:spLocks noChangeArrowheads="1"/>
            </p:cNvSpPr>
            <p:nvPr/>
          </p:nvSpPr>
          <p:spPr bwMode="auto">
            <a:xfrm>
              <a:off x="1618" y="1988"/>
              <a:ext cx="233" cy="206"/>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58" name="Freeform 25"/>
            <p:cNvSpPr>
              <a:spLocks/>
            </p:cNvSpPr>
            <p:nvPr/>
          </p:nvSpPr>
          <p:spPr bwMode="auto">
            <a:xfrm>
              <a:off x="1559" y="1351"/>
              <a:ext cx="351" cy="17"/>
            </a:xfrm>
            <a:custGeom>
              <a:avLst/>
              <a:gdLst>
                <a:gd name="T0" fmla="*/ 0 w 351"/>
                <a:gd name="T1" fmla="*/ 0 h 17"/>
                <a:gd name="T2" fmla="*/ 350 w 351"/>
                <a:gd name="T3" fmla="*/ 0 h 17"/>
                <a:gd name="T4" fmla="*/ 328 w 351"/>
                <a:gd name="T5" fmla="*/ 16 h 17"/>
                <a:gd name="T6" fmla="*/ 21 w 351"/>
                <a:gd name="T7" fmla="*/ 16 h 17"/>
                <a:gd name="T8" fmla="*/ 0 w 35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1" h="17">
                  <a:moveTo>
                    <a:pt x="0" y="0"/>
                  </a:moveTo>
                  <a:lnTo>
                    <a:pt x="350" y="0"/>
                  </a:lnTo>
                  <a:lnTo>
                    <a:pt x="328" y="16"/>
                  </a:lnTo>
                  <a:lnTo>
                    <a:pt x="21" y="16"/>
                  </a:lnTo>
                  <a:lnTo>
                    <a:pt x="0" y="0"/>
                  </a:lnTo>
                </a:path>
              </a:pathLst>
            </a:custGeom>
            <a:solidFill>
              <a:srgbClr val="FFBF1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59" name="Freeform 26"/>
            <p:cNvSpPr>
              <a:spLocks/>
            </p:cNvSpPr>
            <p:nvPr/>
          </p:nvSpPr>
          <p:spPr bwMode="auto">
            <a:xfrm>
              <a:off x="1557" y="2047"/>
              <a:ext cx="81" cy="17"/>
            </a:xfrm>
            <a:custGeom>
              <a:avLst/>
              <a:gdLst>
                <a:gd name="T0" fmla="*/ 21 w 81"/>
                <a:gd name="T1" fmla="*/ 0 h 17"/>
                <a:gd name="T2" fmla="*/ 80 w 81"/>
                <a:gd name="T3" fmla="*/ 0 h 17"/>
                <a:gd name="T4" fmla="*/ 59 w 81"/>
                <a:gd name="T5" fmla="*/ 16 h 17"/>
                <a:gd name="T6" fmla="*/ 0 w 81"/>
                <a:gd name="T7" fmla="*/ 16 h 17"/>
                <a:gd name="T8" fmla="*/ 21 w 8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1" h="17">
                  <a:moveTo>
                    <a:pt x="21" y="0"/>
                  </a:moveTo>
                  <a:lnTo>
                    <a:pt x="80" y="0"/>
                  </a:lnTo>
                  <a:lnTo>
                    <a:pt x="59" y="16"/>
                  </a:lnTo>
                  <a:lnTo>
                    <a:pt x="0" y="16"/>
                  </a:lnTo>
                  <a:lnTo>
                    <a:pt x="21"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60" name="Freeform 27"/>
            <p:cNvSpPr>
              <a:spLocks/>
            </p:cNvSpPr>
            <p:nvPr/>
          </p:nvSpPr>
          <p:spPr bwMode="auto">
            <a:xfrm>
              <a:off x="1829" y="2047"/>
              <a:ext cx="80" cy="17"/>
            </a:xfrm>
            <a:custGeom>
              <a:avLst/>
              <a:gdLst>
                <a:gd name="T0" fmla="*/ 0 w 80"/>
                <a:gd name="T1" fmla="*/ 1 h 17"/>
                <a:gd name="T2" fmla="*/ 20 w 80"/>
                <a:gd name="T3" fmla="*/ 16 h 17"/>
                <a:gd name="T4" fmla="*/ 79 w 80"/>
                <a:gd name="T5" fmla="*/ 16 h 17"/>
                <a:gd name="T6" fmla="*/ 59 w 80"/>
                <a:gd name="T7" fmla="*/ 0 h 17"/>
                <a:gd name="T8" fmla="*/ 0 w 80"/>
                <a:gd name="T9" fmla="*/ 1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0" h="17">
                  <a:moveTo>
                    <a:pt x="0" y="1"/>
                  </a:moveTo>
                  <a:lnTo>
                    <a:pt x="20" y="16"/>
                  </a:lnTo>
                  <a:lnTo>
                    <a:pt x="79" y="16"/>
                  </a:lnTo>
                  <a:lnTo>
                    <a:pt x="59" y="0"/>
                  </a:lnTo>
                  <a:lnTo>
                    <a:pt x="0" y="1"/>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61" name="Freeform 28"/>
            <p:cNvSpPr>
              <a:spLocks/>
            </p:cNvSpPr>
            <p:nvPr/>
          </p:nvSpPr>
          <p:spPr bwMode="auto">
            <a:xfrm>
              <a:off x="1893" y="1350"/>
              <a:ext cx="17" cy="712"/>
            </a:xfrm>
            <a:custGeom>
              <a:avLst/>
              <a:gdLst>
                <a:gd name="T0" fmla="*/ 16 w 17"/>
                <a:gd name="T1" fmla="*/ 0 h 712"/>
                <a:gd name="T2" fmla="*/ 15 w 17"/>
                <a:gd name="T3" fmla="*/ 711 h 712"/>
                <a:gd name="T4" fmla="*/ 0 w 17"/>
                <a:gd name="T5" fmla="*/ 691 h 712"/>
                <a:gd name="T6" fmla="*/ 0 w 17"/>
                <a:gd name="T7" fmla="*/ 20 h 712"/>
                <a:gd name="T8" fmla="*/ 16 w 17"/>
                <a:gd name="T9" fmla="*/ 0 h 7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712">
                  <a:moveTo>
                    <a:pt x="16" y="0"/>
                  </a:moveTo>
                  <a:lnTo>
                    <a:pt x="15" y="711"/>
                  </a:lnTo>
                  <a:lnTo>
                    <a:pt x="0" y="691"/>
                  </a:lnTo>
                  <a:lnTo>
                    <a:pt x="0" y="20"/>
                  </a:lnTo>
                  <a:lnTo>
                    <a:pt x="16"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62" name="Freeform 29"/>
            <p:cNvSpPr>
              <a:spLocks/>
            </p:cNvSpPr>
            <p:nvPr/>
          </p:nvSpPr>
          <p:spPr bwMode="auto">
            <a:xfrm>
              <a:off x="1557" y="1350"/>
              <a:ext cx="18" cy="712"/>
            </a:xfrm>
            <a:custGeom>
              <a:avLst/>
              <a:gdLst>
                <a:gd name="T0" fmla="*/ 1 w 18"/>
                <a:gd name="T1" fmla="*/ 0 h 712"/>
                <a:gd name="T2" fmla="*/ 0 w 18"/>
                <a:gd name="T3" fmla="*/ 711 h 712"/>
                <a:gd name="T4" fmla="*/ 17 w 18"/>
                <a:gd name="T5" fmla="*/ 691 h 712"/>
                <a:gd name="T6" fmla="*/ 17 w 18"/>
                <a:gd name="T7" fmla="*/ 20 h 712"/>
                <a:gd name="T8" fmla="*/ 1 w 18"/>
                <a:gd name="T9" fmla="*/ 0 h 7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712">
                  <a:moveTo>
                    <a:pt x="1" y="0"/>
                  </a:moveTo>
                  <a:lnTo>
                    <a:pt x="0" y="711"/>
                  </a:lnTo>
                  <a:lnTo>
                    <a:pt x="17" y="691"/>
                  </a:lnTo>
                  <a:lnTo>
                    <a:pt x="17" y="20"/>
                  </a:lnTo>
                  <a:lnTo>
                    <a:pt x="1" y="0"/>
                  </a:lnTo>
                </a:path>
              </a:pathLst>
            </a:custGeom>
            <a:solidFill>
              <a:srgbClr val="FFBF7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63" name="Oval 30"/>
            <p:cNvSpPr>
              <a:spLocks noChangeArrowheads="1"/>
            </p:cNvSpPr>
            <p:nvPr/>
          </p:nvSpPr>
          <p:spPr bwMode="auto">
            <a:xfrm>
              <a:off x="1634" y="1991"/>
              <a:ext cx="201" cy="187"/>
            </a:xfrm>
            <a:prstGeom prst="ellipse">
              <a:avLst/>
            </a:prstGeom>
            <a:solidFill>
              <a:srgbClr val="FFBF1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64" name="Freeform 31"/>
            <p:cNvSpPr>
              <a:spLocks/>
            </p:cNvSpPr>
            <p:nvPr/>
          </p:nvSpPr>
          <p:spPr bwMode="auto">
            <a:xfrm>
              <a:off x="1580" y="1369"/>
              <a:ext cx="308" cy="673"/>
            </a:xfrm>
            <a:custGeom>
              <a:avLst/>
              <a:gdLst>
                <a:gd name="T0" fmla="*/ 0 w 308"/>
                <a:gd name="T1" fmla="*/ 0 h 673"/>
                <a:gd name="T2" fmla="*/ 307 w 308"/>
                <a:gd name="T3" fmla="*/ 1 h 673"/>
                <a:gd name="T4" fmla="*/ 307 w 308"/>
                <a:gd name="T5" fmla="*/ 672 h 673"/>
                <a:gd name="T6" fmla="*/ 0 w 308"/>
                <a:gd name="T7" fmla="*/ 672 h 673"/>
                <a:gd name="T8" fmla="*/ 0 w 308"/>
                <a:gd name="T9" fmla="*/ 0 h 67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8" h="673">
                  <a:moveTo>
                    <a:pt x="0" y="0"/>
                  </a:moveTo>
                  <a:lnTo>
                    <a:pt x="307" y="1"/>
                  </a:lnTo>
                  <a:lnTo>
                    <a:pt x="307" y="672"/>
                  </a:lnTo>
                  <a:lnTo>
                    <a:pt x="0" y="672"/>
                  </a:lnTo>
                  <a:lnTo>
                    <a:pt x="0" y="0"/>
                  </a:lnTo>
                </a:path>
              </a:pathLst>
            </a:custGeom>
            <a:solidFill>
              <a:srgbClr val="FFBF1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65" name="Oval 32"/>
            <p:cNvSpPr>
              <a:spLocks noChangeArrowheads="1"/>
            </p:cNvSpPr>
            <p:nvPr/>
          </p:nvSpPr>
          <p:spPr bwMode="auto">
            <a:xfrm>
              <a:off x="1596" y="1479"/>
              <a:ext cx="246" cy="227"/>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66" name="Oval 33"/>
            <p:cNvSpPr>
              <a:spLocks noChangeArrowheads="1"/>
            </p:cNvSpPr>
            <p:nvPr/>
          </p:nvSpPr>
          <p:spPr bwMode="auto">
            <a:xfrm>
              <a:off x="1596" y="1481"/>
              <a:ext cx="240" cy="223"/>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67" name="Oval 34"/>
            <p:cNvSpPr>
              <a:spLocks noChangeArrowheads="1"/>
            </p:cNvSpPr>
            <p:nvPr/>
          </p:nvSpPr>
          <p:spPr bwMode="auto">
            <a:xfrm>
              <a:off x="1638" y="1520"/>
              <a:ext cx="97" cy="88"/>
            </a:xfrm>
            <a:prstGeom prst="ellipse">
              <a:avLst/>
            </a:prstGeom>
            <a:solidFill>
              <a:srgbClr val="FFBF1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68" name="Oval 35"/>
            <p:cNvSpPr>
              <a:spLocks noChangeArrowheads="1"/>
            </p:cNvSpPr>
            <p:nvPr/>
          </p:nvSpPr>
          <p:spPr bwMode="auto">
            <a:xfrm>
              <a:off x="1701" y="1781"/>
              <a:ext cx="55" cy="50"/>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69" name="Freeform 36"/>
            <p:cNvSpPr>
              <a:spLocks/>
            </p:cNvSpPr>
            <p:nvPr/>
          </p:nvSpPr>
          <p:spPr bwMode="auto">
            <a:xfrm>
              <a:off x="1693" y="1828"/>
              <a:ext cx="76" cy="155"/>
            </a:xfrm>
            <a:custGeom>
              <a:avLst/>
              <a:gdLst>
                <a:gd name="T0" fmla="*/ 22 w 76"/>
                <a:gd name="T1" fmla="*/ 4 h 155"/>
                <a:gd name="T2" fmla="*/ 0 w 76"/>
                <a:gd name="T3" fmla="*/ 154 h 155"/>
                <a:gd name="T4" fmla="*/ 75 w 76"/>
                <a:gd name="T5" fmla="*/ 154 h 155"/>
                <a:gd name="T6" fmla="*/ 51 w 76"/>
                <a:gd name="T7" fmla="*/ 0 h 155"/>
                <a:gd name="T8" fmla="*/ 22 w 76"/>
                <a:gd name="T9" fmla="*/ 4 h 1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 h="155">
                  <a:moveTo>
                    <a:pt x="22" y="4"/>
                  </a:moveTo>
                  <a:lnTo>
                    <a:pt x="0" y="154"/>
                  </a:lnTo>
                  <a:lnTo>
                    <a:pt x="75" y="154"/>
                  </a:lnTo>
                  <a:lnTo>
                    <a:pt x="51" y="0"/>
                  </a:lnTo>
                  <a:lnTo>
                    <a:pt x="22" y="4"/>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6" name="Group 39"/>
            <p:cNvGrpSpPr>
              <a:grpSpLocks/>
            </p:cNvGrpSpPr>
            <p:nvPr/>
          </p:nvGrpSpPr>
          <p:grpSpPr bwMode="auto">
            <a:xfrm>
              <a:off x="1833" y="1389"/>
              <a:ext cx="35" cy="31"/>
              <a:chOff x="1833" y="1389"/>
              <a:chExt cx="35" cy="31"/>
            </a:xfrm>
          </p:grpSpPr>
          <p:sp>
            <p:nvSpPr>
              <p:cNvPr id="18488" name="Oval 37"/>
              <p:cNvSpPr>
                <a:spLocks noChangeArrowheads="1"/>
              </p:cNvSpPr>
              <p:nvPr/>
            </p:nvSpPr>
            <p:spPr bwMode="auto">
              <a:xfrm>
                <a:off x="1833" y="1389"/>
                <a:ext cx="35" cy="31"/>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89" name="Oval 38"/>
              <p:cNvSpPr>
                <a:spLocks noChangeArrowheads="1"/>
              </p:cNvSpPr>
              <p:nvPr/>
            </p:nvSpPr>
            <p:spPr bwMode="auto">
              <a:xfrm>
                <a:off x="1839" y="1393"/>
                <a:ext cx="16" cy="15"/>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8471" name="Oval 40"/>
            <p:cNvSpPr>
              <a:spLocks noChangeArrowheads="1"/>
            </p:cNvSpPr>
            <p:nvPr/>
          </p:nvSpPr>
          <p:spPr bwMode="auto">
            <a:xfrm>
              <a:off x="1844" y="1396"/>
              <a:ext cx="2" cy="2"/>
            </a:xfrm>
            <a:prstGeom prst="ellipse">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72" name="Freeform 41"/>
            <p:cNvSpPr>
              <a:spLocks/>
            </p:cNvSpPr>
            <p:nvPr/>
          </p:nvSpPr>
          <p:spPr bwMode="auto">
            <a:xfrm>
              <a:off x="1834" y="1404"/>
              <a:ext cx="34" cy="1"/>
            </a:xfrm>
            <a:custGeom>
              <a:avLst/>
              <a:gdLst>
                <a:gd name="T0" fmla="*/ 0 w 34"/>
                <a:gd name="T1" fmla="*/ 0 h 1"/>
                <a:gd name="T2" fmla="*/ 33 w 34"/>
                <a:gd name="T3" fmla="*/ 0 h 1"/>
                <a:gd name="T4" fmla="*/ 33 w 34"/>
                <a:gd name="T5" fmla="*/ 0 h 1"/>
                <a:gd name="T6" fmla="*/ 0 w 34"/>
                <a:gd name="T7" fmla="*/ 0 h 1"/>
                <a:gd name="T8" fmla="*/ 0 w 34"/>
                <a:gd name="T9" fmla="*/ 0 h 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1">
                  <a:moveTo>
                    <a:pt x="0" y="0"/>
                  </a:moveTo>
                  <a:lnTo>
                    <a:pt x="33" y="0"/>
                  </a:lnTo>
                  <a:lnTo>
                    <a:pt x="0" y="0"/>
                  </a:lnTo>
                </a:path>
              </a:pathLst>
            </a:custGeom>
            <a:solidFill>
              <a:srgbClr val="7F3F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7" name="Group 44"/>
            <p:cNvGrpSpPr>
              <a:grpSpLocks/>
            </p:cNvGrpSpPr>
            <p:nvPr/>
          </p:nvGrpSpPr>
          <p:grpSpPr bwMode="auto">
            <a:xfrm>
              <a:off x="1834" y="1993"/>
              <a:ext cx="34" cy="31"/>
              <a:chOff x="1834" y="1993"/>
              <a:chExt cx="34" cy="31"/>
            </a:xfrm>
          </p:grpSpPr>
          <p:sp>
            <p:nvSpPr>
              <p:cNvPr id="18486" name="Oval 42"/>
              <p:cNvSpPr>
                <a:spLocks noChangeArrowheads="1"/>
              </p:cNvSpPr>
              <p:nvPr/>
            </p:nvSpPr>
            <p:spPr bwMode="auto">
              <a:xfrm>
                <a:off x="1834" y="1993"/>
                <a:ext cx="34" cy="31"/>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87" name="Oval 43"/>
              <p:cNvSpPr>
                <a:spLocks noChangeArrowheads="1"/>
              </p:cNvSpPr>
              <p:nvPr/>
            </p:nvSpPr>
            <p:spPr bwMode="auto">
              <a:xfrm>
                <a:off x="1839" y="1997"/>
                <a:ext cx="17" cy="15"/>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8474" name="Oval 45"/>
            <p:cNvSpPr>
              <a:spLocks noChangeArrowheads="1"/>
            </p:cNvSpPr>
            <p:nvPr/>
          </p:nvSpPr>
          <p:spPr bwMode="auto">
            <a:xfrm>
              <a:off x="1845" y="2000"/>
              <a:ext cx="2" cy="2"/>
            </a:xfrm>
            <a:prstGeom prst="ellipse">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75" name="Freeform 46"/>
            <p:cNvSpPr>
              <a:spLocks/>
            </p:cNvSpPr>
            <p:nvPr/>
          </p:nvSpPr>
          <p:spPr bwMode="auto">
            <a:xfrm>
              <a:off x="1835" y="2008"/>
              <a:ext cx="34" cy="1"/>
            </a:xfrm>
            <a:custGeom>
              <a:avLst/>
              <a:gdLst>
                <a:gd name="T0" fmla="*/ 0 w 34"/>
                <a:gd name="T1" fmla="*/ 0 h 1"/>
                <a:gd name="T2" fmla="*/ 33 w 34"/>
                <a:gd name="T3" fmla="*/ 0 h 1"/>
                <a:gd name="T4" fmla="*/ 33 w 34"/>
                <a:gd name="T5" fmla="*/ 0 h 1"/>
                <a:gd name="T6" fmla="*/ 0 w 34"/>
                <a:gd name="T7" fmla="*/ 0 h 1"/>
                <a:gd name="T8" fmla="*/ 0 w 34"/>
                <a:gd name="T9" fmla="*/ 0 h 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1">
                  <a:moveTo>
                    <a:pt x="0" y="0"/>
                  </a:moveTo>
                  <a:lnTo>
                    <a:pt x="33" y="0"/>
                  </a:lnTo>
                  <a:lnTo>
                    <a:pt x="0" y="0"/>
                  </a:lnTo>
                </a:path>
              </a:pathLst>
            </a:custGeom>
            <a:solidFill>
              <a:srgbClr val="7F3F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8" name="Group 49"/>
            <p:cNvGrpSpPr>
              <a:grpSpLocks/>
            </p:cNvGrpSpPr>
            <p:nvPr/>
          </p:nvGrpSpPr>
          <p:grpSpPr bwMode="auto">
            <a:xfrm>
              <a:off x="1595" y="1993"/>
              <a:ext cx="35" cy="31"/>
              <a:chOff x="1595" y="1993"/>
              <a:chExt cx="35" cy="31"/>
            </a:xfrm>
          </p:grpSpPr>
          <p:sp>
            <p:nvSpPr>
              <p:cNvPr id="18484" name="Oval 47"/>
              <p:cNvSpPr>
                <a:spLocks noChangeArrowheads="1"/>
              </p:cNvSpPr>
              <p:nvPr/>
            </p:nvSpPr>
            <p:spPr bwMode="auto">
              <a:xfrm>
                <a:off x="1595" y="1993"/>
                <a:ext cx="35" cy="31"/>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85" name="Oval 48"/>
              <p:cNvSpPr>
                <a:spLocks noChangeArrowheads="1"/>
              </p:cNvSpPr>
              <p:nvPr/>
            </p:nvSpPr>
            <p:spPr bwMode="auto">
              <a:xfrm>
                <a:off x="1601" y="1998"/>
                <a:ext cx="16" cy="15"/>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8477" name="Oval 50"/>
            <p:cNvSpPr>
              <a:spLocks noChangeArrowheads="1"/>
            </p:cNvSpPr>
            <p:nvPr/>
          </p:nvSpPr>
          <p:spPr bwMode="auto">
            <a:xfrm>
              <a:off x="1606" y="2001"/>
              <a:ext cx="3" cy="2"/>
            </a:xfrm>
            <a:prstGeom prst="ellipse">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78" name="Freeform 51"/>
            <p:cNvSpPr>
              <a:spLocks/>
            </p:cNvSpPr>
            <p:nvPr/>
          </p:nvSpPr>
          <p:spPr bwMode="auto">
            <a:xfrm>
              <a:off x="1597" y="2008"/>
              <a:ext cx="34" cy="17"/>
            </a:xfrm>
            <a:custGeom>
              <a:avLst/>
              <a:gdLst>
                <a:gd name="T0" fmla="*/ 0 w 34"/>
                <a:gd name="T1" fmla="*/ 0 h 17"/>
                <a:gd name="T2" fmla="*/ 33 w 34"/>
                <a:gd name="T3" fmla="*/ 0 h 17"/>
                <a:gd name="T4" fmla="*/ 33 w 34"/>
                <a:gd name="T5" fmla="*/ 16 h 17"/>
                <a:gd name="T6" fmla="*/ 0 w 34"/>
                <a:gd name="T7" fmla="*/ 16 h 17"/>
                <a:gd name="T8" fmla="*/ 0 w 34"/>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17">
                  <a:moveTo>
                    <a:pt x="0" y="0"/>
                  </a:moveTo>
                  <a:lnTo>
                    <a:pt x="33" y="0"/>
                  </a:lnTo>
                  <a:lnTo>
                    <a:pt x="33" y="16"/>
                  </a:lnTo>
                  <a:lnTo>
                    <a:pt x="0" y="16"/>
                  </a:lnTo>
                  <a:lnTo>
                    <a:pt x="0" y="0"/>
                  </a:lnTo>
                </a:path>
              </a:pathLst>
            </a:custGeom>
            <a:solidFill>
              <a:srgbClr val="7F3F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9" name="Group 54"/>
            <p:cNvGrpSpPr>
              <a:grpSpLocks/>
            </p:cNvGrpSpPr>
            <p:nvPr/>
          </p:nvGrpSpPr>
          <p:grpSpPr bwMode="auto">
            <a:xfrm>
              <a:off x="1595" y="1388"/>
              <a:ext cx="35" cy="31"/>
              <a:chOff x="1595" y="1388"/>
              <a:chExt cx="35" cy="31"/>
            </a:xfrm>
          </p:grpSpPr>
          <p:sp>
            <p:nvSpPr>
              <p:cNvPr id="18482" name="Oval 52"/>
              <p:cNvSpPr>
                <a:spLocks noChangeArrowheads="1"/>
              </p:cNvSpPr>
              <p:nvPr/>
            </p:nvSpPr>
            <p:spPr bwMode="auto">
              <a:xfrm>
                <a:off x="1595" y="1388"/>
                <a:ext cx="35" cy="31"/>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83" name="Oval 53"/>
              <p:cNvSpPr>
                <a:spLocks noChangeArrowheads="1"/>
              </p:cNvSpPr>
              <p:nvPr/>
            </p:nvSpPr>
            <p:spPr bwMode="auto">
              <a:xfrm>
                <a:off x="1601" y="1393"/>
                <a:ext cx="16" cy="15"/>
              </a:xfrm>
              <a:prstGeom prst="ellipse">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8480" name="Oval 55"/>
            <p:cNvSpPr>
              <a:spLocks noChangeArrowheads="1"/>
            </p:cNvSpPr>
            <p:nvPr/>
          </p:nvSpPr>
          <p:spPr bwMode="auto">
            <a:xfrm>
              <a:off x="1606" y="1396"/>
              <a:ext cx="3" cy="2"/>
            </a:xfrm>
            <a:prstGeom prst="ellipse">
              <a:avLst/>
            </a:pr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81" name="Freeform 56"/>
            <p:cNvSpPr>
              <a:spLocks/>
            </p:cNvSpPr>
            <p:nvPr/>
          </p:nvSpPr>
          <p:spPr bwMode="auto">
            <a:xfrm>
              <a:off x="1597" y="1403"/>
              <a:ext cx="34" cy="17"/>
            </a:xfrm>
            <a:custGeom>
              <a:avLst/>
              <a:gdLst>
                <a:gd name="T0" fmla="*/ 0 w 34"/>
                <a:gd name="T1" fmla="*/ 0 h 17"/>
                <a:gd name="T2" fmla="*/ 33 w 34"/>
                <a:gd name="T3" fmla="*/ 0 h 17"/>
                <a:gd name="T4" fmla="*/ 33 w 34"/>
                <a:gd name="T5" fmla="*/ 16 h 17"/>
                <a:gd name="T6" fmla="*/ 0 w 34"/>
                <a:gd name="T7" fmla="*/ 16 h 17"/>
                <a:gd name="T8" fmla="*/ 0 w 34"/>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17">
                  <a:moveTo>
                    <a:pt x="0" y="0"/>
                  </a:moveTo>
                  <a:lnTo>
                    <a:pt x="33" y="0"/>
                  </a:lnTo>
                  <a:lnTo>
                    <a:pt x="33" y="16"/>
                  </a:lnTo>
                  <a:lnTo>
                    <a:pt x="0" y="16"/>
                  </a:lnTo>
                  <a:lnTo>
                    <a:pt x="0" y="0"/>
                  </a:lnTo>
                </a:path>
              </a:pathLst>
            </a:custGeom>
            <a:solidFill>
              <a:srgbClr val="7F3F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0" name="Group 66"/>
          <p:cNvGrpSpPr>
            <a:grpSpLocks/>
          </p:cNvGrpSpPr>
          <p:nvPr/>
        </p:nvGrpSpPr>
        <p:grpSpPr bwMode="auto">
          <a:xfrm>
            <a:off x="2538414" y="3095626"/>
            <a:ext cx="1158875" cy="384175"/>
            <a:chOff x="649" y="1537"/>
            <a:chExt cx="730" cy="242"/>
          </a:xfrm>
        </p:grpSpPr>
        <p:sp>
          <p:nvSpPr>
            <p:cNvPr id="18444" name="Freeform 58"/>
            <p:cNvSpPr>
              <a:spLocks/>
            </p:cNvSpPr>
            <p:nvPr/>
          </p:nvSpPr>
          <p:spPr bwMode="auto">
            <a:xfrm>
              <a:off x="1167" y="1672"/>
              <a:ext cx="150" cy="100"/>
            </a:xfrm>
            <a:custGeom>
              <a:avLst/>
              <a:gdLst>
                <a:gd name="T0" fmla="*/ 0 w 150"/>
                <a:gd name="T1" fmla="*/ 0 h 100"/>
                <a:gd name="T2" fmla="*/ 0 w 150"/>
                <a:gd name="T3" fmla="*/ 99 h 100"/>
                <a:gd name="T4" fmla="*/ 26 w 150"/>
                <a:gd name="T5" fmla="*/ 99 h 100"/>
                <a:gd name="T6" fmla="*/ 26 w 150"/>
                <a:gd name="T7" fmla="*/ 79 h 100"/>
                <a:gd name="T8" fmla="*/ 38 w 150"/>
                <a:gd name="T9" fmla="*/ 79 h 100"/>
                <a:gd name="T10" fmla="*/ 38 w 150"/>
                <a:gd name="T11" fmla="*/ 70 h 100"/>
                <a:gd name="T12" fmla="*/ 55 w 150"/>
                <a:gd name="T13" fmla="*/ 70 h 100"/>
                <a:gd name="T14" fmla="*/ 55 w 150"/>
                <a:gd name="T15" fmla="*/ 81 h 100"/>
                <a:gd name="T16" fmla="*/ 77 w 150"/>
                <a:gd name="T17" fmla="*/ 81 h 100"/>
                <a:gd name="T18" fmla="*/ 77 w 150"/>
                <a:gd name="T19" fmla="*/ 46 h 100"/>
                <a:gd name="T20" fmla="*/ 93 w 150"/>
                <a:gd name="T21" fmla="*/ 46 h 100"/>
                <a:gd name="T22" fmla="*/ 93 w 150"/>
                <a:gd name="T23" fmla="*/ 71 h 100"/>
                <a:gd name="T24" fmla="*/ 105 w 150"/>
                <a:gd name="T25" fmla="*/ 74 h 100"/>
                <a:gd name="T26" fmla="*/ 105 w 150"/>
                <a:gd name="T27" fmla="*/ 91 h 100"/>
                <a:gd name="T28" fmla="*/ 149 w 150"/>
                <a:gd name="T29" fmla="*/ 91 h 100"/>
                <a:gd name="T30" fmla="*/ 149 w 150"/>
                <a:gd name="T31" fmla="*/ 72 h 100"/>
                <a:gd name="T32" fmla="*/ 137 w 150"/>
                <a:gd name="T33" fmla="*/ 72 h 100"/>
                <a:gd name="T34" fmla="*/ 137 w 150"/>
                <a:gd name="T35" fmla="*/ 0 h 100"/>
                <a:gd name="T36" fmla="*/ 0 w 150"/>
                <a:gd name="T37" fmla="*/ 0 h 10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50" h="100">
                  <a:moveTo>
                    <a:pt x="0" y="0"/>
                  </a:moveTo>
                  <a:lnTo>
                    <a:pt x="0" y="99"/>
                  </a:lnTo>
                  <a:lnTo>
                    <a:pt x="26" y="99"/>
                  </a:lnTo>
                  <a:lnTo>
                    <a:pt x="26" y="79"/>
                  </a:lnTo>
                  <a:lnTo>
                    <a:pt x="38" y="79"/>
                  </a:lnTo>
                  <a:lnTo>
                    <a:pt x="38" y="70"/>
                  </a:lnTo>
                  <a:lnTo>
                    <a:pt x="55" y="70"/>
                  </a:lnTo>
                  <a:lnTo>
                    <a:pt x="55" y="81"/>
                  </a:lnTo>
                  <a:lnTo>
                    <a:pt x="77" y="81"/>
                  </a:lnTo>
                  <a:lnTo>
                    <a:pt x="77" y="46"/>
                  </a:lnTo>
                  <a:lnTo>
                    <a:pt x="93" y="46"/>
                  </a:lnTo>
                  <a:lnTo>
                    <a:pt x="93" y="71"/>
                  </a:lnTo>
                  <a:lnTo>
                    <a:pt x="105" y="74"/>
                  </a:lnTo>
                  <a:lnTo>
                    <a:pt x="105" y="91"/>
                  </a:lnTo>
                  <a:lnTo>
                    <a:pt x="149" y="91"/>
                  </a:lnTo>
                  <a:lnTo>
                    <a:pt x="149" y="72"/>
                  </a:lnTo>
                  <a:lnTo>
                    <a:pt x="137" y="72"/>
                  </a:lnTo>
                  <a:lnTo>
                    <a:pt x="137" y="0"/>
                  </a:lnTo>
                  <a:lnTo>
                    <a:pt x="0"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1" name="Group 62"/>
            <p:cNvGrpSpPr>
              <a:grpSpLocks/>
            </p:cNvGrpSpPr>
            <p:nvPr/>
          </p:nvGrpSpPr>
          <p:grpSpPr bwMode="auto">
            <a:xfrm>
              <a:off x="649" y="1537"/>
              <a:ext cx="252" cy="242"/>
              <a:chOff x="649" y="1537"/>
              <a:chExt cx="252" cy="242"/>
            </a:xfrm>
          </p:grpSpPr>
          <p:sp>
            <p:nvSpPr>
              <p:cNvPr id="18449" name="Oval 59"/>
              <p:cNvSpPr>
                <a:spLocks noChangeArrowheads="1"/>
              </p:cNvSpPr>
              <p:nvPr/>
            </p:nvSpPr>
            <p:spPr bwMode="auto">
              <a:xfrm>
                <a:off x="649" y="1600"/>
                <a:ext cx="128" cy="115"/>
              </a:xfrm>
              <a:prstGeom prst="ellipse">
                <a:avLst/>
              </a:prstGeom>
              <a:noFill/>
              <a:ln w="508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50" name="Oval 60"/>
              <p:cNvSpPr>
                <a:spLocks noChangeArrowheads="1"/>
              </p:cNvSpPr>
              <p:nvPr/>
            </p:nvSpPr>
            <p:spPr bwMode="auto">
              <a:xfrm>
                <a:off x="766" y="1663"/>
                <a:ext cx="130" cy="116"/>
              </a:xfrm>
              <a:prstGeom prst="ellipse">
                <a:avLst/>
              </a:prstGeom>
              <a:noFill/>
              <a:ln w="508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51" name="Oval 61"/>
              <p:cNvSpPr>
                <a:spLocks noChangeArrowheads="1"/>
              </p:cNvSpPr>
              <p:nvPr/>
            </p:nvSpPr>
            <p:spPr bwMode="auto">
              <a:xfrm>
                <a:off x="770" y="1537"/>
                <a:ext cx="131" cy="116"/>
              </a:xfrm>
              <a:prstGeom prst="ellipse">
                <a:avLst/>
              </a:prstGeom>
              <a:noFill/>
              <a:ln w="508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2" name="Group 65"/>
            <p:cNvGrpSpPr>
              <a:grpSpLocks/>
            </p:cNvGrpSpPr>
            <p:nvPr/>
          </p:nvGrpSpPr>
          <p:grpSpPr bwMode="auto">
            <a:xfrm>
              <a:off x="851" y="1647"/>
              <a:ext cx="528" cy="25"/>
              <a:chOff x="851" y="1647"/>
              <a:chExt cx="528" cy="25"/>
            </a:xfrm>
          </p:grpSpPr>
          <p:sp>
            <p:nvSpPr>
              <p:cNvPr id="18447" name="AutoShape 63"/>
              <p:cNvSpPr>
                <a:spLocks noChangeArrowheads="1"/>
              </p:cNvSpPr>
              <p:nvPr/>
            </p:nvSpPr>
            <p:spPr bwMode="auto">
              <a:xfrm>
                <a:off x="851" y="1647"/>
                <a:ext cx="528" cy="25"/>
              </a:xfrm>
              <a:prstGeom prst="roundRect">
                <a:avLst>
                  <a:gd name="adj" fmla="val 41931"/>
                </a:avLst>
              </a:prstGeom>
              <a:solidFill>
                <a:srgbClr val="00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48" name="Line 64"/>
              <p:cNvSpPr>
                <a:spLocks noChangeShapeType="1"/>
              </p:cNvSpPr>
              <p:nvPr/>
            </p:nvSpPr>
            <p:spPr bwMode="auto">
              <a:xfrm>
                <a:off x="901" y="1654"/>
                <a:ext cx="459" cy="0"/>
              </a:xfrm>
              <a:prstGeom prst="line">
                <a:avLst/>
              </a:prstGeom>
              <a:noFill/>
              <a:ln w="12700">
                <a:solidFill>
                  <a:srgbClr val="FFFF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pic>
        <p:nvPicPr>
          <p:cNvPr id="18443" name="Picture 285" descr="j0300848[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35863" y="2924175"/>
            <a:ext cx="1816100" cy="122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6221604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t>Visible constraints: Entering a Date</a:t>
            </a:r>
            <a:endParaRPr lang="en-CA"/>
          </a:p>
        </p:txBody>
      </p:sp>
      <p:sp>
        <p:nvSpPr>
          <p:cNvPr id="20483" name="Rectangle 6"/>
          <p:cNvSpPr>
            <a:spLocks noGrp="1" noChangeArrowheads="1"/>
          </p:cNvSpPr>
          <p:nvPr>
            <p:ph sz="quarter" idx="1"/>
          </p:nvPr>
        </p:nvSpPr>
        <p:spPr/>
        <p:txBody>
          <a:bodyPr/>
          <a:lstStyle/>
          <a:p>
            <a:r>
              <a:rPr lang="en-US"/>
              <a:t>The more constraints, the less opportunity for error</a:t>
            </a:r>
          </a:p>
          <a:p>
            <a:pPr lvl="1"/>
            <a:r>
              <a:rPr lang="en-US"/>
              <a:t>particularly important for managing user input</a:t>
            </a:r>
          </a:p>
        </p:txBody>
      </p:sp>
      <p:pic>
        <p:nvPicPr>
          <p:cNvPr id="2048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750" y="2705101"/>
            <a:ext cx="3671888" cy="337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48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5639" y="2706689"/>
            <a:ext cx="4573587" cy="338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486" name="Text Box 5"/>
          <p:cNvSpPr txBox="1">
            <a:spLocks noChangeArrowheads="1"/>
          </p:cNvSpPr>
          <p:nvPr/>
        </p:nvSpPr>
        <p:spPr bwMode="auto">
          <a:xfrm>
            <a:off x="1524000" y="6613526"/>
            <a:ext cx="3276600" cy="246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sz="2400">
                <a:solidFill>
                  <a:schemeClr val="tx1"/>
                </a:solidFill>
                <a:latin typeface="Comic Sans MS" pitchFamily="66" charset="0"/>
              </a:defRPr>
            </a:lvl1pPr>
            <a:lvl2pPr marL="742950" indent="-285750" eaLnBrk="0" hangingPunct="0">
              <a:defRPr sz="2400">
                <a:solidFill>
                  <a:schemeClr val="tx1"/>
                </a:solidFill>
                <a:latin typeface="Comic Sans MS" pitchFamily="66" charset="0"/>
              </a:defRPr>
            </a:lvl2pPr>
            <a:lvl3pPr marL="1143000" indent="-228600" eaLnBrk="0" hangingPunct="0">
              <a:defRPr sz="2400">
                <a:solidFill>
                  <a:schemeClr val="tx1"/>
                </a:solidFill>
                <a:latin typeface="Comic Sans MS" pitchFamily="66" charset="0"/>
              </a:defRPr>
            </a:lvl3pPr>
            <a:lvl4pPr marL="1600200" indent="-228600" eaLnBrk="0" hangingPunct="0">
              <a:defRPr sz="2400">
                <a:solidFill>
                  <a:schemeClr val="tx1"/>
                </a:solidFill>
                <a:latin typeface="Comic Sans MS" pitchFamily="66" charset="0"/>
              </a:defRPr>
            </a:lvl4pPr>
            <a:lvl5pPr marL="2057400" indent="-228600" eaLnBrk="0" hangingPunct="0">
              <a:defRPr sz="2400">
                <a:solidFill>
                  <a:schemeClr val="tx1"/>
                </a:solidFill>
                <a:latin typeface="Comic Sans MS" pitchFamily="66" charset="0"/>
              </a:defRPr>
            </a:lvl5pPr>
            <a:lvl6pPr marL="2514600" indent="-228600" eaLnBrk="0" fontAlgn="base" hangingPunct="0">
              <a:spcBef>
                <a:spcPct val="0"/>
              </a:spcBef>
              <a:spcAft>
                <a:spcPct val="0"/>
              </a:spcAft>
              <a:defRPr sz="2400">
                <a:solidFill>
                  <a:schemeClr val="tx1"/>
                </a:solidFill>
                <a:latin typeface="Comic Sans MS" pitchFamily="66" charset="0"/>
              </a:defRPr>
            </a:lvl6pPr>
            <a:lvl7pPr marL="2971800" indent="-228600" eaLnBrk="0" fontAlgn="base" hangingPunct="0">
              <a:spcBef>
                <a:spcPct val="0"/>
              </a:spcBef>
              <a:spcAft>
                <a:spcPct val="0"/>
              </a:spcAft>
              <a:defRPr sz="2400">
                <a:solidFill>
                  <a:schemeClr val="tx1"/>
                </a:solidFill>
                <a:latin typeface="Comic Sans MS" pitchFamily="66" charset="0"/>
              </a:defRPr>
            </a:lvl7pPr>
            <a:lvl8pPr marL="3429000" indent="-228600" eaLnBrk="0" fontAlgn="base" hangingPunct="0">
              <a:spcBef>
                <a:spcPct val="0"/>
              </a:spcBef>
              <a:spcAft>
                <a:spcPct val="0"/>
              </a:spcAft>
              <a:defRPr sz="2400">
                <a:solidFill>
                  <a:schemeClr val="tx1"/>
                </a:solidFill>
                <a:latin typeface="Comic Sans MS" pitchFamily="66" charset="0"/>
              </a:defRPr>
            </a:lvl8pPr>
            <a:lvl9pPr marL="3886200" indent="-228600" eaLnBrk="0" fontAlgn="base" hangingPunct="0">
              <a:spcBef>
                <a:spcPct val="0"/>
              </a:spcBef>
              <a:spcAft>
                <a:spcPct val="0"/>
              </a:spcAft>
              <a:defRPr sz="2400">
                <a:solidFill>
                  <a:schemeClr val="tx1"/>
                </a:solidFill>
                <a:latin typeface="Comic Sans MS" pitchFamily="66" charset="0"/>
              </a:defRPr>
            </a:lvl9pPr>
          </a:lstStyle>
          <a:p>
            <a:pPr>
              <a:spcBef>
                <a:spcPct val="50000"/>
              </a:spcBef>
            </a:pPr>
            <a:r>
              <a:rPr lang="en-US" sz="1000">
                <a:solidFill>
                  <a:schemeClr val="bg2"/>
                </a:solidFill>
                <a:latin typeface="Verdana" pitchFamily="34" charset="0"/>
              </a:rPr>
              <a:t>Controls constructed in Visual Basic</a:t>
            </a:r>
          </a:p>
        </p:txBody>
      </p:sp>
    </p:spTree>
    <p:extLst>
      <p:ext uri="{BB962C8B-B14F-4D97-AF65-F5344CB8AC3E}">
        <p14:creationId xmlns:p14="http://schemas.microsoft.com/office/powerpoint/2010/main" val="15873743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F7E71-2FF1-4EFA-92D6-CC9D5BA8AD9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5CFF6FC-0C0C-4705-A2D8-E2D1F0FD1805}"/>
              </a:ext>
            </a:extLst>
          </p:cNvPr>
          <p:cNvSpPr>
            <a:spLocks noGrp="1"/>
          </p:cNvSpPr>
          <p:nvPr>
            <p:ph sz="quarter" idx="1"/>
          </p:nvPr>
        </p:nvSpPr>
        <p:spPr/>
        <p:txBody>
          <a:bodyPr/>
          <a:lstStyle/>
          <a:p>
            <a:endParaRPr lang="en-US" dirty="0"/>
          </a:p>
          <a:p>
            <a:endParaRPr lang="en-US" dirty="0"/>
          </a:p>
          <a:p>
            <a:r>
              <a:rPr lang="en-US" dirty="0"/>
              <a:t>26897 – 234158963 – 5 </a:t>
            </a:r>
          </a:p>
          <a:p>
            <a:endParaRPr lang="en-US" dirty="0"/>
          </a:p>
        </p:txBody>
      </p:sp>
    </p:spTree>
    <p:extLst>
      <p:ext uri="{BB962C8B-B14F-4D97-AF65-F5344CB8AC3E}">
        <p14:creationId xmlns:p14="http://schemas.microsoft.com/office/powerpoint/2010/main" val="36053691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Feedback </a:t>
            </a:r>
          </a:p>
        </p:txBody>
      </p:sp>
      <p:sp>
        <p:nvSpPr>
          <p:cNvPr id="3" name="Content Placeholder 2"/>
          <p:cNvSpPr>
            <a:spLocks noGrp="1"/>
          </p:cNvSpPr>
          <p:nvPr>
            <p:ph sz="quarter" idx="1"/>
          </p:nvPr>
        </p:nvSpPr>
        <p:spPr/>
        <p:txBody>
          <a:bodyPr>
            <a:normAutofit fontScale="62500" lnSpcReduction="20000"/>
          </a:bodyPr>
          <a:lstStyle/>
          <a:p>
            <a:r>
              <a:rPr lang="en-US" dirty="0"/>
              <a:t>Actions should show immediate effects</a:t>
            </a:r>
          </a:p>
          <a:p>
            <a:pPr lvl="1"/>
            <a:r>
              <a:rPr lang="en-US" dirty="0"/>
              <a:t>Push buttons</a:t>
            </a:r>
          </a:p>
          <a:p>
            <a:pPr lvl="1"/>
            <a:r>
              <a:rPr lang="en-US" dirty="0"/>
              <a:t>Scrollbars</a:t>
            </a:r>
          </a:p>
          <a:p>
            <a:pPr lvl="1"/>
            <a:r>
              <a:rPr lang="en-US" dirty="0"/>
              <a:t>Drag and drop</a:t>
            </a:r>
          </a:p>
          <a:p>
            <a:r>
              <a:rPr lang="en-US" dirty="0"/>
              <a:t>Kinds of feedback </a:t>
            </a:r>
          </a:p>
          <a:p>
            <a:pPr lvl="1"/>
            <a:r>
              <a:rPr lang="en-US" dirty="0"/>
              <a:t>Visual </a:t>
            </a:r>
          </a:p>
          <a:p>
            <a:pPr lvl="1"/>
            <a:r>
              <a:rPr lang="en-US" dirty="0"/>
              <a:t>Audio </a:t>
            </a:r>
          </a:p>
          <a:p>
            <a:pPr lvl="1"/>
            <a:r>
              <a:rPr lang="en-US" dirty="0"/>
              <a:t>Haptic (conveyed by the sense of touch)</a:t>
            </a:r>
          </a:p>
          <a:p>
            <a:r>
              <a:rPr lang="en-US" dirty="0"/>
              <a:t>Low level feedback</a:t>
            </a:r>
          </a:p>
          <a:p>
            <a:pPr marL="0" indent="0">
              <a:buNone/>
            </a:pPr>
            <a:endParaRPr lang="en-US" dirty="0"/>
          </a:p>
          <a:p>
            <a:pPr lvl="1"/>
            <a:endParaRPr lang="en-US" dirty="0"/>
          </a:p>
          <a:p>
            <a:pPr lvl="1"/>
            <a:r>
              <a:rPr lang="en-US" dirty="0"/>
              <a:t>Push button</a:t>
            </a:r>
          </a:p>
          <a:p>
            <a:r>
              <a:rPr lang="en-US" dirty="0"/>
              <a:t>High level feedback (actual result of the user’s action )</a:t>
            </a:r>
          </a:p>
          <a:p>
            <a:pPr lvl="1"/>
            <a:r>
              <a:rPr lang="en-US" dirty="0"/>
              <a:t>Starts Page loading</a:t>
            </a:r>
          </a:p>
          <a:p>
            <a:r>
              <a:rPr lang="en-US" dirty="0"/>
              <a:t>Perceptual Fusion</a:t>
            </a:r>
          </a:p>
          <a:p>
            <a:endParaRPr lang="en-US" dirty="0"/>
          </a:p>
        </p:txBody>
      </p:sp>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33153" y="4184928"/>
            <a:ext cx="4762500" cy="698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619286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Response Time</a:t>
            </a:r>
          </a:p>
        </p:txBody>
      </p:sp>
      <p:sp>
        <p:nvSpPr>
          <p:cNvPr id="3" name="Content Placeholder 2"/>
          <p:cNvSpPr>
            <a:spLocks noGrp="1"/>
          </p:cNvSpPr>
          <p:nvPr>
            <p:ph sz="quarter" idx="1"/>
          </p:nvPr>
        </p:nvSpPr>
        <p:spPr/>
        <p:txBody>
          <a:bodyPr/>
          <a:lstStyle/>
          <a:p>
            <a:endParaRPr 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3174" y="1696625"/>
            <a:ext cx="8210550" cy="466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793763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Unnecessary feedback </a:t>
            </a:r>
          </a:p>
        </p:txBody>
      </p:sp>
      <p:pic>
        <p:nvPicPr>
          <p:cNvPr id="4" name="Picture 3"/>
          <p:cNvPicPr>
            <a:picLocks noChangeAspect="1"/>
          </p:cNvPicPr>
          <p:nvPr/>
        </p:nvPicPr>
        <p:blipFill>
          <a:blip r:embed="rId2"/>
          <a:stretch>
            <a:fillRect/>
          </a:stretch>
        </p:blipFill>
        <p:spPr>
          <a:xfrm>
            <a:off x="2300880" y="2672459"/>
            <a:ext cx="6924675" cy="3038475"/>
          </a:xfrm>
          <a:prstGeom prst="rect">
            <a:avLst/>
          </a:prstGeom>
        </p:spPr>
      </p:pic>
      <p:sp>
        <p:nvSpPr>
          <p:cNvPr id="5" name="Content Placeholder 2"/>
          <p:cNvSpPr>
            <a:spLocks noGrp="1"/>
          </p:cNvSpPr>
          <p:nvPr>
            <p:ph sz="quarter" idx="1"/>
          </p:nvPr>
        </p:nvSpPr>
        <p:spPr>
          <a:xfrm>
            <a:off x="816864" y="1600200"/>
            <a:ext cx="10871200" cy="4495800"/>
          </a:xfrm>
        </p:spPr>
        <p:txBody>
          <a:bodyPr/>
          <a:lstStyle/>
          <a:p>
            <a:r>
              <a:rPr lang="en-US" dirty="0"/>
              <a:t>Feedback is important, but don’t overdo it.</a:t>
            </a:r>
          </a:p>
        </p:txBody>
      </p:sp>
    </p:spTree>
    <p:extLst>
      <p:ext uri="{BB962C8B-B14F-4D97-AF65-F5344CB8AC3E}">
        <p14:creationId xmlns:p14="http://schemas.microsoft.com/office/powerpoint/2010/main" val="27910845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1" y="2819400"/>
            <a:ext cx="2847975" cy="291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77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2743200"/>
            <a:ext cx="2705100" cy="291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2772" name="Line 5"/>
          <p:cNvSpPr>
            <a:spLocks noChangeShapeType="1"/>
          </p:cNvSpPr>
          <p:nvPr/>
        </p:nvSpPr>
        <p:spPr bwMode="auto">
          <a:xfrm flipV="1">
            <a:off x="8153400" y="5410200"/>
            <a:ext cx="152400" cy="152400"/>
          </a:xfrm>
          <a:prstGeom prst="line">
            <a:avLst/>
          </a:prstGeom>
          <a:noFill/>
          <a:ln w="5715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spAutoFit/>
          </a:bodyPr>
          <a:lstStyle/>
          <a:p>
            <a:endParaRPr lang="en-US"/>
          </a:p>
        </p:txBody>
      </p:sp>
      <p:sp>
        <p:nvSpPr>
          <p:cNvPr id="32773" name="Text Box 7"/>
          <p:cNvSpPr txBox="1">
            <a:spLocks noChangeArrowheads="1"/>
          </p:cNvSpPr>
          <p:nvPr/>
        </p:nvSpPr>
        <p:spPr bwMode="auto">
          <a:xfrm>
            <a:off x="1524001" y="6613526"/>
            <a:ext cx="2843213" cy="246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sz="2400">
                <a:solidFill>
                  <a:schemeClr val="tx1"/>
                </a:solidFill>
                <a:latin typeface="Comic Sans MS" pitchFamily="66" charset="0"/>
              </a:defRPr>
            </a:lvl1pPr>
            <a:lvl2pPr marL="742950" indent="-285750" eaLnBrk="0" hangingPunct="0">
              <a:defRPr sz="2400">
                <a:solidFill>
                  <a:schemeClr val="tx1"/>
                </a:solidFill>
                <a:latin typeface="Comic Sans MS" pitchFamily="66" charset="0"/>
              </a:defRPr>
            </a:lvl2pPr>
            <a:lvl3pPr marL="1143000" indent="-228600" eaLnBrk="0" hangingPunct="0">
              <a:defRPr sz="2400">
                <a:solidFill>
                  <a:schemeClr val="tx1"/>
                </a:solidFill>
                <a:latin typeface="Comic Sans MS" pitchFamily="66" charset="0"/>
              </a:defRPr>
            </a:lvl3pPr>
            <a:lvl4pPr marL="1600200" indent="-228600" eaLnBrk="0" hangingPunct="0">
              <a:defRPr sz="2400">
                <a:solidFill>
                  <a:schemeClr val="tx1"/>
                </a:solidFill>
                <a:latin typeface="Comic Sans MS" pitchFamily="66" charset="0"/>
              </a:defRPr>
            </a:lvl4pPr>
            <a:lvl5pPr marL="2057400" indent="-228600" eaLnBrk="0" hangingPunct="0">
              <a:defRPr sz="2400">
                <a:solidFill>
                  <a:schemeClr val="tx1"/>
                </a:solidFill>
                <a:latin typeface="Comic Sans MS" pitchFamily="66" charset="0"/>
              </a:defRPr>
            </a:lvl5pPr>
            <a:lvl6pPr marL="2514600" indent="-228600" eaLnBrk="0" fontAlgn="base" hangingPunct="0">
              <a:spcBef>
                <a:spcPct val="0"/>
              </a:spcBef>
              <a:spcAft>
                <a:spcPct val="0"/>
              </a:spcAft>
              <a:defRPr sz="2400">
                <a:solidFill>
                  <a:schemeClr val="tx1"/>
                </a:solidFill>
                <a:latin typeface="Comic Sans MS" pitchFamily="66" charset="0"/>
              </a:defRPr>
            </a:lvl6pPr>
            <a:lvl7pPr marL="2971800" indent="-228600" eaLnBrk="0" fontAlgn="base" hangingPunct="0">
              <a:spcBef>
                <a:spcPct val="0"/>
              </a:spcBef>
              <a:spcAft>
                <a:spcPct val="0"/>
              </a:spcAft>
              <a:defRPr sz="2400">
                <a:solidFill>
                  <a:schemeClr val="tx1"/>
                </a:solidFill>
                <a:latin typeface="Comic Sans MS" pitchFamily="66" charset="0"/>
              </a:defRPr>
            </a:lvl7pPr>
            <a:lvl8pPr marL="3429000" indent="-228600" eaLnBrk="0" fontAlgn="base" hangingPunct="0">
              <a:spcBef>
                <a:spcPct val="0"/>
              </a:spcBef>
              <a:spcAft>
                <a:spcPct val="0"/>
              </a:spcAft>
              <a:defRPr sz="2400">
                <a:solidFill>
                  <a:schemeClr val="tx1"/>
                </a:solidFill>
                <a:latin typeface="Comic Sans MS" pitchFamily="66" charset="0"/>
              </a:defRPr>
            </a:lvl8pPr>
            <a:lvl9pPr marL="3886200" indent="-228600" eaLnBrk="0" fontAlgn="base" hangingPunct="0">
              <a:spcBef>
                <a:spcPct val="0"/>
              </a:spcBef>
              <a:spcAft>
                <a:spcPct val="0"/>
              </a:spcAft>
              <a:defRPr sz="2400">
                <a:solidFill>
                  <a:schemeClr val="tx1"/>
                </a:solidFill>
                <a:latin typeface="Comic Sans MS" pitchFamily="66" charset="0"/>
              </a:defRPr>
            </a:lvl9pPr>
          </a:lstStyle>
          <a:p>
            <a:pPr>
              <a:spcBef>
                <a:spcPct val="50000"/>
              </a:spcBef>
            </a:pPr>
            <a:r>
              <a:rPr lang="en-US" sz="1000">
                <a:solidFill>
                  <a:schemeClr val="bg2"/>
                </a:solidFill>
                <a:latin typeface="Verdana" pitchFamily="34" charset="0"/>
              </a:rPr>
              <a:t>LViewPro</a:t>
            </a:r>
          </a:p>
        </p:txBody>
      </p:sp>
      <p:sp>
        <p:nvSpPr>
          <p:cNvPr id="32774" name="Rectangle 10"/>
          <p:cNvSpPr>
            <a:spLocks noGrp="1" noChangeArrowheads="1"/>
          </p:cNvSpPr>
          <p:nvPr>
            <p:ph type="title"/>
          </p:nvPr>
        </p:nvSpPr>
        <p:spPr/>
        <p:txBody>
          <a:bodyPr/>
          <a:lstStyle/>
          <a:p>
            <a:r>
              <a:rPr lang="en-US" dirty="0"/>
              <a:t>Feedback Problems</a:t>
            </a:r>
          </a:p>
        </p:txBody>
      </p:sp>
      <p:sp>
        <p:nvSpPr>
          <p:cNvPr id="32775" name="Rectangle 11"/>
          <p:cNvSpPr>
            <a:spLocks noGrp="1" noChangeArrowheads="1"/>
          </p:cNvSpPr>
          <p:nvPr>
            <p:ph sz="quarter" idx="1"/>
          </p:nvPr>
        </p:nvSpPr>
        <p:spPr/>
        <p:txBody>
          <a:bodyPr/>
          <a:lstStyle/>
          <a:p>
            <a:r>
              <a:rPr lang="en-US" sz="2000" dirty="0"/>
              <a:t>Effects visible only after Exec button is pressed</a:t>
            </a:r>
          </a:p>
          <a:p>
            <a:pPr lvl="1"/>
            <a:r>
              <a:rPr lang="en-US" sz="1800" dirty="0"/>
              <a:t>Ok does nothing!</a:t>
            </a:r>
          </a:p>
          <a:p>
            <a:pPr lvl="1"/>
            <a:r>
              <a:rPr lang="en-US" sz="1800" dirty="0"/>
              <a:t>awkward to find appropriate color level</a:t>
            </a:r>
            <a:r>
              <a:rPr lang="en-US" sz="1800" i="1" dirty="0"/>
              <a:t> </a:t>
            </a:r>
            <a:endParaRPr lang="en-CA" sz="1800" i="1" dirty="0"/>
          </a:p>
          <a:p>
            <a:endParaRPr lang="en-US" sz="2000" dirty="0"/>
          </a:p>
        </p:txBody>
      </p:sp>
      <p:sp>
        <p:nvSpPr>
          <p:cNvPr id="32776" name="Line 12"/>
          <p:cNvSpPr>
            <a:spLocks noChangeShapeType="1"/>
          </p:cNvSpPr>
          <p:nvPr/>
        </p:nvSpPr>
        <p:spPr bwMode="auto">
          <a:xfrm flipH="1">
            <a:off x="3359150" y="5876925"/>
            <a:ext cx="863600" cy="0"/>
          </a:xfrm>
          <a:prstGeom prst="line">
            <a:avLst/>
          </a:prstGeom>
          <a:noFill/>
          <a:ln w="76200">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spAutoFit/>
          </a:bodyPr>
          <a:lstStyle/>
          <a:p>
            <a:endParaRPr lang="en-US"/>
          </a:p>
        </p:txBody>
      </p:sp>
    </p:spTree>
    <p:extLst>
      <p:ext uri="{BB962C8B-B14F-4D97-AF65-F5344CB8AC3E}">
        <p14:creationId xmlns:p14="http://schemas.microsoft.com/office/powerpoint/2010/main" val="2634100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Consistency </a:t>
            </a:r>
          </a:p>
        </p:txBody>
      </p:sp>
      <p:sp>
        <p:nvSpPr>
          <p:cNvPr id="3" name="Content Placeholder 2"/>
          <p:cNvSpPr>
            <a:spLocks noGrp="1"/>
          </p:cNvSpPr>
          <p:nvPr>
            <p:ph sz="quarter" idx="1"/>
          </p:nvPr>
        </p:nvSpPr>
        <p:spPr>
          <a:xfrm>
            <a:off x="838200" y="1825625"/>
            <a:ext cx="6241538" cy="4351338"/>
          </a:xfrm>
        </p:spPr>
        <p:txBody>
          <a:bodyPr/>
          <a:lstStyle/>
          <a:p>
            <a:r>
              <a:rPr lang="en-US" dirty="0"/>
              <a:t>The principal of least surprise </a:t>
            </a:r>
          </a:p>
          <a:p>
            <a:pPr lvl="1"/>
            <a:r>
              <a:rPr lang="en-US" dirty="0"/>
              <a:t>Similar things should look and act the same</a:t>
            </a:r>
          </a:p>
          <a:p>
            <a:pPr lvl="1"/>
            <a:r>
              <a:rPr lang="en-US" dirty="0"/>
              <a:t>Different things should look different</a:t>
            </a:r>
          </a:p>
          <a:p>
            <a:r>
              <a:rPr lang="en-US" dirty="0"/>
              <a:t>Internal</a:t>
            </a:r>
          </a:p>
          <a:p>
            <a:r>
              <a:rPr lang="en-US" dirty="0"/>
              <a:t>External</a:t>
            </a:r>
          </a:p>
          <a:p>
            <a:r>
              <a:rPr lang="en-US" dirty="0"/>
              <a:t>Metaphorical </a:t>
            </a:r>
          </a:p>
        </p:txBody>
      </p:sp>
      <p:pic>
        <p:nvPicPr>
          <p:cNvPr id="4" name="Picture 2" descr="http://hallofshame.gp.co.at/images/cmdlbl.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04984" y="1497809"/>
            <a:ext cx="5270273" cy="4261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03190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Internal Consistency – consistency of layout</a:t>
            </a: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43330"/>
            <a:ext cx="6355692" cy="4285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p:cNvPicPr>
            <a:picLocks noChangeAspect="1"/>
          </p:cNvPicPr>
          <p:nvPr/>
        </p:nvPicPr>
        <p:blipFill>
          <a:blip r:embed="rId4"/>
          <a:stretch>
            <a:fillRect/>
          </a:stretch>
        </p:blipFill>
        <p:spPr>
          <a:xfrm>
            <a:off x="5827628" y="1574362"/>
            <a:ext cx="6364372" cy="4285970"/>
          </a:xfrm>
          <a:prstGeom prst="rect">
            <a:avLst/>
          </a:prstGeom>
        </p:spPr>
      </p:pic>
    </p:spTree>
    <p:extLst>
      <p:ext uri="{BB962C8B-B14F-4D97-AF65-F5344CB8AC3E}">
        <p14:creationId xmlns:p14="http://schemas.microsoft.com/office/powerpoint/2010/main" val="376872938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External Consistency – consistency of layout</a:t>
            </a:r>
          </a:p>
        </p:txBody>
      </p:sp>
      <p:pic>
        <p:nvPicPr>
          <p:cNvPr id="3074" name="Picture 2" descr="http://www.maclife.com/files/u220903/microsoft_word_2011_for_mac_screen_620px.jpg"/>
          <p:cNvPicPr>
            <a:picLocks noChangeAspect="1" noChangeArrowheads="1"/>
          </p:cNvPicPr>
          <p:nvPr/>
        </p:nvPicPr>
        <p:blipFill rotWithShape="1">
          <a:blip r:embed="rId3">
            <a:extLst>
              <a:ext uri="{28A0092B-C50C-407E-A947-70E740481C1C}">
                <a14:useLocalDpi xmlns:a14="http://schemas.microsoft.com/office/drawing/2010/main" val="0"/>
              </a:ext>
            </a:extLst>
          </a:blip>
          <a:srcRect b="53433"/>
          <a:stretch/>
        </p:blipFill>
        <p:spPr bwMode="auto">
          <a:xfrm>
            <a:off x="786468" y="1499616"/>
            <a:ext cx="10546299" cy="237634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www.tpetaccia.com/wp-content/uploads/word2013.jpg"/>
          <p:cNvPicPr>
            <a:picLocks noChangeAspect="1" noChangeArrowheads="1"/>
          </p:cNvPicPr>
          <p:nvPr/>
        </p:nvPicPr>
        <p:blipFill rotWithShape="1">
          <a:blip r:embed="rId4">
            <a:extLst>
              <a:ext uri="{28A0092B-C50C-407E-A947-70E740481C1C}">
                <a14:useLocalDpi xmlns:a14="http://schemas.microsoft.com/office/drawing/2010/main" val="0"/>
              </a:ext>
            </a:extLst>
          </a:blip>
          <a:srcRect b="63508"/>
          <a:stretch/>
        </p:blipFill>
        <p:spPr bwMode="auto">
          <a:xfrm>
            <a:off x="700057" y="4046397"/>
            <a:ext cx="10713476" cy="27264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23125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Consistency in wording</a:t>
            </a:r>
          </a:p>
        </p:txBody>
      </p:sp>
      <p:sp>
        <p:nvSpPr>
          <p:cNvPr id="3" name="Content Placeholder 2"/>
          <p:cNvSpPr>
            <a:spLocks noGrp="1"/>
          </p:cNvSpPr>
          <p:nvPr>
            <p:ph sz="quarter" idx="1"/>
          </p:nvPr>
        </p:nvSpPr>
        <p:spPr>
          <a:xfrm>
            <a:off x="816864" y="1600200"/>
            <a:ext cx="10871200" cy="1074420"/>
          </a:xfrm>
        </p:spPr>
        <p:txBody>
          <a:bodyPr/>
          <a:lstStyle/>
          <a:p>
            <a:r>
              <a:rPr lang="en-US" sz="3200" dirty="0"/>
              <a:t>Use the same terms throughout your user interface</a:t>
            </a:r>
            <a:endParaRPr lang="en-US" dirty="0"/>
          </a:p>
        </p:txBody>
      </p:sp>
      <p:pic>
        <p:nvPicPr>
          <p:cNvPr id="4" name="Picture 3"/>
          <p:cNvPicPr>
            <a:picLocks noChangeAspect="1"/>
          </p:cNvPicPr>
          <p:nvPr/>
        </p:nvPicPr>
        <p:blipFill>
          <a:blip r:embed="rId3"/>
          <a:stretch>
            <a:fillRect/>
          </a:stretch>
        </p:blipFill>
        <p:spPr>
          <a:xfrm>
            <a:off x="816864" y="3954780"/>
            <a:ext cx="10857443" cy="2646997"/>
          </a:xfrm>
          <a:prstGeom prst="rect">
            <a:avLst/>
          </a:prstGeom>
        </p:spPr>
      </p:pic>
    </p:spTree>
    <p:extLst>
      <p:ext uri="{BB962C8B-B14F-4D97-AF65-F5344CB8AC3E}">
        <p14:creationId xmlns:p14="http://schemas.microsoft.com/office/powerpoint/2010/main" val="14796786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Language Consistency </a:t>
            </a:r>
          </a:p>
        </p:txBody>
      </p:sp>
      <p:pic>
        <p:nvPicPr>
          <p:cNvPr id="4" name="Picture 2" descr="Say what you mea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79525" y="2094930"/>
            <a:ext cx="8047032" cy="37326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98718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1397" y="243348"/>
            <a:ext cx="10871200" cy="990600"/>
          </a:xfrm>
        </p:spPr>
        <p:txBody>
          <a:bodyPr/>
          <a:lstStyle/>
          <a:p>
            <a:r>
              <a:rPr lang="en-US" dirty="0"/>
              <a:t>Speak User’s Language </a:t>
            </a:r>
          </a:p>
        </p:txBody>
      </p:sp>
      <p:pic>
        <p:nvPicPr>
          <p:cNvPr id="5122" name="Picture 2" descr="http://www.azurecurve.co.uk/images/posts/1109/Check_Remittance_Type_Mismatch/Check_Remittance_Type_Mismatch_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397" y="1939412"/>
            <a:ext cx="7826368" cy="42401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81567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Speak User’s Language </a:t>
            </a:r>
          </a:p>
        </p:txBody>
      </p:sp>
      <p:sp>
        <p:nvSpPr>
          <p:cNvPr id="4" name="Content Placeholder 2"/>
          <p:cNvSpPr>
            <a:spLocks noGrp="1"/>
          </p:cNvSpPr>
          <p:nvPr>
            <p:ph sz="quarter" idx="1"/>
          </p:nvPr>
        </p:nvSpPr>
        <p:spPr/>
        <p:txBody>
          <a:bodyPr>
            <a:normAutofit/>
          </a:bodyPr>
          <a:lstStyle/>
          <a:p>
            <a:r>
              <a:rPr lang="en-US" sz="3200" dirty="0"/>
              <a:t>Use common words, not techie jargon</a:t>
            </a:r>
          </a:p>
          <a:p>
            <a:pPr lvl="1"/>
            <a:r>
              <a:rPr lang="en-US" dirty="0"/>
              <a:t>But use domain-specific terms where appropriate</a:t>
            </a:r>
          </a:p>
          <a:p>
            <a:r>
              <a:rPr lang="en-US" dirty="0"/>
              <a:t>When the </a:t>
            </a:r>
            <a:r>
              <a:rPr lang="en-US" i="1" dirty="0"/>
              <a:t>user</a:t>
            </a:r>
            <a:r>
              <a:rPr lang="en-US" dirty="0"/>
              <a:t> is talking, the interface should make a maximum effort to understand the user, allowing synonyms and aliases.</a:t>
            </a:r>
          </a:p>
          <a:p>
            <a:r>
              <a:rPr lang="en-US" dirty="0"/>
              <a:t>When the </a:t>
            </a:r>
            <a:r>
              <a:rPr lang="en-US" i="1" dirty="0"/>
              <a:t>interface</a:t>
            </a:r>
            <a:r>
              <a:rPr lang="en-US" dirty="0"/>
              <a:t> is speaking, it should be consistent, always using the same name to describe the same command or object.</a:t>
            </a:r>
          </a:p>
        </p:txBody>
      </p:sp>
    </p:spTree>
    <p:extLst>
      <p:ext uri="{BB962C8B-B14F-4D97-AF65-F5344CB8AC3E}">
        <p14:creationId xmlns:p14="http://schemas.microsoft.com/office/powerpoint/2010/main" val="11018076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644" y="228600"/>
            <a:ext cx="10871200" cy="990600"/>
          </a:xfrm>
        </p:spPr>
        <p:txBody>
          <a:bodyPr/>
          <a:lstStyle/>
          <a:p>
            <a:r>
              <a:rPr lang="en-US" dirty="0"/>
              <a:t>Metaphors </a:t>
            </a:r>
          </a:p>
        </p:txBody>
      </p:sp>
      <p:sp>
        <p:nvSpPr>
          <p:cNvPr id="3" name="Content Placeholder 2"/>
          <p:cNvSpPr>
            <a:spLocks noGrp="1"/>
          </p:cNvSpPr>
          <p:nvPr>
            <p:ph sz="quarter" idx="1"/>
          </p:nvPr>
        </p:nvSpPr>
        <p:spPr>
          <a:xfrm>
            <a:off x="816864" y="1600200"/>
            <a:ext cx="10871200" cy="5257800"/>
          </a:xfrm>
        </p:spPr>
        <p:txBody>
          <a:bodyPr>
            <a:normAutofit fontScale="92500" lnSpcReduction="10000"/>
          </a:bodyPr>
          <a:lstStyle/>
          <a:p>
            <a:r>
              <a:rPr lang="en-US" dirty="0"/>
              <a:t>Borrow a conceptual model which user has already in mind </a:t>
            </a:r>
          </a:p>
          <a:p>
            <a:pPr lvl="1"/>
            <a:r>
              <a:rPr lang="en-US" dirty="0"/>
              <a:t>Library</a:t>
            </a:r>
          </a:p>
          <a:p>
            <a:pPr lvl="1"/>
            <a:r>
              <a:rPr lang="en-US" dirty="0"/>
              <a:t>Theater </a:t>
            </a:r>
          </a:p>
          <a:p>
            <a:pPr lvl="1"/>
            <a:r>
              <a:rPr lang="en-US" dirty="0"/>
              <a:t>Pen</a:t>
            </a:r>
          </a:p>
          <a:p>
            <a:r>
              <a:rPr lang="en-US" dirty="0"/>
              <a:t>The basic rule for metaphor is: use it if you have one, but do not stretch for one, if there is no suitable metaphor available. </a:t>
            </a:r>
          </a:p>
          <a:p>
            <a:r>
              <a:rPr lang="en-US" dirty="0"/>
              <a:t>Should deviate from the real at some point </a:t>
            </a:r>
          </a:p>
          <a:p>
            <a:pPr lvl="1"/>
            <a:r>
              <a:rPr lang="en-US" dirty="0"/>
              <a:t>Software interface is more capable than a real world type writer </a:t>
            </a:r>
          </a:p>
          <a:p>
            <a:r>
              <a:rPr lang="en-US" dirty="0"/>
              <a:t>Can be deceptive</a:t>
            </a:r>
          </a:p>
          <a:p>
            <a:pPr lvl="1"/>
            <a:r>
              <a:rPr lang="en-US" dirty="0"/>
              <a:t>It looks like a book but can I write in the margins ? Can I rip out a page?</a:t>
            </a:r>
          </a:p>
          <a:p>
            <a:r>
              <a:rPr lang="en-US" dirty="0"/>
              <a:t>Can be constraining</a:t>
            </a:r>
          </a:p>
          <a:p>
            <a:pPr lvl="1"/>
            <a:r>
              <a:rPr lang="en-US" dirty="0"/>
              <a:t>No deep nesting in actual folders.</a:t>
            </a: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4761" y="114300"/>
            <a:ext cx="9147240" cy="148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676872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Metaphorical Consistency </a:t>
            </a:r>
          </a:p>
        </p:txBody>
      </p:sp>
      <p:pic>
        <p:nvPicPr>
          <p:cNvPr id="4100" name="Picture 4" descr="http://www.bytebot.net/geekdocs/sw6-lightericon.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0827" y="1941161"/>
            <a:ext cx="3743325" cy="2419351"/>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http://blog.teamtreehouse.com/wp-content/uploads/2013/12/trash-icon.png"/>
          <p:cNvPicPr>
            <a:picLocks noChangeAspect="1" noChangeArrowheads="1"/>
          </p:cNvPicPr>
          <p:nvPr/>
        </p:nvPicPr>
        <p:blipFill rotWithShape="1">
          <a:blip r:embed="rId3">
            <a:extLst>
              <a:ext uri="{28A0092B-C50C-407E-A947-70E740481C1C}">
                <a14:useLocalDpi xmlns:a14="http://schemas.microsoft.com/office/drawing/2010/main" val="0"/>
              </a:ext>
            </a:extLst>
          </a:blip>
          <a:srcRect r="35331"/>
          <a:stretch/>
        </p:blipFill>
        <p:spPr bwMode="auto">
          <a:xfrm>
            <a:off x="1276610" y="2321768"/>
            <a:ext cx="4299496" cy="259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095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a:t>
            </a:r>
          </a:p>
        </p:txBody>
      </p:sp>
      <p:sp>
        <p:nvSpPr>
          <p:cNvPr id="3" name="Content Placeholder 2"/>
          <p:cNvSpPr>
            <a:spLocks noGrp="1"/>
          </p:cNvSpPr>
          <p:nvPr>
            <p:ph sz="quarter" idx="1"/>
          </p:nvPr>
        </p:nvSpPr>
        <p:spPr/>
        <p:txBody>
          <a:bodyPr/>
          <a:lstStyle/>
          <a:p>
            <a:pPr marL="0" indent="0">
              <a:buNone/>
            </a:pPr>
            <a:r>
              <a:rPr lang="en-US" dirty="0"/>
              <a:t>Learnable interfaces communicate good mental model by exploiting </a:t>
            </a:r>
          </a:p>
          <a:p>
            <a:r>
              <a:rPr lang="en-US" dirty="0"/>
              <a:t>Affordances </a:t>
            </a:r>
          </a:p>
          <a:p>
            <a:r>
              <a:rPr lang="en-US" dirty="0"/>
              <a:t>Mapping </a:t>
            </a:r>
          </a:p>
          <a:p>
            <a:r>
              <a:rPr lang="en-US" dirty="0"/>
              <a:t>Constraints </a:t>
            </a:r>
          </a:p>
          <a:p>
            <a:r>
              <a:rPr lang="en-US" dirty="0"/>
              <a:t>Visibility </a:t>
            </a:r>
          </a:p>
          <a:p>
            <a:r>
              <a:rPr lang="en-US" dirty="0"/>
              <a:t>Feedback </a:t>
            </a:r>
          </a:p>
          <a:p>
            <a:r>
              <a:rPr lang="en-US" dirty="0"/>
              <a:t>Consistency </a:t>
            </a:r>
          </a:p>
          <a:p>
            <a:endParaRPr lang="en-US" dirty="0"/>
          </a:p>
        </p:txBody>
      </p:sp>
    </p:spTree>
    <p:extLst>
      <p:ext uri="{BB962C8B-B14F-4D97-AF65-F5344CB8AC3E}">
        <p14:creationId xmlns:p14="http://schemas.microsoft.com/office/powerpoint/2010/main" val="895041400"/>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Median</Template>
  <TotalTime>15769</TotalTime>
  <Words>3032</Words>
  <Application>Microsoft Office PowerPoint</Application>
  <PresentationFormat>Widescreen</PresentationFormat>
  <Paragraphs>361</Paragraphs>
  <Slides>56</Slides>
  <Notes>19</Notes>
  <HiddenSlides>2</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56</vt:i4>
      </vt:variant>
    </vt:vector>
  </HeadingPairs>
  <TitlesOfParts>
    <vt:vector size="66" baseType="lpstr">
      <vt:lpstr>Arial</vt:lpstr>
      <vt:lpstr>Calibri</vt:lpstr>
      <vt:lpstr>GillSans</vt:lpstr>
      <vt:lpstr>Times New Roman</vt:lpstr>
      <vt:lpstr>Tw Cen MT</vt:lpstr>
      <vt:lpstr>Verdana</vt:lpstr>
      <vt:lpstr>Wingdings</vt:lpstr>
      <vt:lpstr>Wingdings 2</vt:lpstr>
      <vt:lpstr>Median</vt:lpstr>
      <vt:lpstr>Document</vt:lpstr>
      <vt:lpstr>Learnability and Memorability </vt:lpstr>
      <vt:lpstr>How do people learn </vt:lpstr>
      <vt:lpstr>Learning by Doing </vt:lpstr>
      <vt:lpstr>Interaction Model: Abowd and Beale Framework </vt:lpstr>
      <vt:lpstr>Design Lesson </vt:lpstr>
      <vt:lpstr>Just because you've said it, doesn't mean they know it </vt:lpstr>
      <vt:lpstr>Human Information Processing </vt:lpstr>
      <vt:lpstr>How do people store information</vt:lpstr>
      <vt:lpstr>PowerPoint Presentation</vt:lpstr>
      <vt:lpstr>Human Memory </vt:lpstr>
      <vt:lpstr>Design Lesson </vt:lpstr>
      <vt:lpstr>Design Lesson: Make Chunking Easier </vt:lpstr>
      <vt:lpstr>PowerPoint Presentation</vt:lpstr>
      <vt:lpstr>PowerPoint Presentation</vt:lpstr>
      <vt:lpstr>PowerPoint Presentation</vt:lpstr>
      <vt:lpstr>Connection </vt:lpstr>
      <vt:lpstr>PowerPoint Presentation</vt:lpstr>
      <vt:lpstr>Recognition Rather than Recall </vt:lpstr>
      <vt:lpstr>Recognition Rather than Recall </vt:lpstr>
      <vt:lpstr>Recognition Rather than Recall </vt:lpstr>
      <vt:lpstr>PowerPoint Presentation</vt:lpstr>
      <vt:lpstr>Recognition Rather than Recall </vt:lpstr>
      <vt:lpstr>Interaction Styles </vt:lpstr>
      <vt:lpstr>Comparison of Interaction Styles </vt:lpstr>
      <vt:lpstr>Design Lesson</vt:lpstr>
      <vt:lpstr>Models of a System</vt:lpstr>
      <vt:lpstr>Design Lesson</vt:lpstr>
      <vt:lpstr>Learnability and Memorability Design Principles </vt:lpstr>
      <vt:lpstr>Communicating the System Model </vt:lpstr>
      <vt:lpstr>Affordances </vt:lpstr>
      <vt:lpstr>Perceived affordances</vt:lpstr>
      <vt:lpstr>Perceived Affordance Problems</vt:lpstr>
      <vt:lpstr>Use appropriate affordances</vt:lpstr>
      <vt:lpstr>Mapping </vt:lpstr>
      <vt:lpstr>Mapping </vt:lpstr>
      <vt:lpstr>Mapping</vt:lpstr>
      <vt:lpstr>Visibility </vt:lpstr>
      <vt:lpstr>Visible Navigation state</vt:lpstr>
      <vt:lpstr>Visible Constraints</vt:lpstr>
      <vt:lpstr>Visible Constraints</vt:lpstr>
      <vt:lpstr>Visible constraints: Entering a Date</vt:lpstr>
      <vt:lpstr>PowerPoint Presentation</vt:lpstr>
      <vt:lpstr>Feedback </vt:lpstr>
      <vt:lpstr>Response Time</vt:lpstr>
      <vt:lpstr>Unnecessary feedback </vt:lpstr>
      <vt:lpstr>Feedback Problems</vt:lpstr>
      <vt:lpstr>Consistency </vt:lpstr>
      <vt:lpstr>Internal Consistency – consistency of layout</vt:lpstr>
      <vt:lpstr>External Consistency – consistency of layout</vt:lpstr>
      <vt:lpstr>Consistency in wording</vt:lpstr>
      <vt:lpstr>Language Consistency </vt:lpstr>
      <vt:lpstr>Speak User’s Language </vt:lpstr>
      <vt:lpstr>Speak User’s Language </vt:lpstr>
      <vt:lpstr>Metaphors </vt:lpstr>
      <vt:lpstr>Metaphorical Consistency </vt:lpstr>
      <vt:lpstr>Summary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Learability</dc:title>
  <cp:lastModifiedBy>Misbhah Naz</cp:lastModifiedBy>
  <cp:revision>195</cp:revision>
  <dcterms:created xsi:type="dcterms:W3CDTF">2015-09-10T11:01:40Z</dcterms:created>
  <dcterms:modified xsi:type="dcterms:W3CDTF">2025-03-05T05:43:13Z</dcterms:modified>
</cp:coreProperties>
</file>