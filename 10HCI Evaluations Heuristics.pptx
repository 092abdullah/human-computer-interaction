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2" r:id="rId1"/>
  </p:sldMasterIdLst>
  <p:notesMasterIdLst>
    <p:notesMasterId r:id="rId87"/>
  </p:notesMasterIdLst>
  <p:sldIdLst>
    <p:sldId id="404" r:id="rId2"/>
    <p:sldId id="300" r:id="rId3"/>
    <p:sldId id="537" r:id="rId4"/>
    <p:sldId id="535" r:id="rId5"/>
    <p:sldId id="302" r:id="rId6"/>
    <p:sldId id="306" r:id="rId7"/>
    <p:sldId id="303" r:id="rId8"/>
    <p:sldId id="288" r:id="rId9"/>
    <p:sldId id="289" r:id="rId10"/>
    <p:sldId id="304" r:id="rId11"/>
    <p:sldId id="305" r:id="rId12"/>
    <p:sldId id="307" r:id="rId13"/>
    <p:sldId id="308" r:id="rId14"/>
    <p:sldId id="406" r:id="rId15"/>
    <p:sldId id="407" r:id="rId16"/>
    <p:sldId id="410" r:id="rId17"/>
    <p:sldId id="538" r:id="rId18"/>
    <p:sldId id="408" r:id="rId19"/>
    <p:sldId id="409" r:id="rId20"/>
    <p:sldId id="413" r:id="rId21"/>
    <p:sldId id="412" r:id="rId22"/>
    <p:sldId id="515" r:id="rId23"/>
    <p:sldId id="414" r:id="rId24"/>
    <p:sldId id="415" r:id="rId25"/>
    <p:sldId id="425" r:id="rId26"/>
    <p:sldId id="426" r:id="rId27"/>
    <p:sldId id="427" r:id="rId28"/>
    <p:sldId id="428" r:id="rId29"/>
    <p:sldId id="429" r:id="rId30"/>
    <p:sldId id="430" r:id="rId31"/>
    <p:sldId id="416" r:id="rId32"/>
    <p:sldId id="500" r:id="rId33"/>
    <p:sldId id="517" r:id="rId34"/>
    <p:sldId id="524" r:id="rId35"/>
    <p:sldId id="501" r:id="rId36"/>
    <p:sldId id="411" r:id="rId37"/>
    <p:sldId id="505" r:id="rId38"/>
    <p:sldId id="516" r:id="rId39"/>
    <p:sldId id="506" r:id="rId40"/>
    <p:sldId id="417" r:id="rId41"/>
    <p:sldId id="495" r:id="rId42"/>
    <p:sldId id="525" r:id="rId43"/>
    <p:sldId id="496" r:id="rId44"/>
    <p:sldId id="419" r:id="rId45"/>
    <p:sldId id="502" r:id="rId46"/>
    <p:sldId id="503" r:id="rId47"/>
    <p:sldId id="529" r:id="rId48"/>
    <p:sldId id="504" r:id="rId49"/>
    <p:sldId id="420" r:id="rId50"/>
    <p:sldId id="507" r:id="rId51"/>
    <p:sldId id="518" r:id="rId52"/>
    <p:sldId id="508" r:id="rId53"/>
    <p:sldId id="421" r:id="rId54"/>
    <p:sldId id="497" r:id="rId55"/>
    <p:sldId id="498" r:id="rId56"/>
    <p:sldId id="499" r:id="rId57"/>
    <p:sldId id="526" r:id="rId58"/>
    <p:sldId id="509" r:id="rId59"/>
    <p:sldId id="510" r:id="rId60"/>
    <p:sldId id="527" r:id="rId61"/>
    <p:sldId id="519" r:id="rId62"/>
    <p:sldId id="422" r:id="rId63"/>
    <p:sldId id="530" r:id="rId64"/>
    <p:sldId id="521" r:id="rId65"/>
    <p:sldId id="511" r:id="rId66"/>
    <p:sldId id="512" r:id="rId67"/>
    <p:sldId id="513" r:id="rId68"/>
    <p:sldId id="514" r:id="rId69"/>
    <p:sldId id="423" r:id="rId70"/>
    <p:sldId id="475" r:id="rId71"/>
    <p:sldId id="522" r:id="rId72"/>
    <p:sldId id="476" r:id="rId73"/>
    <p:sldId id="477" r:id="rId74"/>
    <p:sldId id="478" r:id="rId75"/>
    <p:sldId id="479" r:id="rId76"/>
    <p:sldId id="480" r:id="rId77"/>
    <p:sldId id="481" r:id="rId78"/>
    <p:sldId id="482" r:id="rId79"/>
    <p:sldId id="531" r:id="rId80"/>
    <p:sldId id="532" r:id="rId81"/>
    <p:sldId id="533" r:id="rId82"/>
    <p:sldId id="523" r:id="rId83"/>
    <p:sldId id="528" r:id="rId84"/>
    <p:sldId id="534" r:id="rId85"/>
    <p:sldId id="536" r:id="rId8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434" autoAdjust="0"/>
  </p:normalViewPr>
  <p:slideViewPr>
    <p:cSldViewPr>
      <p:cViewPr varScale="1">
        <p:scale>
          <a:sx n="68" d="100"/>
          <a:sy n="68" d="100"/>
        </p:scale>
        <p:origin x="1470" y="72"/>
      </p:cViewPr>
      <p:guideLst>
        <p:guide orient="horz" pos="2160"/>
        <p:guide pos="2880"/>
      </p:guideLst>
    </p:cSldViewPr>
  </p:slideViewPr>
  <p:outlineViewPr>
    <p:cViewPr>
      <p:scale>
        <a:sx n="33" d="100"/>
        <a:sy n="33" d="100"/>
      </p:scale>
      <p:origin x="0" y="9378"/>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38CDA0B-A6D8-43E2-8D84-EB609C0CC07B}" type="doc">
      <dgm:prSet loTypeId="urn:microsoft.com/office/officeart/2005/8/layout/equation1" loCatId="relationship" qsTypeId="urn:microsoft.com/office/officeart/2005/8/quickstyle/simple1" qsCatId="simple" csTypeId="urn:microsoft.com/office/officeart/2005/8/colors/accent1_2" csCatId="accent1" phldr="1"/>
      <dgm:spPr/>
    </dgm:pt>
    <dgm:pt modelId="{8D1264B3-9649-44B9-9606-F61E638F3546}">
      <dgm:prSet phldrT="[Text]"/>
      <dgm:spPr/>
      <dgm:t>
        <a:bodyPr/>
        <a:lstStyle/>
        <a:p>
          <a:pPr algn="ctr"/>
          <a:r>
            <a:rPr lang="en-US" dirty="0"/>
            <a:t>Ctrl</a:t>
          </a:r>
        </a:p>
      </dgm:t>
    </dgm:pt>
    <dgm:pt modelId="{650A1349-AED8-4311-9997-78D14EC8D21D}" type="parTrans" cxnId="{21C681DD-EF8E-47A6-8EF9-3ABA4F28A9FD}">
      <dgm:prSet/>
      <dgm:spPr/>
      <dgm:t>
        <a:bodyPr/>
        <a:lstStyle/>
        <a:p>
          <a:pPr algn="ctr"/>
          <a:endParaRPr lang="en-US"/>
        </a:p>
      </dgm:t>
    </dgm:pt>
    <dgm:pt modelId="{B68D05FF-6BDC-415F-8A9D-80EB3EC67164}" type="sibTrans" cxnId="{21C681DD-EF8E-47A6-8EF9-3ABA4F28A9FD}">
      <dgm:prSet/>
      <dgm:spPr/>
      <dgm:t>
        <a:bodyPr/>
        <a:lstStyle/>
        <a:p>
          <a:pPr algn="ctr"/>
          <a:endParaRPr lang="en-US"/>
        </a:p>
      </dgm:t>
    </dgm:pt>
    <dgm:pt modelId="{D2EC3A5C-A581-410B-A9CC-21809A192553}">
      <dgm:prSet phldrT="[Text]"/>
      <dgm:spPr/>
      <dgm:t>
        <a:bodyPr/>
        <a:lstStyle/>
        <a:p>
          <a:pPr algn="ctr"/>
          <a:r>
            <a:rPr lang="en-US" dirty="0"/>
            <a:t>C</a:t>
          </a:r>
        </a:p>
      </dgm:t>
    </dgm:pt>
    <dgm:pt modelId="{73846F29-F0C2-41DD-B8BC-E69883BE6B66}" type="parTrans" cxnId="{AFE6B716-4E44-4E11-A0AD-7BF63D3C7C03}">
      <dgm:prSet/>
      <dgm:spPr/>
      <dgm:t>
        <a:bodyPr/>
        <a:lstStyle/>
        <a:p>
          <a:pPr algn="ctr"/>
          <a:endParaRPr lang="en-US"/>
        </a:p>
      </dgm:t>
    </dgm:pt>
    <dgm:pt modelId="{CEB24C41-715D-4158-B631-381271B9BB89}" type="sibTrans" cxnId="{AFE6B716-4E44-4E11-A0AD-7BF63D3C7C03}">
      <dgm:prSet/>
      <dgm:spPr/>
      <dgm:t>
        <a:bodyPr/>
        <a:lstStyle/>
        <a:p>
          <a:pPr algn="ctr"/>
          <a:endParaRPr lang="en-US"/>
        </a:p>
      </dgm:t>
    </dgm:pt>
    <dgm:pt modelId="{21E1F2B6-A6FC-4539-9773-CEA65DD3AAD1}">
      <dgm:prSet phldrT="[Text]"/>
      <dgm:spPr/>
      <dgm:t>
        <a:bodyPr/>
        <a:lstStyle/>
        <a:p>
          <a:pPr algn="ctr"/>
          <a:r>
            <a:rPr lang="en-US" dirty="0"/>
            <a:t>Copy</a:t>
          </a:r>
        </a:p>
      </dgm:t>
    </dgm:pt>
    <dgm:pt modelId="{34A80FB1-E974-4520-BE2D-743C9D06F9C9}" type="parTrans" cxnId="{03AF6958-9BF4-47FE-BCB6-12724EE2D469}">
      <dgm:prSet/>
      <dgm:spPr/>
      <dgm:t>
        <a:bodyPr/>
        <a:lstStyle/>
        <a:p>
          <a:pPr algn="ctr"/>
          <a:endParaRPr lang="en-US"/>
        </a:p>
      </dgm:t>
    </dgm:pt>
    <dgm:pt modelId="{0067ABC8-F1CC-4211-81C2-6933009399FF}" type="sibTrans" cxnId="{03AF6958-9BF4-47FE-BCB6-12724EE2D469}">
      <dgm:prSet/>
      <dgm:spPr/>
      <dgm:t>
        <a:bodyPr/>
        <a:lstStyle/>
        <a:p>
          <a:pPr algn="ctr"/>
          <a:endParaRPr lang="en-US"/>
        </a:p>
      </dgm:t>
    </dgm:pt>
    <dgm:pt modelId="{22488F25-CFC1-4F93-91F2-08DB89F06D6B}" type="pres">
      <dgm:prSet presAssocID="{E38CDA0B-A6D8-43E2-8D84-EB609C0CC07B}" presName="linearFlow" presStyleCnt="0">
        <dgm:presLayoutVars>
          <dgm:dir/>
          <dgm:resizeHandles val="exact"/>
        </dgm:presLayoutVars>
      </dgm:prSet>
      <dgm:spPr/>
    </dgm:pt>
    <dgm:pt modelId="{64BD8FAC-D5D5-4792-80AB-433404CB038B}" type="pres">
      <dgm:prSet presAssocID="{8D1264B3-9649-44B9-9606-F61E638F3546}" presName="node" presStyleLbl="node1" presStyleIdx="0" presStyleCnt="3">
        <dgm:presLayoutVars>
          <dgm:bulletEnabled val="1"/>
        </dgm:presLayoutVars>
      </dgm:prSet>
      <dgm:spPr/>
    </dgm:pt>
    <dgm:pt modelId="{AE42C462-8B29-474E-A31B-8FBDB11B6BC2}" type="pres">
      <dgm:prSet presAssocID="{B68D05FF-6BDC-415F-8A9D-80EB3EC67164}" presName="spacerL" presStyleCnt="0"/>
      <dgm:spPr/>
    </dgm:pt>
    <dgm:pt modelId="{0DA0D377-6ACD-4369-A3A8-30126AAEAA54}" type="pres">
      <dgm:prSet presAssocID="{B68D05FF-6BDC-415F-8A9D-80EB3EC67164}" presName="sibTrans" presStyleLbl="sibTrans2D1" presStyleIdx="0" presStyleCnt="2"/>
      <dgm:spPr/>
    </dgm:pt>
    <dgm:pt modelId="{1331B930-77F2-4E7D-9B52-885453A1360A}" type="pres">
      <dgm:prSet presAssocID="{B68D05FF-6BDC-415F-8A9D-80EB3EC67164}" presName="spacerR" presStyleCnt="0"/>
      <dgm:spPr/>
    </dgm:pt>
    <dgm:pt modelId="{FFE3E7A5-04A5-41AA-B53E-F79E2EED1C20}" type="pres">
      <dgm:prSet presAssocID="{D2EC3A5C-A581-410B-A9CC-21809A192553}" presName="node" presStyleLbl="node1" presStyleIdx="1" presStyleCnt="3">
        <dgm:presLayoutVars>
          <dgm:bulletEnabled val="1"/>
        </dgm:presLayoutVars>
      </dgm:prSet>
      <dgm:spPr/>
    </dgm:pt>
    <dgm:pt modelId="{0A2968B7-4C0A-4819-92FA-9154E67B2BCF}" type="pres">
      <dgm:prSet presAssocID="{CEB24C41-715D-4158-B631-381271B9BB89}" presName="spacerL" presStyleCnt="0"/>
      <dgm:spPr/>
    </dgm:pt>
    <dgm:pt modelId="{654A88BE-2FC9-48FF-95C1-4673374DB698}" type="pres">
      <dgm:prSet presAssocID="{CEB24C41-715D-4158-B631-381271B9BB89}" presName="sibTrans" presStyleLbl="sibTrans2D1" presStyleIdx="1" presStyleCnt="2"/>
      <dgm:spPr/>
    </dgm:pt>
    <dgm:pt modelId="{7D92FA2C-C27B-4569-9FA0-CCD42B61B964}" type="pres">
      <dgm:prSet presAssocID="{CEB24C41-715D-4158-B631-381271B9BB89}" presName="spacerR" presStyleCnt="0"/>
      <dgm:spPr/>
    </dgm:pt>
    <dgm:pt modelId="{6DE331BD-19C3-4E3B-8871-A8AF983CC57B}" type="pres">
      <dgm:prSet presAssocID="{21E1F2B6-A6FC-4539-9773-CEA65DD3AAD1}" presName="node" presStyleLbl="node1" presStyleIdx="2" presStyleCnt="3">
        <dgm:presLayoutVars>
          <dgm:bulletEnabled val="1"/>
        </dgm:presLayoutVars>
      </dgm:prSet>
      <dgm:spPr/>
    </dgm:pt>
  </dgm:ptLst>
  <dgm:cxnLst>
    <dgm:cxn modelId="{AFE6B716-4E44-4E11-A0AD-7BF63D3C7C03}" srcId="{E38CDA0B-A6D8-43E2-8D84-EB609C0CC07B}" destId="{D2EC3A5C-A581-410B-A9CC-21809A192553}" srcOrd="1" destOrd="0" parTransId="{73846F29-F0C2-41DD-B8BC-E69883BE6B66}" sibTransId="{CEB24C41-715D-4158-B631-381271B9BB89}"/>
    <dgm:cxn modelId="{03AF6958-9BF4-47FE-BCB6-12724EE2D469}" srcId="{E38CDA0B-A6D8-43E2-8D84-EB609C0CC07B}" destId="{21E1F2B6-A6FC-4539-9773-CEA65DD3AAD1}" srcOrd="2" destOrd="0" parTransId="{34A80FB1-E974-4520-BE2D-743C9D06F9C9}" sibTransId="{0067ABC8-F1CC-4211-81C2-6933009399FF}"/>
    <dgm:cxn modelId="{F35CB788-BFE8-4051-8ABC-4894781EC90A}" type="presOf" srcId="{D2EC3A5C-A581-410B-A9CC-21809A192553}" destId="{FFE3E7A5-04A5-41AA-B53E-F79E2EED1C20}" srcOrd="0" destOrd="0" presId="urn:microsoft.com/office/officeart/2005/8/layout/equation1"/>
    <dgm:cxn modelId="{A264838D-753B-408F-BBAF-BD4309F1D783}" type="presOf" srcId="{21E1F2B6-A6FC-4539-9773-CEA65DD3AAD1}" destId="{6DE331BD-19C3-4E3B-8871-A8AF983CC57B}" srcOrd="0" destOrd="0" presId="urn:microsoft.com/office/officeart/2005/8/layout/equation1"/>
    <dgm:cxn modelId="{052FD099-3590-49A7-B2CE-6CBCE95D2242}" type="presOf" srcId="{CEB24C41-715D-4158-B631-381271B9BB89}" destId="{654A88BE-2FC9-48FF-95C1-4673374DB698}" srcOrd="0" destOrd="0" presId="urn:microsoft.com/office/officeart/2005/8/layout/equation1"/>
    <dgm:cxn modelId="{5AE130A5-D88B-45AF-AD40-E7F2E5750D1D}" type="presOf" srcId="{B68D05FF-6BDC-415F-8A9D-80EB3EC67164}" destId="{0DA0D377-6ACD-4369-A3A8-30126AAEAA54}" srcOrd="0" destOrd="0" presId="urn:microsoft.com/office/officeart/2005/8/layout/equation1"/>
    <dgm:cxn modelId="{4D526BD8-38BB-489E-AC2B-31A07DBB6F54}" type="presOf" srcId="{E38CDA0B-A6D8-43E2-8D84-EB609C0CC07B}" destId="{22488F25-CFC1-4F93-91F2-08DB89F06D6B}" srcOrd="0" destOrd="0" presId="urn:microsoft.com/office/officeart/2005/8/layout/equation1"/>
    <dgm:cxn modelId="{21C681DD-EF8E-47A6-8EF9-3ABA4F28A9FD}" srcId="{E38CDA0B-A6D8-43E2-8D84-EB609C0CC07B}" destId="{8D1264B3-9649-44B9-9606-F61E638F3546}" srcOrd="0" destOrd="0" parTransId="{650A1349-AED8-4311-9997-78D14EC8D21D}" sibTransId="{B68D05FF-6BDC-415F-8A9D-80EB3EC67164}"/>
    <dgm:cxn modelId="{02DBE8F8-47D1-4999-9FEB-302C18E075B6}" type="presOf" srcId="{8D1264B3-9649-44B9-9606-F61E638F3546}" destId="{64BD8FAC-D5D5-4792-80AB-433404CB038B}" srcOrd="0" destOrd="0" presId="urn:microsoft.com/office/officeart/2005/8/layout/equation1"/>
    <dgm:cxn modelId="{B21CC24F-BDF6-4313-8171-F739DD75814E}" type="presParOf" srcId="{22488F25-CFC1-4F93-91F2-08DB89F06D6B}" destId="{64BD8FAC-D5D5-4792-80AB-433404CB038B}" srcOrd="0" destOrd="0" presId="urn:microsoft.com/office/officeart/2005/8/layout/equation1"/>
    <dgm:cxn modelId="{5E4913D1-43B5-4CCE-9E97-33191AF56962}" type="presParOf" srcId="{22488F25-CFC1-4F93-91F2-08DB89F06D6B}" destId="{AE42C462-8B29-474E-A31B-8FBDB11B6BC2}" srcOrd="1" destOrd="0" presId="urn:microsoft.com/office/officeart/2005/8/layout/equation1"/>
    <dgm:cxn modelId="{7F93D1E3-4668-485B-8F19-285E0FDBF93F}" type="presParOf" srcId="{22488F25-CFC1-4F93-91F2-08DB89F06D6B}" destId="{0DA0D377-6ACD-4369-A3A8-30126AAEAA54}" srcOrd="2" destOrd="0" presId="urn:microsoft.com/office/officeart/2005/8/layout/equation1"/>
    <dgm:cxn modelId="{52A907F4-1763-4552-9ADA-619E67B61DD2}" type="presParOf" srcId="{22488F25-CFC1-4F93-91F2-08DB89F06D6B}" destId="{1331B930-77F2-4E7D-9B52-885453A1360A}" srcOrd="3" destOrd="0" presId="urn:microsoft.com/office/officeart/2005/8/layout/equation1"/>
    <dgm:cxn modelId="{E512A3C9-944B-43A2-8205-1C4664D2D8A2}" type="presParOf" srcId="{22488F25-CFC1-4F93-91F2-08DB89F06D6B}" destId="{FFE3E7A5-04A5-41AA-B53E-F79E2EED1C20}" srcOrd="4" destOrd="0" presId="urn:microsoft.com/office/officeart/2005/8/layout/equation1"/>
    <dgm:cxn modelId="{E3F8C3D3-C5CC-409E-B01C-EF993167BA24}" type="presParOf" srcId="{22488F25-CFC1-4F93-91F2-08DB89F06D6B}" destId="{0A2968B7-4C0A-4819-92FA-9154E67B2BCF}" srcOrd="5" destOrd="0" presId="urn:microsoft.com/office/officeart/2005/8/layout/equation1"/>
    <dgm:cxn modelId="{CBC36B15-BA16-46E8-AC59-06AC3F30EDA5}" type="presParOf" srcId="{22488F25-CFC1-4F93-91F2-08DB89F06D6B}" destId="{654A88BE-2FC9-48FF-95C1-4673374DB698}" srcOrd="6" destOrd="0" presId="urn:microsoft.com/office/officeart/2005/8/layout/equation1"/>
    <dgm:cxn modelId="{81C433C4-3477-4919-8C3D-B6CB0D7B6075}" type="presParOf" srcId="{22488F25-CFC1-4F93-91F2-08DB89F06D6B}" destId="{7D92FA2C-C27B-4569-9FA0-CCD42B61B964}" srcOrd="7" destOrd="0" presId="urn:microsoft.com/office/officeart/2005/8/layout/equation1"/>
    <dgm:cxn modelId="{EC005910-CAB7-41A8-B918-178FC9727489}" type="presParOf" srcId="{22488F25-CFC1-4F93-91F2-08DB89F06D6B}" destId="{6DE331BD-19C3-4E3B-8871-A8AF983CC57B}" srcOrd="8" destOrd="0" presId="urn:microsoft.com/office/officeart/2005/8/layout/equati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38CDA0B-A6D8-43E2-8D84-EB609C0CC07B}" type="doc">
      <dgm:prSet loTypeId="urn:microsoft.com/office/officeart/2005/8/layout/equation2" loCatId="relationship" qsTypeId="urn:microsoft.com/office/officeart/2005/8/quickstyle/simple1" qsCatId="simple" csTypeId="urn:microsoft.com/office/officeart/2005/8/colors/accent1_2" csCatId="accent1" phldr="1"/>
      <dgm:spPr/>
    </dgm:pt>
    <dgm:pt modelId="{8D1264B3-9649-44B9-9606-F61E638F3546}">
      <dgm:prSet phldrT="[Text]"/>
      <dgm:spPr/>
      <dgm:t>
        <a:bodyPr/>
        <a:lstStyle/>
        <a:p>
          <a:pPr algn="ctr"/>
          <a:r>
            <a:rPr lang="en-US" dirty="0"/>
            <a:t>Ability to use system</a:t>
          </a:r>
        </a:p>
      </dgm:t>
    </dgm:pt>
    <dgm:pt modelId="{650A1349-AED8-4311-9997-78D14EC8D21D}" type="parTrans" cxnId="{21C681DD-EF8E-47A6-8EF9-3ABA4F28A9FD}">
      <dgm:prSet/>
      <dgm:spPr/>
      <dgm:t>
        <a:bodyPr/>
        <a:lstStyle/>
        <a:p>
          <a:pPr algn="ctr"/>
          <a:endParaRPr lang="en-US"/>
        </a:p>
      </dgm:t>
    </dgm:pt>
    <dgm:pt modelId="{B68D05FF-6BDC-415F-8A9D-80EB3EC67164}" type="sibTrans" cxnId="{21C681DD-EF8E-47A6-8EF9-3ABA4F28A9FD}">
      <dgm:prSet/>
      <dgm:spPr/>
      <dgm:t>
        <a:bodyPr/>
        <a:lstStyle/>
        <a:p>
          <a:pPr algn="ctr"/>
          <a:endParaRPr lang="en-US"/>
        </a:p>
      </dgm:t>
    </dgm:pt>
    <dgm:pt modelId="{D2EC3A5C-A581-410B-A9CC-21809A192553}">
      <dgm:prSet phldrT="[Text]"/>
      <dgm:spPr/>
      <dgm:t>
        <a:bodyPr/>
        <a:lstStyle/>
        <a:p>
          <a:pPr algn="ctr"/>
          <a:r>
            <a:rPr lang="en-US" dirty="0"/>
            <a:t>No/minimal docs</a:t>
          </a:r>
        </a:p>
      </dgm:t>
    </dgm:pt>
    <dgm:pt modelId="{73846F29-F0C2-41DD-B8BC-E69883BE6B66}" type="parTrans" cxnId="{AFE6B716-4E44-4E11-A0AD-7BF63D3C7C03}">
      <dgm:prSet/>
      <dgm:spPr/>
      <dgm:t>
        <a:bodyPr/>
        <a:lstStyle/>
        <a:p>
          <a:pPr algn="ctr"/>
          <a:endParaRPr lang="en-US"/>
        </a:p>
      </dgm:t>
    </dgm:pt>
    <dgm:pt modelId="{CEB24C41-715D-4158-B631-381271B9BB89}" type="sibTrans" cxnId="{AFE6B716-4E44-4E11-A0AD-7BF63D3C7C03}">
      <dgm:prSet/>
      <dgm:spPr/>
      <dgm:t>
        <a:bodyPr/>
        <a:lstStyle/>
        <a:p>
          <a:pPr algn="ctr"/>
          <a:endParaRPr lang="en-US"/>
        </a:p>
      </dgm:t>
    </dgm:pt>
    <dgm:pt modelId="{21E1F2B6-A6FC-4539-9773-CEA65DD3AAD1}">
      <dgm:prSet phldrT="[Text]"/>
      <dgm:spPr/>
      <dgm:t>
        <a:bodyPr/>
        <a:lstStyle/>
        <a:p>
          <a:pPr algn="ctr"/>
          <a:r>
            <a:rPr lang="en-US" dirty="0"/>
            <a:t>Good Usability</a:t>
          </a:r>
        </a:p>
      </dgm:t>
    </dgm:pt>
    <dgm:pt modelId="{34A80FB1-E974-4520-BE2D-743C9D06F9C9}" type="parTrans" cxnId="{03AF6958-9BF4-47FE-BCB6-12724EE2D469}">
      <dgm:prSet/>
      <dgm:spPr/>
      <dgm:t>
        <a:bodyPr/>
        <a:lstStyle/>
        <a:p>
          <a:pPr algn="ctr"/>
          <a:endParaRPr lang="en-US"/>
        </a:p>
      </dgm:t>
    </dgm:pt>
    <dgm:pt modelId="{0067ABC8-F1CC-4211-81C2-6933009399FF}" type="sibTrans" cxnId="{03AF6958-9BF4-47FE-BCB6-12724EE2D469}">
      <dgm:prSet/>
      <dgm:spPr/>
      <dgm:t>
        <a:bodyPr/>
        <a:lstStyle/>
        <a:p>
          <a:pPr algn="ctr"/>
          <a:endParaRPr lang="en-US"/>
        </a:p>
      </dgm:t>
    </dgm:pt>
    <dgm:pt modelId="{E1491B6D-0676-48E7-A700-7FFB895C7F7A}" type="pres">
      <dgm:prSet presAssocID="{E38CDA0B-A6D8-43E2-8D84-EB609C0CC07B}" presName="Name0" presStyleCnt="0">
        <dgm:presLayoutVars>
          <dgm:dir/>
          <dgm:resizeHandles val="exact"/>
        </dgm:presLayoutVars>
      </dgm:prSet>
      <dgm:spPr/>
    </dgm:pt>
    <dgm:pt modelId="{7767E169-2BC7-42E0-89CE-A9F8DAF5DF29}" type="pres">
      <dgm:prSet presAssocID="{E38CDA0B-A6D8-43E2-8D84-EB609C0CC07B}" presName="vNodes" presStyleCnt="0"/>
      <dgm:spPr/>
    </dgm:pt>
    <dgm:pt modelId="{158429B5-4355-488C-8B3C-0919DD20A270}" type="pres">
      <dgm:prSet presAssocID="{8D1264B3-9649-44B9-9606-F61E638F3546}" presName="node" presStyleLbl="node1" presStyleIdx="0" presStyleCnt="3">
        <dgm:presLayoutVars>
          <dgm:bulletEnabled val="1"/>
        </dgm:presLayoutVars>
      </dgm:prSet>
      <dgm:spPr/>
    </dgm:pt>
    <dgm:pt modelId="{1AE6CBAC-E231-416E-AD01-3D2DD1F874EC}" type="pres">
      <dgm:prSet presAssocID="{B68D05FF-6BDC-415F-8A9D-80EB3EC67164}" presName="spacerT" presStyleCnt="0"/>
      <dgm:spPr/>
    </dgm:pt>
    <dgm:pt modelId="{4EA95CF5-A06B-4EB0-8D5F-A96474D7D0A0}" type="pres">
      <dgm:prSet presAssocID="{B68D05FF-6BDC-415F-8A9D-80EB3EC67164}" presName="sibTrans" presStyleLbl="sibTrans2D1" presStyleIdx="0" presStyleCnt="2"/>
      <dgm:spPr/>
    </dgm:pt>
    <dgm:pt modelId="{E8EC4FB7-6E66-4F88-8E0D-02D5FFECE23C}" type="pres">
      <dgm:prSet presAssocID="{B68D05FF-6BDC-415F-8A9D-80EB3EC67164}" presName="spacerB" presStyleCnt="0"/>
      <dgm:spPr/>
    </dgm:pt>
    <dgm:pt modelId="{566F7A1F-879C-4B8C-976E-614EC8A9B56C}" type="pres">
      <dgm:prSet presAssocID="{D2EC3A5C-A581-410B-A9CC-21809A192553}" presName="node" presStyleLbl="node1" presStyleIdx="1" presStyleCnt="3">
        <dgm:presLayoutVars>
          <dgm:bulletEnabled val="1"/>
        </dgm:presLayoutVars>
      </dgm:prSet>
      <dgm:spPr/>
    </dgm:pt>
    <dgm:pt modelId="{9BD28D8B-21F4-4312-BD00-E997F912DC1A}" type="pres">
      <dgm:prSet presAssocID="{E38CDA0B-A6D8-43E2-8D84-EB609C0CC07B}" presName="sibTransLast" presStyleLbl="sibTrans2D1" presStyleIdx="1" presStyleCnt="2"/>
      <dgm:spPr/>
    </dgm:pt>
    <dgm:pt modelId="{ED3FAF9A-1709-4FC2-A404-7490E4F36209}" type="pres">
      <dgm:prSet presAssocID="{E38CDA0B-A6D8-43E2-8D84-EB609C0CC07B}" presName="connectorText" presStyleLbl="sibTrans2D1" presStyleIdx="1" presStyleCnt="2"/>
      <dgm:spPr/>
    </dgm:pt>
    <dgm:pt modelId="{12171540-B8D9-46E6-8A6F-E521CA15F646}" type="pres">
      <dgm:prSet presAssocID="{E38CDA0B-A6D8-43E2-8D84-EB609C0CC07B}" presName="lastNode" presStyleLbl="node1" presStyleIdx="2" presStyleCnt="3">
        <dgm:presLayoutVars>
          <dgm:bulletEnabled val="1"/>
        </dgm:presLayoutVars>
      </dgm:prSet>
      <dgm:spPr/>
    </dgm:pt>
  </dgm:ptLst>
  <dgm:cxnLst>
    <dgm:cxn modelId="{AFE6B716-4E44-4E11-A0AD-7BF63D3C7C03}" srcId="{E38CDA0B-A6D8-43E2-8D84-EB609C0CC07B}" destId="{D2EC3A5C-A581-410B-A9CC-21809A192553}" srcOrd="1" destOrd="0" parTransId="{73846F29-F0C2-41DD-B8BC-E69883BE6B66}" sibTransId="{CEB24C41-715D-4158-B631-381271B9BB89}"/>
    <dgm:cxn modelId="{99FAAB66-3168-4428-A5AA-27378456AEB6}" type="presOf" srcId="{21E1F2B6-A6FC-4539-9773-CEA65DD3AAD1}" destId="{12171540-B8D9-46E6-8A6F-E521CA15F646}" srcOrd="0" destOrd="0" presId="urn:microsoft.com/office/officeart/2005/8/layout/equation2"/>
    <dgm:cxn modelId="{CBDC1872-07CE-4A21-BE8C-F432AE141716}" type="presOf" srcId="{D2EC3A5C-A581-410B-A9CC-21809A192553}" destId="{566F7A1F-879C-4B8C-976E-614EC8A9B56C}" srcOrd="0" destOrd="0" presId="urn:microsoft.com/office/officeart/2005/8/layout/equation2"/>
    <dgm:cxn modelId="{03AF6958-9BF4-47FE-BCB6-12724EE2D469}" srcId="{E38CDA0B-A6D8-43E2-8D84-EB609C0CC07B}" destId="{21E1F2B6-A6FC-4539-9773-CEA65DD3AAD1}" srcOrd="2" destOrd="0" parTransId="{34A80FB1-E974-4520-BE2D-743C9D06F9C9}" sibTransId="{0067ABC8-F1CC-4211-81C2-6933009399FF}"/>
    <dgm:cxn modelId="{CFBDEDA1-D48A-4B3C-811C-827626FC4712}" type="presOf" srcId="{CEB24C41-715D-4158-B631-381271B9BB89}" destId="{ED3FAF9A-1709-4FC2-A404-7490E4F36209}" srcOrd="1" destOrd="0" presId="urn:microsoft.com/office/officeart/2005/8/layout/equation2"/>
    <dgm:cxn modelId="{3AB5D4A6-B42F-4965-A496-687A54983F45}" type="presOf" srcId="{E38CDA0B-A6D8-43E2-8D84-EB609C0CC07B}" destId="{E1491B6D-0676-48E7-A700-7FFB895C7F7A}" srcOrd="0" destOrd="0" presId="urn:microsoft.com/office/officeart/2005/8/layout/equation2"/>
    <dgm:cxn modelId="{A4E9C6BD-553E-4489-9D02-D72E00B153AE}" type="presOf" srcId="{CEB24C41-715D-4158-B631-381271B9BB89}" destId="{9BD28D8B-21F4-4312-BD00-E997F912DC1A}" srcOrd="0" destOrd="0" presId="urn:microsoft.com/office/officeart/2005/8/layout/equation2"/>
    <dgm:cxn modelId="{9E8FA9CD-9F98-433C-9994-067BFA098A1D}" type="presOf" srcId="{8D1264B3-9649-44B9-9606-F61E638F3546}" destId="{158429B5-4355-488C-8B3C-0919DD20A270}" srcOrd="0" destOrd="0" presId="urn:microsoft.com/office/officeart/2005/8/layout/equation2"/>
    <dgm:cxn modelId="{21C681DD-EF8E-47A6-8EF9-3ABA4F28A9FD}" srcId="{E38CDA0B-A6D8-43E2-8D84-EB609C0CC07B}" destId="{8D1264B3-9649-44B9-9606-F61E638F3546}" srcOrd="0" destOrd="0" parTransId="{650A1349-AED8-4311-9997-78D14EC8D21D}" sibTransId="{B68D05FF-6BDC-415F-8A9D-80EB3EC67164}"/>
    <dgm:cxn modelId="{01F3FEF7-46E9-45EA-A625-C7E153ED9E30}" type="presOf" srcId="{B68D05FF-6BDC-415F-8A9D-80EB3EC67164}" destId="{4EA95CF5-A06B-4EB0-8D5F-A96474D7D0A0}" srcOrd="0" destOrd="0" presId="urn:microsoft.com/office/officeart/2005/8/layout/equation2"/>
    <dgm:cxn modelId="{A718F119-4B3D-4463-A06E-272D2ABCD7EF}" type="presParOf" srcId="{E1491B6D-0676-48E7-A700-7FFB895C7F7A}" destId="{7767E169-2BC7-42E0-89CE-A9F8DAF5DF29}" srcOrd="0" destOrd="0" presId="urn:microsoft.com/office/officeart/2005/8/layout/equation2"/>
    <dgm:cxn modelId="{72FB064F-E539-4236-8971-334CE08890C7}" type="presParOf" srcId="{7767E169-2BC7-42E0-89CE-A9F8DAF5DF29}" destId="{158429B5-4355-488C-8B3C-0919DD20A270}" srcOrd="0" destOrd="0" presId="urn:microsoft.com/office/officeart/2005/8/layout/equation2"/>
    <dgm:cxn modelId="{C8E903AA-DA9B-486F-AF89-30C4B561952A}" type="presParOf" srcId="{7767E169-2BC7-42E0-89CE-A9F8DAF5DF29}" destId="{1AE6CBAC-E231-416E-AD01-3D2DD1F874EC}" srcOrd="1" destOrd="0" presId="urn:microsoft.com/office/officeart/2005/8/layout/equation2"/>
    <dgm:cxn modelId="{947713D3-B9FC-4950-90D4-522D47557C45}" type="presParOf" srcId="{7767E169-2BC7-42E0-89CE-A9F8DAF5DF29}" destId="{4EA95CF5-A06B-4EB0-8D5F-A96474D7D0A0}" srcOrd="2" destOrd="0" presId="urn:microsoft.com/office/officeart/2005/8/layout/equation2"/>
    <dgm:cxn modelId="{C6F6A645-1897-44D0-958B-9FB418CE4D59}" type="presParOf" srcId="{7767E169-2BC7-42E0-89CE-A9F8DAF5DF29}" destId="{E8EC4FB7-6E66-4F88-8E0D-02D5FFECE23C}" srcOrd="3" destOrd="0" presId="urn:microsoft.com/office/officeart/2005/8/layout/equation2"/>
    <dgm:cxn modelId="{7081F809-719A-4045-B46A-599A543E4996}" type="presParOf" srcId="{7767E169-2BC7-42E0-89CE-A9F8DAF5DF29}" destId="{566F7A1F-879C-4B8C-976E-614EC8A9B56C}" srcOrd="4" destOrd="0" presId="urn:microsoft.com/office/officeart/2005/8/layout/equation2"/>
    <dgm:cxn modelId="{395C7032-7652-4C47-989F-C2B33611BB68}" type="presParOf" srcId="{E1491B6D-0676-48E7-A700-7FFB895C7F7A}" destId="{9BD28D8B-21F4-4312-BD00-E997F912DC1A}" srcOrd="1" destOrd="0" presId="urn:microsoft.com/office/officeart/2005/8/layout/equation2"/>
    <dgm:cxn modelId="{63B6C1FD-B230-4CA2-B185-1B1A903A63ED}" type="presParOf" srcId="{9BD28D8B-21F4-4312-BD00-E997F912DC1A}" destId="{ED3FAF9A-1709-4FC2-A404-7490E4F36209}" srcOrd="0" destOrd="0" presId="urn:microsoft.com/office/officeart/2005/8/layout/equation2"/>
    <dgm:cxn modelId="{971D1452-7920-4BF9-8785-C355DDF4DE49}" type="presParOf" srcId="{E1491B6D-0676-48E7-A700-7FFB895C7F7A}" destId="{12171540-B8D9-46E6-8A6F-E521CA15F646}" srcOrd="2" destOrd="0" presId="urn:microsoft.com/office/officeart/2005/8/layout/equati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BD8FAC-D5D5-4792-80AB-433404CB038B}">
      <dsp:nvSpPr>
        <dsp:cNvPr id="0" name=""/>
        <dsp:cNvSpPr/>
      </dsp:nvSpPr>
      <dsp:spPr>
        <a:xfrm>
          <a:off x="1025" y="1352599"/>
          <a:ext cx="1358800" cy="135880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r>
            <a:rPr lang="en-US" sz="3500" kern="1200" dirty="0"/>
            <a:t>Ctrl</a:t>
          </a:r>
        </a:p>
      </dsp:txBody>
      <dsp:txXfrm>
        <a:off x="200017" y="1551591"/>
        <a:ext cx="960816" cy="960816"/>
      </dsp:txXfrm>
    </dsp:sp>
    <dsp:sp modelId="{0DA0D377-6ACD-4369-A3A8-30126AAEAA54}">
      <dsp:nvSpPr>
        <dsp:cNvPr id="0" name=""/>
        <dsp:cNvSpPr/>
      </dsp:nvSpPr>
      <dsp:spPr>
        <a:xfrm>
          <a:off x="1470160" y="1637947"/>
          <a:ext cx="788104" cy="788104"/>
        </a:xfrm>
        <a:prstGeom prst="mathPlus">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1574623" y="1939318"/>
        <a:ext cx="579178" cy="185362"/>
      </dsp:txXfrm>
    </dsp:sp>
    <dsp:sp modelId="{FFE3E7A5-04A5-41AA-B53E-F79E2EED1C20}">
      <dsp:nvSpPr>
        <dsp:cNvPr id="0" name=""/>
        <dsp:cNvSpPr/>
      </dsp:nvSpPr>
      <dsp:spPr>
        <a:xfrm>
          <a:off x="2368599" y="1352599"/>
          <a:ext cx="1358800" cy="135880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r>
            <a:rPr lang="en-US" sz="3500" kern="1200" dirty="0"/>
            <a:t>C</a:t>
          </a:r>
        </a:p>
      </dsp:txBody>
      <dsp:txXfrm>
        <a:off x="2567591" y="1551591"/>
        <a:ext cx="960816" cy="960816"/>
      </dsp:txXfrm>
    </dsp:sp>
    <dsp:sp modelId="{654A88BE-2FC9-48FF-95C1-4673374DB698}">
      <dsp:nvSpPr>
        <dsp:cNvPr id="0" name=""/>
        <dsp:cNvSpPr/>
      </dsp:nvSpPr>
      <dsp:spPr>
        <a:xfrm>
          <a:off x="3837735" y="1637947"/>
          <a:ext cx="788104" cy="788104"/>
        </a:xfrm>
        <a:prstGeom prst="mathEqual">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511300">
            <a:lnSpc>
              <a:spcPct val="90000"/>
            </a:lnSpc>
            <a:spcBef>
              <a:spcPct val="0"/>
            </a:spcBef>
            <a:spcAft>
              <a:spcPct val="35000"/>
            </a:spcAft>
            <a:buNone/>
          </a:pPr>
          <a:endParaRPr lang="en-US" sz="3400" kern="1200"/>
        </a:p>
      </dsp:txBody>
      <dsp:txXfrm>
        <a:off x="3942198" y="1800296"/>
        <a:ext cx="579178" cy="463406"/>
      </dsp:txXfrm>
    </dsp:sp>
    <dsp:sp modelId="{6DE331BD-19C3-4E3B-8871-A8AF983CC57B}">
      <dsp:nvSpPr>
        <dsp:cNvPr id="0" name=""/>
        <dsp:cNvSpPr/>
      </dsp:nvSpPr>
      <dsp:spPr>
        <a:xfrm>
          <a:off x="4736174" y="1352599"/>
          <a:ext cx="1358800" cy="135880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r>
            <a:rPr lang="en-US" sz="3500" kern="1200" dirty="0"/>
            <a:t>Copy</a:t>
          </a:r>
        </a:p>
      </dsp:txBody>
      <dsp:txXfrm>
        <a:off x="4935166" y="1551591"/>
        <a:ext cx="960816" cy="9608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8429B5-4355-488C-8B3C-0919DD20A270}">
      <dsp:nvSpPr>
        <dsp:cNvPr id="0" name=""/>
        <dsp:cNvSpPr/>
      </dsp:nvSpPr>
      <dsp:spPr>
        <a:xfrm>
          <a:off x="382488" y="1472"/>
          <a:ext cx="1480839" cy="1480839"/>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Ability to use system</a:t>
          </a:r>
        </a:p>
      </dsp:txBody>
      <dsp:txXfrm>
        <a:off x="599352" y="218336"/>
        <a:ext cx="1047111" cy="1047111"/>
      </dsp:txXfrm>
    </dsp:sp>
    <dsp:sp modelId="{4EA95CF5-A06B-4EB0-8D5F-A96474D7D0A0}">
      <dsp:nvSpPr>
        <dsp:cNvPr id="0" name=""/>
        <dsp:cNvSpPr/>
      </dsp:nvSpPr>
      <dsp:spPr>
        <a:xfrm>
          <a:off x="693464" y="1602556"/>
          <a:ext cx="858887" cy="858887"/>
        </a:xfrm>
        <a:prstGeom prst="mathPlus">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807309" y="1930994"/>
        <a:ext cx="631197" cy="202011"/>
      </dsp:txXfrm>
    </dsp:sp>
    <dsp:sp modelId="{566F7A1F-879C-4B8C-976E-614EC8A9B56C}">
      <dsp:nvSpPr>
        <dsp:cNvPr id="0" name=""/>
        <dsp:cNvSpPr/>
      </dsp:nvSpPr>
      <dsp:spPr>
        <a:xfrm>
          <a:off x="382488" y="2581687"/>
          <a:ext cx="1480839" cy="1480839"/>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No/minimal docs</a:t>
          </a:r>
        </a:p>
      </dsp:txBody>
      <dsp:txXfrm>
        <a:off x="599352" y="2798551"/>
        <a:ext cx="1047111" cy="1047111"/>
      </dsp:txXfrm>
    </dsp:sp>
    <dsp:sp modelId="{9BD28D8B-21F4-4312-BD00-E997F912DC1A}">
      <dsp:nvSpPr>
        <dsp:cNvPr id="0" name=""/>
        <dsp:cNvSpPr/>
      </dsp:nvSpPr>
      <dsp:spPr>
        <a:xfrm>
          <a:off x="2085454" y="1756563"/>
          <a:ext cx="470907" cy="55087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2085454" y="1866737"/>
        <a:ext cx="329635" cy="330524"/>
      </dsp:txXfrm>
    </dsp:sp>
    <dsp:sp modelId="{12171540-B8D9-46E6-8A6F-E521CA15F646}">
      <dsp:nvSpPr>
        <dsp:cNvPr id="0" name=""/>
        <dsp:cNvSpPr/>
      </dsp:nvSpPr>
      <dsp:spPr>
        <a:xfrm>
          <a:off x="2751832" y="551160"/>
          <a:ext cx="2961679" cy="2961679"/>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2133600">
            <a:lnSpc>
              <a:spcPct val="90000"/>
            </a:lnSpc>
            <a:spcBef>
              <a:spcPct val="0"/>
            </a:spcBef>
            <a:spcAft>
              <a:spcPct val="35000"/>
            </a:spcAft>
            <a:buNone/>
          </a:pPr>
          <a:r>
            <a:rPr lang="en-US" sz="4800" kern="1200" dirty="0"/>
            <a:t>Good Usability</a:t>
          </a:r>
        </a:p>
      </dsp:txBody>
      <dsp:txXfrm>
        <a:off x="3185560" y="984888"/>
        <a:ext cx="2094223" cy="2094223"/>
      </dsp:txXfrm>
    </dsp:sp>
  </dsp:spTree>
</dsp:drawing>
</file>

<file path=ppt/diagrams/layout1.xml><?xml version="1.0" encoding="utf-8"?>
<dgm:layoutDef xmlns:dgm="http://schemas.openxmlformats.org/drawingml/2006/diagram" xmlns:a="http://schemas.openxmlformats.org/drawingml/2006/main" uniqueId="urn:microsoft.com/office/officeart/2005/8/layout/equation1">
  <dgm:title val=""/>
  <dgm:desc val=""/>
  <dgm:catLst>
    <dgm:cat type="relationship" pri="17000"/>
    <dgm:cat type="process"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choose name="Name0">
      <dgm:if name="Name1" func="var" arg="dir" op="equ" val="norm">
        <dgm:alg type="lin">
          <dgm:param type="fallback" val="2D"/>
        </dgm:alg>
      </dgm:if>
      <dgm:else name="Name2">
        <dgm:alg type="lin">
          <dgm:param type="linDir" val="fromR"/>
          <dgm:param type="fallback" val="2D"/>
        </dgm:alg>
      </dgm:else>
    </dgm:choose>
    <dgm:shape xmlns:r="http://schemas.openxmlformats.org/officeDocument/2006/relationships" r:blip="">
      <dgm:adjLst/>
    </dgm:shape>
    <dgm:presOf/>
    <dgm:constrLst>
      <dgm:constr type="w" for="ch" ptType="node" refType="w"/>
      <dgm:constr type="w" for="ch" ptType="sibTrans" refType="w" refFor="ch" refPtType="node" fact="0.58"/>
      <dgm:constr type="primFontSz" for="ch" ptType="node" op="equ" val="65"/>
      <dgm:constr type="primFontSz" for="ch" ptType="sibTrans" op="equ" val="55"/>
      <dgm:constr type="primFontSz" for="ch" ptType="sibTrans" refType="primFontSz" refFor="ch" refPtType="node" op="lte" fact="0.8"/>
      <dgm:constr type="w" for="ch" forName="spacerL" refType="w" refFor="ch" refPtType="sibTrans" fact="0.14"/>
      <dgm:constr type="w" for="ch" forName="spacerR" refType="w" refFor="ch" refPtType="sibTrans" fact="0.14"/>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sibTransForEach" axis="followSib" ptType="sibTrans" cnt="1">
        <dgm:layoutNode name="spacerL">
          <dgm:alg type="sp"/>
          <dgm:shape xmlns:r="http://schemas.openxmlformats.org/officeDocument/2006/relationships" r:blip="">
            <dgm:adjLst/>
          </dgm:shape>
          <dgm:presOf/>
          <dgm:constrLst/>
          <dgm:ruleLst/>
        </dgm:layoutNode>
        <dgm:layoutNode name="sibTrans">
          <dgm:alg type="tx"/>
          <dgm:choose name="Name3">
            <dgm:if name="Name4" axis="followSib" ptType="sibTrans" func="cnt" op="equ" val="0">
              <dgm:shape xmlns:r="http://schemas.openxmlformats.org/officeDocument/2006/relationships" type="mathEqual" r:blip="">
                <dgm:adjLst/>
              </dgm:shape>
            </dgm:if>
            <dgm:else name="Name5">
              <dgm:shape xmlns:r="http://schemas.openxmlformats.org/officeDocument/2006/relationships" type="mathPlus" r:blip="">
                <dgm:adjLst/>
              </dgm:shape>
            </dgm:else>
          </dgm:choose>
          <dgm:presOf axis="self"/>
          <dgm:constrLst>
            <dgm:constr type="h" refType="w"/>
            <dgm:constr type="lMarg"/>
            <dgm:constr type="rMarg"/>
            <dgm:constr type="tMarg"/>
            <dgm:constr type="bMarg"/>
          </dgm:constrLst>
          <dgm:ruleLst>
            <dgm:rule type="primFontSz" val="5" fact="NaN" max="NaN"/>
          </dgm:ruleLst>
        </dgm:layoutNode>
        <dgm:layoutNode name="spacerR">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begPts" val="auto"/>
                <dgm:param type="endPts" val="auto"/>
                <dgm:param type="srcNode" val="vNodes"/>
                <dgm:param type="dstNode" val="lastNode"/>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571EF33-497A-4AB8-9E2A-EDA89E2657AC}" type="datetimeFigureOut">
              <a:rPr lang="en-US" smtClean="0"/>
              <a:pPr/>
              <a:t>1/21/2021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5E35D07-CE9A-41EA-8351-FED4C60B3E9A}" type="slidenum">
              <a:rPr lang="en-US" smtClean="0"/>
              <a:pPr/>
              <a:t>‹#›</a:t>
            </a:fld>
            <a:endParaRPr lang="en-US"/>
          </a:p>
        </p:txBody>
      </p:sp>
    </p:spTree>
    <p:extLst>
      <p:ext uri="{BB962C8B-B14F-4D97-AF65-F5344CB8AC3E}">
        <p14:creationId xmlns:p14="http://schemas.microsoft.com/office/powerpoint/2010/main" val="1712172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keystroke level model was described by Card, Moran, and Newell in the early 1980s. The model focuses on how long it takes users to actually use the HCI via hardware.</a:t>
            </a:r>
            <a:endParaRPr lang="en-US" dirty="0"/>
          </a:p>
        </p:txBody>
      </p:sp>
      <p:sp>
        <p:nvSpPr>
          <p:cNvPr id="4" name="Slide Number Placeholder 3"/>
          <p:cNvSpPr>
            <a:spLocks noGrp="1"/>
          </p:cNvSpPr>
          <p:nvPr>
            <p:ph type="sldNum" sz="quarter" idx="10"/>
          </p:nvPr>
        </p:nvSpPr>
        <p:spPr/>
        <p:txBody>
          <a:bodyPr/>
          <a:lstStyle/>
          <a:p>
            <a:fld id="{0F8BF18D-4DAE-4DDD-BFAC-F0C99AA07095}" type="slidenum">
              <a:rPr lang="en-US" smtClean="0"/>
              <a:t>8</a:t>
            </a:fld>
            <a:endParaRPr lang="en-US"/>
          </a:p>
        </p:txBody>
      </p:sp>
    </p:spTree>
    <p:extLst>
      <p:ext uri="{BB962C8B-B14F-4D97-AF65-F5344CB8AC3E}">
        <p14:creationId xmlns:p14="http://schemas.microsoft.com/office/powerpoint/2010/main" val="33605556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Predictive evaluation doesn’t need real users (once the parameters of the model have been estimated, that is).</a:t>
            </a:r>
          </a:p>
          <a:p>
            <a:r>
              <a:rPr lang="en-US" sz="1200" b="0" i="0" u="none" strike="noStrike" kern="1200" baseline="0" dirty="0">
                <a:solidFill>
                  <a:schemeClr val="tx1"/>
                </a:solidFill>
                <a:latin typeface="+mn-lt"/>
                <a:ea typeface="+mn-ea"/>
                <a:cs typeface="+mn-cs"/>
              </a:rPr>
              <a:t>Not only that, but predictive evaluation doesn’t even need a </a:t>
            </a:r>
            <a:r>
              <a:rPr lang="en-US" sz="1200" b="1" i="0" u="none" strike="noStrike" kern="1200" baseline="0" dirty="0">
                <a:solidFill>
                  <a:schemeClr val="tx1"/>
                </a:solidFill>
                <a:latin typeface="+mn-lt"/>
                <a:ea typeface="+mn-ea"/>
                <a:cs typeface="+mn-cs"/>
              </a:rPr>
              <a:t>prototype</a:t>
            </a:r>
            <a:r>
              <a:rPr lang="en-US" sz="1200" b="0" i="0" u="none" strike="noStrike" kern="1200" baseline="0" dirty="0">
                <a:solidFill>
                  <a:schemeClr val="tx1"/>
                </a:solidFill>
                <a:latin typeface="+mn-lt"/>
                <a:ea typeface="+mn-ea"/>
                <a:cs typeface="+mn-cs"/>
              </a:rPr>
              <a:t>. Designs can be compared and</a:t>
            </a:r>
          </a:p>
          <a:p>
            <a:r>
              <a:rPr lang="en-US" sz="1200" b="0" i="0" u="none" strike="noStrike" kern="1200" baseline="0" dirty="0">
                <a:solidFill>
                  <a:schemeClr val="tx1"/>
                </a:solidFill>
                <a:latin typeface="+mn-lt"/>
                <a:ea typeface="+mn-ea"/>
                <a:cs typeface="+mn-cs"/>
              </a:rPr>
              <a:t>evaluated without even producing design sketches or paper prototypes, let alone code.</a:t>
            </a:r>
          </a:p>
          <a:p>
            <a:r>
              <a:rPr lang="en-US" sz="1200" b="0" i="0" u="none" strike="noStrike" kern="1200" baseline="0" dirty="0">
                <a:solidFill>
                  <a:schemeClr val="tx1"/>
                </a:solidFill>
                <a:latin typeface="+mn-lt"/>
                <a:ea typeface="+mn-ea"/>
                <a:cs typeface="+mn-cs"/>
              </a:rPr>
              <a:t>Another key advantage is that the predictive evaluation not only identifies usability problems, but actually</a:t>
            </a:r>
          </a:p>
          <a:p>
            <a:r>
              <a:rPr lang="en-US" sz="1200" b="0" i="0" u="none" strike="noStrike" kern="1200" baseline="0" dirty="0">
                <a:solidFill>
                  <a:schemeClr val="tx1"/>
                </a:solidFill>
                <a:latin typeface="+mn-lt"/>
                <a:ea typeface="+mn-ea"/>
                <a:cs typeface="+mn-cs"/>
              </a:rPr>
              <a:t>provides an </a:t>
            </a:r>
            <a:r>
              <a:rPr lang="en-US" sz="1200" b="1" i="0" u="none" strike="noStrike" kern="1200" baseline="0" dirty="0">
                <a:solidFill>
                  <a:schemeClr val="tx1"/>
                </a:solidFill>
                <a:latin typeface="+mn-lt"/>
                <a:ea typeface="+mn-ea"/>
                <a:cs typeface="+mn-cs"/>
              </a:rPr>
              <a:t>explanation </a:t>
            </a:r>
            <a:r>
              <a:rPr lang="en-US" sz="1200" b="0" i="0" u="none" strike="noStrike" kern="1200" baseline="0" dirty="0">
                <a:solidFill>
                  <a:schemeClr val="tx1"/>
                </a:solidFill>
                <a:latin typeface="+mn-lt"/>
                <a:ea typeface="+mn-ea"/>
                <a:cs typeface="+mn-cs"/>
              </a:rPr>
              <a:t>of them based on the theoretical model underlying the evaluation. So it’s much better</a:t>
            </a:r>
          </a:p>
          <a:p>
            <a:r>
              <a:rPr lang="en-US" sz="1200" b="0" i="0" u="none" strike="noStrike" kern="1200" baseline="0" dirty="0">
                <a:solidFill>
                  <a:schemeClr val="tx1"/>
                </a:solidFill>
                <a:latin typeface="+mn-lt"/>
                <a:ea typeface="+mn-ea"/>
                <a:cs typeface="+mn-cs"/>
              </a:rPr>
              <a:t>at pointing to </a:t>
            </a:r>
            <a:r>
              <a:rPr lang="en-US" sz="1200" b="0" i="1" u="none" strike="noStrike" kern="1200" baseline="0" dirty="0">
                <a:solidFill>
                  <a:schemeClr val="tx1"/>
                </a:solidFill>
                <a:latin typeface="+mn-lt"/>
                <a:ea typeface="+mn-ea"/>
                <a:cs typeface="+mn-cs"/>
              </a:rPr>
              <a:t>solutions </a:t>
            </a:r>
            <a:r>
              <a:rPr lang="en-US" sz="1200" b="0" i="0" u="none" strike="noStrike" kern="1200" baseline="0" dirty="0">
                <a:solidFill>
                  <a:schemeClr val="tx1"/>
                </a:solidFill>
                <a:latin typeface="+mn-lt"/>
                <a:ea typeface="+mn-ea"/>
                <a:cs typeface="+mn-cs"/>
              </a:rPr>
              <a:t>to the problems than either inspection techniques or user testing. User testing might</a:t>
            </a:r>
          </a:p>
          <a:p>
            <a:r>
              <a:rPr lang="en-US" sz="1200" b="0" i="0" u="none" strike="noStrike" kern="1200" baseline="0" dirty="0">
                <a:solidFill>
                  <a:schemeClr val="tx1"/>
                </a:solidFill>
                <a:latin typeface="+mn-lt"/>
                <a:ea typeface="+mn-ea"/>
                <a:cs typeface="+mn-cs"/>
              </a:rPr>
              <a:t>show that design A is 25% slower than design B at a doing a particular task, but it won’t explain </a:t>
            </a:r>
            <a:r>
              <a:rPr lang="en-US" sz="1200" b="0" i="1" u="none" strike="noStrike" kern="1200" baseline="0" dirty="0">
                <a:solidFill>
                  <a:schemeClr val="tx1"/>
                </a:solidFill>
                <a:latin typeface="+mn-lt"/>
                <a:ea typeface="+mn-ea"/>
                <a:cs typeface="+mn-cs"/>
              </a:rPr>
              <a:t>why</a:t>
            </a:r>
            <a:r>
              <a:rPr lang="en-US" sz="1200" b="0" i="0" u="none" strike="noStrike" kern="1200" baseline="0" dirty="0">
                <a:solidFill>
                  <a:schemeClr val="tx1"/>
                </a:solidFill>
                <a:latin typeface="+mn-lt"/>
                <a:ea typeface="+mn-ea"/>
                <a:cs typeface="+mn-cs"/>
              </a:rPr>
              <a:t>.</a:t>
            </a:r>
          </a:p>
          <a:p>
            <a:r>
              <a:rPr lang="en-US" sz="1200" b="0" i="0" u="none" strike="noStrike" kern="1200" baseline="0" dirty="0">
                <a:solidFill>
                  <a:schemeClr val="tx1"/>
                </a:solidFill>
                <a:latin typeface="+mn-lt"/>
                <a:ea typeface="+mn-ea"/>
                <a:cs typeface="+mn-cs"/>
              </a:rPr>
              <a:t>Predictive evaluation breaks down the user’s behavior into little pieces, so that you can actually point at the</a:t>
            </a:r>
          </a:p>
          <a:p>
            <a:r>
              <a:rPr lang="en-US" sz="1200" b="0" i="0" u="none" strike="noStrike" kern="1200" baseline="0" dirty="0">
                <a:solidFill>
                  <a:schemeClr val="tx1"/>
                </a:solidFill>
                <a:latin typeface="+mn-lt"/>
                <a:ea typeface="+mn-ea"/>
                <a:cs typeface="+mn-cs"/>
              </a:rPr>
              <a:t>part of the task that was slower, and see why it was slower.</a:t>
            </a:r>
            <a:endParaRPr lang="en-US" dirty="0"/>
          </a:p>
        </p:txBody>
      </p:sp>
      <p:sp>
        <p:nvSpPr>
          <p:cNvPr id="4" name="Slide Number Placeholder 3"/>
          <p:cNvSpPr>
            <a:spLocks noGrp="1"/>
          </p:cNvSpPr>
          <p:nvPr>
            <p:ph type="sldNum" sz="quarter" idx="10"/>
          </p:nvPr>
        </p:nvSpPr>
        <p:spPr/>
        <p:txBody>
          <a:bodyPr/>
          <a:lstStyle/>
          <a:p>
            <a:fld id="{0F8BF18D-4DAE-4DDD-BFAC-F0C99AA07095}" type="slidenum">
              <a:rPr lang="en-US" smtClean="0"/>
              <a:t>9</a:t>
            </a:fld>
            <a:endParaRPr lang="en-US"/>
          </a:p>
        </p:txBody>
      </p:sp>
    </p:spTree>
    <p:extLst>
      <p:ext uri="{BB962C8B-B14F-4D97-AF65-F5344CB8AC3E}">
        <p14:creationId xmlns:p14="http://schemas.microsoft.com/office/powerpoint/2010/main" val="32359410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E230615C-4AA4-4053-A18E-47CE238D123A}" type="slidenum">
              <a:rPr lang="en-GB"/>
              <a:pPr/>
              <a:t>21</a:t>
            </a:fld>
            <a:endParaRPr lang="en-GB"/>
          </a:p>
        </p:txBody>
      </p:sp>
      <p:sp>
        <p:nvSpPr>
          <p:cNvPr id="2150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eaLnBrk="0" hangingPunct="0"/>
            <a:fld id="{2EE5A0DF-0E9E-477E-855C-39DBA6B5EF01}" type="slidenum">
              <a:rPr lang="en-US" sz="1200">
                <a:latin typeface="Times" pitchFamily="18" charset="0"/>
                <a:ea typeface="MS PGothic" pitchFamily="34" charset="-128"/>
              </a:rPr>
              <a:pPr algn="r" eaLnBrk="0" hangingPunct="0"/>
              <a:t>21</a:t>
            </a:fld>
            <a:endParaRPr lang="en-US" sz="1200">
              <a:latin typeface="Times" pitchFamily="18" charset="0"/>
              <a:ea typeface="MS PGothic" pitchFamily="34" charset="-128"/>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xfrm>
            <a:off x="914400" y="4343400"/>
            <a:ext cx="5029200" cy="4114800"/>
          </a:xfrm>
        </p:spPr>
        <p:txBody>
          <a:bodyPr/>
          <a:lstStyle/>
          <a:p>
            <a:endParaRPr lang="en-US"/>
          </a:p>
        </p:txBody>
      </p:sp>
    </p:spTree>
    <p:extLst>
      <p:ext uri="{BB962C8B-B14F-4D97-AF65-F5344CB8AC3E}">
        <p14:creationId xmlns:p14="http://schemas.microsoft.com/office/powerpoint/2010/main" val="13509772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961EC289-F984-45B7-8BD3-1523D9CF9669}" type="slidenum">
              <a:rPr lang="en-US"/>
              <a:pPr/>
              <a:t>25</a:t>
            </a:fld>
            <a:endParaRPr lang="en-US"/>
          </a:p>
        </p:txBody>
      </p:sp>
      <p:sp>
        <p:nvSpPr>
          <p:cNvPr id="18434" name="Rectangle 2"/>
          <p:cNvSpPr>
            <a:spLocks noGrp="1" noRot="1" noChangeAspect="1" noChangeArrowheads="1" noTextEdit="1"/>
          </p:cNvSpPr>
          <p:nvPr>
            <p:ph type="sldImg"/>
          </p:nvPr>
        </p:nvSpPr>
        <p:spPr>
          <a:ln cap="flat"/>
        </p:spPr>
      </p:sp>
      <p:sp>
        <p:nvSpPr>
          <p:cNvPr id="18435" name="Rectangle 3"/>
          <p:cNvSpPr>
            <a:spLocks noGrp="1" noChangeArrowheads="1"/>
          </p:cNvSpPr>
          <p:nvPr>
            <p:ph type="body" idx="1"/>
          </p:nvPr>
        </p:nvSpPr>
        <p:spPr>
          <a:ln/>
        </p:spPr>
        <p:txBody>
          <a:bodyPr/>
          <a:lstStyle/>
          <a:p>
            <a:endParaRPr lang="en-CA"/>
          </a:p>
        </p:txBody>
      </p:sp>
    </p:spTree>
    <p:extLst>
      <p:ext uri="{BB962C8B-B14F-4D97-AF65-F5344CB8AC3E}">
        <p14:creationId xmlns:p14="http://schemas.microsoft.com/office/powerpoint/2010/main" val="40203251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F8CBF57C-FC92-41F1-B95C-0A4700DD9D5C}" type="slidenum">
              <a:rPr lang="en-US"/>
              <a:pPr/>
              <a:t>30</a:t>
            </a:fld>
            <a:endParaRPr lang="en-US"/>
          </a:p>
        </p:txBody>
      </p:sp>
      <p:sp>
        <p:nvSpPr>
          <p:cNvPr id="21506" name="Rectangle 2"/>
          <p:cNvSpPr>
            <a:spLocks noGrp="1" noRot="1" noChangeAspect="1" noChangeArrowheads="1" noTextEdit="1"/>
          </p:cNvSpPr>
          <p:nvPr>
            <p:ph type="sldImg"/>
          </p:nvPr>
        </p:nvSpPr>
        <p:spPr>
          <a:ln cap="flat"/>
        </p:spPr>
      </p:sp>
      <p:sp>
        <p:nvSpPr>
          <p:cNvPr id="21507" name="Rectangle 3"/>
          <p:cNvSpPr>
            <a:spLocks noGrp="1" noChangeArrowheads="1"/>
          </p:cNvSpPr>
          <p:nvPr>
            <p:ph type="body" idx="1"/>
          </p:nvPr>
        </p:nvSpPr>
        <p:spPr>
          <a:ln/>
        </p:spPr>
        <p:txBody>
          <a:bodyPr/>
          <a:lstStyle/>
          <a:p>
            <a:endParaRPr lang="en-CA"/>
          </a:p>
        </p:txBody>
      </p:sp>
    </p:spTree>
    <p:extLst>
      <p:ext uri="{BB962C8B-B14F-4D97-AF65-F5344CB8AC3E}">
        <p14:creationId xmlns:p14="http://schemas.microsoft.com/office/powerpoint/2010/main" val="9074922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97B24718-422B-467D-8342-CA84181E6AFC}" type="slidenum">
              <a:rPr lang="en-US"/>
              <a:pPr/>
              <a:t>35</a:t>
            </a:fld>
            <a:endParaRPr lang="en-US"/>
          </a:p>
        </p:txBody>
      </p:sp>
      <p:sp>
        <p:nvSpPr>
          <p:cNvPr id="11266" name="Rectangle 2"/>
          <p:cNvSpPr>
            <a:spLocks noGrp="1" noRot="1" noChangeAspect="1" noChangeArrowheads="1" noTextEdit="1"/>
          </p:cNvSpPr>
          <p:nvPr>
            <p:ph type="sldImg"/>
          </p:nvPr>
        </p:nvSpPr>
        <p:spPr>
          <a:ln cap="flat"/>
        </p:spPr>
      </p:sp>
      <p:sp>
        <p:nvSpPr>
          <p:cNvPr id="11267" name="Rectangle 3"/>
          <p:cNvSpPr>
            <a:spLocks noGrp="1" noChangeArrowheads="1"/>
          </p:cNvSpPr>
          <p:nvPr>
            <p:ph type="body" idx="1"/>
          </p:nvPr>
        </p:nvSpPr>
        <p:spPr>
          <a:ln/>
        </p:spPr>
        <p:txBody>
          <a:bodyPr/>
          <a:lstStyle/>
          <a:p>
            <a:endParaRPr lang="en-CA"/>
          </a:p>
        </p:txBody>
      </p:sp>
    </p:spTree>
    <p:extLst>
      <p:ext uri="{BB962C8B-B14F-4D97-AF65-F5344CB8AC3E}">
        <p14:creationId xmlns:p14="http://schemas.microsoft.com/office/powerpoint/2010/main" val="14310869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69916893-E5F6-41C3-92DC-79000EC62851}" type="slidenum">
              <a:rPr lang="en-US"/>
              <a:pPr/>
              <a:t>39</a:t>
            </a:fld>
            <a:endParaRPr lang="en-US"/>
          </a:p>
        </p:txBody>
      </p:sp>
      <p:sp>
        <p:nvSpPr>
          <p:cNvPr id="24578" name="Rectangle 2"/>
          <p:cNvSpPr>
            <a:spLocks noGrp="1" noRot="1" noChangeAspect="1" noChangeArrowheads="1" noTextEdit="1"/>
          </p:cNvSpPr>
          <p:nvPr>
            <p:ph type="sldImg"/>
          </p:nvPr>
        </p:nvSpPr>
        <p:spPr>
          <a:ln cap="flat"/>
        </p:spPr>
      </p:sp>
      <p:sp>
        <p:nvSpPr>
          <p:cNvPr id="24579" name="Rectangle 3"/>
          <p:cNvSpPr>
            <a:spLocks noGrp="1" noChangeArrowheads="1"/>
          </p:cNvSpPr>
          <p:nvPr>
            <p:ph type="body" idx="1"/>
          </p:nvPr>
        </p:nvSpPr>
        <p:spPr>
          <a:ln/>
        </p:spPr>
        <p:txBody>
          <a:bodyPr/>
          <a:lstStyle/>
          <a:p>
            <a:endParaRPr lang="en-CA"/>
          </a:p>
        </p:txBody>
      </p:sp>
    </p:spTree>
    <p:extLst>
      <p:ext uri="{BB962C8B-B14F-4D97-AF65-F5344CB8AC3E}">
        <p14:creationId xmlns:p14="http://schemas.microsoft.com/office/powerpoint/2010/main" val="39641210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4C26C0BD-E5BA-4E0D-B86C-93F8B101DC75}" type="slidenum">
              <a:rPr lang="en-US"/>
              <a:pPr/>
              <a:t>41</a:t>
            </a:fld>
            <a:endParaRPr lang="en-US"/>
          </a:p>
        </p:txBody>
      </p:sp>
      <p:sp>
        <p:nvSpPr>
          <p:cNvPr id="16386" name="Rectangle 2"/>
          <p:cNvSpPr>
            <a:spLocks noGrp="1" noRot="1" noChangeAspect="1" noChangeArrowheads="1" noTextEdit="1"/>
          </p:cNvSpPr>
          <p:nvPr>
            <p:ph type="sldImg"/>
          </p:nvPr>
        </p:nvSpPr>
        <p:spPr>
          <a:ln cap="flat"/>
        </p:spPr>
      </p:sp>
      <p:sp>
        <p:nvSpPr>
          <p:cNvPr id="16387" name="Rectangle 3"/>
          <p:cNvSpPr>
            <a:spLocks noGrp="1" noChangeArrowheads="1"/>
          </p:cNvSpPr>
          <p:nvPr>
            <p:ph type="body" idx="1"/>
          </p:nvPr>
        </p:nvSpPr>
        <p:spPr>
          <a:ln/>
        </p:spPr>
        <p:txBody>
          <a:bodyPr/>
          <a:lstStyle/>
          <a:p>
            <a:endParaRPr lang="en-CA"/>
          </a:p>
        </p:txBody>
      </p:sp>
    </p:spTree>
    <p:extLst>
      <p:ext uri="{BB962C8B-B14F-4D97-AF65-F5344CB8AC3E}">
        <p14:creationId xmlns:p14="http://schemas.microsoft.com/office/powerpoint/2010/main" val="15957091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52B352CC-88AC-46DB-96F2-91D4786D2BC6}" type="slidenum">
              <a:rPr lang="en-US"/>
              <a:pPr/>
              <a:t>45</a:t>
            </a:fld>
            <a:endParaRPr lang="en-US"/>
          </a:p>
        </p:txBody>
      </p:sp>
      <p:sp>
        <p:nvSpPr>
          <p:cNvPr id="14338" name="Rectangle 2"/>
          <p:cNvSpPr>
            <a:spLocks noGrp="1" noRot="1" noChangeAspect="1" noChangeArrowheads="1" noTextEdit="1"/>
          </p:cNvSpPr>
          <p:nvPr>
            <p:ph type="sldImg"/>
          </p:nvPr>
        </p:nvSpPr>
        <p:spPr>
          <a:ln cap="flat"/>
        </p:spPr>
      </p:sp>
      <p:sp>
        <p:nvSpPr>
          <p:cNvPr id="14339" name="Rectangle 3"/>
          <p:cNvSpPr>
            <a:spLocks noGrp="1" noChangeArrowheads="1"/>
          </p:cNvSpPr>
          <p:nvPr>
            <p:ph type="body" idx="1"/>
          </p:nvPr>
        </p:nvSpPr>
        <p:spPr>
          <a:ln/>
        </p:spPr>
        <p:txBody>
          <a:bodyPr/>
          <a:lstStyle/>
          <a:p>
            <a:endParaRPr lang="en-CA"/>
          </a:p>
        </p:txBody>
      </p:sp>
    </p:spTree>
    <p:extLst>
      <p:ext uri="{BB962C8B-B14F-4D97-AF65-F5344CB8AC3E}">
        <p14:creationId xmlns:p14="http://schemas.microsoft.com/office/powerpoint/2010/main" val="41125637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E5ADAEC3-4A6F-4A6E-904F-514756480653}" type="slidenum">
              <a:rPr lang="en-US"/>
              <a:pPr/>
              <a:t>50</a:t>
            </a:fld>
            <a:endParaRPr lang="en-US"/>
          </a:p>
        </p:txBody>
      </p:sp>
      <p:sp>
        <p:nvSpPr>
          <p:cNvPr id="26626" name="Rectangle 2"/>
          <p:cNvSpPr>
            <a:spLocks noGrp="1" noRot="1" noChangeAspect="1" noChangeArrowheads="1" noTextEdit="1"/>
          </p:cNvSpPr>
          <p:nvPr>
            <p:ph type="sldImg"/>
          </p:nvPr>
        </p:nvSpPr>
        <p:spPr>
          <a:ln cap="flat"/>
        </p:spPr>
      </p:sp>
      <p:sp>
        <p:nvSpPr>
          <p:cNvPr id="26627" name="Rectangle 3"/>
          <p:cNvSpPr>
            <a:spLocks noGrp="1" noChangeArrowheads="1"/>
          </p:cNvSpPr>
          <p:nvPr>
            <p:ph type="body" idx="1"/>
          </p:nvPr>
        </p:nvSpPr>
        <p:spPr>
          <a:ln/>
        </p:spPr>
        <p:txBody>
          <a:bodyPr/>
          <a:lstStyle/>
          <a:p>
            <a:endParaRPr lang="en-CA"/>
          </a:p>
        </p:txBody>
      </p:sp>
    </p:spTree>
    <p:extLst>
      <p:ext uri="{BB962C8B-B14F-4D97-AF65-F5344CB8AC3E}">
        <p14:creationId xmlns:p14="http://schemas.microsoft.com/office/powerpoint/2010/main" val="5121900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22C1FC7D-23DC-4E4D-B74B-E0719DC0651B}" type="slidenum">
              <a:rPr lang="en-US"/>
              <a:pPr/>
              <a:t>54</a:t>
            </a:fld>
            <a:endParaRPr lang="en-US"/>
          </a:p>
        </p:txBody>
      </p:sp>
      <p:sp>
        <p:nvSpPr>
          <p:cNvPr id="9218" name="Rectangle 2"/>
          <p:cNvSpPr>
            <a:spLocks noGrp="1" noRot="1" noChangeAspect="1" noChangeArrowheads="1" noTextEdit="1"/>
          </p:cNvSpPr>
          <p:nvPr>
            <p:ph type="sldImg"/>
          </p:nvPr>
        </p:nvSpPr>
        <p:spPr>
          <a:ln cap="flat"/>
        </p:spPr>
      </p:sp>
      <p:sp>
        <p:nvSpPr>
          <p:cNvPr id="9219" name="Rectangle 3"/>
          <p:cNvSpPr>
            <a:spLocks noGrp="1" noChangeArrowheads="1"/>
          </p:cNvSpPr>
          <p:nvPr>
            <p:ph type="body" idx="1"/>
          </p:nvPr>
        </p:nvSpPr>
        <p:spPr>
          <a:ln/>
        </p:spPr>
        <p:txBody>
          <a:bodyPr/>
          <a:lstStyle/>
          <a:p>
            <a:endParaRPr lang="en-CA"/>
          </a:p>
        </p:txBody>
      </p:sp>
    </p:spTree>
    <p:extLst>
      <p:ext uri="{BB962C8B-B14F-4D97-AF65-F5344CB8AC3E}">
        <p14:creationId xmlns:p14="http://schemas.microsoft.com/office/powerpoint/2010/main" val="19294649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2F7F00C4-F101-4C2E-8E3C-D03286263F5A}" type="slidenum">
              <a:rPr lang="en-US"/>
              <a:pPr/>
              <a:t>59</a:t>
            </a:fld>
            <a:endParaRPr lang="en-US"/>
          </a:p>
        </p:txBody>
      </p:sp>
      <p:sp>
        <p:nvSpPr>
          <p:cNvPr id="49154" name="Rectangle 2"/>
          <p:cNvSpPr>
            <a:spLocks noGrp="1" noRot="1" noChangeAspect="1" noChangeArrowheads="1" noTextEdit="1"/>
          </p:cNvSpPr>
          <p:nvPr>
            <p:ph type="sldImg"/>
          </p:nvPr>
        </p:nvSpPr>
        <p:spPr>
          <a:ln cap="flat"/>
        </p:spPr>
      </p:sp>
      <p:sp>
        <p:nvSpPr>
          <p:cNvPr id="49155" name="Rectangle 3"/>
          <p:cNvSpPr>
            <a:spLocks noGrp="1" noChangeArrowheads="1"/>
          </p:cNvSpPr>
          <p:nvPr>
            <p:ph type="body" idx="1"/>
          </p:nvPr>
        </p:nvSpPr>
        <p:spPr>
          <a:ln/>
        </p:spPr>
        <p:txBody>
          <a:bodyPr/>
          <a:lstStyle/>
          <a:p>
            <a:endParaRPr lang="en-CA"/>
          </a:p>
        </p:txBody>
      </p:sp>
    </p:spTree>
    <p:extLst>
      <p:ext uri="{BB962C8B-B14F-4D97-AF65-F5344CB8AC3E}">
        <p14:creationId xmlns:p14="http://schemas.microsoft.com/office/powerpoint/2010/main" val="35753966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C3F42606-7DD1-41D2-93DB-278891A3AE25}" type="slidenum">
              <a:rPr lang="en-US"/>
              <a:pPr/>
              <a:t>65</a:t>
            </a:fld>
            <a:endParaRPr lang="en-US"/>
          </a:p>
        </p:txBody>
      </p:sp>
      <p:sp>
        <p:nvSpPr>
          <p:cNvPr id="30722" name="Rectangle 2"/>
          <p:cNvSpPr>
            <a:spLocks noGrp="1" noRot="1" noChangeAspect="1" noChangeArrowheads="1" noTextEdit="1"/>
          </p:cNvSpPr>
          <p:nvPr>
            <p:ph type="sldImg"/>
          </p:nvPr>
        </p:nvSpPr>
        <p:spPr>
          <a:ln cap="flat"/>
        </p:spPr>
      </p:sp>
      <p:sp>
        <p:nvSpPr>
          <p:cNvPr id="30723" name="Rectangle 3"/>
          <p:cNvSpPr>
            <a:spLocks noGrp="1" noChangeArrowheads="1"/>
          </p:cNvSpPr>
          <p:nvPr>
            <p:ph type="body" idx="1"/>
          </p:nvPr>
        </p:nvSpPr>
        <p:spPr>
          <a:ln/>
        </p:spPr>
        <p:txBody>
          <a:bodyPr/>
          <a:lstStyle/>
          <a:p>
            <a:endParaRPr lang="en-CA"/>
          </a:p>
        </p:txBody>
      </p:sp>
    </p:spTree>
    <p:extLst>
      <p:ext uri="{BB962C8B-B14F-4D97-AF65-F5344CB8AC3E}">
        <p14:creationId xmlns:p14="http://schemas.microsoft.com/office/powerpoint/2010/main" val="19389713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14C69DAD-4958-4711-9C57-619B293B9B1C}" type="slidenum">
              <a:rPr lang="en-US"/>
              <a:pPr/>
              <a:t>68</a:t>
            </a:fld>
            <a:endParaRPr lang="en-US"/>
          </a:p>
        </p:txBody>
      </p:sp>
      <p:sp>
        <p:nvSpPr>
          <p:cNvPr id="45058" name="Rectangle 2"/>
          <p:cNvSpPr>
            <a:spLocks noGrp="1" noRot="1" noChangeAspect="1" noChangeArrowheads="1" noTextEdit="1"/>
          </p:cNvSpPr>
          <p:nvPr>
            <p:ph type="sldImg"/>
          </p:nvPr>
        </p:nvSpPr>
        <p:spPr>
          <a:ln cap="flat"/>
        </p:spPr>
      </p:sp>
      <p:sp>
        <p:nvSpPr>
          <p:cNvPr id="45059" name="Rectangle 3"/>
          <p:cNvSpPr>
            <a:spLocks noGrp="1" noChangeArrowheads="1"/>
          </p:cNvSpPr>
          <p:nvPr>
            <p:ph type="body" idx="1"/>
          </p:nvPr>
        </p:nvSpPr>
        <p:spPr>
          <a:ln/>
        </p:spPr>
        <p:txBody>
          <a:bodyPr/>
          <a:lstStyle/>
          <a:p>
            <a:endParaRPr lang="en-CA"/>
          </a:p>
        </p:txBody>
      </p:sp>
    </p:spTree>
    <p:extLst>
      <p:ext uri="{BB962C8B-B14F-4D97-AF65-F5344CB8AC3E}">
        <p14:creationId xmlns:p14="http://schemas.microsoft.com/office/powerpoint/2010/main" val="31577259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A1D3EDFD-4F5D-4BF3-A463-4DB43C6E02C0}" type="slidenum">
              <a:rPr lang="en-US"/>
              <a:pPr/>
              <a:t>72</a:t>
            </a:fld>
            <a:endParaRPr lang="en-US"/>
          </a:p>
        </p:txBody>
      </p:sp>
      <p:sp>
        <p:nvSpPr>
          <p:cNvPr id="52226" name="Rectangle 2"/>
          <p:cNvSpPr>
            <a:spLocks noGrp="1" noRot="1" noChangeAspect="1" noChangeArrowheads="1" noTextEdit="1"/>
          </p:cNvSpPr>
          <p:nvPr>
            <p:ph type="sldImg"/>
          </p:nvPr>
        </p:nvSpPr>
        <p:spPr>
          <a:ln cap="flat"/>
        </p:spPr>
      </p:sp>
      <p:sp>
        <p:nvSpPr>
          <p:cNvPr id="52227" name="Rectangle 3"/>
          <p:cNvSpPr>
            <a:spLocks noGrp="1" noChangeArrowheads="1"/>
          </p:cNvSpPr>
          <p:nvPr>
            <p:ph type="body" idx="1"/>
          </p:nvPr>
        </p:nvSpPr>
        <p:spPr>
          <a:ln/>
        </p:spPr>
        <p:txBody>
          <a:bodyPr/>
          <a:lstStyle/>
          <a:p>
            <a:endParaRPr lang="en-CA"/>
          </a:p>
        </p:txBody>
      </p:sp>
    </p:spTree>
    <p:extLst>
      <p:ext uri="{BB962C8B-B14F-4D97-AF65-F5344CB8AC3E}">
        <p14:creationId xmlns:p14="http://schemas.microsoft.com/office/powerpoint/2010/main" val="40543937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8F0D6756-DC88-4565-85AF-16958D1E9A93}" type="slidenum">
              <a:rPr lang="en-US"/>
              <a:pPr/>
              <a:t>73</a:t>
            </a:fld>
            <a:endParaRPr lang="en-US"/>
          </a:p>
        </p:txBody>
      </p:sp>
      <p:sp>
        <p:nvSpPr>
          <p:cNvPr id="54274" name="Rectangle 2"/>
          <p:cNvSpPr>
            <a:spLocks noGrp="1" noRot="1" noChangeAspect="1" noChangeArrowheads="1" noTextEdit="1"/>
          </p:cNvSpPr>
          <p:nvPr>
            <p:ph type="sldImg"/>
          </p:nvPr>
        </p:nvSpPr>
        <p:spPr>
          <a:ln cap="flat"/>
        </p:spPr>
      </p:sp>
      <p:sp>
        <p:nvSpPr>
          <p:cNvPr id="54275" name="Rectangle 3"/>
          <p:cNvSpPr>
            <a:spLocks noGrp="1" noChangeArrowheads="1"/>
          </p:cNvSpPr>
          <p:nvPr>
            <p:ph type="body" idx="1"/>
          </p:nvPr>
        </p:nvSpPr>
        <p:spPr>
          <a:ln/>
        </p:spPr>
        <p:txBody>
          <a:bodyPr/>
          <a:lstStyle/>
          <a:p>
            <a:endParaRPr lang="en-CA"/>
          </a:p>
        </p:txBody>
      </p:sp>
    </p:spTree>
    <p:extLst>
      <p:ext uri="{BB962C8B-B14F-4D97-AF65-F5344CB8AC3E}">
        <p14:creationId xmlns:p14="http://schemas.microsoft.com/office/powerpoint/2010/main" val="31070041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E01BBD22-110F-4283-B4F1-7879B66A1E4B}" type="slidenum">
              <a:rPr lang="en-US"/>
              <a:pPr/>
              <a:t>76</a:t>
            </a:fld>
            <a:endParaRPr lang="en-US"/>
          </a:p>
        </p:txBody>
      </p:sp>
      <p:sp>
        <p:nvSpPr>
          <p:cNvPr id="56322" name="Rectangle 2"/>
          <p:cNvSpPr>
            <a:spLocks noGrp="1" noRot="1" noChangeAspect="1" noChangeArrowheads="1" noTextEdit="1"/>
          </p:cNvSpPr>
          <p:nvPr>
            <p:ph type="sldImg"/>
          </p:nvPr>
        </p:nvSpPr>
        <p:spPr>
          <a:ln cap="flat"/>
        </p:spPr>
      </p:sp>
      <p:sp>
        <p:nvSpPr>
          <p:cNvPr id="56323" name="Rectangle 3"/>
          <p:cNvSpPr>
            <a:spLocks noGrp="1" noChangeArrowheads="1"/>
          </p:cNvSpPr>
          <p:nvPr>
            <p:ph type="body" idx="1"/>
          </p:nvPr>
        </p:nvSpPr>
        <p:spPr>
          <a:ln/>
        </p:spPr>
        <p:txBody>
          <a:bodyPr/>
          <a:lstStyle/>
          <a:p>
            <a:endParaRPr lang="en-CA"/>
          </a:p>
        </p:txBody>
      </p:sp>
    </p:spTree>
    <p:extLst>
      <p:ext uri="{BB962C8B-B14F-4D97-AF65-F5344CB8AC3E}">
        <p14:creationId xmlns:p14="http://schemas.microsoft.com/office/powerpoint/2010/main" val="5860660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pPr fontAlgn="base"/>
            <a:r>
              <a:rPr lang="en-US" sz="1200" b="1" i="0" kern="1200" dirty="0">
                <a:solidFill>
                  <a:schemeClr val="tx1"/>
                </a:solidFill>
                <a:effectLst/>
                <a:latin typeface="+mn-lt"/>
                <a:ea typeface="+mn-ea"/>
                <a:cs typeface="+mn-cs"/>
              </a:rPr>
              <a:t>1. Strive for consistency.</a:t>
            </a:r>
          </a:p>
          <a:p>
            <a:pPr fontAlgn="base"/>
            <a:r>
              <a:rPr lang="en-US" sz="1200" b="0" i="0" kern="1200" dirty="0">
                <a:solidFill>
                  <a:schemeClr val="tx1"/>
                </a:solidFill>
                <a:effectLst/>
                <a:latin typeface="+mn-lt"/>
                <a:ea typeface="+mn-ea"/>
                <a:cs typeface="+mn-cs"/>
              </a:rPr>
              <a:t>Consistent sequences of actions should be required in similar situations; identical terminology should be used in prompts, menus, and help screens; and consistent color, layout, capitalization, fonts, and so on should be employed throughout. Exceptions, such as required confirmation of the delete command or no echoing of passwords, should be comprehensible and limited in number.</a:t>
            </a:r>
          </a:p>
          <a:p>
            <a:pPr fontAlgn="base"/>
            <a:r>
              <a:rPr lang="en-US" sz="1200" b="1" i="0" kern="1200" dirty="0">
                <a:solidFill>
                  <a:schemeClr val="tx1"/>
                </a:solidFill>
                <a:effectLst/>
                <a:latin typeface="+mn-lt"/>
                <a:ea typeface="+mn-ea"/>
                <a:cs typeface="+mn-cs"/>
              </a:rPr>
              <a:t>2. Cater to universal usability.</a:t>
            </a:r>
          </a:p>
          <a:p>
            <a:pPr fontAlgn="base"/>
            <a:r>
              <a:rPr lang="en-US" sz="1200" b="0" i="0" kern="1200" dirty="0">
                <a:solidFill>
                  <a:schemeClr val="tx1"/>
                </a:solidFill>
                <a:effectLst/>
                <a:latin typeface="+mn-lt"/>
                <a:ea typeface="+mn-ea"/>
                <a:cs typeface="+mn-cs"/>
              </a:rPr>
              <a:t>Recognize the needs of diverse users and design for plasticity, facilitating transformation of content. Novice to expert differences, age ranges, disabilities, and technological diversity each enrich the spectrum of requirements that guides design. Adding features for novices, such as explanations, and features for experts, such as shortcuts and faster pacing, can enrich the interface design and improve perceived system quality.</a:t>
            </a:r>
          </a:p>
          <a:p>
            <a:pPr fontAlgn="base"/>
            <a:r>
              <a:rPr lang="en-US" sz="1200" b="1" i="0" kern="1200" dirty="0">
                <a:solidFill>
                  <a:schemeClr val="tx1"/>
                </a:solidFill>
                <a:effectLst/>
                <a:latin typeface="+mn-lt"/>
                <a:ea typeface="+mn-ea"/>
                <a:cs typeface="+mn-cs"/>
              </a:rPr>
              <a:t>3. Offer informative feedback.</a:t>
            </a:r>
          </a:p>
          <a:p>
            <a:pPr fontAlgn="base"/>
            <a:r>
              <a:rPr lang="en-US" sz="1200" b="0" i="0" kern="1200" dirty="0">
                <a:solidFill>
                  <a:schemeClr val="tx1"/>
                </a:solidFill>
                <a:effectLst/>
                <a:latin typeface="+mn-lt"/>
                <a:ea typeface="+mn-ea"/>
                <a:cs typeface="+mn-cs"/>
              </a:rPr>
              <a:t>For every user action, there should be system feedback. For frequent and minor actions, the response can be modest, whereas for infrequent and major actions, the response should be more substantial. Visual presentation of the objects of interest provides a convenient environment for showing changes explicitly.</a:t>
            </a:r>
          </a:p>
          <a:p>
            <a:pPr fontAlgn="base"/>
            <a:r>
              <a:rPr lang="en-US" sz="1200" b="1" i="0" kern="1200" dirty="0">
                <a:solidFill>
                  <a:schemeClr val="tx1"/>
                </a:solidFill>
                <a:effectLst/>
                <a:latin typeface="+mn-lt"/>
                <a:ea typeface="+mn-ea"/>
                <a:cs typeface="+mn-cs"/>
              </a:rPr>
              <a:t>4. Design dialogs to yield closure.</a:t>
            </a:r>
          </a:p>
          <a:p>
            <a:pPr fontAlgn="base"/>
            <a:r>
              <a:rPr lang="en-US" sz="1200" b="0" i="0" kern="1200" dirty="0">
                <a:solidFill>
                  <a:schemeClr val="tx1"/>
                </a:solidFill>
                <a:effectLst/>
                <a:latin typeface="+mn-lt"/>
                <a:ea typeface="+mn-ea"/>
                <a:cs typeface="+mn-cs"/>
              </a:rPr>
              <a:t>Sequences of actions should be organized into groups with a beginning, middle, and end. Informative feedback at the completion of a group of actions gives operators the satisfaction of accomplishment, a sense of relief, a signal to drop contingency plans from their minds, and an indicator to prepare for the next group of actions. For example, e-commerce web sites move users from selecting products to the checkout, ending with a clear confirmation page that completes the transaction.</a:t>
            </a:r>
          </a:p>
          <a:p>
            <a:pPr fontAlgn="base"/>
            <a:r>
              <a:rPr lang="en-US" sz="1200" b="1" i="0" kern="1200" dirty="0">
                <a:solidFill>
                  <a:schemeClr val="tx1"/>
                </a:solidFill>
                <a:effectLst/>
                <a:latin typeface="+mn-lt"/>
                <a:ea typeface="+mn-ea"/>
                <a:cs typeface="+mn-cs"/>
              </a:rPr>
              <a:t>5. Prevent errors.</a:t>
            </a:r>
          </a:p>
          <a:p>
            <a:pPr fontAlgn="base"/>
            <a:r>
              <a:rPr lang="en-US" sz="1200" b="0" i="0" kern="1200" dirty="0">
                <a:solidFill>
                  <a:schemeClr val="tx1"/>
                </a:solidFill>
                <a:effectLst/>
                <a:latin typeface="+mn-lt"/>
                <a:ea typeface="+mn-ea"/>
                <a:cs typeface="+mn-cs"/>
              </a:rPr>
              <a:t>As much as possible, design the system such that users cannot make serious errors; for example, gray out menu items that are not appropriate and do not allow alphabetic characters in numeric entry fields. If a user makes an error, the interface should detect the error and offer simple, constructive, and specific instructions for recovery. For example, users should not have to retype an entire name-address form if they enter an invalid zip code, but rather should be guided to repair only the faulty part. Erroneous actions should leave the system state unchanged, or the interface should give instructions about restoring the state.</a:t>
            </a:r>
          </a:p>
          <a:p>
            <a:pPr fontAlgn="base"/>
            <a:r>
              <a:rPr lang="en-US" sz="1200" b="1" i="0" kern="1200" dirty="0">
                <a:solidFill>
                  <a:schemeClr val="tx1"/>
                </a:solidFill>
                <a:effectLst/>
                <a:latin typeface="+mn-lt"/>
                <a:ea typeface="+mn-ea"/>
                <a:cs typeface="+mn-cs"/>
              </a:rPr>
              <a:t>6. Permit easy reversal of actions.</a:t>
            </a:r>
          </a:p>
          <a:p>
            <a:pPr fontAlgn="base"/>
            <a:r>
              <a:rPr lang="en-US" sz="1200" b="0" i="0" kern="1200" dirty="0">
                <a:solidFill>
                  <a:schemeClr val="tx1"/>
                </a:solidFill>
                <a:effectLst/>
                <a:latin typeface="+mn-lt"/>
                <a:ea typeface="+mn-ea"/>
                <a:cs typeface="+mn-cs"/>
              </a:rPr>
              <a:t>As much as possible, actions should be reversible. This feature relieves anxiety, since the user knows that errors can be undone, and encourages exploration of unfamiliar options. The units of reversibility may be a single action, a data-entry task, or a complete group of actions, such as entry of a name-address block.</a:t>
            </a:r>
          </a:p>
          <a:p>
            <a:pPr fontAlgn="base"/>
            <a:r>
              <a:rPr lang="en-US" sz="1200" b="1" i="0" kern="1200" dirty="0">
                <a:solidFill>
                  <a:schemeClr val="tx1"/>
                </a:solidFill>
                <a:effectLst/>
                <a:latin typeface="+mn-lt"/>
                <a:ea typeface="+mn-ea"/>
                <a:cs typeface="+mn-cs"/>
              </a:rPr>
              <a:t>7. Support internal locus of control.</a:t>
            </a:r>
          </a:p>
          <a:p>
            <a:pPr fontAlgn="base"/>
            <a:r>
              <a:rPr lang="en-US" sz="1200" b="0" i="0" kern="1200" dirty="0">
                <a:solidFill>
                  <a:schemeClr val="tx1"/>
                </a:solidFill>
                <a:effectLst/>
                <a:latin typeface="+mn-lt"/>
                <a:ea typeface="+mn-ea"/>
                <a:cs typeface="+mn-cs"/>
              </a:rPr>
              <a:t>Experienced users strongly desire the sense that they are in charge of the interface and that the interface responds to their actions. They don’t want surprises or changes in familiar behavior, and they are annoyed by tedious data-entry sequences, difficulty in obtaining necessary information, and inability to produce their desired result.</a:t>
            </a:r>
          </a:p>
          <a:p>
            <a:pPr fontAlgn="base"/>
            <a:r>
              <a:rPr lang="en-US" sz="1200" b="1" i="0" kern="1200" dirty="0">
                <a:solidFill>
                  <a:schemeClr val="tx1"/>
                </a:solidFill>
                <a:effectLst/>
                <a:latin typeface="+mn-lt"/>
                <a:ea typeface="+mn-ea"/>
                <a:cs typeface="+mn-cs"/>
              </a:rPr>
              <a:t>8. Reduce short-term memory load.</a:t>
            </a:r>
          </a:p>
          <a:p>
            <a:pPr fontAlgn="base"/>
            <a:r>
              <a:rPr lang="en-US" sz="1200" b="0" i="0" kern="1200" dirty="0">
                <a:solidFill>
                  <a:schemeClr val="tx1"/>
                </a:solidFill>
                <a:effectLst/>
                <a:latin typeface="+mn-lt"/>
                <a:ea typeface="+mn-ea"/>
                <a:cs typeface="+mn-cs"/>
              </a:rPr>
              <a:t>Humans’ limited capacity for information processing in short-term memory (the rule of thumb is that we can remember "seven plus or minus two chunks" of information) requires that designers avoid interfaces in which users must remember information from one screen and then use that information on another screen. It means that cell phones should not require re-entry of phone numbers, web-site locations should remain visible, multiple-page displays should be consolidated, and sufficient training time should be allotted for complex sequences of actions.</a:t>
            </a:r>
          </a:p>
          <a:p>
            <a:pPr fontAlgn="base"/>
            <a:r>
              <a:rPr lang="en-US" sz="1200" b="0" i="0" kern="1200" dirty="0">
                <a:solidFill>
                  <a:schemeClr val="tx1"/>
                </a:solidFill>
                <a:effectLst/>
                <a:latin typeface="+mn-lt"/>
                <a:ea typeface="+mn-ea"/>
                <a:cs typeface="+mn-cs"/>
              </a:rPr>
              <a:t>These underlying principles must be interpreted, refined, and extended for each environment. They have their limitations, but they provide a good starting point for mobile, desktop, and web designers. </a:t>
            </a:r>
            <a:r>
              <a:rPr lang="en-US" sz="1200" b="0" i="0" kern="1200">
                <a:solidFill>
                  <a:schemeClr val="tx1"/>
                </a:solidFill>
                <a:effectLst/>
                <a:latin typeface="+mn-lt"/>
                <a:ea typeface="+mn-ea"/>
                <a:cs typeface="+mn-cs"/>
              </a:rPr>
              <a:t>The principles presented in the ensuing sections focus on increasing users’ productivity by providing simplified data-entry procedures, comprehensible displays, and rapid informative feedback to increase feelings of competence, mastery, and control over the system.</a:t>
            </a:r>
          </a:p>
        </p:txBody>
      </p:sp>
      <p:sp>
        <p:nvSpPr>
          <p:cNvPr id="4" name="Slide Number Placeholder 3"/>
          <p:cNvSpPr>
            <a:spLocks noGrp="1"/>
          </p:cNvSpPr>
          <p:nvPr>
            <p:ph type="sldNum" sz="quarter" idx="10"/>
          </p:nvPr>
        </p:nvSpPr>
        <p:spPr/>
        <p:txBody>
          <a:bodyPr/>
          <a:lstStyle/>
          <a:p>
            <a:fld id="{A5E35D07-CE9A-41EA-8351-FED4C60B3E9A}" type="slidenum">
              <a:rPr lang="en-US" smtClean="0"/>
              <a:pPr/>
              <a:t>80</a:t>
            </a:fld>
            <a:endParaRPr lang="en-US"/>
          </a:p>
        </p:txBody>
      </p:sp>
    </p:spTree>
    <p:extLst>
      <p:ext uri="{BB962C8B-B14F-4D97-AF65-F5344CB8AC3E}">
        <p14:creationId xmlns:p14="http://schemas.microsoft.com/office/powerpoint/2010/main" val="4045737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3E233F16-6F8D-46A1-A057-776BA6AD2C46}" type="datetimeFigureOut">
              <a:rPr lang="en-US" smtClean="0"/>
              <a:pPr/>
              <a:t>1/21/2021</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E181D6C9-1B9F-49AE-AE07-342A3A6A70E0}"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3E233F16-6F8D-46A1-A057-776BA6AD2C46}" type="datetimeFigureOut">
              <a:rPr lang="en-US" smtClean="0"/>
              <a:pPr/>
              <a:t>1/21/2021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81D6C9-1B9F-49AE-AE07-342A3A6A70E0}"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3E233F16-6F8D-46A1-A057-776BA6AD2C46}" type="datetimeFigureOut">
              <a:rPr lang="en-US" smtClean="0"/>
              <a:pPr/>
              <a:t>1/21/2021</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E181D6C9-1B9F-49AE-AE07-342A3A6A70E0}"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3E233F16-6F8D-46A1-A057-776BA6AD2C46}" type="datetimeFigureOut">
              <a:rPr lang="en-US" smtClean="0"/>
              <a:pPr/>
              <a:t>1/21/2021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81D6C9-1B9F-49AE-AE07-342A3A6A70E0}"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3E233F16-6F8D-46A1-A057-776BA6AD2C46}" type="datetimeFigureOut">
              <a:rPr lang="en-US" smtClean="0"/>
              <a:pPr/>
              <a:t>1/21/2021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181D6C9-1B9F-49AE-AE07-342A3A6A70E0}"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3E233F16-6F8D-46A1-A057-776BA6AD2C46}" type="datetimeFigureOut">
              <a:rPr lang="en-US" smtClean="0"/>
              <a:pPr/>
              <a:t>1/21/2021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181D6C9-1B9F-49AE-AE07-342A3A6A70E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233F16-6F8D-46A1-A057-776BA6AD2C46}" type="datetimeFigureOut">
              <a:rPr lang="en-US" smtClean="0"/>
              <a:pPr/>
              <a:t>1/21/2021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181D6C9-1B9F-49AE-AE07-342A3A6A70E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3E233F16-6F8D-46A1-A057-776BA6AD2C46}" type="datetimeFigureOut">
              <a:rPr lang="en-US" smtClean="0"/>
              <a:pPr/>
              <a:t>1/21/2021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81D6C9-1B9F-49AE-AE07-342A3A6A70E0}"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3E233F16-6F8D-46A1-A057-776BA6AD2C46}" type="datetimeFigureOut">
              <a:rPr lang="en-US" smtClean="0"/>
              <a:pPr/>
              <a:t>1/21/2021</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E181D6C9-1B9F-49AE-AE07-342A3A6A70E0}"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E233F16-6F8D-46A1-A057-776BA6AD2C46}" type="datetimeFigureOut">
              <a:rPr lang="en-US" smtClean="0"/>
              <a:pPr/>
              <a:t>1/21/2021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81D6C9-1B9F-49AE-AE07-342A3A6A70E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E233F16-6F8D-46A1-A057-776BA6AD2C46}" type="datetimeFigureOut">
              <a:rPr lang="en-US" smtClean="0"/>
              <a:pPr/>
              <a:t>1/21/2021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81D6C9-1B9F-49AE-AE07-342A3A6A70E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3E233F16-6F8D-46A1-A057-776BA6AD2C46}" type="datetimeFigureOut">
              <a:rPr lang="en-US" smtClean="0"/>
              <a:pPr/>
              <a:t>1/21/2021</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E181D6C9-1B9F-49AE-AE07-342A3A6A70E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wmf"/><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5.wmf"/><Relationship Id="rId4" Type="http://schemas.openxmlformats.org/officeDocument/2006/relationships/oleObject" Target="../embeddings/oleObject2.bin"/></Relationships>
</file>

<file path=ppt/slides/_rels/slide26.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4.bin"/><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1.wmf"/><Relationship Id="rId4" Type="http://schemas.openxmlformats.org/officeDocument/2006/relationships/oleObject" Target="../embeddings/oleObject5.bin"/></Relationships>
</file>

<file path=ppt/slides/_rels/slide28.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oleObject" Target="../embeddings/oleObject6.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 Id="rId5" Type="http://schemas.openxmlformats.org/officeDocument/2006/relationships/image" Target="../media/image18.png"/><Relationship Id="rId4" Type="http://schemas.openxmlformats.org/officeDocument/2006/relationships/image" Target="../media/image17.png"/></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4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4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6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wmf"/></Relationships>
</file>

<file path=ppt/slides/_rels/slide6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6.xml"/><Relationship Id="rId5" Type="http://schemas.openxmlformats.org/officeDocument/2006/relationships/image" Target="../media/image53.png"/><Relationship Id="rId4" Type="http://schemas.openxmlformats.org/officeDocument/2006/relationships/image" Target="../media/image52.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2.xml.rels><?xml version="1.0" encoding="UTF-8" standalone="yes"?>
<Relationships xmlns="http://schemas.openxmlformats.org/package/2006/relationships"><Relationship Id="rId8" Type="http://schemas.openxmlformats.org/officeDocument/2006/relationships/image" Target="../media/image60.wmf"/><Relationship Id="rId3" Type="http://schemas.openxmlformats.org/officeDocument/2006/relationships/image" Target="../media/image55.wmf"/><Relationship Id="rId7" Type="http://schemas.openxmlformats.org/officeDocument/2006/relationships/image" Target="../media/image59.wmf"/><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58.wmf"/><Relationship Id="rId11" Type="http://schemas.openxmlformats.org/officeDocument/2006/relationships/image" Target="../media/image62.wmf"/><Relationship Id="rId5" Type="http://schemas.openxmlformats.org/officeDocument/2006/relationships/image" Target="../media/image57.wmf"/><Relationship Id="rId10" Type="http://schemas.openxmlformats.org/officeDocument/2006/relationships/oleObject" Target="../embeddings/oleObject8.bin"/><Relationship Id="rId4" Type="http://schemas.openxmlformats.org/officeDocument/2006/relationships/image" Target="../media/image56.wmf"/><Relationship Id="rId9" Type="http://schemas.openxmlformats.org/officeDocument/2006/relationships/image" Target="../media/image61.wmf"/></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66.wmf"/></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image" Target="../media/image67.png"/><Relationship Id="rId1" Type="http://schemas.openxmlformats.org/officeDocument/2006/relationships/slideLayout" Target="../slideLayouts/slideLayout2.xml"/><Relationship Id="rId4" Type="http://schemas.openxmlformats.org/officeDocument/2006/relationships/image" Target="../media/image5.wmf"/></Relationships>
</file>

<file path=ppt/slides/_rels/slide7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hyperlink" Target="https://uxdesign.cc/ux-case-study-heuristic-analysis-of-yuppiechef-com-c92098052ce4" TargetMode="External"/><Relationship Id="rId2" Type="http://schemas.openxmlformats.org/officeDocument/2006/relationships/hyperlink" Target="https://usabilitygeek.com/heuristic-evaluation-introduction/" TargetMode="External"/><Relationship Id="rId1" Type="http://schemas.openxmlformats.org/officeDocument/2006/relationships/slideLayout" Target="../slideLayouts/slideLayout2.xml"/><Relationship Id="rId5" Type="http://schemas.openxmlformats.org/officeDocument/2006/relationships/hyperlink" Target="https://blog.prototypr.io/10-usability-heuristics-with-examples-4a81ada920c" TargetMode="External"/><Relationship Id="rId4" Type="http://schemas.openxmlformats.org/officeDocument/2006/relationships/hyperlink" Target="https://uxgorilla.com/heuristic-evalua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Human Computer Interaction  </a:t>
            </a:r>
            <a:br>
              <a:rPr lang="en-US" dirty="0"/>
            </a:br>
            <a:r>
              <a:rPr sz="3200"/>
              <a:t>Evaluations </a:t>
            </a:r>
            <a:r>
              <a:rPr lang="en-US" sz="3200" dirty="0"/>
              <a:t>–</a:t>
            </a:r>
            <a:r>
              <a:rPr sz="3200"/>
              <a:t> Heuristics     </a:t>
            </a:r>
            <a:endParaRPr lang="en-US" sz="3200"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endParaRPr lang="en-US" dirty="0"/>
          </a:p>
        </p:txBody>
      </p:sp>
      <p:sp>
        <p:nvSpPr>
          <p:cNvPr id="3" name="Title 2"/>
          <p:cNvSpPr>
            <a:spLocks noGrp="1"/>
          </p:cNvSpPr>
          <p:nvPr>
            <p:ph type="title"/>
          </p:nvPr>
        </p:nvSpPr>
        <p:spPr/>
        <p:txBody>
          <a:bodyPr/>
          <a:lstStyle/>
          <a:p>
            <a:r>
              <a:rPr lang="en-US" dirty="0"/>
              <a:t>Usability Evaluation</a:t>
            </a:r>
          </a:p>
        </p:txBody>
      </p:sp>
    </p:spTree>
    <p:extLst>
      <p:ext uri="{BB962C8B-B14F-4D97-AF65-F5344CB8AC3E}">
        <p14:creationId xmlns:p14="http://schemas.microsoft.com/office/powerpoint/2010/main" val="18607972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DAD56-6742-4BE9-B53C-ED331038664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0451232-F16E-4BAF-BD4C-2978083EC36B}"/>
              </a:ext>
            </a:extLst>
          </p:cNvPr>
          <p:cNvSpPr>
            <a:spLocks noGrp="1"/>
          </p:cNvSpPr>
          <p:nvPr>
            <p:ph sz="quarter" idx="1"/>
          </p:nvPr>
        </p:nvSpPr>
        <p:spPr/>
        <p:txBody>
          <a:bodyPr/>
          <a:lstStyle/>
          <a:p>
            <a:r>
              <a:rPr lang="en-US" dirty="0"/>
              <a:t>Testing (real-user based) expensive </a:t>
            </a:r>
          </a:p>
          <a:p>
            <a:endParaRPr lang="en-US" dirty="0"/>
          </a:p>
          <a:p>
            <a:r>
              <a:rPr lang="en-US" dirty="0"/>
              <a:t>Inspection (expert based) discounted usability </a:t>
            </a:r>
          </a:p>
        </p:txBody>
      </p:sp>
    </p:spTree>
    <p:extLst>
      <p:ext uri="{BB962C8B-B14F-4D97-AF65-F5344CB8AC3E}">
        <p14:creationId xmlns:p14="http://schemas.microsoft.com/office/powerpoint/2010/main" val="3103197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CF1D1-DAC9-4E20-9048-A9B4C249C837}"/>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423CB3F1-AC42-40F0-8943-11E48A050417}"/>
              </a:ext>
            </a:extLst>
          </p:cNvPr>
          <p:cNvSpPr>
            <a:spLocks noGrp="1"/>
          </p:cNvSpPr>
          <p:nvPr>
            <p:ph sz="quarter" idx="1"/>
          </p:nvPr>
        </p:nvSpPr>
        <p:spPr>
          <a:xfrm>
            <a:off x="914400" y="1447800"/>
            <a:ext cx="8077200" cy="4572000"/>
          </a:xfrm>
        </p:spPr>
        <p:txBody>
          <a:bodyPr>
            <a:normAutofit/>
          </a:bodyPr>
          <a:lstStyle/>
          <a:p>
            <a:r>
              <a:rPr lang="en-US" dirty="0"/>
              <a:t>Usability Evaluation </a:t>
            </a:r>
          </a:p>
          <a:p>
            <a:pPr lvl="1"/>
            <a:r>
              <a:rPr lang="en-US" dirty="0"/>
              <a:t>Testing (real end-users) </a:t>
            </a:r>
          </a:p>
          <a:p>
            <a:pPr lvl="1"/>
            <a:r>
              <a:rPr lang="en-US" dirty="0"/>
              <a:t>Inspections (usability experts) </a:t>
            </a:r>
          </a:p>
          <a:p>
            <a:pPr lvl="2"/>
            <a:r>
              <a:rPr lang="en-US" dirty="0"/>
              <a:t>Also called discounted usability </a:t>
            </a:r>
          </a:p>
          <a:p>
            <a:pPr lvl="2"/>
            <a:r>
              <a:rPr lang="en-US" dirty="0"/>
              <a:t>Usability experts assumes user’s role with the help of personas and scenario </a:t>
            </a:r>
          </a:p>
          <a:p>
            <a:pPr lvl="2"/>
            <a:endParaRPr lang="en-US" dirty="0"/>
          </a:p>
          <a:p>
            <a:r>
              <a:rPr lang="en-US" dirty="0"/>
              <a:t>Timeline of evaluation </a:t>
            </a:r>
          </a:p>
          <a:p>
            <a:pPr lvl="1"/>
            <a:r>
              <a:rPr lang="en-US" dirty="0"/>
              <a:t>Exploratory evaluation (before design), only testing  </a:t>
            </a:r>
          </a:p>
          <a:p>
            <a:pPr lvl="1"/>
            <a:r>
              <a:rPr lang="en-US" dirty="0"/>
              <a:t>Predictive evaluation (during design), only inspection, no testing   </a:t>
            </a:r>
          </a:p>
          <a:p>
            <a:pPr lvl="1"/>
            <a:r>
              <a:rPr lang="en-US" dirty="0"/>
              <a:t>Formative evaluation </a:t>
            </a:r>
          </a:p>
          <a:p>
            <a:pPr lvl="1"/>
            <a:r>
              <a:rPr lang="en-US" dirty="0"/>
              <a:t>Summative evaluation </a:t>
            </a:r>
          </a:p>
        </p:txBody>
      </p:sp>
    </p:spTree>
    <p:extLst>
      <p:ext uri="{BB962C8B-B14F-4D97-AF65-F5344CB8AC3E}">
        <p14:creationId xmlns:p14="http://schemas.microsoft.com/office/powerpoint/2010/main" val="1402301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Usability Evaluation</a:t>
            </a:r>
          </a:p>
        </p:txBody>
      </p:sp>
      <p:sp>
        <p:nvSpPr>
          <p:cNvPr id="3" name="Content Placeholder 2"/>
          <p:cNvSpPr>
            <a:spLocks noGrp="1"/>
          </p:cNvSpPr>
          <p:nvPr>
            <p:ph sz="quarter" idx="1"/>
          </p:nvPr>
        </p:nvSpPr>
        <p:spPr/>
        <p:txBody>
          <a:bodyPr/>
          <a:lstStyle/>
          <a:p>
            <a:r>
              <a:rPr lang="en-US" dirty="0"/>
              <a:t>There are four types of evaluation, according to the purpose of the evaluation:</a:t>
            </a:r>
          </a:p>
          <a:p>
            <a:pPr lvl="1"/>
            <a:r>
              <a:rPr lang="en-US" b="1" dirty="0"/>
              <a:t>Exploratory</a:t>
            </a:r>
            <a:r>
              <a:rPr lang="en-US" dirty="0"/>
              <a:t> - how is it (or will it be) used?</a:t>
            </a:r>
          </a:p>
          <a:p>
            <a:pPr lvl="1"/>
            <a:r>
              <a:rPr lang="en-US" b="1" dirty="0"/>
              <a:t>Predictive</a:t>
            </a:r>
            <a:r>
              <a:rPr lang="en-US" dirty="0"/>
              <a:t> - estimating how good it will be.</a:t>
            </a:r>
          </a:p>
          <a:p>
            <a:pPr lvl="1"/>
            <a:r>
              <a:rPr lang="en-US" b="1" dirty="0"/>
              <a:t>Formative</a:t>
            </a:r>
            <a:r>
              <a:rPr lang="en-US" dirty="0"/>
              <a:t> - how can it be made better?</a:t>
            </a:r>
          </a:p>
          <a:p>
            <a:pPr lvl="1"/>
            <a:r>
              <a:rPr lang="en-US" b="1" dirty="0"/>
              <a:t>Summative</a:t>
            </a:r>
            <a:r>
              <a:rPr lang="en-US" dirty="0"/>
              <a:t> - how good is it?</a:t>
            </a:r>
          </a:p>
        </p:txBody>
      </p:sp>
    </p:spTree>
    <p:extLst>
      <p:ext uri="{BB962C8B-B14F-4D97-AF65-F5344CB8AC3E}">
        <p14:creationId xmlns:p14="http://schemas.microsoft.com/office/powerpoint/2010/main" val="42657681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Modified Soup Analogy</a:t>
            </a:r>
          </a:p>
        </p:txBody>
      </p:sp>
      <p:sp>
        <p:nvSpPr>
          <p:cNvPr id="3" name="Content Placeholder 2"/>
          <p:cNvSpPr>
            <a:spLocks noGrp="1"/>
          </p:cNvSpPr>
          <p:nvPr>
            <p:ph sz="quarter" idx="1"/>
          </p:nvPr>
        </p:nvSpPr>
        <p:spPr/>
        <p:txBody>
          <a:bodyPr>
            <a:normAutofit lnSpcReduction="10000"/>
          </a:bodyPr>
          <a:lstStyle/>
          <a:p>
            <a:pPr marL="0" indent="0">
              <a:buNone/>
            </a:pPr>
            <a:r>
              <a:rPr lang="en-US" sz="1900" i="1" dirty="0"/>
              <a:t>Stake, Robert E. [1976]. Evaluating Educational </a:t>
            </a:r>
            <a:r>
              <a:rPr lang="en-US" sz="1900" i="1" dirty="0" err="1"/>
              <a:t>Programmes</a:t>
            </a:r>
            <a:r>
              <a:rPr lang="en-US" sz="1900" i="1" dirty="0"/>
              <a:t>: The Need and the Response: A Collection of Resource Materials. OECD. </a:t>
            </a:r>
          </a:p>
          <a:p>
            <a:pPr marL="0" indent="0">
              <a:buNone/>
            </a:pPr>
            <a:r>
              <a:rPr lang="en-US" sz="1900" i="1" dirty="0" err="1"/>
              <a:t>Lockee</a:t>
            </a:r>
            <a:r>
              <a:rPr lang="en-US" sz="1900" i="1" dirty="0"/>
              <a:t>, Barbara, Mike Moore, and John Burton [2002]. Measuring Success: Evaluation Strategies for Distance Education. EDUCAUSE Quarterly, 25(1), pages 20–26.</a:t>
            </a:r>
          </a:p>
          <a:p>
            <a:endParaRPr lang="en-US" dirty="0"/>
          </a:p>
          <a:p>
            <a:r>
              <a:rPr lang="en-US" dirty="0"/>
              <a:t>“When the cook tastes other cooks’ soups, that’s </a:t>
            </a:r>
            <a:r>
              <a:rPr lang="en-US" b="1" dirty="0"/>
              <a:t>exploratory</a:t>
            </a:r>
            <a:r>
              <a:rPr lang="en-US" dirty="0"/>
              <a:t>.</a:t>
            </a:r>
          </a:p>
          <a:p>
            <a:r>
              <a:rPr lang="en-US" dirty="0"/>
              <a:t>When the cook assesses a certain recipe, that’s </a:t>
            </a:r>
            <a:r>
              <a:rPr lang="en-US" b="1" dirty="0"/>
              <a:t>predictive</a:t>
            </a:r>
            <a:r>
              <a:rPr lang="en-US" dirty="0"/>
              <a:t>.</a:t>
            </a:r>
          </a:p>
          <a:p>
            <a:r>
              <a:rPr lang="en-US" dirty="0"/>
              <a:t>When the cook tastes the soup while making it, that’s </a:t>
            </a:r>
            <a:r>
              <a:rPr lang="en-US" b="1" dirty="0"/>
              <a:t>formative</a:t>
            </a:r>
            <a:r>
              <a:rPr lang="en-US" dirty="0"/>
              <a:t>.</a:t>
            </a:r>
          </a:p>
          <a:p>
            <a:r>
              <a:rPr lang="en-US" dirty="0"/>
              <a:t>When the guests (or food critics) taste the soup, that’s </a:t>
            </a:r>
            <a:r>
              <a:rPr lang="en-US" b="1" dirty="0"/>
              <a:t>summative</a:t>
            </a:r>
            <a:r>
              <a:rPr lang="en-US" dirty="0"/>
              <a:t>.”</a:t>
            </a:r>
          </a:p>
          <a:p>
            <a:endParaRPr lang="en-US" dirty="0"/>
          </a:p>
        </p:txBody>
      </p:sp>
    </p:spTree>
    <p:extLst>
      <p:ext uri="{BB962C8B-B14F-4D97-AF65-F5344CB8AC3E}">
        <p14:creationId xmlns:p14="http://schemas.microsoft.com/office/powerpoint/2010/main" val="40629129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Exploratory Evaluation</a:t>
            </a:r>
          </a:p>
        </p:txBody>
      </p:sp>
      <p:sp>
        <p:nvSpPr>
          <p:cNvPr id="3" name="Content Placeholder 2"/>
          <p:cNvSpPr>
            <a:spLocks noGrp="1"/>
          </p:cNvSpPr>
          <p:nvPr>
            <p:ph sz="quarter" idx="1"/>
          </p:nvPr>
        </p:nvSpPr>
        <p:spPr/>
        <p:txBody>
          <a:bodyPr/>
          <a:lstStyle/>
          <a:p>
            <a:r>
              <a:rPr lang="en-US" dirty="0"/>
              <a:t>Explores current usage and the potential design space for new designs.</a:t>
            </a:r>
          </a:p>
          <a:p>
            <a:pPr lvl="1"/>
            <a:r>
              <a:rPr lang="en-US" dirty="0"/>
              <a:t>Done before interface development.</a:t>
            </a:r>
          </a:p>
          <a:p>
            <a:pPr lvl="1"/>
            <a:r>
              <a:rPr lang="en-US" dirty="0"/>
              <a:t>Learn which software is used, how often, and what for.</a:t>
            </a:r>
          </a:p>
          <a:p>
            <a:pPr lvl="1"/>
            <a:r>
              <a:rPr lang="en-US" dirty="0"/>
              <a:t>Collect usage data – statistical summaries and observations of usage.</a:t>
            </a:r>
          </a:p>
        </p:txBody>
      </p:sp>
    </p:spTree>
    <p:extLst>
      <p:ext uri="{BB962C8B-B14F-4D97-AF65-F5344CB8AC3E}">
        <p14:creationId xmlns:p14="http://schemas.microsoft.com/office/powerpoint/2010/main" val="3276671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Predictive Evaluation</a:t>
            </a:r>
          </a:p>
        </p:txBody>
      </p:sp>
      <p:sp>
        <p:nvSpPr>
          <p:cNvPr id="3" name="Content Placeholder 2"/>
          <p:cNvSpPr>
            <a:spLocks noGrp="1"/>
          </p:cNvSpPr>
          <p:nvPr>
            <p:ph sz="quarter" idx="1"/>
          </p:nvPr>
        </p:nvSpPr>
        <p:spPr/>
        <p:txBody>
          <a:bodyPr/>
          <a:lstStyle/>
          <a:p>
            <a:r>
              <a:rPr lang="en-US" dirty="0"/>
              <a:t>Predictive evaluation uses an engineering model of human cognition to predict usability</a:t>
            </a:r>
          </a:p>
          <a:p>
            <a:pPr lvl="1"/>
            <a:r>
              <a:rPr lang="en-US" dirty="0"/>
              <a:t>In this case, we will predict efficiency</a:t>
            </a:r>
          </a:p>
          <a:p>
            <a:r>
              <a:rPr lang="en-US" dirty="0"/>
              <a:t>The engineering model is</a:t>
            </a:r>
          </a:p>
          <a:p>
            <a:pPr lvl="1"/>
            <a:r>
              <a:rPr lang="en-US" dirty="0"/>
              <a:t>Abstract</a:t>
            </a:r>
          </a:p>
          <a:p>
            <a:pPr lvl="1"/>
            <a:r>
              <a:rPr lang="en-US" dirty="0"/>
              <a:t>Quantitative</a:t>
            </a:r>
          </a:p>
          <a:p>
            <a:pPr lvl="1"/>
            <a:r>
              <a:rPr lang="en-US" dirty="0"/>
              <a:t>Approximate</a:t>
            </a:r>
          </a:p>
          <a:p>
            <a:pPr lvl="1"/>
            <a:r>
              <a:rPr lang="en-US" dirty="0"/>
              <a:t>Estimated from user experiments</a:t>
            </a:r>
          </a:p>
          <a:p>
            <a:endParaRPr lang="en-US" dirty="0"/>
          </a:p>
          <a:p>
            <a:pPr lvl="1"/>
            <a:endParaRPr lang="en-US" dirty="0"/>
          </a:p>
          <a:p>
            <a:endParaRPr lang="en-US" dirty="0"/>
          </a:p>
        </p:txBody>
      </p:sp>
    </p:spTree>
    <p:extLst>
      <p:ext uri="{BB962C8B-B14F-4D97-AF65-F5344CB8AC3E}">
        <p14:creationId xmlns:p14="http://schemas.microsoft.com/office/powerpoint/2010/main" val="2400759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 of Predictive evaluation</a:t>
            </a:r>
          </a:p>
        </p:txBody>
      </p:sp>
      <p:sp>
        <p:nvSpPr>
          <p:cNvPr id="3" name="Content Placeholder 2"/>
          <p:cNvSpPr>
            <a:spLocks noGrp="1"/>
          </p:cNvSpPr>
          <p:nvPr>
            <p:ph sz="quarter" idx="1"/>
          </p:nvPr>
        </p:nvSpPr>
        <p:spPr/>
        <p:txBody>
          <a:bodyPr/>
          <a:lstStyle/>
          <a:p>
            <a:r>
              <a:rPr lang="en-US" dirty="0"/>
              <a:t>Don’t have to build UI Prototype</a:t>
            </a:r>
          </a:p>
          <a:p>
            <a:pPr lvl="1"/>
            <a:r>
              <a:rPr lang="en-US" dirty="0"/>
              <a:t>Can compare design alternatives with no implementation whatsoever</a:t>
            </a:r>
          </a:p>
          <a:p>
            <a:r>
              <a:rPr lang="en-US" dirty="0"/>
              <a:t>Don’t have to test real live users</a:t>
            </a:r>
          </a:p>
          <a:p>
            <a:r>
              <a:rPr lang="en-US" dirty="0"/>
              <a:t>Theory provides explanations of UI Problems</a:t>
            </a:r>
          </a:p>
          <a:p>
            <a:pPr lvl="1"/>
            <a:r>
              <a:rPr lang="en-US" dirty="0"/>
              <a:t>So it points to the areas where design can be improved</a:t>
            </a:r>
          </a:p>
          <a:p>
            <a:pPr lvl="1"/>
            <a:r>
              <a:rPr lang="en-US" dirty="0"/>
              <a:t>User testing may only reveal problems, not explain them</a:t>
            </a:r>
          </a:p>
        </p:txBody>
      </p:sp>
    </p:spTree>
    <p:extLst>
      <p:ext uri="{BB962C8B-B14F-4D97-AF65-F5344CB8AC3E}">
        <p14:creationId xmlns:p14="http://schemas.microsoft.com/office/powerpoint/2010/main" val="32465448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Formative Evaluation</a:t>
            </a:r>
          </a:p>
        </p:txBody>
      </p:sp>
      <p:sp>
        <p:nvSpPr>
          <p:cNvPr id="3" name="Content Placeholder 2"/>
          <p:cNvSpPr>
            <a:spLocks noGrp="1"/>
          </p:cNvSpPr>
          <p:nvPr>
            <p:ph sz="quarter" idx="1"/>
          </p:nvPr>
        </p:nvSpPr>
        <p:spPr/>
        <p:txBody>
          <a:bodyPr>
            <a:normAutofit/>
          </a:bodyPr>
          <a:lstStyle/>
          <a:p>
            <a:r>
              <a:rPr lang="en-US" dirty="0"/>
              <a:t>Informs the design process and helps improve an interface during design.</a:t>
            </a:r>
          </a:p>
          <a:p>
            <a:r>
              <a:rPr lang="en-US" dirty="0"/>
              <a:t>Done during interface development.</a:t>
            </a:r>
          </a:p>
          <a:p>
            <a:r>
              <a:rPr lang="en-US" dirty="0"/>
              <a:t>Learn why something went wrong, not just that it went wrong.</a:t>
            </a:r>
          </a:p>
          <a:p>
            <a:r>
              <a:rPr lang="en-US" dirty="0"/>
              <a:t>Collect process data – qualitative observations of what happened and why.</a:t>
            </a:r>
          </a:p>
        </p:txBody>
      </p:sp>
    </p:spTree>
    <p:extLst>
      <p:ext uri="{BB962C8B-B14F-4D97-AF65-F5344CB8AC3E}">
        <p14:creationId xmlns:p14="http://schemas.microsoft.com/office/powerpoint/2010/main" val="38920127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Summative Evaluation</a:t>
            </a:r>
          </a:p>
        </p:txBody>
      </p:sp>
      <p:sp>
        <p:nvSpPr>
          <p:cNvPr id="3" name="Content Placeholder 2"/>
          <p:cNvSpPr>
            <a:spLocks noGrp="1"/>
          </p:cNvSpPr>
          <p:nvPr>
            <p:ph sz="quarter" idx="1"/>
          </p:nvPr>
        </p:nvSpPr>
        <p:spPr/>
        <p:txBody>
          <a:bodyPr>
            <a:normAutofit/>
          </a:bodyPr>
          <a:lstStyle/>
          <a:p>
            <a:r>
              <a:rPr lang="en-US" dirty="0"/>
              <a:t>Assesses the overall quality of an interface.</a:t>
            </a:r>
          </a:p>
          <a:p>
            <a:r>
              <a:rPr lang="en-US" dirty="0"/>
              <a:t>Done once an interface is (more or less) finished.</a:t>
            </a:r>
          </a:p>
          <a:p>
            <a:r>
              <a:rPr lang="en-US" dirty="0"/>
              <a:t>Either compare alternative designs, or test definite performance requirements.</a:t>
            </a:r>
          </a:p>
          <a:p>
            <a:r>
              <a:rPr lang="en-US" dirty="0"/>
              <a:t>Collect bottom-line data – quantitative measurements of performance: how long did users take, were they successful, how many errors did they make.</a:t>
            </a:r>
          </a:p>
        </p:txBody>
      </p:sp>
    </p:spTree>
    <p:extLst>
      <p:ext uri="{BB962C8B-B14F-4D97-AF65-F5344CB8AC3E}">
        <p14:creationId xmlns:p14="http://schemas.microsoft.com/office/powerpoint/2010/main" val="32627991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Usability Evaluation Methods</a:t>
            </a:r>
          </a:p>
        </p:txBody>
      </p:sp>
      <p:sp>
        <p:nvSpPr>
          <p:cNvPr id="3" name="Content Placeholder 2"/>
          <p:cNvSpPr>
            <a:spLocks noGrp="1"/>
          </p:cNvSpPr>
          <p:nvPr>
            <p:ph sz="quarter" idx="1"/>
          </p:nvPr>
        </p:nvSpPr>
        <p:spPr/>
        <p:txBody>
          <a:bodyPr/>
          <a:lstStyle/>
          <a:p>
            <a:r>
              <a:rPr lang="en-US" dirty="0"/>
              <a:t>The methods of usability evaluation can also be classified according to who performs them:</a:t>
            </a:r>
          </a:p>
          <a:p>
            <a:endParaRPr lang="en-US" b="1" dirty="0"/>
          </a:p>
          <a:p>
            <a:r>
              <a:rPr lang="en-US" b="1" dirty="0"/>
              <a:t>Usability Inspection Methods</a:t>
            </a:r>
          </a:p>
          <a:p>
            <a:pPr lvl="1"/>
            <a:r>
              <a:rPr lang="en-US" dirty="0"/>
              <a:t>Inspection of interface design by usability specialists using heuristics and judgment (no test users).</a:t>
            </a:r>
          </a:p>
          <a:p>
            <a:endParaRPr lang="en-US" b="1" dirty="0"/>
          </a:p>
          <a:p>
            <a:r>
              <a:rPr lang="en-US" b="1" dirty="0"/>
              <a:t>Usability Testing Methods</a:t>
            </a:r>
          </a:p>
          <a:p>
            <a:pPr lvl="1"/>
            <a:r>
              <a:rPr lang="en-US" dirty="0"/>
              <a:t>First-hand testing of interface design with real users.</a:t>
            </a:r>
          </a:p>
        </p:txBody>
      </p:sp>
    </p:spTree>
    <p:extLst>
      <p:ext uri="{BB962C8B-B14F-4D97-AF65-F5344CB8AC3E}">
        <p14:creationId xmlns:p14="http://schemas.microsoft.com/office/powerpoint/2010/main" val="32572770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0" y="-5751"/>
            <a:ext cx="4343400" cy="1301151"/>
          </a:xfrm>
        </p:spPr>
        <p:txBody>
          <a:bodyPr>
            <a:normAutofit fontScale="90000"/>
          </a:bodyPr>
          <a:lstStyle/>
          <a:p>
            <a:r>
              <a:rPr lang="en-US" dirty="0"/>
              <a:t>Usability Evaluations</a:t>
            </a:r>
          </a:p>
        </p:txBody>
      </p:sp>
      <p:pic>
        <p:nvPicPr>
          <p:cNvPr id="3074" name="Picture 2"/>
          <p:cNvPicPr>
            <a:picLocks noGrp="1" noChangeAspect="1" noChangeArrowheads="1"/>
          </p:cNvPicPr>
          <p:nvPr>
            <p:ph sz="quarter" idx="1"/>
          </p:nvPr>
        </p:nvPicPr>
        <p:blipFill>
          <a:blip r:embed="rId2"/>
          <a:srcRect/>
          <a:stretch>
            <a:fillRect/>
          </a:stretch>
        </p:blipFill>
        <p:spPr bwMode="auto">
          <a:xfrm>
            <a:off x="4257927" y="57007"/>
            <a:ext cx="4809873" cy="6800993"/>
          </a:xfrm>
          <a:prstGeom prst="rect">
            <a:avLst/>
          </a:prstGeom>
          <a:noFill/>
          <a:ln w="9525">
            <a:noFill/>
            <a:miter lim="800000"/>
            <a:headEnd/>
            <a:tailEnd/>
          </a:ln>
          <a:effectLst/>
        </p:spPr>
      </p:pic>
    </p:spTree>
    <p:extLst>
      <p:ext uri="{BB962C8B-B14F-4D97-AF65-F5344CB8AC3E}">
        <p14:creationId xmlns:p14="http://schemas.microsoft.com/office/powerpoint/2010/main" val="42060754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Evaluation Methods</a:t>
            </a:r>
            <a:endParaRPr lang="en-US" dirty="0"/>
          </a:p>
        </p:txBody>
      </p:sp>
      <p:sp>
        <p:nvSpPr>
          <p:cNvPr id="3" name="Content Placeholder 2"/>
          <p:cNvSpPr>
            <a:spLocks noGrp="1"/>
          </p:cNvSpPr>
          <p:nvPr>
            <p:ph sz="quarter" idx="1"/>
          </p:nvPr>
        </p:nvSpPr>
        <p:spPr/>
        <p:txBody>
          <a:bodyPr/>
          <a:lstStyle/>
          <a:p>
            <a:r>
              <a:rPr lang="en-GB" dirty="0"/>
              <a:t>Design-oriented evaluation methods:</a:t>
            </a:r>
          </a:p>
          <a:p>
            <a:pPr lvl="1"/>
            <a:r>
              <a:rPr lang="en-GB" dirty="0"/>
              <a:t>Heuristic/expert inspections </a:t>
            </a:r>
          </a:p>
          <a:p>
            <a:pPr lvl="1"/>
            <a:r>
              <a:rPr lang="en-GB" dirty="0"/>
              <a:t>Cognitive walkthrough</a:t>
            </a:r>
          </a:p>
          <a:p>
            <a:endParaRPr lang="en-GB" dirty="0"/>
          </a:p>
          <a:p>
            <a:r>
              <a:rPr lang="en-GB" dirty="0"/>
              <a:t>Implementation-oriented methods:</a:t>
            </a:r>
          </a:p>
          <a:p>
            <a:pPr lvl="1"/>
            <a:r>
              <a:rPr lang="en-GB" dirty="0"/>
              <a:t>Observation</a:t>
            </a:r>
          </a:p>
          <a:p>
            <a:pPr lvl="1"/>
            <a:r>
              <a:rPr lang="en-GB" dirty="0"/>
              <a:t>Query techniques – interviews and surveys</a:t>
            </a:r>
          </a:p>
          <a:p>
            <a:pPr lvl="1"/>
            <a:r>
              <a:rPr lang="en-GB" dirty="0"/>
              <a:t>(controlled experiments)</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Heuristic/Expert Inspections</a:t>
            </a:r>
            <a:endParaRPr lang="en-US" dirty="0"/>
          </a:p>
        </p:txBody>
      </p:sp>
      <p:sp>
        <p:nvSpPr>
          <p:cNvPr id="3" name="Content Placeholder 2"/>
          <p:cNvSpPr>
            <a:spLocks noGrp="1"/>
          </p:cNvSpPr>
          <p:nvPr>
            <p:ph sz="quarter" idx="1"/>
          </p:nvPr>
        </p:nvSpPr>
        <p:spPr/>
        <p:txBody>
          <a:bodyPr/>
          <a:lstStyle/>
          <a:p>
            <a:r>
              <a:rPr lang="en-GB" dirty="0"/>
              <a:t>Experts assess the usability of an interface guided by usability principles and guidelines (heuristics)</a:t>
            </a:r>
          </a:p>
          <a:p>
            <a:endParaRPr lang="en-GB" dirty="0"/>
          </a:p>
          <a:p>
            <a:r>
              <a:rPr lang="en-GB" dirty="0"/>
              <a:t>Suited to early design when some kind of representation/prototype is available</a:t>
            </a:r>
          </a:p>
          <a:p>
            <a:endParaRPr lang="en-GB" dirty="0"/>
          </a:p>
          <a:p>
            <a:r>
              <a:rPr lang="en-GB" dirty="0"/>
              <a:t>It’s only as good as the experts you can afford</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Heuristic Evaluation Process </a:t>
            </a:r>
          </a:p>
        </p:txBody>
      </p:sp>
      <p:sp>
        <p:nvSpPr>
          <p:cNvPr id="3" name="Content Placeholder 2"/>
          <p:cNvSpPr>
            <a:spLocks noGrp="1"/>
          </p:cNvSpPr>
          <p:nvPr>
            <p:ph sz="quarter" idx="1"/>
          </p:nvPr>
        </p:nvSpPr>
        <p:spPr/>
        <p:txBody>
          <a:bodyPr/>
          <a:lstStyle/>
          <a:p>
            <a:pPr marL="514350" indent="-514350">
              <a:buFont typeface="+mj-lt"/>
              <a:buAutoNum type="arabicPeriod"/>
            </a:pPr>
            <a:r>
              <a:rPr lang="en-US" sz="2800" dirty="0"/>
              <a:t>Briefing session</a:t>
            </a:r>
          </a:p>
          <a:p>
            <a:pPr marL="514350" indent="-514350">
              <a:buFont typeface="+mj-lt"/>
              <a:buAutoNum type="arabicPeriod"/>
            </a:pPr>
            <a:endParaRPr lang="en-US" sz="2800" dirty="0"/>
          </a:p>
          <a:p>
            <a:pPr marL="514350" indent="-514350">
              <a:buFont typeface="+mj-lt"/>
              <a:buAutoNum type="arabicPeriod"/>
            </a:pPr>
            <a:r>
              <a:rPr lang="en-US" sz="2800" dirty="0"/>
              <a:t>Evaluation period</a:t>
            </a:r>
          </a:p>
          <a:p>
            <a:pPr marL="514350" indent="-514350">
              <a:buFont typeface="+mj-lt"/>
              <a:buAutoNum type="arabicPeriod"/>
            </a:pPr>
            <a:endParaRPr lang="en-US" sz="2800" dirty="0"/>
          </a:p>
          <a:p>
            <a:pPr marL="514350" indent="-514350">
              <a:buFont typeface="+mj-lt"/>
              <a:buAutoNum type="arabicPeriod"/>
            </a:pPr>
            <a:r>
              <a:rPr lang="en-US" sz="2800" dirty="0"/>
              <a:t>Debriefing session</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4AA0D-9235-4673-805B-6B0F0D3A6677}"/>
              </a:ext>
            </a:extLst>
          </p:cNvPr>
          <p:cNvSpPr>
            <a:spLocks noGrp="1"/>
          </p:cNvSpPr>
          <p:nvPr>
            <p:ph type="title"/>
          </p:nvPr>
        </p:nvSpPr>
        <p:spPr/>
        <p:txBody>
          <a:bodyPr/>
          <a:lstStyle/>
          <a:p>
            <a:r>
              <a:rPr lang="en-US" dirty="0"/>
              <a:t>Briefing session </a:t>
            </a:r>
          </a:p>
        </p:txBody>
      </p:sp>
      <p:sp>
        <p:nvSpPr>
          <p:cNvPr id="3" name="Content Placeholder 2">
            <a:extLst>
              <a:ext uri="{FF2B5EF4-FFF2-40B4-BE49-F238E27FC236}">
                <a16:creationId xmlns:a16="http://schemas.microsoft.com/office/drawing/2014/main" id="{2954E434-0224-4EAA-9925-CE9EC28F2168}"/>
              </a:ext>
            </a:extLst>
          </p:cNvPr>
          <p:cNvSpPr>
            <a:spLocks noGrp="1"/>
          </p:cNvSpPr>
          <p:nvPr>
            <p:ph sz="quarter" idx="1"/>
          </p:nvPr>
        </p:nvSpPr>
        <p:spPr/>
        <p:txBody>
          <a:bodyPr/>
          <a:lstStyle/>
          <a:p>
            <a:r>
              <a:rPr lang="en-US" dirty="0"/>
              <a:t>Evaluators + project manager </a:t>
            </a:r>
          </a:p>
          <a:p>
            <a:pPr marL="514350" indent="-514350">
              <a:buFont typeface="+mj-lt"/>
              <a:buAutoNum type="arabicPeriod"/>
            </a:pPr>
            <a:r>
              <a:rPr lang="en-US" dirty="0"/>
              <a:t>Goals of evaluation </a:t>
            </a:r>
          </a:p>
          <a:p>
            <a:pPr marL="514350" indent="-514350">
              <a:buFont typeface="+mj-lt"/>
              <a:buAutoNum type="arabicPeriod"/>
            </a:pPr>
            <a:r>
              <a:rPr lang="en-US" dirty="0"/>
              <a:t>Prototype </a:t>
            </a:r>
          </a:p>
          <a:p>
            <a:pPr marL="514350" indent="-514350">
              <a:buFont typeface="+mj-lt"/>
              <a:buAutoNum type="arabicPeriod"/>
            </a:pPr>
            <a:r>
              <a:rPr lang="en-US" dirty="0"/>
              <a:t>User description (Personas) </a:t>
            </a:r>
          </a:p>
          <a:p>
            <a:pPr marL="514350" indent="-514350">
              <a:buFont typeface="+mj-lt"/>
              <a:buAutoNum type="arabicPeriod"/>
            </a:pPr>
            <a:r>
              <a:rPr lang="en-US" dirty="0"/>
              <a:t>Context of use (User Scenario) </a:t>
            </a:r>
          </a:p>
        </p:txBody>
      </p:sp>
    </p:spTree>
    <p:extLst>
      <p:ext uri="{BB962C8B-B14F-4D97-AF65-F5344CB8AC3E}">
        <p14:creationId xmlns:p14="http://schemas.microsoft.com/office/powerpoint/2010/main" val="23768146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1 – Briefing Session</a:t>
            </a:r>
            <a:endParaRPr lang="en-US" dirty="0"/>
          </a:p>
        </p:txBody>
      </p:sp>
      <p:sp>
        <p:nvSpPr>
          <p:cNvPr id="3" name="Content Placeholder 2"/>
          <p:cNvSpPr>
            <a:spLocks noGrp="1"/>
          </p:cNvSpPr>
          <p:nvPr>
            <p:ph sz="quarter" idx="1"/>
          </p:nvPr>
        </p:nvSpPr>
        <p:spPr/>
        <p:txBody>
          <a:bodyPr/>
          <a:lstStyle/>
          <a:p>
            <a:pPr>
              <a:lnSpc>
                <a:spcPct val="90000"/>
              </a:lnSpc>
            </a:pPr>
            <a:r>
              <a:rPr lang="en-GB" sz="2200" dirty="0"/>
              <a:t>Briefing session</a:t>
            </a:r>
          </a:p>
          <a:p>
            <a:pPr lvl="1">
              <a:lnSpc>
                <a:spcPct val="90000"/>
              </a:lnSpc>
            </a:pPr>
            <a:r>
              <a:rPr lang="en-GB" sz="2000" dirty="0"/>
              <a:t>Several experts </a:t>
            </a:r>
          </a:p>
          <a:p>
            <a:pPr lvl="1">
              <a:lnSpc>
                <a:spcPct val="90000"/>
              </a:lnSpc>
            </a:pPr>
            <a:r>
              <a:rPr lang="en-GB" sz="2000" dirty="0"/>
              <a:t>All given identical description of product, its context of use and the goals of evaluation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 Evaluation </a:t>
            </a:r>
          </a:p>
        </p:txBody>
      </p:sp>
      <p:sp>
        <p:nvSpPr>
          <p:cNvPr id="3" name="Content Placeholder 2"/>
          <p:cNvSpPr>
            <a:spLocks noGrp="1"/>
          </p:cNvSpPr>
          <p:nvPr>
            <p:ph sz="quarter" idx="1"/>
          </p:nvPr>
        </p:nvSpPr>
        <p:spPr/>
        <p:txBody>
          <a:bodyPr/>
          <a:lstStyle/>
          <a:p>
            <a:r>
              <a:rPr lang="en-US" dirty="0"/>
              <a:t>How does it work?</a:t>
            </a:r>
          </a:p>
          <a:p>
            <a:pPr lvl="1"/>
            <a:r>
              <a:rPr lang="en-US" dirty="0"/>
              <a:t>Evaluators use a checklist of basic usability heuristics </a:t>
            </a:r>
          </a:p>
          <a:p>
            <a:pPr lvl="1"/>
            <a:r>
              <a:rPr lang="en-US" dirty="0"/>
              <a:t>Evaluators go through an interface twice</a:t>
            </a:r>
          </a:p>
          <a:p>
            <a:pPr lvl="2"/>
            <a:r>
              <a:rPr lang="en-US" dirty="0"/>
              <a:t>1</a:t>
            </a:r>
            <a:r>
              <a:rPr lang="en-US" baseline="30000" dirty="0"/>
              <a:t>st</a:t>
            </a:r>
            <a:r>
              <a:rPr lang="en-US" dirty="0"/>
              <a:t> pass get a feel for the flow and general scope</a:t>
            </a:r>
          </a:p>
          <a:p>
            <a:pPr lvl="2"/>
            <a:r>
              <a:rPr lang="en-US" dirty="0"/>
              <a:t>2</a:t>
            </a:r>
            <a:r>
              <a:rPr lang="en-US" baseline="30000" dirty="0"/>
              <a:t>nd</a:t>
            </a:r>
            <a:r>
              <a:rPr lang="en-US" dirty="0"/>
              <a:t> pass refer to checklist of usability heuristics and focus on individual elements</a:t>
            </a:r>
          </a:p>
          <a:p>
            <a:pPr lvl="1"/>
            <a:r>
              <a:rPr lang="en-US" dirty="0"/>
              <a:t>The findings of evaluators are combined and assessed</a:t>
            </a: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3 – Debriefing Session</a:t>
            </a:r>
            <a:endParaRPr lang="en-US" dirty="0"/>
          </a:p>
        </p:txBody>
      </p:sp>
      <p:sp>
        <p:nvSpPr>
          <p:cNvPr id="3" name="Content Placeholder 2"/>
          <p:cNvSpPr>
            <a:spLocks noGrp="1"/>
          </p:cNvSpPr>
          <p:nvPr>
            <p:ph sz="quarter" idx="1"/>
          </p:nvPr>
        </p:nvSpPr>
        <p:spPr/>
        <p:txBody>
          <a:bodyPr/>
          <a:lstStyle/>
          <a:p>
            <a:pPr>
              <a:lnSpc>
                <a:spcPct val="90000"/>
              </a:lnSpc>
            </a:pPr>
            <a:r>
              <a:rPr lang="en-GB" sz="2200" dirty="0"/>
              <a:t>Debriefing session</a:t>
            </a:r>
          </a:p>
          <a:p>
            <a:pPr lvl="1">
              <a:lnSpc>
                <a:spcPct val="90000"/>
              </a:lnSpc>
            </a:pPr>
            <a:r>
              <a:rPr lang="en-GB" sz="2000" dirty="0"/>
              <a:t>Experts meet to compare findings, prioritise problems and propose solutions</a:t>
            </a:r>
          </a:p>
          <a:p>
            <a:pPr lvl="1">
              <a:lnSpc>
                <a:spcPct val="90000"/>
              </a:lnSpc>
            </a:pPr>
            <a:endParaRPr lang="en-GB" sz="2000" dirty="0"/>
          </a:p>
          <a:p>
            <a:pPr lvl="1">
              <a:lnSpc>
                <a:spcPct val="90000"/>
              </a:lnSpc>
            </a:pPr>
            <a:r>
              <a:rPr lang="en-GB" sz="2000" dirty="0"/>
              <a:t>They report/present their findings to decision makers and other stakeholders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idx="4294967295"/>
          </p:nvPr>
        </p:nvSpPr>
        <p:spPr>
          <a:xfrm>
            <a:off x="381000" y="457200"/>
            <a:ext cx="8001000" cy="1143000"/>
          </a:xfrm>
        </p:spPr>
        <p:txBody>
          <a:bodyPr/>
          <a:lstStyle/>
          <a:p>
            <a:r>
              <a:rPr lang="en-US"/>
              <a:t>No. of evaluators &amp; problems</a:t>
            </a:r>
          </a:p>
        </p:txBody>
      </p:sp>
      <p:graphicFrame>
        <p:nvGraphicFramePr>
          <p:cNvPr id="20483" name="Object 3"/>
          <p:cNvGraphicFramePr>
            <a:graphicFrameLocks noGrp="1" noChangeAspect="1"/>
          </p:cNvGraphicFramePr>
          <p:nvPr>
            <p:ph idx="4294967295"/>
          </p:nvPr>
        </p:nvGraphicFramePr>
        <p:xfrm>
          <a:off x="731837" y="1600200"/>
          <a:ext cx="7269163" cy="4876800"/>
        </p:xfrm>
        <a:graphic>
          <a:graphicData uri="http://schemas.openxmlformats.org/presentationml/2006/ole">
            <mc:AlternateContent xmlns:mc="http://schemas.openxmlformats.org/markup-compatibility/2006">
              <mc:Choice xmlns:v="urn:schemas-microsoft-com:vml" Requires="v">
                <p:oleObj name="Document" r:id="rId3" imgW="3035808" imgH="1819656" progId="Word.Document.8">
                  <p:embed/>
                </p:oleObj>
              </mc:Choice>
              <mc:Fallback>
                <p:oleObj name="Document" r:id="rId3" imgW="3035808" imgH="1819656" progId="Word.Document.8">
                  <p:embed/>
                  <p:pic>
                    <p:nvPicPr>
                      <p:cNvPr id="0" name="Picture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1837" y="1600200"/>
                        <a:ext cx="7269163" cy="4876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Severity Ratings</a:t>
            </a:r>
          </a:p>
        </p:txBody>
      </p:sp>
      <p:sp>
        <p:nvSpPr>
          <p:cNvPr id="3" name="Content Placeholder 2"/>
          <p:cNvSpPr>
            <a:spLocks noGrp="1"/>
          </p:cNvSpPr>
          <p:nvPr>
            <p:ph sz="quarter" idx="1"/>
          </p:nvPr>
        </p:nvSpPr>
        <p:spPr>
          <a:xfrm>
            <a:off x="914400" y="1447800"/>
            <a:ext cx="7772400" cy="2743200"/>
          </a:xfrm>
        </p:spPr>
        <p:txBody>
          <a:bodyPr>
            <a:normAutofit fontScale="70000" lnSpcReduction="20000"/>
          </a:bodyPr>
          <a:lstStyle/>
          <a:p>
            <a:r>
              <a:rPr lang="en-US" dirty="0"/>
              <a:t>Severity ratings can help prioritize the fixing of usability problems.</a:t>
            </a:r>
          </a:p>
          <a:p>
            <a:endParaRPr lang="en-US" dirty="0"/>
          </a:p>
          <a:p>
            <a:r>
              <a:rPr lang="en-US" dirty="0"/>
              <a:t>After evaluation sessions, a complete aggregate list of usability problems is given/sent to each evaluator.</a:t>
            </a:r>
          </a:p>
          <a:p>
            <a:endParaRPr lang="en-US" dirty="0"/>
          </a:p>
          <a:p>
            <a:r>
              <a:rPr lang="en-US" dirty="0"/>
              <a:t>Working independently, evaluators assign severity rating [on scale of 0–4] to each problem. </a:t>
            </a:r>
          </a:p>
          <a:p>
            <a:endParaRPr lang="en-US" dirty="0"/>
          </a:p>
          <a:p>
            <a:r>
              <a:rPr lang="en-US" dirty="0"/>
              <a:t>Severity rating of single evaluator is unreliable, mean of 3–5 evaluators is satisfactory.</a:t>
            </a:r>
          </a:p>
        </p:txBody>
      </p:sp>
      <p:graphicFrame>
        <p:nvGraphicFramePr>
          <p:cNvPr id="4" name="Table 3"/>
          <p:cNvGraphicFramePr>
            <a:graphicFrameLocks noGrp="1"/>
          </p:cNvGraphicFramePr>
          <p:nvPr>
            <p:extLst>
              <p:ext uri="{D42A27DB-BD31-4B8C-83A1-F6EECF244321}">
                <p14:modId xmlns:p14="http://schemas.microsoft.com/office/powerpoint/2010/main" val="1964921218"/>
              </p:ext>
            </p:extLst>
          </p:nvPr>
        </p:nvGraphicFramePr>
        <p:xfrm>
          <a:off x="304800" y="4495800"/>
          <a:ext cx="8595519" cy="1600200"/>
        </p:xfrm>
        <a:graphic>
          <a:graphicData uri="http://schemas.openxmlformats.org/drawingml/2006/table">
            <a:tbl>
              <a:tblPr firstRow="1" firstCol="1" bandRow="1">
                <a:tableStyleId>{5C22544A-7EE6-4342-B048-85BDC9FD1C3A}</a:tableStyleId>
              </a:tblPr>
              <a:tblGrid>
                <a:gridCol w="894557">
                  <a:extLst>
                    <a:ext uri="{9D8B030D-6E8A-4147-A177-3AD203B41FA5}">
                      <a16:colId xmlns:a16="http://schemas.microsoft.com/office/drawing/2014/main" val="20000"/>
                    </a:ext>
                  </a:extLst>
                </a:gridCol>
                <a:gridCol w="7700962">
                  <a:extLst>
                    <a:ext uri="{9D8B030D-6E8A-4147-A177-3AD203B41FA5}">
                      <a16:colId xmlns:a16="http://schemas.microsoft.com/office/drawing/2014/main" val="20001"/>
                    </a:ext>
                  </a:extLst>
                </a:gridCol>
              </a:tblGrid>
              <a:tr h="266700">
                <a:tc>
                  <a:txBody>
                    <a:bodyPr/>
                    <a:lstStyle/>
                    <a:p>
                      <a:pPr marL="0" marR="0" algn="ctr">
                        <a:spcBef>
                          <a:spcPts val="0"/>
                        </a:spcBef>
                        <a:spcAft>
                          <a:spcPts val="0"/>
                        </a:spcAft>
                        <a:tabLst>
                          <a:tab pos="4088765" algn="l"/>
                        </a:tabLst>
                      </a:pPr>
                      <a:r>
                        <a:rPr lang="en-US" sz="1700" dirty="0">
                          <a:effectLst/>
                        </a:rPr>
                        <a:t>Score</a:t>
                      </a: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tc>
                  <a:txBody>
                    <a:bodyPr/>
                    <a:lstStyle/>
                    <a:p>
                      <a:pPr marL="0" marR="0" algn="ctr">
                        <a:spcBef>
                          <a:spcPts val="0"/>
                        </a:spcBef>
                        <a:spcAft>
                          <a:spcPts val="0"/>
                        </a:spcAft>
                        <a:tabLst>
                          <a:tab pos="4088765" algn="l"/>
                        </a:tabLst>
                      </a:pPr>
                      <a:r>
                        <a:rPr lang="en-US" sz="1700">
                          <a:effectLst/>
                        </a:rPr>
                        <a:t>Severity</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extLst>
                  <a:ext uri="{0D108BD9-81ED-4DB2-BD59-A6C34878D82A}">
                    <a16:rowId xmlns:a16="http://schemas.microsoft.com/office/drawing/2014/main" val="10000"/>
                  </a:ext>
                </a:extLst>
              </a:tr>
              <a:tr h="266700">
                <a:tc>
                  <a:txBody>
                    <a:bodyPr/>
                    <a:lstStyle/>
                    <a:p>
                      <a:pPr marL="0" marR="0" algn="ctr">
                        <a:spcBef>
                          <a:spcPts val="0"/>
                        </a:spcBef>
                        <a:spcAft>
                          <a:spcPts val="0"/>
                        </a:spcAft>
                        <a:tabLst>
                          <a:tab pos="4088765" algn="l"/>
                        </a:tabLst>
                      </a:pPr>
                      <a:r>
                        <a:rPr lang="en-US" sz="1700">
                          <a:effectLst/>
                        </a:rPr>
                        <a:t>0</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tc>
                  <a:txBody>
                    <a:bodyPr/>
                    <a:lstStyle/>
                    <a:p>
                      <a:pPr marL="0" marR="0" algn="l">
                        <a:spcBef>
                          <a:spcPts val="0"/>
                        </a:spcBef>
                        <a:spcAft>
                          <a:spcPts val="0"/>
                        </a:spcAft>
                        <a:tabLst>
                          <a:tab pos="4088765" algn="l"/>
                        </a:tabLst>
                      </a:pPr>
                      <a:r>
                        <a:rPr lang="en-US" sz="1700" dirty="0">
                          <a:effectLst/>
                        </a:rPr>
                        <a:t>I don’t agree that this is a usability problem at all</a:t>
                      </a: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extLst>
                  <a:ext uri="{0D108BD9-81ED-4DB2-BD59-A6C34878D82A}">
                    <a16:rowId xmlns:a16="http://schemas.microsoft.com/office/drawing/2014/main" val="10001"/>
                  </a:ext>
                </a:extLst>
              </a:tr>
              <a:tr h="266700">
                <a:tc>
                  <a:txBody>
                    <a:bodyPr/>
                    <a:lstStyle/>
                    <a:p>
                      <a:pPr marL="0" marR="0" algn="ctr">
                        <a:spcBef>
                          <a:spcPts val="0"/>
                        </a:spcBef>
                        <a:spcAft>
                          <a:spcPts val="0"/>
                        </a:spcAft>
                        <a:tabLst>
                          <a:tab pos="4088765" algn="l"/>
                        </a:tabLst>
                      </a:pPr>
                      <a:r>
                        <a:rPr lang="en-US" sz="1700">
                          <a:effectLst/>
                        </a:rPr>
                        <a:t>1</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tc>
                  <a:txBody>
                    <a:bodyPr/>
                    <a:lstStyle/>
                    <a:p>
                      <a:pPr marL="0" marR="0" algn="l">
                        <a:spcBef>
                          <a:spcPts val="0"/>
                        </a:spcBef>
                        <a:spcAft>
                          <a:spcPts val="0"/>
                        </a:spcAft>
                        <a:tabLst>
                          <a:tab pos="4088765" algn="l"/>
                        </a:tabLst>
                      </a:pPr>
                      <a:r>
                        <a:rPr lang="en-US" sz="1700">
                          <a:effectLst/>
                        </a:rPr>
                        <a:t>Cosmetic problem only: need not be fixed unless extra time is available on project</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extLst>
                  <a:ext uri="{0D108BD9-81ED-4DB2-BD59-A6C34878D82A}">
                    <a16:rowId xmlns:a16="http://schemas.microsoft.com/office/drawing/2014/main" val="10002"/>
                  </a:ext>
                </a:extLst>
              </a:tr>
              <a:tr h="266700">
                <a:tc>
                  <a:txBody>
                    <a:bodyPr/>
                    <a:lstStyle/>
                    <a:p>
                      <a:pPr marL="0" marR="0" algn="ctr">
                        <a:spcBef>
                          <a:spcPts val="0"/>
                        </a:spcBef>
                        <a:spcAft>
                          <a:spcPts val="0"/>
                        </a:spcAft>
                        <a:tabLst>
                          <a:tab pos="4088765" algn="l"/>
                        </a:tabLst>
                      </a:pPr>
                      <a:r>
                        <a:rPr lang="en-US" sz="1700">
                          <a:effectLst/>
                        </a:rPr>
                        <a:t>2</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tc>
                  <a:txBody>
                    <a:bodyPr/>
                    <a:lstStyle/>
                    <a:p>
                      <a:pPr marL="0" marR="0" algn="l">
                        <a:spcBef>
                          <a:spcPts val="0"/>
                        </a:spcBef>
                        <a:spcAft>
                          <a:spcPts val="0"/>
                        </a:spcAft>
                        <a:tabLst>
                          <a:tab pos="4088765" algn="l"/>
                        </a:tabLst>
                      </a:pPr>
                      <a:r>
                        <a:rPr lang="en-US" sz="1700">
                          <a:effectLst/>
                        </a:rPr>
                        <a:t>Minor usability problem: fixing this should be given low priority</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extLst>
                  <a:ext uri="{0D108BD9-81ED-4DB2-BD59-A6C34878D82A}">
                    <a16:rowId xmlns:a16="http://schemas.microsoft.com/office/drawing/2014/main" val="10003"/>
                  </a:ext>
                </a:extLst>
              </a:tr>
              <a:tr h="266700">
                <a:tc>
                  <a:txBody>
                    <a:bodyPr/>
                    <a:lstStyle/>
                    <a:p>
                      <a:pPr marL="0" marR="0" algn="ctr">
                        <a:spcBef>
                          <a:spcPts val="0"/>
                        </a:spcBef>
                        <a:spcAft>
                          <a:spcPts val="0"/>
                        </a:spcAft>
                        <a:tabLst>
                          <a:tab pos="4088765" algn="l"/>
                        </a:tabLst>
                      </a:pPr>
                      <a:r>
                        <a:rPr lang="en-US" sz="1700">
                          <a:effectLst/>
                        </a:rPr>
                        <a:t>3</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tc>
                  <a:txBody>
                    <a:bodyPr/>
                    <a:lstStyle/>
                    <a:p>
                      <a:pPr marL="0" marR="0" algn="l">
                        <a:spcBef>
                          <a:spcPts val="0"/>
                        </a:spcBef>
                        <a:spcAft>
                          <a:spcPts val="0"/>
                        </a:spcAft>
                        <a:tabLst>
                          <a:tab pos="4088765" algn="l"/>
                        </a:tabLst>
                      </a:pPr>
                      <a:r>
                        <a:rPr lang="en-US" sz="1700">
                          <a:effectLst/>
                        </a:rPr>
                        <a:t>Major usability problem: important to fix, so should be given high priority</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extLst>
                  <a:ext uri="{0D108BD9-81ED-4DB2-BD59-A6C34878D82A}">
                    <a16:rowId xmlns:a16="http://schemas.microsoft.com/office/drawing/2014/main" val="10004"/>
                  </a:ext>
                </a:extLst>
              </a:tr>
              <a:tr h="266700">
                <a:tc>
                  <a:txBody>
                    <a:bodyPr/>
                    <a:lstStyle/>
                    <a:p>
                      <a:pPr marL="0" marR="0" algn="ctr">
                        <a:spcBef>
                          <a:spcPts val="0"/>
                        </a:spcBef>
                        <a:spcAft>
                          <a:spcPts val="0"/>
                        </a:spcAft>
                        <a:tabLst>
                          <a:tab pos="4088765" algn="l"/>
                        </a:tabLst>
                      </a:pPr>
                      <a:r>
                        <a:rPr lang="en-US" sz="1700">
                          <a:effectLst/>
                        </a:rPr>
                        <a:t>4</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tc>
                  <a:txBody>
                    <a:bodyPr/>
                    <a:lstStyle/>
                    <a:p>
                      <a:pPr marL="0" marR="0" algn="l">
                        <a:spcBef>
                          <a:spcPts val="0"/>
                        </a:spcBef>
                        <a:spcAft>
                          <a:spcPts val="0"/>
                        </a:spcAft>
                        <a:tabLst>
                          <a:tab pos="4088765" algn="l"/>
                        </a:tabLst>
                      </a:pPr>
                      <a:r>
                        <a:rPr lang="en-US" sz="1700" dirty="0">
                          <a:effectLst/>
                        </a:rPr>
                        <a:t>Usability catastrophe: imperative to fix this before product can be released</a:t>
                      </a: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extLst>
                  <a:ext uri="{0D108BD9-81ED-4DB2-BD59-A6C34878D82A}">
                    <a16:rowId xmlns:a16="http://schemas.microsoft.com/office/drawing/2014/main" val="10005"/>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Nielsen’s Ten Heuristics</a:t>
            </a:r>
          </a:p>
        </p:txBody>
      </p:sp>
      <p:sp>
        <p:nvSpPr>
          <p:cNvPr id="3" name="Content Placeholder 2"/>
          <p:cNvSpPr>
            <a:spLocks noGrp="1"/>
          </p:cNvSpPr>
          <p:nvPr>
            <p:ph sz="quarter" idx="1"/>
          </p:nvPr>
        </p:nvSpPr>
        <p:spPr/>
        <p:txBody>
          <a:bodyPr>
            <a:normAutofit fontScale="92500" lnSpcReduction="10000"/>
          </a:bodyPr>
          <a:lstStyle/>
          <a:p>
            <a:pPr marL="514350" indent="-514350">
              <a:buFont typeface="+mj-lt"/>
              <a:buAutoNum type="arabicPeriod"/>
            </a:pPr>
            <a:r>
              <a:rPr lang="en-US" dirty="0"/>
              <a:t>Visibility of system status (Provide Feedback)  </a:t>
            </a:r>
          </a:p>
          <a:p>
            <a:pPr marL="514350" indent="-514350">
              <a:buFont typeface="+mj-lt"/>
              <a:buAutoNum type="arabicPeriod"/>
            </a:pPr>
            <a:r>
              <a:rPr lang="en-US" dirty="0"/>
              <a:t>Match between system and the real world (speak user’s language) </a:t>
            </a:r>
          </a:p>
          <a:p>
            <a:pPr marL="514350" indent="-514350">
              <a:buFont typeface="+mj-lt"/>
              <a:buAutoNum type="arabicPeriod"/>
            </a:pPr>
            <a:r>
              <a:rPr lang="en-US" dirty="0"/>
              <a:t>User control and freedom (Provide Clearly marked exits) </a:t>
            </a:r>
          </a:p>
          <a:p>
            <a:pPr marL="514350" indent="-514350">
              <a:buFont typeface="+mj-lt"/>
              <a:buAutoNum type="arabicPeriod"/>
            </a:pPr>
            <a:r>
              <a:rPr lang="en-US" dirty="0"/>
              <a:t>Consistency and standards </a:t>
            </a:r>
          </a:p>
          <a:p>
            <a:pPr marL="514350" indent="-514350">
              <a:buFont typeface="+mj-lt"/>
              <a:buAutoNum type="arabicPeriod"/>
            </a:pPr>
            <a:r>
              <a:rPr lang="en-US" dirty="0"/>
              <a:t>Recognition rather than recall (Reduce user’s memory load) </a:t>
            </a:r>
          </a:p>
          <a:p>
            <a:pPr marL="514350" indent="-514350">
              <a:buFont typeface="+mj-lt"/>
              <a:buAutoNum type="arabicPeriod"/>
            </a:pPr>
            <a:r>
              <a:rPr lang="en-US" dirty="0"/>
              <a:t>Flexibility and efficiency of use </a:t>
            </a:r>
          </a:p>
          <a:p>
            <a:pPr marL="514350" indent="-514350">
              <a:buFont typeface="+mj-lt"/>
              <a:buAutoNum type="arabicPeriod"/>
            </a:pPr>
            <a:r>
              <a:rPr lang="en-US" dirty="0"/>
              <a:t>Aesthetic and minimalist design </a:t>
            </a:r>
          </a:p>
          <a:p>
            <a:pPr marL="514350" indent="-514350">
              <a:buFont typeface="+mj-lt"/>
              <a:buAutoNum type="arabicPeriod"/>
            </a:pPr>
            <a:r>
              <a:rPr lang="en-US" dirty="0"/>
              <a:t>Error prevention </a:t>
            </a:r>
          </a:p>
          <a:p>
            <a:pPr marL="514350" indent="-514350">
              <a:buFont typeface="+mj-lt"/>
              <a:buAutoNum type="arabicPeriod"/>
            </a:pPr>
            <a:r>
              <a:rPr lang="en-US" dirty="0"/>
              <a:t>Help users recognize, diagnose and recover from errors </a:t>
            </a:r>
          </a:p>
          <a:p>
            <a:pPr marL="514350" indent="-514350">
              <a:buFont typeface="+mj-lt"/>
              <a:buAutoNum type="arabicPeriod"/>
            </a:pPr>
            <a:r>
              <a:rPr lang="en-US" dirty="0"/>
              <a:t>Help and documentation</a:t>
            </a:r>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Nielsen’s Ten Heuristics</a:t>
            </a:r>
          </a:p>
        </p:txBody>
      </p:sp>
      <p:sp>
        <p:nvSpPr>
          <p:cNvPr id="3" name="Content Placeholder 2"/>
          <p:cNvSpPr>
            <a:spLocks noGrp="1"/>
          </p:cNvSpPr>
          <p:nvPr>
            <p:ph sz="quarter" idx="1"/>
          </p:nvPr>
        </p:nvSpPr>
        <p:spPr/>
        <p:txBody>
          <a:bodyPr>
            <a:normAutofit/>
          </a:bodyPr>
          <a:lstStyle/>
          <a:p>
            <a:pPr marL="514350" indent="-514350"/>
            <a:r>
              <a:rPr lang="en-US" b="1" dirty="0"/>
              <a:t>Visibility of system status </a:t>
            </a:r>
            <a:r>
              <a:rPr lang="en-US" dirty="0"/>
              <a:t>[Feedback]</a:t>
            </a:r>
          </a:p>
          <a:p>
            <a:pPr marL="788670" lvl="2" indent="-514350">
              <a:spcBef>
                <a:spcPts val="580"/>
              </a:spcBef>
              <a:buClr>
                <a:schemeClr val="accent1"/>
              </a:buClr>
            </a:pPr>
            <a:r>
              <a:rPr lang="en-US" dirty="0"/>
              <a:t>Always keep users informed about what is going on, through appropriate feedback within reasonable time. For example, if a system operation will take some time, give an indication of how long and how much is complete.</a:t>
            </a:r>
          </a:p>
          <a:p>
            <a:pPr marL="514350" indent="-514350"/>
            <a:endParaRPr lang="en-US" dirty="0"/>
          </a:p>
          <a:p>
            <a:pPr marL="788670" lvl="1" indent="-514350"/>
            <a:r>
              <a:rPr lang="en-US" dirty="0"/>
              <a:t>For example: busy cursor [1–10s], progress indicator [&gt;10s].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noFill/>
          <a:ln/>
        </p:spPr>
        <p:txBody>
          <a:bodyPr lIns="92075" tIns="46038" rIns="92075" bIns="46038"/>
          <a:lstStyle/>
          <a:p>
            <a:r>
              <a:rPr lang="en-US" dirty="0"/>
              <a:t>1. Provide feedback</a:t>
            </a:r>
          </a:p>
        </p:txBody>
      </p:sp>
      <p:sp>
        <p:nvSpPr>
          <p:cNvPr id="17411" name="Rectangle 3"/>
          <p:cNvSpPr>
            <a:spLocks noGrp="1" noChangeArrowheads="1"/>
          </p:cNvSpPr>
          <p:nvPr>
            <p:ph type="body" idx="1"/>
          </p:nvPr>
        </p:nvSpPr>
        <p:spPr>
          <a:xfrm>
            <a:off x="914400" y="1447800"/>
            <a:ext cx="7772400" cy="1447800"/>
          </a:xfrm>
          <a:noFill/>
          <a:ln/>
        </p:spPr>
        <p:txBody>
          <a:bodyPr lIns="92075" tIns="46038" rIns="92075" bIns="46038">
            <a:normAutofit fontScale="92500" lnSpcReduction="20000"/>
          </a:bodyPr>
          <a:lstStyle/>
          <a:p>
            <a:r>
              <a:rPr lang="en-US" dirty="0"/>
              <a:t>Continuously inform the user about </a:t>
            </a:r>
          </a:p>
          <a:p>
            <a:pPr lvl="1"/>
            <a:r>
              <a:rPr lang="en-US" dirty="0"/>
              <a:t>what it is doing</a:t>
            </a:r>
          </a:p>
          <a:p>
            <a:pPr lvl="1"/>
            <a:r>
              <a:rPr lang="en-US" dirty="0"/>
              <a:t>how it is interpreting the user’s input</a:t>
            </a:r>
          </a:p>
          <a:p>
            <a:pPr lvl="1"/>
            <a:r>
              <a:rPr lang="en-US" dirty="0"/>
              <a:t>user should always be aware of what is going on</a:t>
            </a:r>
          </a:p>
        </p:txBody>
      </p:sp>
      <p:grpSp>
        <p:nvGrpSpPr>
          <p:cNvPr id="2" name="Group 16"/>
          <p:cNvGrpSpPr>
            <a:grpSpLocks/>
          </p:cNvGrpSpPr>
          <p:nvPr/>
        </p:nvGrpSpPr>
        <p:grpSpPr bwMode="auto">
          <a:xfrm>
            <a:off x="2771775" y="3500438"/>
            <a:ext cx="1465263" cy="1233487"/>
            <a:chOff x="4213" y="223"/>
            <a:chExt cx="1300" cy="1274"/>
          </a:xfrm>
        </p:grpSpPr>
        <p:pic>
          <p:nvPicPr>
            <p:cNvPr id="17413" name="Picture 5"/>
            <p:cNvPicPr>
              <a:picLocks noChangeAspect="1" noChangeArrowheads="1"/>
            </p:cNvPicPr>
            <p:nvPr/>
          </p:nvPicPr>
          <p:blipFill>
            <a:blip r:embed="rId3" cstate="print"/>
            <a:srcRect l="2380" r="595"/>
            <a:stretch>
              <a:fillRect/>
            </a:stretch>
          </p:blipFill>
          <p:spPr bwMode="auto">
            <a:xfrm>
              <a:off x="4213" y="223"/>
              <a:ext cx="1300" cy="1274"/>
            </a:xfrm>
            <a:prstGeom prst="rect">
              <a:avLst/>
            </a:prstGeom>
            <a:noFill/>
            <a:ln w="9525">
              <a:noFill/>
              <a:miter lim="800000"/>
              <a:headEnd/>
              <a:tailEnd/>
            </a:ln>
          </p:spPr>
        </p:pic>
        <p:sp>
          <p:nvSpPr>
            <p:cNvPr id="17414" name="Rectangle 6"/>
            <p:cNvSpPr>
              <a:spLocks noChangeArrowheads="1"/>
            </p:cNvSpPr>
            <p:nvPr/>
          </p:nvSpPr>
          <p:spPr bwMode="auto">
            <a:xfrm>
              <a:off x="4388" y="413"/>
              <a:ext cx="356" cy="189"/>
            </a:xfrm>
            <a:prstGeom prst="rect">
              <a:avLst/>
            </a:prstGeom>
            <a:noFill/>
            <a:ln w="9525">
              <a:noFill/>
              <a:miter lim="800000"/>
              <a:headEnd/>
              <a:tailEnd/>
            </a:ln>
          </p:spPr>
          <p:txBody>
            <a:bodyPr wrap="none" lIns="0" tIns="0" rIns="0" bIns="0">
              <a:spAutoFit/>
            </a:bodyPr>
            <a:lstStyle/>
            <a:p>
              <a:pPr eaLnBrk="0" hangingPunct="0"/>
              <a:r>
                <a:rPr lang="en-US" sz="1200">
                  <a:solidFill>
                    <a:srgbClr val="000000"/>
                  </a:solidFill>
                  <a:latin typeface="Arial" charset="0"/>
                </a:rPr>
                <a:t>&gt; Doit</a:t>
              </a:r>
              <a:endParaRPr lang="en-US" sz="1400">
                <a:latin typeface="Arial" charset="0"/>
              </a:endParaRPr>
            </a:p>
          </p:txBody>
        </p:sp>
        <p:sp>
          <p:nvSpPr>
            <p:cNvPr id="17415" name="Rectangle 7"/>
            <p:cNvSpPr>
              <a:spLocks noChangeArrowheads="1"/>
            </p:cNvSpPr>
            <p:nvPr/>
          </p:nvSpPr>
          <p:spPr bwMode="auto">
            <a:xfrm>
              <a:off x="4643" y="413"/>
              <a:ext cx="38" cy="189"/>
            </a:xfrm>
            <a:prstGeom prst="rect">
              <a:avLst/>
            </a:prstGeom>
            <a:noFill/>
            <a:ln w="9525">
              <a:noFill/>
              <a:miter lim="800000"/>
              <a:headEnd/>
              <a:tailEnd/>
            </a:ln>
          </p:spPr>
          <p:txBody>
            <a:bodyPr wrap="none" lIns="0" tIns="0" rIns="0" bIns="0">
              <a:spAutoFit/>
            </a:bodyPr>
            <a:lstStyle/>
            <a:p>
              <a:pPr eaLnBrk="0" hangingPunct="0"/>
              <a:r>
                <a:rPr lang="en-US" sz="1200">
                  <a:solidFill>
                    <a:srgbClr val="000000"/>
                  </a:solidFill>
                  <a:latin typeface="Arial" charset="0"/>
                </a:rPr>
                <a:t> </a:t>
              </a:r>
              <a:endParaRPr lang="en-US" sz="1400">
                <a:latin typeface="Arial" charset="0"/>
              </a:endParaRPr>
            </a:p>
          </p:txBody>
        </p:sp>
        <p:sp>
          <p:nvSpPr>
            <p:cNvPr id="17416" name="Rectangle 8"/>
            <p:cNvSpPr>
              <a:spLocks noChangeArrowheads="1"/>
            </p:cNvSpPr>
            <p:nvPr/>
          </p:nvSpPr>
          <p:spPr bwMode="auto">
            <a:xfrm>
              <a:off x="4388" y="525"/>
              <a:ext cx="38" cy="188"/>
            </a:xfrm>
            <a:prstGeom prst="rect">
              <a:avLst/>
            </a:prstGeom>
            <a:noFill/>
            <a:ln w="9525">
              <a:noFill/>
              <a:miter lim="800000"/>
              <a:headEnd/>
              <a:tailEnd/>
            </a:ln>
          </p:spPr>
          <p:txBody>
            <a:bodyPr wrap="none" lIns="0" tIns="0" rIns="0" bIns="0">
              <a:spAutoFit/>
            </a:bodyPr>
            <a:lstStyle/>
            <a:p>
              <a:pPr eaLnBrk="0" hangingPunct="0"/>
              <a:r>
                <a:rPr lang="en-US" sz="1200">
                  <a:solidFill>
                    <a:srgbClr val="000000"/>
                  </a:solidFill>
                  <a:latin typeface="Arial" charset="0"/>
                </a:rPr>
                <a:t> </a:t>
              </a:r>
              <a:endParaRPr lang="en-US" sz="1400">
                <a:latin typeface="Arial" charset="0"/>
              </a:endParaRPr>
            </a:p>
          </p:txBody>
        </p:sp>
        <p:sp>
          <p:nvSpPr>
            <p:cNvPr id="17417" name="Rectangle 9"/>
            <p:cNvSpPr>
              <a:spLocks noChangeArrowheads="1"/>
            </p:cNvSpPr>
            <p:nvPr/>
          </p:nvSpPr>
          <p:spPr bwMode="auto">
            <a:xfrm>
              <a:off x="4388" y="636"/>
              <a:ext cx="38" cy="189"/>
            </a:xfrm>
            <a:prstGeom prst="rect">
              <a:avLst/>
            </a:prstGeom>
            <a:noFill/>
            <a:ln w="9525">
              <a:noFill/>
              <a:miter lim="800000"/>
              <a:headEnd/>
              <a:tailEnd/>
            </a:ln>
          </p:spPr>
          <p:txBody>
            <a:bodyPr wrap="none" lIns="0" tIns="0" rIns="0" bIns="0">
              <a:spAutoFit/>
            </a:bodyPr>
            <a:lstStyle/>
            <a:p>
              <a:pPr eaLnBrk="0" hangingPunct="0"/>
              <a:r>
                <a:rPr lang="en-US" sz="1200">
                  <a:solidFill>
                    <a:srgbClr val="000000"/>
                  </a:solidFill>
                  <a:latin typeface="Arial" charset="0"/>
                </a:rPr>
                <a:t> </a:t>
              </a:r>
              <a:endParaRPr lang="en-US" sz="1400">
                <a:latin typeface="Arial" charset="0"/>
              </a:endParaRPr>
            </a:p>
          </p:txBody>
        </p:sp>
        <p:sp>
          <p:nvSpPr>
            <p:cNvPr id="17418" name="Rectangle 10"/>
            <p:cNvSpPr>
              <a:spLocks noChangeArrowheads="1"/>
            </p:cNvSpPr>
            <p:nvPr/>
          </p:nvSpPr>
          <p:spPr bwMode="auto">
            <a:xfrm>
              <a:off x="4388" y="748"/>
              <a:ext cx="38" cy="188"/>
            </a:xfrm>
            <a:prstGeom prst="rect">
              <a:avLst/>
            </a:prstGeom>
            <a:noFill/>
            <a:ln w="9525">
              <a:noFill/>
              <a:miter lim="800000"/>
              <a:headEnd/>
              <a:tailEnd/>
            </a:ln>
          </p:spPr>
          <p:txBody>
            <a:bodyPr wrap="none" lIns="0" tIns="0" rIns="0" bIns="0">
              <a:spAutoFit/>
            </a:bodyPr>
            <a:lstStyle/>
            <a:p>
              <a:pPr eaLnBrk="0" hangingPunct="0"/>
              <a:r>
                <a:rPr lang="en-US" sz="1200">
                  <a:solidFill>
                    <a:srgbClr val="000000"/>
                  </a:solidFill>
                  <a:latin typeface="Arial" charset="0"/>
                </a:rPr>
                <a:t> </a:t>
              </a:r>
              <a:endParaRPr lang="en-US" sz="1400">
                <a:latin typeface="Arial" charset="0"/>
              </a:endParaRPr>
            </a:p>
          </p:txBody>
        </p:sp>
      </p:grpSp>
      <p:sp>
        <p:nvSpPr>
          <p:cNvPr id="17421" name="Rectangle 13"/>
          <p:cNvSpPr>
            <a:spLocks noChangeArrowheads="1"/>
          </p:cNvSpPr>
          <p:nvPr/>
        </p:nvSpPr>
        <p:spPr bwMode="auto">
          <a:xfrm>
            <a:off x="6054725" y="227013"/>
            <a:ext cx="101600" cy="227012"/>
          </a:xfrm>
          <a:prstGeom prst="rect">
            <a:avLst/>
          </a:prstGeom>
          <a:noFill/>
          <a:ln w="9525">
            <a:noFill/>
            <a:miter lim="800000"/>
            <a:headEnd/>
            <a:tailEnd/>
          </a:ln>
        </p:spPr>
        <p:txBody>
          <a:bodyPr wrap="none" lIns="0" tIns="0" rIns="0" bIns="0">
            <a:spAutoFit/>
          </a:bodyPr>
          <a:lstStyle/>
          <a:p>
            <a:pPr eaLnBrk="0" hangingPunct="0"/>
            <a:r>
              <a:rPr lang="en-US" sz="1200">
                <a:solidFill>
                  <a:srgbClr val="000000"/>
                </a:solidFill>
                <a:latin typeface="Arial" charset="0"/>
              </a:rPr>
              <a:t> </a:t>
            </a:r>
            <a:endParaRPr lang="en-US" sz="1400">
              <a:latin typeface="Arial" charset="0"/>
            </a:endParaRPr>
          </a:p>
        </p:txBody>
      </p:sp>
      <p:graphicFrame>
        <p:nvGraphicFramePr>
          <p:cNvPr id="17425" name="Object 17"/>
          <p:cNvGraphicFramePr>
            <a:graphicFrameLocks noChangeAspect="1"/>
          </p:cNvGraphicFramePr>
          <p:nvPr/>
        </p:nvGraphicFramePr>
        <p:xfrm>
          <a:off x="1781175" y="4110038"/>
          <a:ext cx="1063625" cy="2287587"/>
        </p:xfrm>
        <a:graphic>
          <a:graphicData uri="http://schemas.openxmlformats.org/presentationml/2006/ole">
            <mc:AlternateContent xmlns:mc="http://schemas.openxmlformats.org/markup-compatibility/2006">
              <mc:Choice xmlns:v="urn:schemas-microsoft-com:vml" Requires="v">
                <p:oleObj name="Clip" r:id="rId4" imgW="1063467" imgH="2287818" progId="">
                  <p:embed/>
                </p:oleObj>
              </mc:Choice>
              <mc:Fallback>
                <p:oleObj name="Clip" r:id="rId4" imgW="1063467" imgH="2287818" progId="">
                  <p:embed/>
                  <p:pic>
                    <p:nvPicPr>
                      <p:cNvPr id="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81175" y="4110038"/>
                        <a:ext cx="1063625" cy="2287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426" name="AutoShape 18"/>
          <p:cNvSpPr>
            <a:spLocks noChangeArrowheads="1"/>
          </p:cNvSpPr>
          <p:nvPr/>
        </p:nvSpPr>
        <p:spPr bwMode="auto">
          <a:xfrm>
            <a:off x="1028700" y="3379788"/>
            <a:ext cx="1438275" cy="760412"/>
          </a:xfrm>
          <a:prstGeom prst="cloudCallout">
            <a:avLst>
              <a:gd name="adj1" fmla="val 22847"/>
              <a:gd name="adj2" fmla="val 70667"/>
            </a:avLst>
          </a:prstGeom>
          <a:noFill/>
          <a:ln w="12699">
            <a:solidFill>
              <a:schemeClr val="tx1"/>
            </a:solidFill>
            <a:round/>
            <a:headEnd type="none" w="sm" len="sm"/>
            <a:tailEnd type="none" w="sm" len="sm"/>
          </a:ln>
          <a:effectLst/>
        </p:spPr>
        <p:txBody>
          <a:bodyPr lIns="92075" tIns="46038" rIns="92075" bIns="46038" anchor="ctr">
            <a:spAutoFit/>
          </a:bodyPr>
          <a:lstStyle/>
          <a:p>
            <a:pPr algn="ctr" eaLnBrk="0" hangingPunct="0"/>
            <a:r>
              <a:rPr lang="en-US" sz="1400">
                <a:latin typeface="Arial" charset="0"/>
              </a:rPr>
              <a:t>What’s it doing?</a:t>
            </a:r>
          </a:p>
        </p:txBody>
      </p:sp>
      <p:grpSp>
        <p:nvGrpSpPr>
          <p:cNvPr id="3" name="Group 25"/>
          <p:cNvGrpSpPr>
            <a:grpSpLocks/>
          </p:cNvGrpSpPr>
          <p:nvPr/>
        </p:nvGrpSpPr>
        <p:grpSpPr bwMode="auto">
          <a:xfrm>
            <a:off x="5076825" y="3429000"/>
            <a:ext cx="1465263" cy="1233488"/>
            <a:chOff x="4213" y="223"/>
            <a:chExt cx="1300" cy="1274"/>
          </a:xfrm>
        </p:grpSpPr>
        <p:pic>
          <p:nvPicPr>
            <p:cNvPr id="17434" name="Picture 26"/>
            <p:cNvPicPr>
              <a:picLocks noChangeAspect="1" noChangeArrowheads="1"/>
            </p:cNvPicPr>
            <p:nvPr/>
          </p:nvPicPr>
          <p:blipFill>
            <a:blip r:embed="rId3" cstate="print"/>
            <a:srcRect l="2380" r="595"/>
            <a:stretch>
              <a:fillRect/>
            </a:stretch>
          </p:blipFill>
          <p:spPr bwMode="auto">
            <a:xfrm>
              <a:off x="4213" y="223"/>
              <a:ext cx="1300" cy="1274"/>
            </a:xfrm>
            <a:prstGeom prst="rect">
              <a:avLst/>
            </a:prstGeom>
            <a:noFill/>
            <a:ln w="9525">
              <a:noFill/>
              <a:miter lim="800000"/>
              <a:headEnd/>
              <a:tailEnd/>
            </a:ln>
          </p:spPr>
        </p:pic>
        <p:sp>
          <p:nvSpPr>
            <p:cNvPr id="17435" name="Rectangle 27"/>
            <p:cNvSpPr>
              <a:spLocks noChangeArrowheads="1"/>
            </p:cNvSpPr>
            <p:nvPr/>
          </p:nvSpPr>
          <p:spPr bwMode="auto">
            <a:xfrm>
              <a:off x="4388" y="413"/>
              <a:ext cx="771" cy="566"/>
            </a:xfrm>
            <a:prstGeom prst="rect">
              <a:avLst/>
            </a:prstGeom>
            <a:noFill/>
            <a:ln w="9525">
              <a:noFill/>
              <a:miter lim="800000"/>
              <a:headEnd/>
              <a:tailEnd/>
            </a:ln>
          </p:spPr>
          <p:txBody>
            <a:bodyPr wrap="none" lIns="0" tIns="0" rIns="0" bIns="0">
              <a:spAutoFit/>
            </a:bodyPr>
            <a:lstStyle/>
            <a:p>
              <a:pPr eaLnBrk="0" hangingPunct="0"/>
              <a:r>
                <a:rPr lang="en-US" sz="1200">
                  <a:solidFill>
                    <a:srgbClr val="000000"/>
                  </a:solidFill>
                  <a:latin typeface="Arial" charset="0"/>
                </a:rPr>
                <a:t>&gt; Doit</a:t>
              </a:r>
            </a:p>
            <a:p>
              <a:pPr eaLnBrk="0" hangingPunct="0"/>
              <a:r>
                <a:rPr lang="en-US" sz="1200">
                  <a:solidFill>
                    <a:srgbClr val="000000"/>
                  </a:solidFill>
                  <a:latin typeface="Arial" charset="0"/>
                </a:rPr>
                <a:t>This will take</a:t>
              </a:r>
              <a:br>
                <a:rPr lang="en-US" sz="1200">
                  <a:solidFill>
                    <a:srgbClr val="000000"/>
                  </a:solidFill>
                  <a:latin typeface="Arial" charset="0"/>
                </a:rPr>
              </a:br>
              <a:r>
                <a:rPr lang="en-US" sz="1200">
                  <a:solidFill>
                    <a:srgbClr val="000000"/>
                  </a:solidFill>
                  <a:latin typeface="Arial" charset="0"/>
                </a:rPr>
                <a:t>5 minutes...</a:t>
              </a:r>
              <a:endParaRPr lang="en-US" sz="1400">
                <a:latin typeface="Arial" charset="0"/>
              </a:endParaRPr>
            </a:p>
          </p:txBody>
        </p:sp>
        <p:sp>
          <p:nvSpPr>
            <p:cNvPr id="17436" name="Rectangle 28"/>
            <p:cNvSpPr>
              <a:spLocks noChangeArrowheads="1"/>
            </p:cNvSpPr>
            <p:nvPr/>
          </p:nvSpPr>
          <p:spPr bwMode="auto">
            <a:xfrm>
              <a:off x="4643" y="413"/>
              <a:ext cx="38" cy="189"/>
            </a:xfrm>
            <a:prstGeom prst="rect">
              <a:avLst/>
            </a:prstGeom>
            <a:noFill/>
            <a:ln w="9525">
              <a:noFill/>
              <a:miter lim="800000"/>
              <a:headEnd/>
              <a:tailEnd/>
            </a:ln>
          </p:spPr>
          <p:txBody>
            <a:bodyPr wrap="none" lIns="0" tIns="0" rIns="0" bIns="0">
              <a:spAutoFit/>
            </a:bodyPr>
            <a:lstStyle/>
            <a:p>
              <a:pPr eaLnBrk="0" hangingPunct="0"/>
              <a:r>
                <a:rPr lang="en-US" sz="1200">
                  <a:solidFill>
                    <a:srgbClr val="000000"/>
                  </a:solidFill>
                  <a:latin typeface="Arial" charset="0"/>
                </a:rPr>
                <a:t> </a:t>
              </a:r>
              <a:endParaRPr lang="en-US" sz="1400">
                <a:latin typeface="Arial" charset="0"/>
              </a:endParaRPr>
            </a:p>
          </p:txBody>
        </p:sp>
        <p:sp>
          <p:nvSpPr>
            <p:cNvPr id="17437" name="Rectangle 29"/>
            <p:cNvSpPr>
              <a:spLocks noChangeArrowheads="1"/>
            </p:cNvSpPr>
            <p:nvPr/>
          </p:nvSpPr>
          <p:spPr bwMode="auto">
            <a:xfrm>
              <a:off x="4388" y="525"/>
              <a:ext cx="38" cy="188"/>
            </a:xfrm>
            <a:prstGeom prst="rect">
              <a:avLst/>
            </a:prstGeom>
            <a:noFill/>
            <a:ln w="9525">
              <a:noFill/>
              <a:miter lim="800000"/>
              <a:headEnd/>
              <a:tailEnd/>
            </a:ln>
          </p:spPr>
          <p:txBody>
            <a:bodyPr wrap="none" lIns="0" tIns="0" rIns="0" bIns="0">
              <a:spAutoFit/>
            </a:bodyPr>
            <a:lstStyle/>
            <a:p>
              <a:pPr eaLnBrk="0" hangingPunct="0"/>
              <a:r>
                <a:rPr lang="en-US" sz="1200">
                  <a:solidFill>
                    <a:srgbClr val="000000"/>
                  </a:solidFill>
                  <a:latin typeface="Arial" charset="0"/>
                </a:rPr>
                <a:t> </a:t>
              </a:r>
              <a:endParaRPr lang="en-US" sz="1400">
                <a:latin typeface="Arial" charset="0"/>
              </a:endParaRPr>
            </a:p>
          </p:txBody>
        </p:sp>
        <p:sp>
          <p:nvSpPr>
            <p:cNvPr id="17438" name="Rectangle 30"/>
            <p:cNvSpPr>
              <a:spLocks noChangeArrowheads="1"/>
            </p:cNvSpPr>
            <p:nvPr/>
          </p:nvSpPr>
          <p:spPr bwMode="auto">
            <a:xfrm>
              <a:off x="4388" y="636"/>
              <a:ext cx="38" cy="189"/>
            </a:xfrm>
            <a:prstGeom prst="rect">
              <a:avLst/>
            </a:prstGeom>
            <a:noFill/>
            <a:ln w="9525">
              <a:noFill/>
              <a:miter lim="800000"/>
              <a:headEnd/>
              <a:tailEnd/>
            </a:ln>
          </p:spPr>
          <p:txBody>
            <a:bodyPr wrap="none" lIns="0" tIns="0" rIns="0" bIns="0">
              <a:spAutoFit/>
            </a:bodyPr>
            <a:lstStyle/>
            <a:p>
              <a:pPr eaLnBrk="0" hangingPunct="0"/>
              <a:r>
                <a:rPr lang="en-US" sz="1200">
                  <a:solidFill>
                    <a:srgbClr val="000000"/>
                  </a:solidFill>
                  <a:latin typeface="Arial" charset="0"/>
                </a:rPr>
                <a:t> </a:t>
              </a:r>
              <a:endParaRPr lang="en-US" sz="1400">
                <a:latin typeface="Arial" charset="0"/>
              </a:endParaRPr>
            </a:p>
          </p:txBody>
        </p:sp>
        <p:sp>
          <p:nvSpPr>
            <p:cNvPr id="17439" name="Rectangle 31"/>
            <p:cNvSpPr>
              <a:spLocks noChangeArrowheads="1"/>
            </p:cNvSpPr>
            <p:nvPr/>
          </p:nvSpPr>
          <p:spPr bwMode="auto">
            <a:xfrm>
              <a:off x="4388" y="748"/>
              <a:ext cx="38" cy="188"/>
            </a:xfrm>
            <a:prstGeom prst="rect">
              <a:avLst/>
            </a:prstGeom>
            <a:noFill/>
            <a:ln w="9525">
              <a:noFill/>
              <a:miter lim="800000"/>
              <a:headEnd/>
              <a:tailEnd/>
            </a:ln>
          </p:spPr>
          <p:txBody>
            <a:bodyPr wrap="none" lIns="0" tIns="0" rIns="0" bIns="0">
              <a:spAutoFit/>
            </a:bodyPr>
            <a:lstStyle/>
            <a:p>
              <a:pPr eaLnBrk="0" hangingPunct="0"/>
              <a:r>
                <a:rPr lang="en-US" sz="1200">
                  <a:solidFill>
                    <a:srgbClr val="000000"/>
                  </a:solidFill>
                  <a:latin typeface="Arial" charset="0"/>
                </a:rPr>
                <a:t> </a:t>
              </a:r>
              <a:endParaRPr lang="en-US" sz="1400">
                <a:latin typeface="Arial" charset="0"/>
              </a:endParaRPr>
            </a:p>
          </p:txBody>
        </p:sp>
      </p:grpSp>
      <p:graphicFrame>
        <p:nvGraphicFramePr>
          <p:cNvPr id="17440" name="Object 32"/>
          <p:cNvGraphicFramePr>
            <a:graphicFrameLocks noChangeAspect="1"/>
          </p:cNvGraphicFramePr>
          <p:nvPr/>
        </p:nvGraphicFramePr>
        <p:xfrm>
          <a:off x="6677025" y="4267200"/>
          <a:ext cx="1839913" cy="2286000"/>
        </p:xfrm>
        <a:graphic>
          <a:graphicData uri="http://schemas.openxmlformats.org/presentationml/2006/ole">
            <mc:AlternateContent xmlns:mc="http://schemas.openxmlformats.org/markup-compatibility/2006">
              <mc:Choice xmlns:v="urn:schemas-microsoft-com:vml" Requires="v">
                <p:oleObj name="Clip" r:id="rId6" imgW="1839884" imgH="2286000" progId="">
                  <p:embed/>
                </p:oleObj>
              </mc:Choice>
              <mc:Fallback>
                <p:oleObj name="Clip" r:id="rId6" imgW="1839884" imgH="2286000" progId="">
                  <p:embed/>
                  <p:pic>
                    <p:nvPicPr>
                      <p:cNvPr id="0"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77025" y="4267200"/>
                        <a:ext cx="1839913" cy="228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441" name="AutoShape 33"/>
          <p:cNvSpPr>
            <a:spLocks noChangeArrowheads="1"/>
          </p:cNvSpPr>
          <p:nvPr/>
        </p:nvSpPr>
        <p:spPr bwMode="auto">
          <a:xfrm>
            <a:off x="6829425" y="3352800"/>
            <a:ext cx="1438275" cy="760413"/>
          </a:xfrm>
          <a:prstGeom prst="cloudCallout">
            <a:avLst>
              <a:gd name="adj1" fmla="val 22847"/>
              <a:gd name="adj2" fmla="val 70667"/>
            </a:avLst>
          </a:prstGeom>
          <a:noFill/>
          <a:ln w="12699">
            <a:solidFill>
              <a:schemeClr val="tx1"/>
            </a:solidFill>
            <a:round/>
            <a:headEnd type="none" w="sm" len="sm"/>
            <a:tailEnd type="none" w="sm" len="sm"/>
          </a:ln>
          <a:effectLst/>
        </p:spPr>
        <p:txBody>
          <a:bodyPr lIns="92075" tIns="46038" rIns="92075" bIns="46038" anchor="ctr">
            <a:spAutoFit/>
          </a:bodyPr>
          <a:lstStyle/>
          <a:p>
            <a:pPr algn="ctr" eaLnBrk="0" hangingPunct="0"/>
            <a:r>
              <a:rPr lang="en-US" sz="1400">
                <a:latin typeface="Arial" charset="0"/>
              </a:rPr>
              <a:t>Time for coffee.</a:t>
            </a:r>
          </a:p>
        </p:txBody>
      </p:sp>
      <p:sp>
        <p:nvSpPr>
          <p:cNvPr id="17442" name="Line 34"/>
          <p:cNvSpPr>
            <a:spLocks noChangeShapeType="1"/>
          </p:cNvSpPr>
          <p:nvPr/>
        </p:nvSpPr>
        <p:spPr bwMode="auto">
          <a:xfrm>
            <a:off x="4500563" y="3213100"/>
            <a:ext cx="0" cy="3048000"/>
          </a:xfrm>
          <a:prstGeom prst="line">
            <a:avLst/>
          </a:prstGeom>
          <a:noFill/>
          <a:ln w="28575">
            <a:solidFill>
              <a:schemeClr val="hlink"/>
            </a:solidFill>
            <a:round/>
            <a:headEnd type="none" w="sm" len="sm"/>
            <a:tailEnd type="none" w="sm" len="sm"/>
          </a:ln>
          <a:effectLst/>
        </p:spPr>
        <p:txBody>
          <a:bodyPr wrap="none" lIns="92075" tIns="46038" rIns="92075" bIns="46038" anchor="ctr">
            <a:spAutoFit/>
          </a:bodyPr>
          <a:lstStyle/>
          <a:p>
            <a:endParaRPr lang="en-US"/>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r>
              <a:rPr lang="en-US" dirty="0"/>
              <a:t>1. Provide feedback</a:t>
            </a:r>
          </a:p>
        </p:txBody>
      </p:sp>
      <p:graphicFrame>
        <p:nvGraphicFramePr>
          <p:cNvPr id="91139" name="Object 3"/>
          <p:cNvGraphicFramePr>
            <a:graphicFrameLocks/>
          </p:cNvGraphicFramePr>
          <p:nvPr/>
        </p:nvGraphicFramePr>
        <p:xfrm>
          <a:off x="3124200" y="2133600"/>
          <a:ext cx="2343150" cy="1216025"/>
        </p:xfrm>
        <a:graphic>
          <a:graphicData uri="http://schemas.openxmlformats.org/presentationml/2006/ole">
            <mc:AlternateContent xmlns:mc="http://schemas.openxmlformats.org/markup-compatibility/2006">
              <mc:Choice xmlns:v="urn:schemas-microsoft-com:vml" Requires="v">
                <p:oleObj name="Document" r:id="rId2" imgW="1098804" imgH="574548" progId="Word.Document.8">
                  <p:embed/>
                </p:oleObj>
              </mc:Choice>
              <mc:Fallback>
                <p:oleObj name="Document" r:id="rId2" imgW="1098804" imgH="574548" progId="Word.Document.8">
                  <p:embed/>
                  <p:pic>
                    <p:nvPicPr>
                      <p:cNvPr id="0" name="Picture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0" y="2133600"/>
                        <a:ext cx="2343150" cy="121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1140" name="AutoShape 4"/>
          <p:cNvSpPr>
            <a:spLocks/>
          </p:cNvSpPr>
          <p:nvPr/>
        </p:nvSpPr>
        <p:spPr bwMode="auto">
          <a:xfrm>
            <a:off x="838200" y="3276600"/>
            <a:ext cx="1600200" cy="654050"/>
          </a:xfrm>
          <a:prstGeom prst="borderCallout2">
            <a:avLst>
              <a:gd name="adj1" fmla="val 17477"/>
              <a:gd name="adj2" fmla="val 104764"/>
              <a:gd name="adj3" fmla="val 17477"/>
              <a:gd name="adj4" fmla="val 116269"/>
              <a:gd name="adj5" fmla="val -34100"/>
              <a:gd name="adj6" fmla="val 152796"/>
            </a:avLst>
          </a:prstGeom>
          <a:noFill/>
          <a:ln w="12699">
            <a:solidFill>
              <a:schemeClr val="hlink"/>
            </a:solidFill>
            <a:miter lim="800000"/>
            <a:headEnd type="none" w="sm" len="sm"/>
            <a:tailEnd type="none" w="sm" len="sm"/>
          </a:ln>
          <a:effectLst/>
        </p:spPr>
        <p:txBody>
          <a:bodyPr lIns="92075" tIns="46038" rIns="92075" bIns="46038" anchor="ctr">
            <a:spAutoFit/>
          </a:bodyPr>
          <a:lstStyle/>
          <a:p>
            <a:pPr algn="ctr" eaLnBrk="0" hangingPunct="0"/>
            <a:r>
              <a:rPr lang="en-US" sz="1800">
                <a:latin typeface="Arial" charset="0"/>
              </a:rPr>
              <a:t>What did I select?</a:t>
            </a:r>
          </a:p>
        </p:txBody>
      </p:sp>
      <p:sp>
        <p:nvSpPr>
          <p:cNvPr id="91141" name="AutoShape 5"/>
          <p:cNvSpPr>
            <a:spLocks/>
          </p:cNvSpPr>
          <p:nvPr/>
        </p:nvSpPr>
        <p:spPr bwMode="auto">
          <a:xfrm>
            <a:off x="6248400" y="1219200"/>
            <a:ext cx="1600200" cy="654050"/>
          </a:xfrm>
          <a:prstGeom prst="borderCallout2">
            <a:avLst>
              <a:gd name="adj1" fmla="val 21556"/>
              <a:gd name="adj2" fmla="val -4764"/>
              <a:gd name="adj3" fmla="val 21556"/>
              <a:gd name="adj4" fmla="val -20338"/>
              <a:gd name="adj5" fmla="val 213148"/>
              <a:gd name="adj6" fmla="val -77338"/>
            </a:avLst>
          </a:prstGeom>
          <a:noFill/>
          <a:ln w="12699">
            <a:solidFill>
              <a:schemeClr val="hlink"/>
            </a:solidFill>
            <a:miter lim="800000"/>
            <a:headEnd type="none" w="sm" len="sm"/>
            <a:tailEnd type="none" w="sm" len="sm"/>
          </a:ln>
          <a:effectLst/>
        </p:spPr>
        <p:txBody>
          <a:bodyPr lIns="92075" tIns="46038" rIns="92075" bIns="46038" anchor="ctr">
            <a:spAutoFit/>
          </a:bodyPr>
          <a:lstStyle/>
          <a:p>
            <a:pPr algn="ctr" eaLnBrk="0" hangingPunct="0"/>
            <a:r>
              <a:rPr lang="en-US" sz="1800">
                <a:latin typeface="Arial" charset="0"/>
              </a:rPr>
              <a:t>What mode am I in now?</a:t>
            </a:r>
          </a:p>
        </p:txBody>
      </p:sp>
      <p:sp>
        <p:nvSpPr>
          <p:cNvPr id="91142" name="AutoShape 6"/>
          <p:cNvSpPr>
            <a:spLocks/>
          </p:cNvSpPr>
          <p:nvPr/>
        </p:nvSpPr>
        <p:spPr bwMode="auto">
          <a:xfrm>
            <a:off x="6096000" y="2743200"/>
            <a:ext cx="1600200" cy="1203325"/>
          </a:xfrm>
          <a:prstGeom prst="borderCallout2">
            <a:avLst>
              <a:gd name="adj1" fmla="val 11958"/>
              <a:gd name="adj2" fmla="val -4764"/>
              <a:gd name="adj3" fmla="val 11958"/>
              <a:gd name="adj4" fmla="val -16370"/>
              <a:gd name="adj5" fmla="val 34461"/>
              <a:gd name="adj6" fmla="val -74723"/>
            </a:avLst>
          </a:prstGeom>
          <a:noFill/>
          <a:ln w="12699">
            <a:solidFill>
              <a:schemeClr val="hlink"/>
            </a:solidFill>
            <a:miter lim="800000"/>
            <a:headEnd type="none" w="sm" len="sm"/>
            <a:tailEnd type="none" w="sm" len="sm"/>
          </a:ln>
          <a:effectLst/>
        </p:spPr>
        <p:txBody>
          <a:bodyPr lIns="92075" tIns="46038" rIns="92075" bIns="46038" anchor="ctr">
            <a:spAutoFit/>
          </a:bodyPr>
          <a:lstStyle/>
          <a:p>
            <a:pPr algn="ctr" eaLnBrk="0" hangingPunct="0"/>
            <a:r>
              <a:rPr lang="en-US" sz="1800" dirty="0">
                <a:latin typeface="Arial" charset="0"/>
              </a:rPr>
              <a:t>How is the system interpreting my actions?</a:t>
            </a:r>
          </a:p>
        </p:txBody>
      </p:sp>
      <p:pic>
        <p:nvPicPr>
          <p:cNvPr id="8" name="Picture 3"/>
          <p:cNvPicPr>
            <a:picLocks noChangeAspect="1" noChangeArrowheads="1"/>
          </p:cNvPicPr>
          <p:nvPr/>
        </p:nvPicPr>
        <p:blipFill>
          <a:blip r:embed="rId4" cstate="print"/>
          <a:srcRect l="8125" t="38140" r="13750" b="31671"/>
          <a:stretch>
            <a:fillRect/>
          </a:stretch>
        </p:blipFill>
        <p:spPr bwMode="auto">
          <a:xfrm>
            <a:off x="1447800" y="4800600"/>
            <a:ext cx="6096000" cy="1365807"/>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en-US" dirty="0"/>
              <a:t>1. Provide feedback</a:t>
            </a:r>
          </a:p>
        </p:txBody>
      </p:sp>
      <p:sp>
        <p:nvSpPr>
          <p:cNvPr id="82947" name="Rectangle 3"/>
          <p:cNvSpPr>
            <a:spLocks noGrp="1" noChangeArrowheads="1"/>
          </p:cNvSpPr>
          <p:nvPr>
            <p:ph type="body" idx="1"/>
          </p:nvPr>
        </p:nvSpPr>
        <p:spPr/>
        <p:txBody>
          <a:bodyPr>
            <a:normAutofit/>
          </a:bodyPr>
          <a:lstStyle/>
          <a:p>
            <a:r>
              <a:rPr lang="en-US" dirty="0"/>
              <a:t>Be as specific as possible, based on user’s input</a:t>
            </a:r>
          </a:p>
          <a:p>
            <a:endParaRPr lang="en-US" dirty="0"/>
          </a:p>
          <a:p>
            <a:endParaRPr lang="en-US" dirty="0"/>
          </a:p>
          <a:p>
            <a:endParaRPr lang="en-US" dirty="0"/>
          </a:p>
          <a:p>
            <a:endParaRPr lang="en-US" dirty="0"/>
          </a:p>
          <a:p>
            <a:r>
              <a:rPr lang="en-US" dirty="0"/>
              <a:t>Best within the context of the action</a:t>
            </a:r>
          </a:p>
        </p:txBody>
      </p:sp>
      <p:pic>
        <p:nvPicPr>
          <p:cNvPr id="82948" name="Picture 4"/>
          <p:cNvPicPr>
            <a:picLocks noChangeAspect="1" noChangeArrowheads="1"/>
          </p:cNvPicPr>
          <p:nvPr/>
        </p:nvPicPr>
        <p:blipFill>
          <a:blip r:embed="rId2" cstate="print"/>
          <a:srcRect/>
          <a:stretch>
            <a:fillRect/>
          </a:stretch>
        </p:blipFill>
        <p:spPr bwMode="auto">
          <a:xfrm>
            <a:off x="1320800" y="1905000"/>
            <a:ext cx="3000375" cy="1647825"/>
          </a:xfrm>
          <a:prstGeom prst="rect">
            <a:avLst/>
          </a:prstGeom>
          <a:noFill/>
          <a:ln w="12699">
            <a:noFill/>
            <a:miter lim="800000"/>
            <a:headEnd type="none" w="sm" len="sm"/>
            <a:tailEnd type="none" w="sm" len="sm"/>
          </a:ln>
          <a:effectLst/>
        </p:spPr>
      </p:pic>
      <p:pic>
        <p:nvPicPr>
          <p:cNvPr id="82949" name="Picture 5"/>
          <p:cNvPicPr>
            <a:picLocks noChangeAspect="1" noChangeArrowheads="1"/>
          </p:cNvPicPr>
          <p:nvPr/>
        </p:nvPicPr>
        <p:blipFill>
          <a:blip r:embed="rId3" cstate="print"/>
          <a:srcRect/>
          <a:stretch>
            <a:fillRect/>
          </a:stretch>
        </p:blipFill>
        <p:spPr bwMode="auto">
          <a:xfrm>
            <a:off x="4848225" y="1905000"/>
            <a:ext cx="3000375" cy="1647825"/>
          </a:xfrm>
          <a:prstGeom prst="rect">
            <a:avLst/>
          </a:prstGeom>
          <a:noFill/>
          <a:ln w="12699">
            <a:noFill/>
            <a:miter lim="800000"/>
            <a:headEnd type="none" w="sm" len="sm"/>
            <a:tailEnd type="none" w="sm" len="sm"/>
          </a:ln>
          <a:effectLst/>
        </p:spPr>
      </p:pic>
      <p:graphicFrame>
        <p:nvGraphicFramePr>
          <p:cNvPr id="82950" name="Object 6"/>
          <p:cNvGraphicFramePr>
            <a:graphicFrameLocks/>
          </p:cNvGraphicFramePr>
          <p:nvPr/>
        </p:nvGraphicFramePr>
        <p:xfrm>
          <a:off x="1671637" y="4457700"/>
          <a:ext cx="3738563" cy="1638300"/>
        </p:xfrm>
        <a:graphic>
          <a:graphicData uri="http://schemas.openxmlformats.org/presentationml/2006/ole">
            <mc:AlternateContent xmlns:mc="http://schemas.openxmlformats.org/markup-compatibility/2006">
              <mc:Choice xmlns:v="urn:schemas-microsoft-com:vml" Requires="v">
                <p:oleObj name="Document" r:id="rId4" imgW="2231136" imgH="982980" progId="Word.Document.8">
                  <p:embed/>
                </p:oleObj>
              </mc:Choice>
              <mc:Fallback>
                <p:oleObj name="Document" r:id="rId4" imgW="2231136" imgH="982980" progId="Word.Document.8">
                  <p:embed/>
                  <p:pic>
                    <p:nvPicPr>
                      <p:cNvPr id="0" name="Picture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1637" y="4457700"/>
                        <a:ext cx="3738563" cy="163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lstStyle/>
          <a:p>
            <a:r>
              <a:rPr lang="en-US" dirty="0"/>
              <a:t>1. Provide feedback</a:t>
            </a:r>
            <a:endParaRPr lang="en-CA" dirty="0"/>
          </a:p>
        </p:txBody>
      </p:sp>
      <p:pic>
        <p:nvPicPr>
          <p:cNvPr id="116740" name="Picture 4" descr="Epileptics Beware"/>
          <p:cNvPicPr>
            <a:picLocks noChangeAspect="1" noChangeArrowheads="1" noCrop="1"/>
          </p:cNvPicPr>
          <p:nvPr/>
        </p:nvPicPr>
        <p:blipFill>
          <a:blip r:embed="rId2" cstate="print"/>
          <a:srcRect/>
          <a:stretch>
            <a:fillRect/>
          </a:stretch>
        </p:blipFill>
        <p:spPr bwMode="auto">
          <a:xfrm>
            <a:off x="3429000" y="3124200"/>
            <a:ext cx="4297363" cy="1246188"/>
          </a:xfrm>
          <a:prstGeom prst="rect">
            <a:avLst/>
          </a:prstGeom>
          <a:noFill/>
        </p:spPr>
      </p:pic>
      <p:sp>
        <p:nvSpPr>
          <p:cNvPr id="116742" name="AutoShape 6"/>
          <p:cNvSpPr>
            <a:spLocks/>
          </p:cNvSpPr>
          <p:nvPr/>
        </p:nvSpPr>
        <p:spPr bwMode="auto">
          <a:xfrm>
            <a:off x="755650" y="1700213"/>
            <a:ext cx="3657600" cy="609600"/>
          </a:xfrm>
          <a:prstGeom prst="borderCallout2">
            <a:avLst>
              <a:gd name="adj1" fmla="val 18750"/>
              <a:gd name="adj2" fmla="val 102083"/>
              <a:gd name="adj3" fmla="val 18750"/>
              <a:gd name="adj4" fmla="val 141278"/>
              <a:gd name="adj5" fmla="val 306250"/>
              <a:gd name="adj6" fmla="val 160157"/>
            </a:avLst>
          </a:prstGeom>
          <a:noFill/>
          <a:ln w="12699">
            <a:solidFill>
              <a:schemeClr val="tx1"/>
            </a:solidFill>
            <a:miter lim="800000"/>
            <a:headEnd type="none" w="sm" len="sm"/>
            <a:tailEnd type="none" w="sm" len="sm"/>
          </a:ln>
          <a:effectLst/>
        </p:spPr>
        <p:txBody>
          <a:bodyPr lIns="92075" tIns="46038" rIns="92075" bIns="46038" anchor="ctr"/>
          <a:lstStyle/>
          <a:p>
            <a:pPr eaLnBrk="0" hangingPunct="0"/>
            <a:r>
              <a:rPr lang="en-US" sz="1800">
                <a:latin typeface="Arial" charset="0"/>
              </a:rPr>
              <a:t>Multiple files being copied, </a:t>
            </a:r>
            <a:br>
              <a:rPr lang="en-US" sz="1800">
                <a:latin typeface="Arial" charset="0"/>
              </a:rPr>
            </a:br>
            <a:r>
              <a:rPr lang="en-US" sz="1800">
                <a:latin typeface="Arial" charset="0"/>
              </a:rPr>
              <a:t>but feedback is file by file.</a:t>
            </a:r>
            <a:endParaRPr lang="en-CA" sz="1800">
              <a:latin typeface="Arial"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1026"/>
          <p:cNvSpPr>
            <a:spLocks noGrp="1" noChangeArrowheads="1"/>
          </p:cNvSpPr>
          <p:nvPr>
            <p:ph type="title"/>
          </p:nvPr>
        </p:nvSpPr>
        <p:spPr/>
        <p:txBody>
          <a:bodyPr/>
          <a:lstStyle/>
          <a:p>
            <a:r>
              <a:rPr lang="en-US" dirty="0"/>
              <a:t>1. Provide feedback</a:t>
            </a:r>
          </a:p>
        </p:txBody>
      </p:sp>
      <p:sp>
        <p:nvSpPr>
          <p:cNvPr id="81923" name="Rectangle 1027"/>
          <p:cNvSpPr>
            <a:spLocks noGrp="1" noChangeArrowheads="1"/>
          </p:cNvSpPr>
          <p:nvPr>
            <p:ph type="body" idx="1"/>
          </p:nvPr>
        </p:nvSpPr>
        <p:spPr/>
        <p:txBody>
          <a:bodyPr/>
          <a:lstStyle/>
          <a:p>
            <a:r>
              <a:rPr lang="en-US"/>
              <a:t>Response time</a:t>
            </a:r>
          </a:p>
          <a:p>
            <a:pPr lvl="1"/>
            <a:r>
              <a:rPr lang="en-US"/>
              <a:t>how users perceive delays</a:t>
            </a:r>
            <a:br>
              <a:rPr lang="en-US"/>
            </a:br>
            <a:endParaRPr lang="en-US"/>
          </a:p>
          <a:p>
            <a:pPr lvl="2">
              <a:buFontTx/>
              <a:buNone/>
            </a:pPr>
            <a:r>
              <a:rPr lang="en-US"/>
              <a:t>   &lt;0.1s  	perceived as “instantaneous”</a:t>
            </a:r>
            <a:br>
              <a:rPr lang="en-US"/>
            </a:br>
            <a:endParaRPr lang="en-US"/>
          </a:p>
          <a:p>
            <a:pPr lvl="2">
              <a:buFontTx/>
              <a:buNone/>
            </a:pPr>
            <a:r>
              <a:rPr lang="en-US"/>
              <a:t>      1s      	user’s flow of thought stays uninterrupted, but 			delay noticed</a:t>
            </a:r>
            <a:br>
              <a:rPr lang="en-US"/>
            </a:br>
            <a:endParaRPr lang="en-US"/>
          </a:p>
          <a:p>
            <a:pPr lvl="2">
              <a:buFontTx/>
              <a:buNone/>
            </a:pPr>
            <a:r>
              <a:rPr lang="en-US"/>
              <a:t>    10s    	limit for keeping user’s attention focused on the dialog</a:t>
            </a:r>
            <a:br>
              <a:rPr lang="en-US"/>
            </a:br>
            <a:endParaRPr lang="en-US"/>
          </a:p>
          <a:p>
            <a:pPr lvl="2">
              <a:buFontTx/>
              <a:buNone/>
            </a:pPr>
            <a:r>
              <a:rPr lang="en-US"/>
              <a:t>&gt;  10s     user will want to perform other tasks while waiting</a:t>
            </a:r>
          </a:p>
          <a:p>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noFill/>
          <a:ln/>
        </p:spPr>
        <p:txBody>
          <a:bodyPr lIns="92075" tIns="46038" rIns="92075" bIns="46038"/>
          <a:lstStyle/>
          <a:p>
            <a:r>
              <a:rPr lang="en-US" dirty="0"/>
              <a:t>1. Provide feedback</a:t>
            </a:r>
          </a:p>
        </p:txBody>
      </p:sp>
      <p:pic>
        <p:nvPicPr>
          <p:cNvPr id="20483" name="Picture 3"/>
          <p:cNvPicPr>
            <a:picLocks noChangeArrowheads="1"/>
          </p:cNvPicPr>
          <p:nvPr/>
        </p:nvPicPr>
        <p:blipFill>
          <a:blip r:embed="rId3" cstate="print"/>
          <a:srcRect/>
          <a:stretch>
            <a:fillRect/>
          </a:stretch>
        </p:blipFill>
        <p:spPr bwMode="auto">
          <a:xfrm>
            <a:off x="4552950" y="3352800"/>
            <a:ext cx="3295650" cy="1171575"/>
          </a:xfrm>
          <a:prstGeom prst="rect">
            <a:avLst/>
          </a:prstGeom>
          <a:noFill/>
          <a:ln w="9525">
            <a:noFill/>
            <a:miter lim="800000"/>
            <a:headEnd/>
            <a:tailEnd/>
          </a:ln>
          <a:effectLst/>
        </p:spPr>
      </p:pic>
      <p:sp>
        <p:nvSpPr>
          <p:cNvPr id="20484" name="Rectangle 4"/>
          <p:cNvSpPr>
            <a:spLocks noGrp="1" noChangeArrowheads="1"/>
          </p:cNvSpPr>
          <p:nvPr>
            <p:ph type="body" idx="1"/>
          </p:nvPr>
        </p:nvSpPr>
        <p:spPr>
          <a:noFill/>
          <a:ln/>
        </p:spPr>
        <p:txBody>
          <a:bodyPr lIns="92075" tIns="46038" rIns="92075" bIns="46038">
            <a:normAutofit lnSpcReduction="10000"/>
          </a:bodyPr>
          <a:lstStyle/>
          <a:p>
            <a:r>
              <a:rPr lang="en-US"/>
              <a:t>Dealing with long delays</a:t>
            </a:r>
            <a:br>
              <a:rPr lang="en-US"/>
            </a:br>
            <a:endParaRPr lang="en-US"/>
          </a:p>
          <a:p>
            <a:pPr lvl="1"/>
            <a:r>
              <a:rPr lang="en-US"/>
              <a:t>Cursors</a:t>
            </a:r>
          </a:p>
          <a:p>
            <a:pPr lvl="2"/>
            <a:r>
              <a:rPr lang="en-US"/>
              <a:t>for short transactions</a:t>
            </a:r>
            <a:br>
              <a:rPr lang="en-US"/>
            </a:br>
            <a:br>
              <a:rPr lang="en-US"/>
            </a:br>
            <a:endParaRPr lang="en-US"/>
          </a:p>
          <a:p>
            <a:pPr lvl="1"/>
            <a:r>
              <a:rPr lang="en-US"/>
              <a:t>Percent done dialogs</a:t>
            </a:r>
          </a:p>
          <a:p>
            <a:pPr lvl="3"/>
            <a:r>
              <a:rPr lang="en-US"/>
              <a:t>time left</a:t>
            </a:r>
          </a:p>
          <a:p>
            <a:pPr lvl="3"/>
            <a:r>
              <a:rPr lang="en-US"/>
              <a:t>estimated time</a:t>
            </a:r>
          </a:p>
          <a:p>
            <a:pPr lvl="3">
              <a:buFontTx/>
              <a:buNone/>
            </a:pPr>
            <a:br>
              <a:rPr lang="en-US"/>
            </a:br>
            <a:endParaRPr lang="en-US"/>
          </a:p>
          <a:p>
            <a:pPr lvl="1"/>
            <a:r>
              <a:rPr lang="en-US"/>
              <a:t>Random</a:t>
            </a:r>
          </a:p>
          <a:p>
            <a:pPr lvl="2"/>
            <a:r>
              <a:rPr lang="en-US"/>
              <a:t>for unknown times</a:t>
            </a:r>
          </a:p>
        </p:txBody>
      </p:sp>
      <p:grpSp>
        <p:nvGrpSpPr>
          <p:cNvPr id="2" name="Group 26"/>
          <p:cNvGrpSpPr>
            <a:grpSpLocks/>
          </p:cNvGrpSpPr>
          <p:nvPr/>
        </p:nvGrpSpPr>
        <p:grpSpPr bwMode="auto">
          <a:xfrm>
            <a:off x="4667250" y="5105400"/>
            <a:ext cx="2876550" cy="1457325"/>
            <a:chOff x="2391" y="2911"/>
            <a:chExt cx="1812" cy="918"/>
          </a:xfrm>
        </p:grpSpPr>
        <p:sp>
          <p:nvSpPr>
            <p:cNvPr id="20485" name="Rectangle 5"/>
            <p:cNvSpPr>
              <a:spLocks noChangeArrowheads="1"/>
            </p:cNvSpPr>
            <p:nvPr/>
          </p:nvSpPr>
          <p:spPr bwMode="auto">
            <a:xfrm>
              <a:off x="2391" y="2911"/>
              <a:ext cx="1812" cy="918"/>
            </a:xfrm>
            <a:prstGeom prst="rect">
              <a:avLst/>
            </a:prstGeom>
            <a:solidFill>
              <a:schemeClr val="bg2"/>
            </a:solidFill>
            <a:ln w="76200">
              <a:solidFill>
                <a:schemeClr val="tx1"/>
              </a:solidFill>
              <a:miter lim="800000"/>
              <a:headEnd/>
              <a:tailEnd/>
            </a:ln>
            <a:effectLst/>
          </p:spPr>
          <p:txBody>
            <a:bodyPr wrap="none" anchor="ctr"/>
            <a:lstStyle/>
            <a:p>
              <a:endParaRPr lang="en-US"/>
            </a:p>
          </p:txBody>
        </p:sp>
        <p:sp>
          <p:nvSpPr>
            <p:cNvPr id="20486" name="Oval 6"/>
            <p:cNvSpPr>
              <a:spLocks noChangeArrowheads="1"/>
            </p:cNvSpPr>
            <p:nvPr/>
          </p:nvSpPr>
          <p:spPr bwMode="auto">
            <a:xfrm>
              <a:off x="2977" y="3137"/>
              <a:ext cx="492" cy="512"/>
            </a:xfrm>
            <a:prstGeom prst="ellipse">
              <a:avLst/>
            </a:prstGeom>
            <a:solidFill>
              <a:schemeClr val="bg2"/>
            </a:solidFill>
            <a:ln w="76200">
              <a:solidFill>
                <a:schemeClr val="tx1"/>
              </a:solidFill>
              <a:round/>
              <a:headEnd/>
              <a:tailEnd/>
            </a:ln>
            <a:effectLst/>
          </p:spPr>
          <p:txBody>
            <a:bodyPr wrap="none" anchor="ctr"/>
            <a:lstStyle/>
            <a:p>
              <a:endParaRPr lang="en-US"/>
            </a:p>
          </p:txBody>
        </p:sp>
        <p:sp>
          <p:nvSpPr>
            <p:cNvPr id="20488" name="Rectangle 8"/>
            <p:cNvSpPr>
              <a:spLocks noChangeArrowheads="1"/>
            </p:cNvSpPr>
            <p:nvPr/>
          </p:nvSpPr>
          <p:spPr bwMode="auto">
            <a:xfrm>
              <a:off x="3600" y="3552"/>
              <a:ext cx="445" cy="198"/>
            </a:xfrm>
            <a:prstGeom prst="rect">
              <a:avLst/>
            </a:prstGeom>
            <a:solidFill>
              <a:schemeClr val="bg2"/>
            </a:solidFill>
            <a:ln w="9525">
              <a:solidFill>
                <a:schemeClr val="tx1"/>
              </a:solidFill>
              <a:miter lim="800000"/>
              <a:headEnd/>
              <a:tailEnd/>
            </a:ln>
            <a:effectLst/>
          </p:spPr>
          <p:txBody>
            <a:bodyPr wrap="none" lIns="92075" tIns="46038" rIns="92075" bIns="46038">
              <a:spAutoFit/>
            </a:bodyPr>
            <a:lstStyle/>
            <a:p>
              <a:pPr eaLnBrk="0" hangingPunct="0"/>
              <a:r>
                <a:rPr lang="en-US" sz="1400">
                  <a:latin typeface="Arial" charset="0"/>
                </a:rPr>
                <a:t>cancel</a:t>
              </a:r>
            </a:p>
          </p:txBody>
        </p:sp>
        <p:sp>
          <p:nvSpPr>
            <p:cNvPr id="20489" name="Oval 9"/>
            <p:cNvSpPr>
              <a:spLocks noChangeArrowheads="1"/>
            </p:cNvSpPr>
            <p:nvPr/>
          </p:nvSpPr>
          <p:spPr bwMode="auto">
            <a:xfrm>
              <a:off x="3111" y="3337"/>
              <a:ext cx="38" cy="39"/>
            </a:xfrm>
            <a:prstGeom prst="ellipse">
              <a:avLst/>
            </a:prstGeom>
            <a:solidFill>
              <a:schemeClr val="bg2"/>
            </a:solidFill>
            <a:ln w="76200">
              <a:solidFill>
                <a:schemeClr val="tx1"/>
              </a:solidFill>
              <a:round/>
              <a:headEnd/>
              <a:tailEnd/>
            </a:ln>
            <a:effectLst/>
          </p:spPr>
          <p:txBody>
            <a:bodyPr wrap="none" anchor="ctr"/>
            <a:lstStyle/>
            <a:p>
              <a:endParaRPr lang="en-US"/>
            </a:p>
          </p:txBody>
        </p:sp>
        <p:sp>
          <p:nvSpPr>
            <p:cNvPr id="20490" name="Oval 10"/>
            <p:cNvSpPr>
              <a:spLocks noChangeArrowheads="1"/>
            </p:cNvSpPr>
            <p:nvPr/>
          </p:nvSpPr>
          <p:spPr bwMode="auto">
            <a:xfrm>
              <a:off x="3194" y="3219"/>
              <a:ext cx="38" cy="39"/>
            </a:xfrm>
            <a:prstGeom prst="ellipse">
              <a:avLst/>
            </a:prstGeom>
            <a:solidFill>
              <a:schemeClr val="bg2"/>
            </a:solidFill>
            <a:ln w="76200">
              <a:solidFill>
                <a:schemeClr val="tx1"/>
              </a:solidFill>
              <a:round/>
              <a:headEnd/>
              <a:tailEnd/>
            </a:ln>
            <a:effectLst/>
          </p:spPr>
          <p:txBody>
            <a:bodyPr wrap="none" anchor="ctr"/>
            <a:lstStyle/>
            <a:p>
              <a:endParaRPr lang="en-US"/>
            </a:p>
          </p:txBody>
        </p:sp>
        <p:sp>
          <p:nvSpPr>
            <p:cNvPr id="20491" name="Oval 11"/>
            <p:cNvSpPr>
              <a:spLocks noChangeArrowheads="1"/>
            </p:cNvSpPr>
            <p:nvPr/>
          </p:nvSpPr>
          <p:spPr bwMode="auto">
            <a:xfrm>
              <a:off x="3296" y="3489"/>
              <a:ext cx="38" cy="39"/>
            </a:xfrm>
            <a:prstGeom prst="ellipse">
              <a:avLst/>
            </a:prstGeom>
            <a:solidFill>
              <a:schemeClr val="bg2"/>
            </a:solidFill>
            <a:ln w="76200">
              <a:solidFill>
                <a:schemeClr val="tx1"/>
              </a:solidFill>
              <a:round/>
              <a:headEnd/>
              <a:tailEnd/>
            </a:ln>
            <a:effectLst/>
          </p:spPr>
          <p:txBody>
            <a:bodyPr wrap="none" anchor="ctr"/>
            <a:lstStyle/>
            <a:p>
              <a:endParaRPr lang="en-US"/>
            </a:p>
          </p:txBody>
        </p:sp>
        <p:sp>
          <p:nvSpPr>
            <p:cNvPr id="20492" name="Oval 12"/>
            <p:cNvSpPr>
              <a:spLocks noChangeArrowheads="1"/>
            </p:cNvSpPr>
            <p:nvPr/>
          </p:nvSpPr>
          <p:spPr bwMode="auto">
            <a:xfrm>
              <a:off x="3119" y="3512"/>
              <a:ext cx="38" cy="39"/>
            </a:xfrm>
            <a:prstGeom prst="ellipse">
              <a:avLst/>
            </a:prstGeom>
            <a:solidFill>
              <a:schemeClr val="bg2"/>
            </a:solidFill>
            <a:ln w="76200">
              <a:solidFill>
                <a:schemeClr val="tx1"/>
              </a:solidFill>
              <a:round/>
              <a:headEnd/>
              <a:tailEnd/>
            </a:ln>
            <a:effectLst/>
          </p:spPr>
          <p:txBody>
            <a:bodyPr wrap="none" anchor="ctr"/>
            <a:lstStyle/>
            <a:p>
              <a:endParaRPr lang="en-US"/>
            </a:p>
          </p:txBody>
        </p:sp>
        <p:sp>
          <p:nvSpPr>
            <p:cNvPr id="20493" name="Oval 13"/>
            <p:cNvSpPr>
              <a:spLocks noChangeArrowheads="1"/>
            </p:cNvSpPr>
            <p:nvPr/>
          </p:nvSpPr>
          <p:spPr bwMode="auto">
            <a:xfrm>
              <a:off x="3302" y="3328"/>
              <a:ext cx="38" cy="39"/>
            </a:xfrm>
            <a:prstGeom prst="ellipse">
              <a:avLst/>
            </a:prstGeom>
            <a:solidFill>
              <a:schemeClr val="bg2"/>
            </a:solidFill>
            <a:ln w="76200">
              <a:solidFill>
                <a:schemeClr val="tx1"/>
              </a:solidFill>
              <a:round/>
              <a:headEnd/>
              <a:tailEnd/>
            </a:ln>
            <a:effectLst/>
          </p:spPr>
          <p:txBody>
            <a:bodyPr wrap="none" anchor="ctr"/>
            <a:lstStyle/>
            <a:p>
              <a:endParaRPr lang="en-US"/>
            </a:p>
          </p:txBody>
        </p:sp>
        <p:sp>
          <p:nvSpPr>
            <p:cNvPr id="20494" name="Rectangle 14"/>
            <p:cNvSpPr>
              <a:spLocks noChangeArrowheads="1"/>
            </p:cNvSpPr>
            <p:nvPr/>
          </p:nvSpPr>
          <p:spPr bwMode="auto">
            <a:xfrm>
              <a:off x="2415" y="2943"/>
              <a:ext cx="1729" cy="192"/>
            </a:xfrm>
            <a:prstGeom prst="rect">
              <a:avLst/>
            </a:prstGeom>
            <a:solidFill>
              <a:schemeClr val="bg2"/>
            </a:solidFill>
            <a:ln w="9525">
              <a:noFill/>
              <a:miter lim="800000"/>
              <a:headEnd/>
              <a:tailEnd/>
            </a:ln>
            <a:effectLst/>
          </p:spPr>
          <p:txBody>
            <a:bodyPr wrap="none" lIns="92075" tIns="46038" rIns="92075" bIns="46038">
              <a:spAutoFit/>
            </a:bodyPr>
            <a:lstStyle/>
            <a:p>
              <a:pPr eaLnBrk="0" hangingPunct="0"/>
              <a:r>
                <a:rPr lang="en-US" sz="1400">
                  <a:latin typeface="Arial" charset="0"/>
                </a:rPr>
                <a:t>Contacting host (10-60 seconds)</a:t>
              </a:r>
            </a:p>
          </p:txBody>
        </p:sp>
      </p:grpSp>
      <p:graphicFrame>
        <p:nvGraphicFramePr>
          <p:cNvPr id="181248" name="Object 0"/>
          <p:cNvGraphicFramePr>
            <a:graphicFrameLocks noChangeAspect="1"/>
          </p:cNvGraphicFramePr>
          <p:nvPr/>
        </p:nvGraphicFramePr>
        <p:xfrm>
          <a:off x="4427538" y="2492375"/>
          <a:ext cx="504825" cy="473075"/>
        </p:xfrm>
        <a:graphic>
          <a:graphicData uri="http://schemas.openxmlformats.org/presentationml/2006/ole">
            <mc:AlternateContent xmlns:mc="http://schemas.openxmlformats.org/markup-compatibility/2006">
              <mc:Choice xmlns:v="urn:schemas-microsoft-com:vml" Requires="v">
                <p:oleObj name="Photo Editor Photo" r:id="rId4" imgW="304923" imgH="285866" progId="">
                  <p:embed/>
                </p:oleObj>
              </mc:Choice>
              <mc:Fallback>
                <p:oleObj name="Photo Editor Photo" r:id="rId4" imgW="304923" imgH="285866" progId="">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27538" y="2492375"/>
                        <a:ext cx="504825"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Nielsen’s Ten Heuristics</a:t>
            </a:r>
          </a:p>
        </p:txBody>
      </p:sp>
      <p:sp>
        <p:nvSpPr>
          <p:cNvPr id="3" name="Content Placeholder 2"/>
          <p:cNvSpPr>
            <a:spLocks noGrp="1"/>
          </p:cNvSpPr>
          <p:nvPr>
            <p:ph sz="quarter" idx="1"/>
          </p:nvPr>
        </p:nvSpPr>
        <p:spPr/>
        <p:txBody>
          <a:bodyPr>
            <a:normAutofit/>
          </a:bodyPr>
          <a:lstStyle/>
          <a:p>
            <a:pPr marL="514350" indent="-514350"/>
            <a:r>
              <a:rPr lang="en-US" b="1" dirty="0"/>
              <a:t>Match between system and the real world </a:t>
            </a:r>
            <a:r>
              <a:rPr lang="en-US" dirty="0"/>
              <a:t>[Speak the Users’ Language]</a:t>
            </a:r>
          </a:p>
          <a:p>
            <a:pPr marL="788670" lvl="1" indent="-514350"/>
            <a:endParaRPr lang="en-US" dirty="0"/>
          </a:p>
          <a:p>
            <a:pPr marL="788670" lvl="1" indent="-514350"/>
            <a:r>
              <a:rPr lang="en-US" dirty="0"/>
              <a:t>The system should speak the user’s language, with words, phrases and concepts familiar to the user, rather than system-oriented terms. Follow real-world conventions, making information appear in natural and logical order. </a:t>
            </a:r>
          </a:p>
          <a:p>
            <a:pPr marL="788670" lvl="1" indent="-514350"/>
            <a:endParaRPr lang="en-US" dirty="0"/>
          </a:p>
          <a:p>
            <a:pPr marL="788670" lvl="1" indent="-514350"/>
            <a:r>
              <a:rPr lang="en-US" dirty="0"/>
              <a:t>Match users’ mental model. Beware of misleading metaphors.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047"/>
          <p:cNvGrpSpPr>
            <a:grpSpLocks/>
          </p:cNvGrpSpPr>
          <p:nvPr/>
        </p:nvGrpSpPr>
        <p:grpSpPr bwMode="auto">
          <a:xfrm>
            <a:off x="381000" y="1447800"/>
            <a:ext cx="8458200" cy="5105400"/>
            <a:chOff x="0" y="672"/>
            <a:chExt cx="5760" cy="3648"/>
          </a:xfrm>
        </p:grpSpPr>
        <p:grpSp>
          <p:nvGrpSpPr>
            <p:cNvPr id="3" name="Group 1046"/>
            <p:cNvGrpSpPr>
              <a:grpSpLocks/>
            </p:cNvGrpSpPr>
            <p:nvPr/>
          </p:nvGrpSpPr>
          <p:grpSpPr bwMode="auto">
            <a:xfrm>
              <a:off x="0" y="672"/>
              <a:ext cx="5760" cy="3648"/>
              <a:chOff x="0" y="672"/>
              <a:chExt cx="5760" cy="3648"/>
            </a:xfrm>
          </p:grpSpPr>
          <p:sp>
            <p:nvSpPr>
              <p:cNvPr id="100373" name="Rectangle 1045"/>
              <p:cNvSpPr>
                <a:spLocks noChangeArrowheads="1"/>
              </p:cNvSpPr>
              <p:nvPr/>
            </p:nvSpPr>
            <p:spPr bwMode="auto">
              <a:xfrm>
                <a:off x="0" y="672"/>
                <a:ext cx="5760" cy="3648"/>
              </a:xfrm>
              <a:prstGeom prst="rect">
                <a:avLst/>
              </a:prstGeom>
              <a:solidFill>
                <a:srgbClr val="FFFFFF"/>
              </a:solidFill>
              <a:ln w="12699">
                <a:solidFill>
                  <a:schemeClr val="tx1"/>
                </a:solidFill>
                <a:miter lim="800000"/>
                <a:headEnd type="none" w="sm" len="sm"/>
                <a:tailEnd type="none" w="sm" len="sm"/>
              </a:ln>
              <a:effectLst/>
            </p:spPr>
            <p:txBody>
              <a:bodyPr wrap="none" lIns="92075" tIns="46038" rIns="92075" bIns="46038" anchor="ctr">
                <a:spAutoFit/>
              </a:bodyPr>
              <a:lstStyle/>
              <a:p>
                <a:endParaRPr lang="en-US"/>
              </a:p>
            </p:txBody>
          </p:sp>
          <p:grpSp>
            <p:nvGrpSpPr>
              <p:cNvPr id="4" name="Group 1043"/>
              <p:cNvGrpSpPr>
                <a:grpSpLocks/>
              </p:cNvGrpSpPr>
              <p:nvPr/>
            </p:nvGrpSpPr>
            <p:grpSpPr bwMode="auto">
              <a:xfrm>
                <a:off x="240" y="683"/>
                <a:ext cx="5424" cy="3637"/>
                <a:chOff x="240" y="77"/>
                <a:chExt cx="5424" cy="3637"/>
              </a:xfrm>
            </p:grpSpPr>
            <p:pic>
              <p:nvPicPr>
                <p:cNvPr id="100355" name="Picture 1027"/>
                <p:cNvPicPr>
                  <a:picLocks noChangeAspect="1" noChangeArrowheads="1"/>
                </p:cNvPicPr>
                <p:nvPr/>
              </p:nvPicPr>
              <p:blipFill>
                <a:blip r:embed="rId2" cstate="print"/>
                <a:srcRect/>
                <a:stretch>
                  <a:fillRect/>
                </a:stretch>
              </p:blipFill>
              <p:spPr bwMode="auto">
                <a:xfrm>
                  <a:off x="1056" y="864"/>
                  <a:ext cx="1608" cy="894"/>
                </a:xfrm>
                <a:prstGeom prst="rect">
                  <a:avLst/>
                </a:prstGeom>
                <a:noFill/>
                <a:ln w="12699">
                  <a:noFill/>
                  <a:miter lim="800000"/>
                  <a:headEnd type="none" w="sm" len="sm"/>
                  <a:tailEnd type="none" w="sm" len="sm"/>
                </a:ln>
                <a:effectLst/>
              </p:spPr>
            </p:pic>
            <p:sp>
              <p:nvSpPr>
                <p:cNvPr id="100359" name="AutoShape 1031"/>
                <p:cNvSpPr>
                  <a:spLocks noChangeArrowheads="1"/>
                </p:cNvSpPr>
                <p:nvPr/>
              </p:nvSpPr>
              <p:spPr bwMode="auto">
                <a:xfrm>
                  <a:off x="240" y="77"/>
                  <a:ext cx="1536" cy="539"/>
                </a:xfrm>
                <a:prstGeom prst="wedgeRoundRectCallout">
                  <a:avLst>
                    <a:gd name="adj1" fmla="val 42838"/>
                    <a:gd name="adj2" fmla="val 116000"/>
                    <a:gd name="adj3" fmla="val 16667"/>
                  </a:avLst>
                </a:prstGeom>
                <a:solidFill>
                  <a:srgbClr val="FFFFFF"/>
                </a:solidFill>
                <a:ln w="12699">
                  <a:solidFill>
                    <a:schemeClr val="tx1"/>
                  </a:solidFill>
                  <a:miter lim="800000"/>
                  <a:headEnd type="none" w="sm" len="sm"/>
                  <a:tailEnd type="none" w="sm" len="sm"/>
                </a:ln>
                <a:effectLst/>
              </p:spPr>
              <p:txBody>
                <a:bodyPr lIns="92075" tIns="46038" rIns="92075" bIns="46038" anchor="ctr">
                  <a:spAutoFit/>
                </a:bodyPr>
                <a:lstStyle/>
                <a:p>
                  <a:pPr algn="ctr" eaLnBrk="0" hangingPunct="0"/>
                  <a:r>
                    <a:rPr lang="en-US" sz="1400"/>
                    <a:t>My program gave me the message </a:t>
                  </a:r>
                  <a:r>
                    <a:rPr lang="en-US" sz="1400" i="1"/>
                    <a:t>Rstrd Info</a:t>
                  </a:r>
                  <a:r>
                    <a:rPr lang="en-US" sz="1400"/>
                    <a:t>.</a:t>
                  </a:r>
                  <a:br>
                    <a:rPr lang="en-US" sz="1400"/>
                  </a:br>
                  <a:r>
                    <a:rPr lang="en-US" sz="1400"/>
                    <a:t>What does it mean?</a:t>
                  </a:r>
                  <a:endParaRPr lang="en-US" sz="1400">
                    <a:latin typeface="Arial" charset="0"/>
                  </a:endParaRPr>
                </a:p>
              </p:txBody>
            </p:sp>
            <p:sp>
              <p:nvSpPr>
                <p:cNvPr id="100360" name="AutoShape 1032"/>
                <p:cNvSpPr>
                  <a:spLocks noChangeArrowheads="1"/>
                </p:cNvSpPr>
                <p:nvPr/>
              </p:nvSpPr>
              <p:spPr bwMode="auto">
                <a:xfrm>
                  <a:off x="1824" y="77"/>
                  <a:ext cx="1008" cy="539"/>
                </a:xfrm>
                <a:prstGeom prst="wedgeRoundRectCallout">
                  <a:avLst>
                    <a:gd name="adj1" fmla="val -7343"/>
                    <a:gd name="adj2" fmla="val 118199"/>
                    <a:gd name="adj3" fmla="val 16667"/>
                  </a:avLst>
                </a:prstGeom>
                <a:solidFill>
                  <a:srgbClr val="FFFFFF"/>
                </a:solidFill>
                <a:ln w="12699">
                  <a:solidFill>
                    <a:schemeClr val="tx1"/>
                  </a:solidFill>
                  <a:miter lim="800000"/>
                  <a:headEnd type="none" w="sm" len="sm"/>
                  <a:tailEnd type="none" w="sm" len="sm"/>
                </a:ln>
                <a:effectLst/>
              </p:spPr>
              <p:txBody>
                <a:bodyPr lIns="92075" tIns="46038" rIns="92075" bIns="46038" anchor="ctr">
                  <a:spAutoFit/>
                </a:bodyPr>
                <a:lstStyle/>
                <a:p>
                  <a:pPr algn="ctr" eaLnBrk="0" hangingPunct="0"/>
                  <a:r>
                    <a:rPr lang="en-US" sz="1400"/>
                    <a:t>That’s restricted information</a:t>
                  </a:r>
                  <a:endParaRPr lang="en-US" sz="1400">
                    <a:latin typeface="Arial" charset="0"/>
                  </a:endParaRPr>
                </a:p>
              </p:txBody>
            </p:sp>
            <p:pic>
              <p:nvPicPr>
                <p:cNvPr id="100361" name="Picture 1033"/>
                <p:cNvPicPr>
                  <a:picLocks noChangeAspect="1" noChangeArrowheads="1"/>
                </p:cNvPicPr>
                <p:nvPr/>
              </p:nvPicPr>
              <p:blipFill>
                <a:blip r:embed="rId3" cstate="print"/>
                <a:srcRect/>
                <a:stretch>
                  <a:fillRect/>
                </a:stretch>
              </p:blipFill>
              <p:spPr bwMode="auto">
                <a:xfrm>
                  <a:off x="3168" y="912"/>
                  <a:ext cx="1584" cy="894"/>
                </a:xfrm>
                <a:prstGeom prst="rect">
                  <a:avLst/>
                </a:prstGeom>
                <a:noFill/>
                <a:ln w="12699">
                  <a:noFill/>
                  <a:miter lim="800000"/>
                  <a:headEnd type="none" w="sm" len="sm"/>
                  <a:tailEnd type="none" w="sm" len="sm"/>
                </a:ln>
                <a:effectLst/>
              </p:spPr>
            </p:pic>
            <p:sp>
              <p:nvSpPr>
                <p:cNvPr id="100362" name="AutoShape 1034"/>
                <p:cNvSpPr>
                  <a:spLocks noChangeArrowheads="1"/>
                </p:cNvSpPr>
                <p:nvPr/>
              </p:nvSpPr>
              <p:spPr bwMode="auto">
                <a:xfrm>
                  <a:off x="3024" y="227"/>
                  <a:ext cx="1152" cy="383"/>
                </a:xfrm>
                <a:prstGeom prst="wedgeRoundRectCallout">
                  <a:avLst>
                    <a:gd name="adj1" fmla="val 22222"/>
                    <a:gd name="adj2" fmla="val 148597"/>
                    <a:gd name="adj3" fmla="val 16667"/>
                  </a:avLst>
                </a:prstGeom>
                <a:solidFill>
                  <a:srgbClr val="FFFFFF"/>
                </a:solidFill>
                <a:ln w="12699">
                  <a:solidFill>
                    <a:schemeClr val="tx1"/>
                  </a:solidFill>
                  <a:miter lim="800000"/>
                  <a:headEnd type="none" w="sm" len="sm"/>
                  <a:tailEnd type="none" w="sm" len="sm"/>
                </a:ln>
                <a:effectLst/>
              </p:spPr>
              <p:txBody>
                <a:bodyPr lIns="92075" tIns="46038" rIns="92075" bIns="46038" anchor="ctr">
                  <a:spAutoFit/>
                </a:bodyPr>
                <a:lstStyle/>
                <a:p>
                  <a:pPr algn="ctr" eaLnBrk="0" hangingPunct="0"/>
                  <a:r>
                    <a:rPr lang="en-US" sz="1400"/>
                    <a:t>But surely you can tell me!!!</a:t>
                  </a:r>
                  <a:endParaRPr lang="en-US" sz="1400">
                    <a:latin typeface="Arial" charset="0"/>
                  </a:endParaRPr>
                </a:p>
              </p:txBody>
            </p:sp>
            <p:sp>
              <p:nvSpPr>
                <p:cNvPr id="100363" name="AutoShape 1035"/>
                <p:cNvSpPr>
                  <a:spLocks noChangeArrowheads="1"/>
                </p:cNvSpPr>
                <p:nvPr/>
              </p:nvSpPr>
              <p:spPr bwMode="auto">
                <a:xfrm>
                  <a:off x="4224" y="173"/>
                  <a:ext cx="1440" cy="538"/>
                </a:xfrm>
                <a:prstGeom prst="wedgeRoundRectCallout">
                  <a:avLst>
                    <a:gd name="adj1" fmla="val -29722"/>
                    <a:gd name="adj2" fmla="val 95398"/>
                    <a:gd name="adj3" fmla="val 16667"/>
                  </a:avLst>
                </a:prstGeom>
                <a:solidFill>
                  <a:srgbClr val="FFFFFF"/>
                </a:solidFill>
                <a:ln w="12699">
                  <a:solidFill>
                    <a:schemeClr val="tx1"/>
                  </a:solidFill>
                  <a:miter lim="800000"/>
                  <a:headEnd type="none" w="sm" len="sm"/>
                  <a:tailEnd type="none" w="sm" len="sm"/>
                </a:ln>
                <a:effectLst/>
              </p:spPr>
              <p:txBody>
                <a:bodyPr lIns="92075" tIns="46038" rIns="92075" bIns="46038" anchor="ctr">
                  <a:spAutoFit/>
                </a:bodyPr>
                <a:lstStyle/>
                <a:p>
                  <a:pPr algn="ctr" eaLnBrk="0" hangingPunct="0"/>
                  <a:r>
                    <a:rPr lang="en-US" sz="1400"/>
                    <a:t>No, no… </a:t>
                  </a:r>
                  <a:r>
                    <a:rPr lang="en-US" sz="1400" i="1"/>
                    <a:t>Rsdrd Info</a:t>
                  </a:r>
                  <a:r>
                    <a:rPr lang="en-US" sz="1400"/>
                    <a:t> stands for “Restricted Information”</a:t>
                  </a:r>
                  <a:endParaRPr lang="en-US" sz="1400">
                    <a:latin typeface="Arial" charset="0"/>
                  </a:endParaRPr>
                </a:p>
              </p:txBody>
            </p:sp>
            <p:pic>
              <p:nvPicPr>
                <p:cNvPr id="100364" name="Picture 1036"/>
                <p:cNvPicPr>
                  <a:picLocks noChangeAspect="1" noChangeArrowheads="1"/>
                </p:cNvPicPr>
                <p:nvPr/>
              </p:nvPicPr>
              <p:blipFill>
                <a:blip r:embed="rId4" cstate="print"/>
                <a:srcRect/>
                <a:stretch>
                  <a:fillRect/>
                </a:stretch>
              </p:blipFill>
              <p:spPr bwMode="auto">
                <a:xfrm>
                  <a:off x="1056" y="2784"/>
                  <a:ext cx="1548" cy="888"/>
                </a:xfrm>
                <a:prstGeom prst="rect">
                  <a:avLst/>
                </a:prstGeom>
                <a:noFill/>
                <a:ln w="12699">
                  <a:noFill/>
                  <a:miter lim="800000"/>
                  <a:headEnd type="none" w="sm" len="sm"/>
                  <a:tailEnd type="none" w="sm" len="sm"/>
                </a:ln>
                <a:effectLst/>
              </p:spPr>
            </p:pic>
            <p:sp>
              <p:nvSpPr>
                <p:cNvPr id="100365" name="AutoShape 1037"/>
                <p:cNvSpPr>
                  <a:spLocks noChangeArrowheads="1"/>
                </p:cNvSpPr>
                <p:nvPr/>
              </p:nvSpPr>
              <p:spPr bwMode="auto">
                <a:xfrm>
                  <a:off x="240" y="2146"/>
                  <a:ext cx="1152" cy="384"/>
                </a:xfrm>
                <a:prstGeom prst="wedgeRoundRectCallout">
                  <a:avLst>
                    <a:gd name="adj1" fmla="val 57120"/>
                    <a:gd name="adj2" fmla="val 125000"/>
                    <a:gd name="adj3" fmla="val 16667"/>
                  </a:avLst>
                </a:prstGeom>
                <a:solidFill>
                  <a:srgbClr val="FFFFFF"/>
                </a:solidFill>
                <a:ln w="12699">
                  <a:solidFill>
                    <a:schemeClr val="tx1"/>
                  </a:solidFill>
                  <a:miter lim="800000"/>
                  <a:headEnd type="none" w="sm" len="sm"/>
                  <a:tailEnd type="none" w="sm" len="sm"/>
                </a:ln>
                <a:effectLst/>
              </p:spPr>
              <p:txBody>
                <a:bodyPr lIns="92075" tIns="46038" rIns="92075" bIns="46038" anchor="ctr">
                  <a:spAutoFit/>
                </a:bodyPr>
                <a:lstStyle/>
                <a:p>
                  <a:pPr algn="ctr" eaLnBrk="0" hangingPunct="0"/>
                  <a:r>
                    <a:rPr lang="en-US" sz="1400"/>
                    <a:t>Hmm… but what does it </a:t>
                  </a:r>
                  <a:r>
                    <a:rPr lang="en-US" sz="1400" u="sng"/>
                    <a:t>mean</a:t>
                  </a:r>
                  <a:r>
                    <a:rPr lang="en-US" sz="1400"/>
                    <a:t>???</a:t>
                  </a:r>
                  <a:endParaRPr lang="en-US" sz="1400">
                    <a:latin typeface="Arial" charset="0"/>
                  </a:endParaRPr>
                </a:p>
              </p:txBody>
            </p:sp>
            <p:sp>
              <p:nvSpPr>
                <p:cNvPr id="100366" name="AutoShape 1038"/>
                <p:cNvSpPr>
                  <a:spLocks noChangeArrowheads="1"/>
                </p:cNvSpPr>
                <p:nvPr/>
              </p:nvSpPr>
              <p:spPr bwMode="auto">
                <a:xfrm>
                  <a:off x="1536" y="2093"/>
                  <a:ext cx="1344" cy="539"/>
                </a:xfrm>
                <a:prstGeom prst="wedgeRoundRectCallout">
                  <a:avLst>
                    <a:gd name="adj1" fmla="val -6398"/>
                    <a:gd name="adj2" fmla="val 96398"/>
                    <a:gd name="adj3" fmla="val 16667"/>
                  </a:avLst>
                </a:prstGeom>
                <a:solidFill>
                  <a:srgbClr val="FFFFFF"/>
                </a:solidFill>
                <a:ln w="12699">
                  <a:solidFill>
                    <a:schemeClr val="tx1"/>
                  </a:solidFill>
                  <a:miter lim="800000"/>
                  <a:headEnd type="none" w="sm" len="sm"/>
                  <a:tailEnd type="none" w="sm" len="sm"/>
                </a:ln>
                <a:effectLst/>
              </p:spPr>
              <p:txBody>
                <a:bodyPr lIns="92075" tIns="46038" rIns="92075" bIns="46038" anchor="ctr">
                  <a:spAutoFit/>
                </a:bodyPr>
                <a:lstStyle/>
                <a:p>
                  <a:pPr algn="ctr" eaLnBrk="0" hangingPunct="0"/>
                  <a:r>
                    <a:rPr lang="en-US" sz="1400"/>
                    <a:t>It means the program is too busy to let you log on</a:t>
                  </a:r>
                  <a:endParaRPr lang="en-US" sz="1400">
                    <a:latin typeface="Arial" charset="0"/>
                  </a:endParaRPr>
                </a:p>
              </p:txBody>
            </p:sp>
            <p:pic>
              <p:nvPicPr>
                <p:cNvPr id="100367" name="Picture 1039"/>
                <p:cNvPicPr>
                  <a:picLocks noChangeAspect="1" noChangeArrowheads="1"/>
                </p:cNvPicPr>
                <p:nvPr/>
              </p:nvPicPr>
              <p:blipFill>
                <a:blip r:embed="rId5" cstate="print"/>
                <a:srcRect/>
                <a:stretch>
                  <a:fillRect/>
                </a:stretch>
              </p:blipFill>
              <p:spPr bwMode="auto">
                <a:xfrm>
                  <a:off x="3360" y="2784"/>
                  <a:ext cx="1614" cy="930"/>
                </a:xfrm>
                <a:prstGeom prst="rect">
                  <a:avLst/>
                </a:prstGeom>
                <a:noFill/>
                <a:ln w="12699">
                  <a:noFill/>
                  <a:miter lim="800000"/>
                  <a:headEnd type="none" w="sm" len="sm"/>
                  <a:tailEnd type="none" w="sm" len="sm"/>
                </a:ln>
                <a:effectLst/>
              </p:spPr>
            </p:pic>
            <p:sp>
              <p:nvSpPr>
                <p:cNvPr id="100368" name="AutoShape 1040"/>
                <p:cNvSpPr>
                  <a:spLocks noChangeArrowheads="1"/>
                </p:cNvSpPr>
                <p:nvPr/>
              </p:nvSpPr>
              <p:spPr bwMode="auto">
                <a:xfrm>
                  <a:off x="3553" y="2098"/>
                  <a:ext cx="1151" cy="384"/>
                </a:xfrm>
                <a:prstGeom prst="wedgeRoundRectCallout">
                  <a:avLst>
                    <a:gd name="adj1" fmla="val -6421"/>
                    <a:gd name="adj2" fmla="val 148597"/>
                    <a:gd name="adj3" fmla="val 16667"/>
                  </a:avLst>
                </a:prstGeom>
                <a:solidFill>
                  <a:srgbClr val="FFFFFF"/>
                </a:solidFill>
                <a:ln w="12699">
                  <a:solidFill>
                    <a:schemeClr val="tx1"/>
                  </a:solidFill>
                  <a:miter lim="800000"/>
                  <a:headEnd type="none" w="sm" len="sm"/>
                  <a:tailEnd type="none" w="sm" len="sm"/>
                </a:ln>
                <a:effectLst/>
              </p:spPr>
              <p:txBody>
                <a:bodyPr lIns="92075" tIns="46038" rIns="92075" bIns="46038" anchor="ctr">
                  <a:spAutoFit/>
                </a:bodyPr>
                <a:lstStyle/>
                <a:p>
                  <a:pPr algn="ctr" eaLnBrk="0" hangingPunct="0"/>
                  <a:r>
                    <a:rPr lang="en-US" sz="1400"/>
                    <a:t>Ok, I’ll take a coffee</a:t>
                  </a:r>
                  <a:endParaRPr lang="en-US" sz="1400">
                    <a:latin typeface="Arial" charset="0"/>
                  </a:endParaRPr>
                </a:p>
              </p:txBody>
            </p:sp>
          </p:grpSp>
        </p:grpSp>
        <p:sp>
          <p:nvSpPr>
            <p:cNvPr id="100369" name="Line 1041"/>
            <p:cNvSpPr>
              <a:spLocks noChangeShapeType="1"/>
            </p:cNvSpPr>
            <p:nvPr/>
          </p:nvSpPr>
          <p:spPr bwMode="auto">
            <a:xfrm>
              <a:off x="0" y="2400"/>
              <a:ext cx="5760" cy="0"/>
            </a:xfrm>
            <a:prstGeom prst="line">
              <a:avLst/>
            </a:prstGeom>
            <a:noFill/>
            <a:ln w="38100">
              <a:solidFill>
                <a:schemeClr val="tx1"/>
              </a:solidFill>
              <a:round/>
              <a:headEnd type="none" w="sm" len="sm"/>
              <a:tailEnd type="none" w="sm" len="sm"/>
            </a:ln>
            <a:effectLst/>
          </p:spPr>
          <p:txBody>
            <a:bodyPr wrap="none" lIns="92075" tIns="46038" rIns="92075" bIns="46038" anchor="ctr">
              <a:spAutoFit/>
            </a:bodyPr>
            <a:lstStyle/>
            <a:p>
              <a:endParaRPr lang="en-US"/>
            </a:p>
          </p:txBody>
        </p:sp>
        <p:sp>
          <p:nvSpPr>
            <p:cNvPr id="100370" name="Line 1042"/>
            <p:cNvSpPr>
              <a:spLocks noChangeShapeType="1"/>
            </p:cNvSpPr>
            <p:nvPr/>
          </p:nvSpPr>
          <p:spPr bwMode="auto">
            <a:xfrm>
              <a:off x="2976" y="672"/>
              <a:ext cx="0" cy="3648"/>
            </a:xfrm>
            <a:prstGeom prst="line">
              <a:avLst/>
            </a:prstGeom>
            <a:noFill/>
            <a:ln w="38100">
              <a:solidFill>
                <a:schemeClr val="tx1"/>
              </a:solidFill>
              <a:round/>
              <a:headEnd type="none" w="sm" len="sm"/>
              <a:tailEnd type="none" w="sm" len="sm"/>
            </a:ln>
            <a:effectLst/>
          </p:spPr>
          <p:txBody>
            <a:bodyPr lIns="92075" tIns="46038" rIns="92075" bIns="46038" anchor="ctr">
              <a:spAutoFit/>
            </a:bodyPr>
            <a:lstStyle/>
            <a:p>
              <a:endParaRPr lang="en-US"/>
            </a:p>
          </p:txBody>
        </p:sp>
      </p:grpSp>
      <p:sp>
        <p:nvSpPr>
          <p:cNvPr id="100372" name="Rectangle 1044"/>
          <p:cNvSpPr>
            <a:spLocks noGrp="1" noChangeArrowheads="1"/>
          </p:cNvSpPr>
          <p:nvPr>
            <p:ph type="title"/>
          </p:nvPr>
        </p:nvSpPr>
        <p:spPr/>
        <p:txBody>
          <a:bodyPr/>
          <a:lstStyle/>
          <a:p>
            <a:r>
              <a:rPr lang="en-US" dirty="0"/>
              <a:t>2. Speak the users’ language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Speak the users’ language</a:t>
            </a:r>
          </a:p>
        </p:txBody>
      </p:sp>
      <p:sp>
        <p:nvSpPr>
          <p:cNvPr id="3" name="Content Placeholder 2"/>
          <p:cNvSpPr>
            <a:spLocks noGrp="1"/>
          </p:cNvSpPr>
          <p:nvPr>
            <p:ph sz="quarter" idx="1"/>
          </p:nvPr>
        </p:nvSpPr>
        <p:spPr/>
        <p:txBody>
          <a:bodyPr/>
          <a:lstStyle/>
          <a:p>
            <a:r>
              <a:rPr lang="en-US" dirty="0"/>
              <a:t>Match between system and the real world </a:t>
            </a:r>
          </a:p>
          <a:p>
            <a:endParaRPr lang="en-US" dirty="0"/>
          </a:p>
        </p:txBody>
      </p:sp>
      <p:pic>
        <p:nvPicPr>
          <p:cNvPr id="4" name="Picture 3"/>
          <p:cNvPicPr>
            <a:picLocks noChangeAspect="1" noChangeArrowheads="1"/>
          </p:cNvPicPr>
          <p:nvPr/>
        </p:nvPicPr>
        <p:blipFill>
          <a:blip r:embed="rId2" cstate="print"/>
          <a:srcRect l="8750" t="48518" r="10625" b="18059"/>
          <a:stretch>
            <a:fillRect/>
          </a:stretch>
        </p:blipFill>
        <p:spPr bwMode="auto">
          <a:xfrm>
            <a:off x="228600" y="2743200"/>
            <a:ext cx="8686800" cy="2087563"/>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Speak the users’ language</a:t>
            </a:r>
          </a:p>
        </p:txBody>
      </p:sp>
      <p:sp>
        <p:nvSpPr>
          <p:cNvPr id="3" name="Content Placeholder 2"/>
          <p:cNvSpPr>
            <a:spLocks noGrp="1"/>
          </p:cNvSpPr>
          <p:nvPr>
            <p:ph sz="quarter" idx="1"/>
          </p:nvPr>
        </p:nvSpPr>
        <p:spPr/>
        <p:txBody>
          <a:bodyPr/>
          <a:lstStyle/>
          <a:p>
            <a:r>
              <a:rPr lang="en-US" dirty="0"/>
              <a:t>Match between system and the real world </a:t>
            </a:r>
          </a:p>
          <a:p>
            <a:endParaRPr lang="en-US" dirty="0"/>
          </a:p>
        </p:txBody>
      </p:sp>
      <p:pic>
        <p:nvPicPr>
          <p:cNvPr id="4301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15299" y="2667000"/>
            <a:ext cx="3623501" cy="2395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334097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noFill/>
          <a:ln/>
        </p:spPr>
        <p:txBody>
          <a:bodyPr lIns="92075" tIns="46038" rIns="92075" bIns="46038"/>
          <a:lstStyle/>
          <a:p>
            <a:r>
              <a:rPr lang="en-US" dirty="0"/>
              <a:t>2. Speak the users’ language</a:t>
            </a:r>
          </a:p>
        </p:txBody>
      </p:sp>
      <p:sp>
        <p:nvSpPr>
          <p:cNvPr id="10243" name="Rectangle 3"/>
          <p:cNvSpPr>
            <a:spLocks noGrp="1" noChangeArrowheads="1"/>
          </p:cNvSpPr>
          <p:nvPr>
            <p:ph type="body" idx="1"/>
          </p:nvPr>
        </p:nvSpPr>
        <p:spPr>
          <a:xfrm>
            <a:off x="395288" y="1557338"/>
            <a:ext cx="8208962" cy="4824412"/>
          </a:xfrm>
          <a:noFill/>
          <a:ln/>
        </p:spPr>
        <p:txBody>
          <a:bodyPr lIns="92075" tIns="46038" rIns="92075" bIns="46038">
            <a:normAutofit fontScale="92500" lnSpcReduction="10000"/>
          </a:bodyPr>
          <a:lstStyle/>
          <a:p>
            <a:r>
              <a:rPr lang="en-US" dirty="0"/>
              <a:t>Terminology based on users’ language for task</a:t>
            </a:r>
          </a:p>
          <a:p>
            <a:pPr lvl="1"/>
            <a:r>
              <a:rPr lang="en-US" dirty="0"/>
              <a:t>e.g. withdrawing money from a bank machine</a:t>
            </a:r>
          </a:p>
          <a:p>
            <a:pPr lvl="2">
              <a:buFontTx/>
              <a:buNone/>
            </a:pPr>
            <a:endParaRPr lang="en-US" i="1" dirty="0"/>
          </a:p>
          <a:p>
            <a:pPr lvl="2">
              <a:buFontTx/>
              <a:buNone/>
            </a:pPr>
            <a:br>
              <a:rPr lang="en-US" dirty="0"/>
            </a:br>
            <a:br>
              <a:rPr lang="en-US" dirty="0"/>
            </a:br>
            <a:br>
              <a:rPr lang="en-US" dirty="0"/>
            </a:br>
            <a:br>
              <a:rPr lang="en-US" dirty="0"/>
            </a:br>
            <a:endParaRPr lang="en-US" dirty="0"/>
          </a:p>
          <a:p>
            <a:pPr>
              <a:buNone/>
            </a:pPr>
            <a:br>
              <a:rPr lang="en-US" dirty="0"/>
            </a:br>
            <a:br>
              <a:rPr lang="en-US" dirty="0"/>
            </a:br>
            <a:r>
              <a:rPr lang="en-US" dirty="0"/>
              <a:t>Use meaningful mnemonics, icons &amp; abbreviations</a:t>
            </a:r>
          </a:p>
          <a:p>
            <a:pPr lvl="1"/>
            <a:r>
              <a:rPr lang="en-US" dirty="0" err="1"/>
              <a:t>eg</a:t>
            </a:r>
            <a:r>
              <a:rPr lang="en-US" dirty="0"/>
              <a:t> File / Save</a:t>
            </a:r>
          </a:p>
          <a:p>
            <a:pPr lvl="2"/>
            <a:r>
              <a:rPr lang="en-US" dirty="0"/>
              <a:t>Ctrl + S   	(abbreviation)</a:t>
            </a:r>
          </a:p>
          <a:p>
            <a:pPr lvl="2"/>
            <a:r>
              <a:rPr lang="en-US" dirty="0"/>
              <a:t>Alt FS  		(mnemonic for menu action)</a:t>
            </a:r>
          </a:p>
          <a:p>
            <a:pPr lvl="2"/>
            <a:r>
              <a:rPr lang="en-US" dirty="0"/>
              <a:t>   		 (tooltip  icon)	</a:t>
            </a:r>
          </a:p>
        </p:txBody>
      </p:sp>
      <p:pic>
        <p:nvPicPr>
          <p:cNvPr id="10249" name="Picture 9"/>
          <p:cNvPicPr>
            <a:picLocks noChangeAspect="1" noChangeArrowheads="1"/>
          </p:cNvPicPr>
          <p:nvPr/>
        </p:nvPicPr>
        <p:blipFill>
          <a:blip r:embed="rId3" cstate="print"/>
          <a:srcRect/>
          <a:stretch>
            <a:fillRect/>
          </a:stretch>
        </p:blipFill>
        <p:spPr bwMode="auto">
          <a:xfrm>
            <a:off x="900113" y="2420938"/>
            <a:ext cx="3190875" cy="1571625"/>
          </a:xfrm>
          <a:prstGeom prst="rect">
            <a:avLst/>
          </a:prstGeom>
          <a:noFill/>
          <a:ln w="12699">
            <a:noFill/>
            <a:miter lim="800000"/>
            <a:headEnd type="none" w="sm" len="sm"/>
            <a:tailEnd type="none" w="sm" len="sm"/>
          </a:ln>
          <a:effectLst/>
        </p:spPr>
      </p:pic>
      <p:pic>
        <p:nvPicPr>
          <p:cNvPr id="10250" name="Picture 10"/>
          <p:cNvPicPr>
            <a:picLocks noChangeAspect="1" noChangeArrowheads="1"/>
          </p:cNvPicPr>
          <p:nvPr/>
        </p:nvPicPr>
        <p:blipFill>
          <a:blip r:embed="rId4" cstate="print"/>
          <a:srcRect/>
          <a:stretch>
            <a:fillRect/>
          </a:stretch>
        </p:blipFill>
        <p:spPr bwMode="auto">
          <a:xfrm>
            <a:off x="4252913" y="2420938"/>
            <a:ext cx="3190875" cy="1571625"/>
          </a:xfrm>
          <a:prstGeom prst="rect">
            <a:avLst/>
          </a:prstGeom>
          <a:noFill/>
          <a:ln w="12699">
            <a:noFill/>
            <a:miter lim="800000"/>
            <a:headEnd type="none" w="sm" len="sm"/>
            <a:tailEnd type="none" w="sm" len="sm"/>
          </a:ln>
          <a:effectLst/>
        </p:spPr>
      </p:pic>
      <p:pic>
        <p:nvPicPr>
          <p:cNvPr id="10251" name="Picture 11"/>
          <p:cNvPicPr>
            <a:picLocks noChangeAspect="1" noChangeArrowheads="1"/>
          </p:cNvPicPr>
          <p:nvPr/>
        </p:nvPicPr>
        <p:blipFill>
          <a:blip r:embed="rId5" cstate="print"/>
          <a:srcRect/>
          <a:stretch>
            <a:fillRect/>
          </a:stretch>
        </p:blipFill>
        <p:spPr bwMode="auto">
          <a:xfrm>
            <a:off x="1403350" y="6021388"/>
            <a:ext cx="876300" cy="723900"/>
          </a:xfrm>
          <a:prstGeom prst="rect">
            <a:avLst/>
          </a:prstGeom>
          <a:noFill/>
          <a:ln w="12699">
            <a:noFill/>
            <a:miter lim="800000"/>
            <a:headEnd type="none" w="sm" len="sm"/>
            <a:tailEnd type="none" w="sm" len="sm"/>
          </a:ln>
          <a:effectLst/>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Nielsen’s Ten Heuristics</a:t>
            </a:r>
          </a:p>
        </p:txBody>
      </p:sp>
      <p:sp>
        <p:nvSpPr>
          <p:cNvPr id="3" name="Content Placeholder 2"/>
          <p:cNvSpPr>
            <a:spLocks noGrp="1"/>
          </p:cNvSpPr>
          <p:nvPr>
            <p:ph sz="quarter" idx="1"/>
          </p:nvPr>
        </p:nvSpPr>
        <p:spPr/>
        <p:txBody>
          <a:bodyPr>
            <a:normAutofit/>
          </a:bodyPr>
          <a:lstStyle/>
          <a:p>
            <a:r>
              <a:rPr lang="en-US" b="1" dirty="0"/>
              <a:t>User control and freedom </a:t>
            </a:r>
            <a:r>
              <a:rPr lang="en-US" dirty="0"/>
              <a:t>[Clearly Marked Exits]</a:t>
            </a:r>
            <a:endParaRPr lang="en-US" b="1" dirty="0"/>
          </a:p>
          <a:p>
            <a:pPr lvl="1"/>
            <a:r>
              <a:rPr lang="en-US" dirty="0"/>
              <a:t>Users often choose system functions by mistake and need a clearly marked ‘emergency exit’ to leave the unwanted state without having to go through an extended dialog. Support undo and redo.</a:t>
            </a:r>
          </a:p>
          <a:p>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3" name="AutoShape 5"/>
          <p:cNvSpPr>
            <a:spLocks noChangeArrowheads="1"/>
          </p:cNvSpPr>
          <p:nvPr/>
        </p:nvSpPr>
        <p:spPr bwMode="auto">
          <a:xfrm>
            <a:off x="6934200" y="1524000"/>
            <a:ext cx="1600200" cy="1792288"/>
          </a:xfrm>
          <a:prstGeom prst="cloudCallout">
            <a:avLst>
              <a:gd name="adj1" fmla="val -70634"/>
              <a:gd name="adj2" fmla="val 66296"/>
            </a:avLst>
          </a:prstGeom>
          <a:solidFill>
            <a:srgbClr val="FFFFFF"/>
          </a:solidFill>
          <a:ln w="12699">
            <a:solidFill>
              <a:schemeClr val="tx1"/>
            </a:solidFill>
            <a:round/>
            <a:headEnd type="none" w="sm" len="sm"/>
            <a:tailEnd type="none" w="sm" len="sm"/>
          </a:ln>
          <a:effectLst/>
        </p:spPr>
        <p:txBody>
          <a:bodyPr lIns="92075" tIns="46038" rIns="92075" bIns="46038" anchor="ctr">
            <a:spAutoFit/>
          </a:bodyPr>
          <a:lstStyle/>
          <a:p>
            <a:pPr algn="ctr" eaLnBrk="0" hangingPunct="0"/>
            <a:r>
              <a:rPr lang="en-US" sz="1800"/>
              <a:t>How do I get out of this?</a:t>
            </a:r>
            <a:endParaRPr lang="en-US" sz="1400"/>
          </a:p>
        </p:txBody>
      </p:sp>
      <p:sp>
        <p:nvSpPr>
          <p:cNvPr id="22534" name="Rectangle 6"/>
          <p:cNvSpPr>
            <a:spLocks noGrp="1" noChangeArrowheads="1"/>
          </p:cNvSpPr>
          <p:nvPr>
            <p:ph type="title"/>
          </p:nvPr>
        </p:nvSpPr>
        <p:spPr/>
        <p:txBody>
          <a:bodyPr/>
          <a:lstStyle/>
          <a:p>
            <a:r>
              <a:rPr lang="en-US" dirty="0"/>
              <a:t>3.  Provide clearly marked exits</a:t>
            </a:r>
          </a:p>
        </p:txBody>
      </p:sp>
      <p:pic>
        <p:nvPicPr>
          <p:cNvPr id="22535" name="Picture 7"/>
          <p:cNvPicPr>
            <a:picLocks noChangeAspect="1" noChangeArrowheads="1"/>
          </p:cNvPicPr>
          <p:nvPr/>
        </p:nvPicPr>
        <p:blipFill>
          <a:blip r:embed="rId2" cstate="print"/>
          <a:srcRect/>
          <a:stretch>
            <a:fillRect/>
          </a:stretch>
        </p:blipFill>
        <p:spPr bwMode="auto">
          <a:xfrm>
            <a:off x="1676400" y="1447800"/>
            <a:ext cx="4840288" cy="4905375"/>
          </a:xfrm>
          <a:prstGeom prst="rect">
            <a:avLst/>
          </a:prstGeom>
          <a:noFill/>
          <a:ln w="12699">
            <a:noFill/>
            <a:miter lim="800000"/>
            <a:headEnd type="none" w="sm" len="sm"/>
            <a:tailEnd type="none" w="sm" len="sm"/>
          </a:ln>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4" name="Rectangle 6"/>
          <p:cNvSpPr>
            <a:spLocks noGrp="1" noChangeArrowheads="1"/>
          </p:cNvSpPr>
          <p:nvPr>
            <p:ph type="title"/>
          </p:nvPr>
        </p:nvSpPr>
        <p:spPr/>
        <p:txBody>
          <a:bodyPr/>
          <a:lstStyle/>
          <a:p>
            <a:r>
              <a:rPr lang="en-US" dirty="0"/>
              <a:t>3.  Provide clearly marked exits</a:t>
            </a:r>
          </a:p>
        </p:txBody>
      </p:sp>
      <p:pic>
        <p:nvPicPr>
          <p:cNvPr id="5" name="Picture 2"/>
          <p:cNvPicPr>
            <a:picLocks noChangeAspect="1" noChangeArrowheads="1"/>
          </p:cNvPicPr>
          <p:nvPr/>
        </p:nvPicPr>
        <p:blipFill>
          <a:blip r:embed="rId2" cstate="print"/>
          <a:srcRect l="8750" t="26954" r="10625" b="25607"/>
          <a:stretch>
            <a:fillRect/>
          </a:stretch>
        </p:blipFill>
        <p:spPr bwMode="auto">
          <a:xfrm>
            <a:off x="228600" y="1371600"/>
            <a:ext cx="8686800" cy="2962275"/>
          </a:xfrm>
          <a:prstGeom prst="rect">
            <a:avLst/>
          </a:prstGeom>
          <a:ln>
            <a:noFill/>
          </a:ln>
          <a:effectLst>
            <a:outerShdw blurRad="292100" dist="139700" dir="2700000" algn="tl" rotWithShape="0">
              <a:srgbClr val="333333">
                <a:alpha val="65000"/>
              </a:srgbClr>
            </a:outerShdw>
          </a:effectLst>
        </p:spPr>
      </p:pic>
      <p:pic>
        <p:nvPicPr>
          <p:cNvPr id="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62200" y="4419600"/>
            <a:ext cx="4119872" cy="22498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noFill/>
          <a:ln/>
        </p:spPr>
        <p:txBody>
          <a:bodyPr lIns="92075" tIns="46038" rIns="92075" bIns="46038"/>
          <a:lstStyle/>
          <a:p>
            <a:r>
              <a:rPr lang="en-US" dirty="0"/>
              <a:t>3. Provide clearly marked exits</a:t>
            </a:r>
          </a:p>
        </p:txBody>
      </p:sp>
      <p:sp>
        <p:nvSpPr>
          <p:cNvPr id="23555" name="Rectangle 3"/>
          <p:cNvSpPr>
            <a:spLocks noGrp="1" noChangeArrowheads="1"/>
          </p:cNvSpPr>
          <p:nvPr>
            <p:ph type="body" idx="1"/>
          </p:nvPr>
        </p:nvSpPr>
        <p:spPr>
          <a:noFill/>
          <a:ln/>
        </p:spPr>
        <p:txBody>
          <a:bodyPr lIns="92075" tIns="46038" rIns="92075" bIns="46038"/>
          <a:lstStyle/>
          <a:p>
            <a:r>
              <a:rPr lang="en-US"/>
              <a:t>Users don’t like to feel trapped by the computer!</a:t>
            </a:r>
          </a:p>
          <a:p>
            <a:pPr lvl="1"/>
            <a:r>
              <a:rPr lang="en-US"/>
              <a:t>should offer an easy way out of as many situations as possible</a:t>
            </a:r>
            <a:br>
              <a:rPr lang="en-US"/>
            </a:br>
            <a:endParaRPr lang="en-US"/>
          </a:p>
          <a:p>
            <a:r>
              <a:rPr lang="en-US"/>
              <a:t>Strategies:</a:t>
            </a:r>
          </a:p>
          <a:p>
            <a:pPr lvl="1"/>
            <a:r>
              <a:rPr lang="en-US"/>
              <a:t>Cancel button (for dialogs waiting for user input)</a:t>
            </a:r>
          </a:p>
          <a:p>
            <a:pPr lvl="1"/>
            <a:r>
              <a:rPr lang="en-US"/>
              <a:t>Universal Undo (can get back to previous state)</a:t>
            </a:r>
          </a:p>
          <a:p>
            <a:pPr lvl="1"/>
            <a:r>
              <a:rPr lang="en-US"/>
              <a:t>Interrupt (especially for lengthy operations)</a:t>
            </a:r>
          </a:p>
          <a:p>
            <a:pPr lvl="1"/>
            <a:r>
              <a:rPr lang="en-US"/>
              <a:t>Quit (for leaving the program at any time) </a:t>
            </a:r>
          </a:p>
          <a:p>
            <a:pPr lvl="1"/>
            <a:r>
              <a:rPr lang="en-US"/>
              <a:t>Defaults (for restoring a property sheet)</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Nielsen’s Ten Heuristics</a:t>
            </a:r>
          </a:p>
        </p:txBody>
      </p:sp>
      <p:sp>
        <p:nvSpPr>
          <p:cNvPr id="3" name="Content Placeholder 2"/>
          <p:cNvSpPr>
            <a:spLocks noGrp="1"/>
          </p:cNvSpPr>
          <p:nvPr>
            <p:ph sz="quarter" idx="1"/>
          </p:nvPr>
        </p:nvSpPr>
        <p:spPr/>
        <p:txBody>
          <a:bodyPr>
            <a:normAutofit lnSpcReduction="10000"/>
          </a:bodyPr>
          <a:lstStyle/>
          <a:p>
            <a:r>
              <a:rPr lang="en-US" b="1" dirty="0"/>
              <a:t>Consistency and standards </a:t>
            </a:r>
          </a:p>
          <a:p>
            <a:pPr lvl="1"/>
            <a:r>
              <a:rPr lang="en-US" dirty="0"/>
              <a:t>Users should not have to wonder whether words, situations or actions mean the same thing in different contexts. Follow platform conventions and accepted standards.</a:t>
            </a:r>
          </a:p>
          <a:p>
            <a:pPr lvl="1"/>
            <a:endParaRPr lang="en-US" dirty="0"/>
          </a:p>
          <a:p>
            <a:r>
              <a:rPr lang="en-US" dirty="0"/>
              <a:t>Principle of Least Surprise </a:t>
            </a:r>
          </a:p>
          <a:p>
            <a:endParaRPr lang="en-US" dirty="0"/>
          </a:p>
          <a:p>
            <a:r>
              <a:rPr lang="en-US" dirty="0"/>
              <a:t>Consistency </a:t>
            </a:r>
          </a:p>
          <a:p>
            <a:pPr lvl="1"/>
            <a:r>
              <a:rPr lang="en-US" dirty="0"/>
              <a:t>Internal </a:t>
            </a:r>
          </a:p>
          <a:p>
            <a:pPr lvl="1"/>
            <a:r>
              <a:rPr lang="en-US" dirty="0"/>
              <a:t>External </a:t>
            </a:r>
          </a:p>
          <a:p>
            <a:pPr lvl="1"/>
            <a:r>
              <a:rPr lang="en-US" dirty="0"/>
              <a:t>Metaphorical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noFill/>
          <a:ln/>
        </p:spPr>
        <p:txBody>
          <a:bodyPr lIns="92075" tIns="46038" rIns="92075" bIns="46038"/>
          <a:lstStyle/>
          <a:p>
            <a:r>
              <a:rPr lang="en-US" dirty="0"/>
              <a:t>4. Be consistent</a:t>
            </a:r>
          </a:p>
        </p:txBody>
      </p:sp>
      <p:sp>
        <p:nvSpPr>
          <p:cNvPr id="15363" name="Rectangle 3"/>
          <p:cNvSpPr>
            <a:spLocks noGrp="1" noChangeArrowheads="1"/>
          </p:cNvSpPr>
          <p:nvPr>
            <p:ph type="body" idx="1"/>
          </p:nvPr>
        </p:nvSpPr>
        <p:spPr>
          <a:noFill/>
          <a:ln/>
        </p:spPr>
        <p:txBody>
          <a:bodyPr lIns="92075" tIns="46038" rIns="92075" bIns="46038">
            <a:normAutofit fontScale="92500" lnSpcReduction="20000"/>
          </a:bodyPr>
          <a:lstStyle/>
          <a:p>
            <a:r>
              <a:rPr lang="en-US" dirty="0"/>
              <a:t>Consistent syntax of input</a:t>
            </a:r>
            <a:br>
              <a:rPr lang="en-US" dirty="0"/>
            </a:br>
            <a:endParaRPr lang="en-US" dirty="0"/>
          </a:p>
          <a:p>
            <a:pPr lvl="1">
              <a:buFontTx/>
              <a:buNone/>
            </a:pPr>
            <a:endParaRPr lang="en-US" dirty="0"/>
          </a:p>
          <a:p>
            <a:r>
              <a:rPr lang="en-US" dirty="0"/>
              <a:t>Consist language and graphics</a:t>
            </a:r>
          </a:p>
          <a:p>
            <a:pPr lvl="1"/>
            <a:r>
              <a:rPr lang="en-US" dirty="0"/>
              <a:t>same visual appearance across the system (e.g. widgets)</a:t>
            </a:r>
          </a:p>
          <a:p>
            <a:pPr lvl="1"/>
            <a:r>
              <a:rPr lang="en-US" dirty="0"/>
              <a:t>same information/controls in same location on all windows</a:t>
            </a:r>
            <a:br>
              <a:rPr lang="en-US" dirty="0"/>
            </a:br>
            <a:br>
              <a:rPr lang="en-US" dirty="0"/>
            </a:br>
            <a:br>
              <a:rPr lang="en-US" dirty="0"/>
            </a:br>
            <a:endParaRPr lang="en-US" dirty="0"/>
          </a:p>
          <a:p>
            <a:endParaRPr lang="en-US" dirty="0"/>
          </a:p>
          <a:p>
            <a:r>
              <a:rPr lang="en-US" dirty="0"/>
              <a:t>Consist effects</a:t>
            </a:r>
          </a:p>
          <a:p>
            <a:pPr lvl="1"/>
            <a:r>
              <a:rPr lang="en-US" dirty="0"/>
              <a:t>commands, actions have same effect in equivalent situations</a:t>
            </a:r>
          </a:p>
          <a:p>
            <a:pPr lvl="2"/>
            <a:r>
              <a:rPr lang="en-US" dirty="0"/>
              <a:t>predictability</a:t>
            </a:r>
          </a:p>
        </p:txBody>
      </p:sp>
      <p:grpSp>
        <p:nvGrpSpPr>
          <p:cNvPr id="2" name="Group 22"/>
          <p:cNvGrpSpPr>
            <a:grpSpLocks/>
          </p:cNvGrpSpPr>
          <p:nvPr/>
        </p:nvGrpSpPr>
        <p:grpSpPr bwMode="auto">
          <a:xfrm>
            <a:off x="1042988" y="3933825"/>
            <a:ext cx="6364287" cy="698500"/>
            <a:chOff x="521" y="2614"/>
            <a:chExt cx="4009" cy="440"/>
          </a:xfrm>
        </p:grpSpPr>
        <p:sp>
          <p:nvSpPr>
            <p:cNvPr id="15368" name="Text Box 8"/>
            <p:cNvSpPr txBox="1">
              <a:spLocks noChangeArrowheads="1"/>
            </p:cNvSpPr>
            <p:nvPr/>
          </p:nvSpPr>
          <p:spPr bwMode="auto">
            <a:xfrm>
              <a:off x="521" y="2614"/>
              <a:ext cx="267" cy="200"/>
            </a:xfrm>
            <a:prstGeom prst="rect">
              <a:avLst/>
            </a:prstGeom>
            <a:solidFill>
              <a:schemeClr val="folHlink"/>
            </a:solidFill>
            <a:ln w="12699">
              <a:solidFill>
                <a:schemeClr val="tx1"/>
              </a:solidFill>
              <a:miter lim="800000"/>
              <a:headEnd type="none" w="sm" len="sm"/>
              <a:tailEnd type="none" w="sm" len="sm"/>
            </a:ln>
            <a:effectLst/>
          </p:spPr>
          <p:txBody>
            <a:bodyPr wrap="none" lIns="92075" tIns="46038" rIns="92075" bIns="46038" anchor="ctr">
              <a:spAutoFit/>
            </a:bodyPr>
            <a:lstStyle/>
            <a:p>
              <a:pPr algn="ctr" eaLnBrk="0" hangingPunct="0">
                <a:spcBef>
                  <a:spcPct val="50000"/>
                </a:spcBef>
              </a:pPr>
              <a:r>
                <a:rPr lang="en-US" sz="1400">
                  <a:latin typeface="Arial" charset="0"/>
                </a:rPr>
                <a:t>Ok</a:t>
              </a:r>
            </a:p>
          </p:txBody>
        </p:sp>
        <p:sp>
          <p:nvSpPr>
            <p:cNvPr id="15369" name="Text Box 9"/>
            <p:cNvSpPr txBox="1">
              <a:spLocks noChangeArrowheads="1"/>
            </p:cNvSpPr>
            <p:nvPr/>
          </p:nvSpPr>
          <p:spPr bwMode="auto">
            <a:xfrm>
              <a:off x="857" y="2614"/>
              <a:ext cx="472" cy="200"/>
            </a:xfrm>
            <a:prstGeom prst="rect">
              <a:avLst/>
            </a:prstGeom>
            <a:solidFill>
              <a:schemeClr val="folHlink"/>
            </a:solidFill>
            <a:ln w="12699">
              <a:solidFill>
                <a:schemeClr val="tx1"/>
              </a:solidFill>
              <a:miter lim="800000"/>
              <a:headEnd type="none" w="sm" len="sm"/>
              <a:tailEnd type="none" w="sm" len="sm"/>
            </a:ln>
            <a:effectLst/>
          </p:spPr>
          <p:txBody>
            <a:bodyPr wrap="none" lIns="92075" tIns="46038" rIns="92075" bIns="46038" anchor="ctr">
              <a:spAutoFit/>
            </a:bodyPr>
            <a:lstStyle/>
            <a:p>
              <a:pPr algn="ctr" eaLnBrk="0" hangingPunct="0">
                <a:spcBef>
                  <a:spcPct val="50000"/>
                </a:spcBef>
              </a:pPr>
              <a:r>
                <a:rPr lang="en-US" sz="1400">
                  <a:latin typeface="Arial" charset="0"/>
                </a:rPr>
                <a:t>Cancel</a:t>
              </a:r>
            </a:p>
          </p:txBody>
        </p:sp>
        <p:sp>
          <p:nvSpPr>
            <p:cNvPr id="15370" name="Text Box 10"/>
            <p:cNvSpPr txBox="1">
              <a:spLocks noChangeArrowheads="1"/>
            </p:cNvSpPr>
            <p:nvPr/>
          </p:nvSpPr>
          <p:spPr bwMode="auto">
            <a:xfrm>
              <a:off x="2201" y="2614"/>
              <a:ext cx="267" cy="200"/>
            </a:xfrm>
            <a:prstGeom prst="rect">
              <a:avLst/>
            </a:prstGeom>
            <a:solidFill>
              <a:schemeClr val="folHlink"/>
            </a:solidFill>
            <a:ln w="12699">
              <a:solidFill>
                <a:schemeClr val="tx1"/>
              </a:solidFill>
              <a:miter lim="800000"/>
              <a:headEnd type="none" w="sm" len="sm"/>
              <a:tailEnd type="none" w="sm" len="sm"/>
            </a:ln>
            <a:effectLst/>
          </p:spPr>
          <p:txBody>
            <a:bodyPr wrap="none" lIns="92075" tIns="46038" rIns="92075" bIns="46038" anchor="ctr">
              <a:spAutoFit/>
            </a:bodyPr>
            <a:lstStyle/>
            <a:p>
              <a:pPr algn="ctr" eaLnBrk="0" hangingPunct="0">
                <a:spcBef>
                  <a:spcPct val="50000"/>
                </a:spcBef>
              </a:pPr>
              <a:r>
                <a:rPr lang="en-US" sz="1400">
                  <a:latin typeface="Arial" charset="0"/>
                </a:rPr>
                <a:t>Ok</a:t>
              </a:r>
            </a:p>
          </p:txBody>
        </p:sp>
        <p:sp>
          <p:nvSpPr>
            <p:cNvPr id="15371" name="Text Box 11"/>
            <p:cNvSpPr txBox="1">
              <a:spLocks noChangeArrowheads="1"/>
            </p:cNvSpPr>
            <p:nvPr/>
          </p:nvSpPr>
          <p:spPr bwMode="auto">
            <a:xfrm>
              <a:off x="1673" y="2614"/>
              <a:ext cx="472" cy="200"/>
            </a:xfrm>
            <a:prstGeom prst="rect">
              <a:avLst/>
            </a:prstGeom>
            <a:solidFill>
              <a:schemeClr val="folHlink"/>
            </a:solidFill>
            <a:ln w="12699">
              <a:solidFill>
                <a:schemeClr val="tx1"/>
              </a:solidFill>
              <a:miter lim="800000"/>
              <a:headEnd type="none" w="sm" len="sm"/>
              <a:tailEnd type="none" w="sm" len="sm"/>
            </a:ln>
            <a:effectLst/>
          </p:spPr>
          <p:txBody>
            <a:bodyPr wrap="none" lIns="92075" tIns="46038" rIns="92075" bIns="46038" anchor="ctr">
              <a:spAutoFit/>
            </a:bodyPr>
            <a:lstStyle/>
            <a:p>
              <a:pPr algn="ctr" eaLnBrk="0" hangingPunct="0">
                <a:spcBef>
                  <a:spcPct val="50000"/>
                </a:spcBef>
              </a:pPr>
              <a:r>
                <a:rPr lang="en-US" sz="1400">
                  <a:latin typeface="Arial" charset="0"/>
                </a:rPr>
                <a:t>Cancel</a:t>
              </a:r>
            </a:p>
          </p:txBody>
        </p:sp>
        <p:sp>
          <p:nvSpPr>
            <p:cNvPr id="15374" name="Text Box 14"/>
            <p:cNvSpPr txBox="1">
              <a:spLocks noChangeArrowheads="1"/>
            </p:cNvSpPr>
            <p:nvPr/>
          </p:nvSpPr>
          <p:spPr bwMode="auto">
            <a:xfrm>
              <a:off x="3515" y="2614"/>
              <a:ext cx="466" cy="200"/>
            </a:xfrm>
            <a:prstGeom prst="rect">
              <a:avLst/>
            </a:prstGeom>
            <a:solidFill>
              <a:schemeClr val="folHlink"/>
            </a:solidFill>
            <a:ln w="12699">
              <a:solidFill>
                <a:schemeClr val="tx1"/>
              </a:solidFill>
              <a:miter lim="800000"/>
              <a:headEnd type="none" w="sm" len="sm"/>
              <a:tailEnd type="none" w="sm" len="sm"/>
            </a:ln>
            <a:effectLst/>
          </p:spPr>
          <p:txBody>
            <a:bodyPr wrap="none" lIns="92075" tIns="46038" rIns="92075" bIns="46038" anchor="ctr">
              <a:spAutoFit/>
            </a:bodyPr>
            <a:lstStyle/>
            <a:p>
              <a:pPr algn="ctr" eaLnBrk="0" hangingPunct="0">
                <a:spcBef>
                  <a:spcPct val="50000"/>
                </a:spcBef>
              </a:pPr>
              <a:r>
                <a:rPr lang="en-US" sz="1400">
                  <a:latin typeface="Arial" charset="0"/>
                </a:rPr>
                <a:t>Accept</a:t>
              </a:r>
            </a:p>
          </p:txBody>
        </p:sp>
        <p:sp>
          <p:nvSpPr>
            <p:cNvPr id="15375" name="Text Box 15"/>
            <p:cNvSpPr txBox="1">
              <a:spLocks noChangeArrowheads="1"/>
            </p:cNvSpPr>
            <p:nvPr/>
          </p:nvSpPr>
          <p:spPr bwMode="auto">
            <a:xfrm>
              <a:off x="4014" y="2614"/>
              <a:ext cx="516" cy="200"/>
            </a:xfrm>
            <a:prstGeom prst="rect">
              <a:avLst/>
            </a:prstGeom>
            <a:solidFill>
              <a:schemeClr val="folHlink"/>
            </a:solidFill>
            <a:ln w="12699">
              <a:solidFill>
                <a:schemeClr val="tx1"/>
              </a:solidFill>
              <a:miter lim="800000"/>
              <a:headEnd type="none" w="sm" len="sm"/>
              <a:tailEnd type="none" w="sm" len="sm"/>
            </a:ln>
            <a:effectLst/>
          </p:spPr>
          <p:txBody>
            <a:bodyPr wrap="none" lIns="92075" tIns="46038" rIns="92075" bIns="46038" anchor="ctr">
              <a:spAutoFit/>
            </a:bodyPr>
            <a:lstStyle/>
            <a:p>
              <a:pPr algn="ctr" eaLnBrk="0" hangingPunct="0">
                <a:spcBef>
                  <a:spcPct val="50000"/>
                </a:spcBef>
              </a:pPr>
              <a:r>
                <a:rPr lang="en-US" sz="1400">
                  <a:latin typeface="Arial" charset="0"/>
                </a:rPr>
                <a:t>Dismiss</a:t>
              </a:r>
            </a:p>
          </p:txBody>
        </p:sp>
        <p:sp>
          <p:nvSpPr>
            <p:cNvPr id="15376" name="Text Box 16"/>
            <p:cNvSpPr txBox="1">
              <a:spLocks noChangeArrowheads="1"/>
            </p:cNvSpPr>
            <p:nvPr/>
          </p:nvSpPr>
          <p:spPr bwMode="auto">
            <a:xfrm>
              <a:off x="2681" y="2854"/>
              <a:ext cx="472" cy="200"/>
            </a:xfrm>
            <a:prstGeom prst="rect">
              <a:avLst/>
            </a:prstGeom>
            <a:solidFill>
              <a:schemeClr val="folHlink"/>
            </a:solidFill>
            <a:ln w="12699">
              <a:solidFill>
                <a:schemeClr val="tx1"/>
              </a:solidFill>
              <a:miter lim="800000"/>
              <a:headEnd type="none" w="sm" len="sm"/>
              <a:tailEnd type="none" w="sm" len="sm"/>
            </a:ln>
            <a:effectLst/>
          </p:spPr>
          <p:txBody>
            <a:bodyPr wrap="none" lIns="92075" tIns="46038" rIns="92075" bIns="46038" anchor="ctr">
              <a:spAutoFit/>
            </a:bodyPr>
            <a:lstStyle/>
            <a:p>
              <a:pPr algn="ctr" eaLnBrk="0" hangingPunct="0">
                <a:spcBef>
                  <a:spcPct val="50000"/>
                </a:spcBef>
              </a:pPr>
              <a:r>
                <a:rPr lang="en-US" sz="1400">
                  <a:latin typeface="Arial" charset="0"/>
                </a:rPr>
                <a:t>Cancel</a:t>
              </a:r>
            </a:p>
          </p:txBody>
        </p:sp>
        <p:sp>
          <p:nvSpPr>
            <p:cNvPr id="15377" name="Text Box 17"/>
            <p:cNvSpPr txBox="1">
              <a:spLocks noChangeArrowheads="1"/>
            </p:cNvSpPr>
            <p:nvPr/>
          </p:nvSpPr>
          <p:spPr bwMode="auto">
            <a:xfrm>
              <a:off x="2681" y="2614"/>
              <a:ext cx="267" cy="200"/>
            </a:xfrm>
            <a:prstGeom prst="rect">
              <a:avLst/>
            </a:prstGeom>
            <a:solidFill>
              <a:schemeClr val="folHlink"/>
            </a:solidFill>
            <a:ln w="12699">
              <a:solidFill>
                <a:schemeClr val="tx1"/>
              </a:solidFill>
              <a:miter lim="800000"/>
              <a:headEnd type="none" w="sm" len="sm"/>
              <a:tailEnd type="none" w="sm" len="sm"/>
            </a:ln>
            <a:effectLst/>
          </p:spPr>
          <p:txBody>
            <a:bodyPr wrap="none" lIns="92075" tIns="46038" rIns="92075" bIns="46038" anchor="ctr">
              <a:spAutoFit/>
            </a:bodyPr>
            <a:lstStyle/>
            <a:p>
              <a:pPr algn="ctr" eaLnBrk="0" hangingPunct="0">
                <a:spcBef>
                  <a:spcPct val="50000"/>
                </a:spcBef>
              </a:pPr>
              <a:r>
                <a:rPr lang="en-US" sz="1400">
                  <a:latin typeface="Arial" charset="0"/>
                </a:rPr>
                <a:t>Ok</a:t>
              </a:r>
            </a:p>
          </p:txBody>
        </p:sp>
        <p:sp>
          <p:nvSpPr>
            <p:cNvPr id="15378" name="Rectangle 18"/>
            <p:cNvSpPr>
              <a:spLocks noChangeArrowheads="1"/>
            </p:cNvSpPr>
            <p:nvPr/>
          </p:nvSpPr>
          <p:spPr bwMode="auto">
            <a:xfrm>
              <a:off x="569" y="2662"/>
              <a:ext cx="192" cy="96"/>
            </a:xfrm>
            <a:prstGeom prst="rect">
              <a:avLst/>
            </a:prstGeom>
            <a:noFill/>
            <a:ln w="12699" cap="rnd">
              <a:solidFill>
                <a:schemeClr val="tx1"/>
              </a:solidFill>
              <a:prstDash val="sysDot"/>
              <a:miter lim="800000"/>
              <a:headEnd type="none" w="sm" len="sm"/>
              <a:tailEnd type="none" w="sm" len="sm"/>
            </a:ln>
            <a:effectLst/>
          </p:spPr>
          <p:txBody>
            <a:bodyPr lIns="92075" tIns="46038" rIns="92075" bIns="46038" anchor="ctr">
              <a:spAutoFit/>
            </a:bodyPr>
            <a:lstStyle/>
            <a:p>
              <a:endParaRPr lang="en-US"/>
            </a:p>
          </p:txBody>
        </p:sp>
        <p:sp>
          <p:nvSpPr>
            <p:cNvPr id="15379" name="Rectangle 19"/>
            <p:cNvSpPr>
              <a:spLocks noChangeArrowheads="1"/>
            </p:cNvSpPr>
            <p:nvPr/>
          </p:nvSpPr>
          <p:spPr bwMode="auto">
            <a:xfrm>
              <a:off x="1721" y="2662"/>
              <a:ext cx="384" cy="96"/>
            </a:xfrm>
            <a:prstGeom prst="rect">
              <a:avLst/>
            </a:prstGeom>
            <a:noFill/>
            <a:ln w="12699" cap="rnd">
              <a:solidFill>
                <a:schemeClr val="tx1"/>
              </a:solidFill>
              <a:prstDash val="sysDot"/>
              <a:miter lim="800000"/>
              <a:headEnd type="none" w="sm" len="sm"/>
              <a:tailEnd type="none" w="sm" len="sm"/>
            </a:ln>
            <a:effectLst/>
          </p:spPr>
          <p:txBody>
            <a:bodyPr lIns="92075" tIns="46038" rIns="92075" bIns="46038" anchor="ctr">
              <a:spAutoFit/>
            </a:bodyPr>
            <a:lstStyle/>
            <a:p>
              <a:endParaRPr lang="en-US"/>
            </a:p>
          </p:txBody>
        </p:sp>
      </p:gr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Be consistent</a:t>
            </a:r>
          </a:p>
        </p:txBody>
      </p:sp>
      <p:pic>
        <p:nvPicPr>
          <p:cNvPr id="4505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14600" y="1828800"/>
            <a:ext cx="3766322" cy="2114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5059"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76800" y="4095980"/>
            <a:ext cx="3766322" cy="2114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5060"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4883" y="4095980"/>
            <a:ext cx="3741533" cy="21147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665266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lstStyle/>
          <a:p>
            <a:r>
              <a:rPr lang="en-US"/>
              <a:t>4. Be Consistent</a:t>
            </a:r>
            <a:endParaRPr lang="en-CA"/>
          </a:p>
        </p:txBody>
      </p:sp>
      <p:pic>
        <p:nvPicPr>
          <p:cNvPr id="115717" name="Picture 5" descr="cmdlbl"/>
          <p:cNvPicPr>
            <a:picLocks noChangeAspect="1" noChangeArrowheads="1"/>
          </p:cNvPicPr>
          <p:nvPr/>
        </p:nvPicPr>
        <p:blipFill>
          <a:blip r:embed="rId2" cstate="print"/>
          <a:srcRect/>
          <a:stretch>
            <a:fillRect/>
          </a:stretch>
        </p:blipFill>
        <p:spPr bwMode="auto">
          <a:xfrm>
            <a:off x="4419600" y="2543175"/>
            <a:ext cx="4114800" cy="3327400"/>
          </a:xfrm>
          <a:prstGeom prst="rect">
            <a:avLst/>
          </a:prstGeom>
          <a:noFill/>
        </p:spPr>
      </p:pic>
      <p:sp>
        <p:nvSpPr>
          <p:cNvPr id="115719" name="AutoShape 7"/>
          <p:cNvSpPr>
            <a:spLocks/>
          </p:cNvSpPr>
          <p:nvPr/>
        </p:nvSpPr>
        <p:spPr bwMode="auto">
          <a:xfrm>
            <a:off x="533400" y="1905000"/>
            <a:ext cx="3581400" cy="2200275"/>
          </a:xfrm>
          <a:prstGeom prst="borderCallout2">
            <a:avLst>
              <a:gd name="adj1" fmla="val 5194"/>
              <a:gd name="adj2" fmla="val 102130"/>
              <a:gd name="adj3" fmla="val 5194"/>
              <a:gd name="adj4" fmla="val 112190"/>
              <a:gd name="adj5" fmla="val 43722"/>
              <a:gd name="adj6" fmla="val 122606"/>
            </a:avLst>
          </a:prstGeom>
          <a:noFill/>
          <a:ln w="12699">
            <a:solidFill>
              <a:schemeClr val="tx1"/>
            </a:solidFill>
            <a:miter lim="800000"/>
            <a:headEnd type="none" w="sm" len="sm"/>
            <a:tailEnd type="none" w="sm" len="sm"/>
          </a:ln>
          <a:effectLst/>
        </p:spPr>
        <p:txBody>
          <a:bodyPr lIns="92075" tIns="46038" rIns="92075" bIns="46038" anchor="ctr"/>
          <a:lstStyle/>
          <a:p>
            <a:pPr eaLnBrk="0" hangingPunct="0"/>
            <a:r>
              <a:rPr lang="en-US">
                <a:latin typeface="Arial" charset="0"/>
              </a:rPr>
              <a:t>These are labels with a raised appearance.</a:t>
            </a:r>
          </a:p>
          <a:p>
            <a:pPr algn="ctr" eaLnBrk="0" hangingPunct="0"/>
            <a:endParaRPr lang="en-US">
              <a:latin typeface="Arial" charset="0"/>
            </a:endParaRPr>
          </a:p>
          <a:p>
            <a:pPr eaLnBrk="0" hangingPunct="0"/>
            <a:r>
              <a:rPr lang="en-US">
                <a:latin typeface="Arial" charset="0"/>
              </a:rPr>
              <a:t>Is it any surprise that people try and click on them?</a:t>
            </a:r>
            <a:endParaRPr lang="en-CA">
              <a:latin typeface="Arial"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Nielsen’s Ten Heuristics</a:t>
            </a:r>
          </a:p>
        </p:txBody>
      </p:sp>
      <p:sp>
        <p:nvSpPr>
          <p:cNvPr id="3" name="Content Placeholder 2"/>
          <p:cNvSpPr>
            <a:spLocks noGrp="1"/>
          </p:cNvSpPr>
          <p:nvPr>
            <p:ph sz="quarter" idx="1"/>
          </p:nvPr>
        </p:nvSpPr>
        <p:spPr/>
        <p:txBody>
          <a:bodyPr>
            <a:normAutofit/>
          </a:bodyPr>
          <a:lstStyle/>
          <a:p>
            <a:r>
              <a:rPr lang="en-US" b="1" dirty="0"/>
              <a:t>Recognition rather than recall </a:t>
            </a:r>
          </a:p>
          <a:p>
            <a:pPr lvl="1"/>
            <a:r>
              <a:rPr lang="en-US" dirty="0"/>
              <a:t>Make objects, actions and options visible. The user should not have to remember information from one part of the dialog to another. Instructions for use of the system should be visible or easily retrievable whenever appropriate.</a:t>
            </a:r>
          </a:p>
          <a:p>
            <a:pPr lvl="1"/>
            <a:endParaRPr lang="en-US" dirty="0"/>
          </a:p>
          <a:p>
            <a:pPr lvl="1"/>
            <a:r>
              <a:rPr lang="en-US" dirty="0"/>
              <a:t>Users’ short-term memory is limited. Provide examples, default values, easily retrievable instructions.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noFill/>
          <a:ln/>
        </p:spPr>
        <p:txBody>
          <a:bodyPr lIns="92075" tIns="46038" rIns="92075" bIns="46038"/>
          <a:lstStyle/>
          <a:p>
            <a:r>
              <a:rPr lang="en-US" dirty="0"/>
              <a:t>5. Minimize user’s memory load</a:t>
            </a:r>
          </a:p>
        </p:txBody>
      </p:sp>
      <p:sp>
        <p:nvSpPr>
          <p:cNvPr id="13315" name="Rectangle 3"/>
          <p:cNvSpPr>
            <a:spLocks noGrp="1" noChangeArrowheads="1"/>
          </p:cNvSpPr>
          <p:nvPr>
            <p:ph type="body" idx="1"/>
          </p:nvPr>
        </p:nvSpPr>
        <p:spPr>
          <a:noFill/>
          <a:ln/>
        </p:spPr>
        <p:txBody>
          <a:bodyPr lIns="92075" tIns="46038" rIns="92075" bIns="46038"/>
          <a:lstStyle/>
          <a:p>
            <a:r>
              <a:rPr lang="en-US" dirty="0"/>
              <a:t>Computers good at remembering, people are not!</a:t>
            </a:r>
          </a:p>
          <a:p>
            <a:r>
              <a:rPr lang="en-US" dirty="0"/>
              <a:t>Promote recognition over recall</a:t>
            </a:r>
          </a:p>
          <a:p>
            <a:pPr lvl="1"/>
            <a:r>
              <a:rPr lang="en-US" dirty="0"/>
              <a:t>menus, icons, choice dialog boxes vs commands, field formats</a:t>
            </a:r>
          </a:p>
          <a:p>
            <a:pPr lvl="1"/>
            <a:r>
              <a:rPr lang="en-US" dirty="0"/>
              <a:t>relies on visibility of objects to the user (but less is more!)</a:t>
            </a:r>
          </a:p>
        </p:txBody>
      </p:sp>
      <p:pic>
        <p:nvPicPr>
          <p:cNvPr id="13318" name="Picture 6"/>
          <p:cNvPicPr>
            <a:picLocks noChangeAspect="1" noChangeArrowheads="1"/>
          </p:cNvPicPr>
          <p:nvPr/>
        </p:nvPicPr>
        <p:blipFill>
          <a:blip r:embed="rId3" cstate="print"/>
          <a:srcRect/>
          <a:stretch>
            <a:fillRect/>
          </a:stretch>
        </p:blipFill>
        <p:spPr bwMode="auto">
          <a:xfrm>
            <a:off x="152400" y="3962400"/>
            <a:ext cx="3833446" cy="2286000"/>
          </a:xfrm>
          <a:prstGeom prst="rect">
            <a:avLst/>
          </a:prstGeom>
          <a:noFill/>
          <a:ln w="12699">
            <a:noFill/>
            <a:miter lim="800000"/>
            <a:headEnd type="none" w="sm" len="sm"/>
            <a:tailEnd type="none" w="sm" len="sm"/>
          </a:ln>
          <a:effectLst/>
        </p:spPr>
      </p:pic>
      <p:pic>
        <p:nvPicPr>
          <p:cNvPr id="13319" name="Picture 7"/>
          <p:cNvPicPr>
            <a:picLocks noChangeAspect="1" noChangeArrowheads="1"/>
          </p:cNvPicPr>
          <p:nvPr/>
        </p:nvPicPr>
        <p:blipFill>
          <a:blip r:embed="rId4" cstate="print"/>
          <a:srcRect/>
          <a:stretch>
            <a:fillRect/>
          </a:stretch>
        </p:blipFill>
        <p:spPr bwMode="auto">
          <a:xfrm>
            <a:off x="4062413" y="3657600"/>
            <a:ext cx="4700587" cy="3071812"/>
          </a:xfrm>
          <a:prstGeom prst="rect">
            <a:avLst/>
          </a:prstGeom>
          <a:noFill/>
          <a:ln w="12699">
            <a:noFill/>
            <a:miter lim="800000"/>
            <a:headEnd type="none" w="sm" len="sm"/>
            <a:tailEnd type="none" w="sm" len="sm"/>
          </a:ln>
          <a:effectLst/>
        </p:spPr>
      </p:pic>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4" name="Rectangle 1032"/>
          <p:cNvSpPr>
            <a:spLocks noGrp="1" noChangeArrowheads="1"/>
          </p:cNvSpPr>
          <p:nvPr>
            <p:ph type="title"/>
          </p:nvPr>
        </p:nvSpPr>
        <p:spPr/>
        <p:txBody>
          <a:bodyPr/>
          <a:lstStyle/>
          <a:p>
            <a:r>
              <a:rPr lang="en-US" dirty="0"/>
              <a:t>5. Minimize user’s memory load</a:t>
            </a:r>
          </a:p>
        </p:txBody>
      </p:sp>
      <p:sp>
        <p:nvSpPr>
          <p:cNvPr id="80905" name="Rectangle 1033"/>
          <p:cNvSpPr>
            <a:spLocks noGrp="1" noChangeArrowheads="1"/>
          </p:cNvSpPr>
          <p:nvPr>
            <p:ph type="body" idx="1"/>
          </p:nvPr>
        </p:nvSpPr>
        <p:spPr/>
        <p:txBody>
          <a:bodyPr/>
          <a:lstStyle/>
          <a:p>
            <a:r>
              <a:rPr lang="en-US"/>
              <a:t>Gives input format, example and default</a:t>
            </a:r>
            <a:br>
              <a:rPr lang="en-US"/>
            </a:br>
            <a:br>
              <a:rPr lang="en-US"/>
            </a:br>
            <a:br>
              <a:rPr lang="en-US"/>
            </a:br>
            <a:br>
              <a:rPr lang="en-US"/>
            </a:br>
            <a:br>
              <a:rPr lang="en-US"/>
            </a:br>
            <a:br>
              <a:rPr lang="en-US"/>
            </a:br>
            <a:br>
              <a:rPr lang="en-US"/>
            </a:br>
            <a:endParaRPr lang="en-US"/>
          </a:p>
        </p:txBody>
      </p:sp>
      <p:pic>
        <p:nvPicPr>
          <p:cNvPr id="80901" name="Picture 1029"/>
          <p:cNvPicPr>
            <a:picLocks noChangeAspect="1" noChangeArrowheads="1"/>
          </p:cNvPicPr>
          <p:nvPr/>
        </p:nvPicPr>
        <p:blipFill>
          <a:blip r:embed="rId2" cstate="print"/>
          <a:srcRect/>
          <a:stretch>
            <a:fillRect/>
          </a:stretch>
        </p:blipFill>
        <p:spPr bwMode="auto">
          <a:xfrm>
            <a:off x="551306" y="2820825"/>
            <a:ext cx="3487294" cy="3198976"/>
          </a:xfrm>
          <a:prstGeom prst="rect">
            <a:avLst/>
          </a:prstGeom>
          <a:noFill/>
          <a:ln w="12699">
            <a:noFill/>
            <a:miter lim="800000"/>
            <a:headEnd type="none" w="sm" len="sm"/>
            <a:tailEnd type="none" w="sm" len="sm"/>
          </a:ln>
          <a:effectLst/>
        </p:spPr>
      </p:pic>
      <p:pic>
        <p:nvPicPr>
          <p:cNvPr id="80903" name="Picture 1031"/>
          <p:cNvPicPr>
            <a:picLocks noChangeAspect="1" noChangeArrowheads="1"/>
          </p:cNvPicPr>
          <p:nvPr/>
        </p:nvPicPr>
        <p:blipFill>
          <a:blip r:embed="rId3" cstate="print"/>
          <a:srcRect/>
          <a:stretch>
            <a:fillRect/>
          </a:stretch>
        </p:blipFill>
        <p:spPr bwMode="auto">
          <a:xfrm>
            <a:off x="4648200" y="2819400"/>
            <a:ext cx="4320540" cy="3200400"/>
          </a:xfrm>
          <a:prstGeom prst="rect">
            <a:avLst/>
          </a:prstGeom>
          <a:noFill/>
          <a:ln w="12699">
            <a:noFill/>
            <a:miter lim="800000"/>
            <a:headEnd type="none" w="sm" len="sm"/>
            <a:tailEnd type="none" w="sm" len="sm"/>
          </a:ln>
          <a:effec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7772400" cy="2163762"/>
          </a:xfrm>
        </p:spPr>
        <p:txBody>
          <a:bodyPr>
            <a:normAutofit/>
          </a:bodyPr>
          <a:lstStyle/>
          <a:p>
            <a:r>
              <a:rPr lang="en-US" dirty="0"/>
              <a:t>5. Minimize </a:t>
            </a:r>
            <a:br>
              <a:rPr lang="en-US" dirty="0"/>
            </a:br>
            <a:r>
              <a:rPr lang="en-US" dirty="0"/>
              <a:t>user’s memory </a:t>
            </a:r>
            <a:br>
              <a:rPr lang="en-US" dirty="0"/>
            </a:br>
            <a:r>
              <a:rPr lang="en-US" dirty="0"/>
              <a:t>load</a:t>
            </a:r>
          </a:p>
        </p:txBody>
      </p:sp>
      <p:pic>
        <p:nvPicPr>
          <p:cNvPr id="4" name="Picture 4" descr="wifi_connection01"/>
          <p:cNvPicPr>
            <a:picLocks noChangeAspect="1" noChangeArrowheads="1"/>
          </p:cNvPicPr>
          <p:nvPr/>
        </p:nvPicPr>
        <p:blipFill>
          <a:blip r:embed="rId2" cstate="print"/>
          <a:srcRect r="20723" b="22034"/>
          <a:stretch>
            <a:fillRect/>
          </a:stretch>
        </p:blipFill>
        <p:spPr bwMode="auto">
          <a:xfrm>
            <a:off x="3567203" y="0"/>
            <a:ext cx="5576797" cy="4191000"/>
          </a:xfrm>
          <a:prstGeom prst="rect">
            <a:avLst/>
          </a:prstGeom>
          <a:noFill/>
          <a:ln w="9525">
            <a:noFill/>
            <a:miter lim="800000"/>
            <a:headEnd/>
            <a:tailEnd/>
          </a:ln>
        </p:spPr>
      </p:pic>
      <p:pic>
        <p:nvPicPr>
          <p:cNvPr id="5" name="Picture 8"/>
          <p:cNvPicPr>
            <a:picLocks noChangeAspect="1" noChangeArrowheads="1"/>
          </p:cNvPicPr>
          <p:nvPr/>
        </p:nvPicPr>
        <p:blipFill>
          <a:blip r:embed="rId3" cstate="print"/>
          <a:srcRect/>
          <a:stretch>
            <a:fillRect/>
          </a:stretch>
        </p:blipFill>
        <p:spPr bwMode="auto">
          <a:xfrm>
            <a:off x="0" y="3005837"/>
            <a:ext cx="3733800" cy="3852163"/>
          </a:xfrm>
          <a:prstGeom prst="rect">
            <a:avLst/>
          </a:prstGeom>
          <a:noFill/>
          <a:ln w="9525">
            <a:noFill/>
            <a:miter lim="800000"/>
            <a:headEnd/>
            <a:tailEnd/>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p:txBody>
          <a:bodyPr/>
          <a:lstStyle/>
          <a:p>
            <a:r>
              <a:rPr lang="en-US" dirty="0"/>
              <a:t>5. Minimize user’s memory load</a:t>
            </a:r>
            <a:endParaRPr lang="en-CA" dirty="0"/>
          </a:p>
        </p:txBody>
      </p:sp>
      <p:pic>
        <p:nvPicPr>
          <p:cNvPr id="128004" name="Picture 4" descr="The world's longest error message?"/>
          <p:cNvPicPr>
            <a:picLocks noChangeAspect="1" noChangeArrowheads="1"/>
          </p:cNvPicPr>
          <p:nvPr/>
        </p:nvPicPr>
        <p:blipFill>
          <a:blip r:embed="rId2" cstate="print"/>
          <a:srcRect/>
          <a:stretch>
            <a:fillRect/>
          </a:stretch>
        </p:blipFill>
        <p:spPr bwMode="auto">
          <a:xfrm>
            <a:off x="539750" y="1557338"/>
            <a:ext cx="8001000" cy="4929187"/>
          </a:xfrm>
          <a:prstGeom prst="rect">
            <a:avLst/>
          </a:prstGeom>
          <a:noFill/>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Nielsen’s Ten Heuristics</a:t>
            </a:r>
          </a:p>
        </p:txBody>
      </p:sp>
      <p:sp>
        <p:nvSpPr>
          <p:cNvPr id="3" name="Content Placeholder 2"/>
          <p:cNvSpPr>
            <a:spLocks noGrp="1"/>
          </p:cNvSpPr>
          <p:nvPr>
            <p:ph sz="quarter" idx="1"/>
          </p:nvPr>
        </p:nvSpPr>
        <p:spPr/>
        <p:txBody>
          <a:bodyPr>
            <a:normAutofit/>
          </a:bodyPr>
          <a:lstStyle/>
          <a:p>
            <a:r>
              <a:rPr lang="en-US" b="1" dirty="0"/>
              <a:t>Flexibility and efficiency of use </a:t>
            </a:r>
            <a:r>
              <a:rPr lang="en-US" dirty="0"/>
              <a:t>[Accelerators]</a:t>
            </a:r>
            <a:endParaRPr lang="en-US" b="1" dirty="0"/>
          </a:p>
          <a:p>
            <a:pPr lvl="1"/>
            <a:r>
              <a:rPr lang="en-US" dirty="0"/>
              <a:t>Allow users to tailor frequent actions. Accelerators – unseen by the novice user – may often speed up the interaction for the expert user to such an extent that the system can cater to both inexperienced and experienced users.</a:t>
            </a:r>
          </a:p>
          <a:p>
            <a:pPr lvl="1"/>
            <a:endParaRPr lang="en-US" dirty="0"/>
          </a:p>
          <a:p>
            <a:pPr lvl="1"/>
            <a:r>
              <a:rPr lang="en-US" dirty="0"/>
              <a:t>For example: abbreviations, command keys, type-ahead, edit and reissue previous commands, menu of most recently used files, macros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noFill/>
          <a:ln/>
        </p:spPr>
        <p:txBody>
          <a:bodyPr lIns="92075" tIns="46038" rIns="92075" bIns="46038"/>
          <a:lstStyle/>
          <a:p>
            <a:r>
              <a:rPr lang="en-US" dirty="0"/>
              <a:t>6. Provide shortcuts</a:t>
            </a:r>
          </a:p>
        </p:txBody>
      </p:sp>
      <p:sp>
        <p:nvSpPr>
          <p:cNvPr id="25603" name="Rectangle 3"/>
          <p:cNvSpPr>
            <a:spLocks noGrp="1" noChangeArrowheads="1"/>
          </p:cNvSpPr>
          <p:nvPr>
            <p:ph type="body" idx="1"/>
          </p:nvPr>
        </p:nvSpPr>
        <p:spPr>
          <a:noFill/>
          <a:ln/>
        </p:spPr>
        <p:txBody>
          <a:bodyPr lIns="92075" tIns="46038" rIns="92075" bIns="46038">
            <a:normAutofit/>
          </a:bodyPr>
          <a:lstStyle/>
          <a:p>
            <a:r>
              <a:rPr lang="en-US" sz="2000" dirty="0"/>
              <a:t>Experienced users - perform frequent operations quickly</a:t>
            </a:r>
          </a:p>
          <a:p>
            <a:br>
              <a:rPr lang="en-US" sz="2000" dirty="0"/>
            </a:br>
            <a:r>
              <a:rPr lang="en-US" sz="2000" dirty="0"/>
              <a:t>Strategies:</a:t>
            </a:r>
          </a:p>
          <a:p>
            <a:pPr lvl="1"/>
            <a:r>
              <a:rPr lang="en-US" sz="1600" dirty="0"/>
              <a:t>keyboard and mouse accelerators</a:t>
            </a:r>
          </a:p>
          <a:p>
            <a:pPr lvl="2"/>
            <a:r>
              <a:rPr lang="en-US" sz="1400" dirty="0"/>
              <a:t>abbreviations</a:t>
            </a:r>
          </a:p>
          <a:p>
            <a:pPr lvl="2"/>
            <a:r>
              <a:rPr lang="en-US" sz="1400"/>
              <a:t>function </a:t>
            </a:r>
            <a:r>
              <a:rPr lang="en-US" sz="1400" dirty="0"/>
              <a:t>keys</a:t>
            </a:r>
            <a:br>
              <a:rPr lang="en-US" sz="1400" dirty="0"/>
            </a:br>
            <a:endParaRPr lang="en-US" sz="1400" dirty="0"/>
          </a:p>
          <a:p>
            <a:pPr lvl="1"/>
            <a:r>
              <a:rPr lang="en-US" sz="1600" dirty="0"/>
              <a:t>type-ahead (entering input before the system is ready for it) </a:t>
            </a:r>
            <a:br>
              <a:rPr lang="en-US" sz="1600" dirty="0"/>
            </a:br>
            <a:endParaRPr lang="en-US" sz="1600" dirty="0"/>
          </a:p>
          <a:p>
            <a:pPr lvl="1"/>
            <a:r>
              <a:rPr lang="en-US" sz="1600" dirty="0"/>
              <a:t>navigation jumps </a:t>
            </a:r>
          </a:p>
          <a:p>
            <a:pPr lvl="2"/>
            <a:r>
              <a:rPr lang="en-US" sz="1400" dirty="0"/>
              <a:t>e.g., going to window/location directly, and avoiding intermediate nodes</a:t>
            </a:r>
            <a:br>
              <a:rPr lang="en-US" sz="1400" dirty="0"/>
            </a:br>
            <a:endParaRPr lang="en-US" sz="1400" dirty="0"/>
          </a:p>
          <a:p>
            <a:pPr lvl="1"/>
            <a:r>
              <a:rPr lang="en-US" sz="1600" dirty="0"/>
              <a:t>history systems </a:t>
            </a:r>
          </a:p>
          <a:p>
            <a:pPr lvl="2"/>
            <a:r>
              <a:rPr lang="en-US" sz="1400" dirty="0"/>
              <a:t>WWW: ~60% of pages are revisits</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6. Provide shortcuts</a:t>
            </a:r>
          </a:p>
        </p:txBody>
      </p:sp>
      <p:graphicFrame>
        <p:nvGraphicFramePr>
          <p:cNvPr id="4" name="Diagram 3"/>
          <p:cNvGraphicFramePr/>
          <p:nvPr/>
        </p:nvGraphicFramePr>
        <p:xfrm>
          <a:off x="1600200" y="180340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18" name="Picture 2"/>
          <p:cNvPicPr>
            <a:picLocks noChangeAspect="1" noChangeArrowheads="1"/>
          </p:cNvPicPr>
          <p:nvPr/>
        </p:nvPicPr>
        <p:blipFill>
          <a:blip r:embed="rId2" cstate="print"/>
          <a:srcRect/>
          <a:stretch>
            <a:fillRect/>
          </a:stretch>
        </p:blipFill>
        <p:spPr bwMode="auto">
          <a:xfrm>
            <a:off x="2209800" y="457200"/>
            <a:ext cx="6724650" cy="5133975"/>
          </a:xfrm>
          <a:prstGeom prst="rect">
            <a:avLst/>
          </a:prstGeom>
          <a:noFill/>
          <a:ln w="12699">
            <a:noFill/>
            <a:miter lim="800000"/>
            <a:headEnd type="none" w="sm" len="sm"/>
            <a:tailEnd type="none" w="sm" len="sm"/>
          </a:ln>
          <a:effectLst/>
        </p:spPr>
      </p:pic>
      <p:sp>
        <p:nvSpPr>
          <p:cNvPr id="86020" name="AutoShape 4"/>
          <p:cNvSpPr>
            <a:spLocks/>
          </p:cNvSpPr>
          <p:nvPr/>
        </p:nvSpPr>
        <p:spPr bwMode="auto">
          <a:xfrm>
            <a:off x="381000" y="228600"/>
            <a:ext cx="1600200" cy="742950"/>
          </a:xfrm>
          <a:prstGeom prst="borderCallout2">
            <a:avLst>
              <a:gd name="adj1" fmla="val 15384"/>
              <a:gd name="adj2" fmla="val 104764"/>
              <a:gd name="adj3" fmla="val 15384"/>
              <a:gd name="adj4" fmla="val 124009"/>
              <a:gd name="adj5" fmla="val 74144"/>
              <a:gd name="adj6" fmla="val 145931"/>
            </a:avLst>
          </a:prstGeom>
          <a:noFill/>
          <a:ln w="12699">
            <a:solidFill>
              <a:srgbClr val="FF0000"/>
            </a:solidFill>
            <a:miter lim="800000"/>
            <a:headEnd type="none" w="sm" len="sm"/>
            <a:tailEnd type="none" w="sm" len="sm"/>
          </a:ln>
          <a:effectLst/>
        </p:spPr>
        <p:txBody>
          <a:bodyPr lIns="92075" tIns="46038" rIns="92075" bIns="46038" anchor="ctr">
            <a:spAutoFit/>
          </a:bodyPr>
          <a:lstStyle/>
          <a:p>
            <a:pPr algn="ctr" eaLnBrk="0" hangingPunct="0"/>
            <a:r>
              <a:rPr lang="en-US" sz="1400">
                <a:latin typeface="Arial" charset="0"/>
              </a:rPr>
              <a:t>Keyboard accelerators for menus</a:t>
            </a:r>
          </a:p>
        </p:txBody>
      </p:sp>
      <p:sp>
        <p:nvSpPr>
          <p:cNvPr id="86021" name="AutoShape 5"/>
          <p:cNvSpPr>
            <a:spLocks/>
          </p:cNvSpPr>
          <p:nvPr/>
        </p:nvSpPr>
        <p:spPr bwMode="auto">
          <a:xfrm>
            <a:off x="304800" y="1570038"/>
            <a:ext cx="1600200" cy="955675"/>
          </a:xfrm>
          <a:prstGeom prst="borderCallout2">
            <a:avLst>
              <a:gd name="adj1" fmla="val 15384"/>
              <a:gd name="adj2" fmla="val 104764"/>
              <a:gd name="adj3" fmla="val 15384"/>
              <a:gd name="adj4" fmla="val 118056"/>
              <a:gd name="adj5" fmla="val -82264"/>
              <a:gd name="adj6" fmla="val 162597"/>
            </a:avLst>
          </a:prstGeom>
          <a:noFill/>
          <a:ln w="12699">
            <a:solidFill>
              <a:srgbClr val="FF0000"/>
            </a:solidFill>
            <a:miter lim="800000"/>
            <a:headEnd type="none" w="sm" len="sm"/>
            <a:tailEnd type="none" w="sm" len="sm"/>
          </a:ln>
          <a:effectLst/>
        </p:spPr>
        <p:txBody>
          <a:bodyPr lIns="92075" tIns="46038" rIns="92075" bIns="46038" anchor="ctr">
            <a:spAutoFit/>
          </a:bodyPr>
          <a:lstStyle/>
          <a:p>
            <a:pPr algn="ctr" eaLnBrk="0" hangingPunct="0"/>
            <a:r>
              <a:rPr lang="en-US" sz="1400">
                <a:latin typeface="Arial" charset="0"/>
              </a:rPr>
              <a:t>Customizable toolbars and</a:t>
            </a:r>
            <a:br>
              <a:rPr lang="en-US" sz="1400">
                <a:latin typeface="Arial" charset="0"/>
              </a:rPr>
            </a:br>
            <a:r>
              <a:rPr lang="en-US" sz="1400">
                <a:latin typeface="Arial" charset="0"/>
              </a:rPr>
              <a:t>palettes for frequent actions</a:t>
            </a:r>
          </a:p>
        </p:txBody>
      </p:sp>
      <p:sp>
        <p:nvSpPr>
          <p:cNvPr id="86022" name="AutoShape 6"/>
          <p:cNvSpPr>
            <a:spLocks/>
          </p:cNvSpPr>
          <p:nvPr/>
        </p:nvSpPr>
        <p:spPr bwMode="auto">
          <a:xfrm>
            <a:off x="304800" y="3048000"/>
            <a:ext cx="1600200" cy="742950"/>
          </a:xfrm>
          <a:prstGeom prst="borderCallout2">
            <a:avLst>
              <a:gd name="adj1" fmla="val 15384"/>
              <a:gd name="adj2" fmla="val 104764"/>
              <a:gd name="adj3" fmla="val 15384"/>
              <a:gd name="adj4" fmla="val 121625"/>
              <a:gd name="adj5" fmla="val -238676"/>
              <a:gd name="adj6" fmla="val 178074"/>
            </a:avLst>
          </a:prstGeom>
          <a:noFill/>
          <a:ln w="12699">
            <a:solidFill>
              <a:srgbClr val="FF0000"/>
            </a:solidFill>
            <a:miter lim="800000"/>
            <a:headEnd type="none" w="sm" len="sm"/>
            <a:tailEnd type="none" w="sm" len="sm"/>
          </a:ln>
          <a:effectLst/>
        </p:spPr>
        <p:txBody>
          <a:bodyPr lIns="92075" tIns="46038" rIns="92075" bIns="46038" anchor="ctr">
            <a:spAutoFit/>
          </a:bodyPr>
          <a:lstStyle/>
          <a:p>
            <a:pPr algn="ctr" eaLnBrk="0" hangingPunct="0"/>
            <a:r>
              <a:rPr lang="en-US" sz="1400">
                <a:latin typeface="Arial" charset="0"/>
              </a:rPr>
              <a:t>Split menu, with recently used fonts on top</a:t>
            </a:r>
          </a:p>
        </p:txBody>
      </p:sp>
      <p:sp>
        <p:nvSpPr>
          <p:cNvPr id="86023" name="AutoShape 7"/>
          <p:cNvSpPr>
            <a:spLocks/>
          </p:cNvSpPr>
          <p:nvPr/>
        </p:nvSpPr>
        <p:spPr bwMode="auto">
          <a:xfrm>
            <a:off x="6858000" y="5791200"/>
            <a:ext cx="1600200" cy="742950"/>
          </a:xfrm>
          <a:prstGeom prst="borderCallout2">
            <a:avLst>
              <a:gd name="adj1" fmla="val 15384"/>
              <a:gd name="adj2" fmla="val 104764"/>
              <a:gd name="adj3" fmla="val 15384"/>
              <a:gd name="adj4" fmla="val 108931"/>
              <a:gd name="adj5" fmla="val -125856"/>
              <a:gd name="adj6" fmla="val 122718"/>
            </a:avLst>
          </a:prstGeom>
          <a:noFill/>
          <a:ln w="12699">
            <a:solidFill>
              <a:srgbClr val="FF0000"/>
            </a:solidFill>
            <a:miter lim="800000"/>
            <a:headEnd type="none" w="sm" len="sm"/>
            <a:tailEnd type="none" w="sm" len="sm"/>
          </a:ln>
          <a:effectLst/>
        </p:spPr>
        <p:txBody>
          <a:bodyPr lIns="92075" tIns="46038" rIns="92075" bIns="46038" anchor="ctr">
            <a:spAutoFit/>
          </a:bodyPr>
          <a:lstStyle/>
          <a:p>
            <a:pPr algn="ctr" eaLnBrk="0" hangingPunct="0"/>
            <a:r>
              <a:rPr lang="en-US" sz="1400">
                <a:latin typeface="Arial" charset="0"/>
              </a:rPr>
              <a:t>Scrolling controls for page-sized increments</a:t>
            </a:r>
          </a:p>
        </p:txBody>
      </p:sp>
      <p:sp>
        <p:nvSpPr>
          <p:cNvPr id="86024" name="AutoShape 8"/>
          <p:cNvSpPr>
            <a:spLocks/>
          </p:cNvSpPr>
          <p:nvPr/>
        </p:nvSpPr>
        <p:spPr bwMode="auto">
          <a:xfrm>
            <a:off x="457200" y="5181600"/>
            <a:ext cx="1600200" cy="742950"/>
          </a:xfrm>
          <a:prstGeom prst="borderCallout2">
            <a:avLst>
              <a:gd name="adj1" fmla="val 15384"/>
              <a:gd name="adj2" fmla="val 104764"/>
              <a:gd name="adj3" fmla="val 15384"/>
              <a:gd name="adj4" fmla="val 129069"/>
              <a:gd name="adj5" fmla="val -384829"/>
              <a:gd name="adj6" fmla="val 210218"/>
            </a:avLst>
          </a:prstGeom>
          <a:noFill/>
          <a:ln w="12699">
            <a:solidFill>
              <a:srgbClr val="FF0000"/>
            </a:solidFill>
            <a:miter lim="800000"/>
            <a:headEnd type="none" w="sm" len="sm"/>
            <a:tailEnd type="none" w="sm" len="sm"/>
          </a:ln>
          <a:effectLst/>
        </p:spPr>
        <p:txBody>
          <a:bodyPr lIns="92075" tIns="46038" rIns="92075" bIns="46038" anchor="ctr">
            <a:spAutoFit/>
          </a:bodyPr>
          <a:lstStyle/>
          <a:p>
            <a:pPr algn="ctr" eaLnBrk="0" hangingPunct="0"/>
            <a:r>
              <a:rPr lang="en-US" sz="1400">
                <a:latin typeface="Arial" charset="0"/>
              </a:rPr>
              <a:t>Double-click raises object-specific menu</a:t>
            </a:r>
          </a:p>
        </p:txBody>
      </p:sp>
      <p:sp>
        <p:nvSpPr>
          <p:cNvPr id="86025" name="AutoShape 9"/>
          <p:cNvSpPr>
            <a:spLocks/>
          </p:cNvSpPr>
          <p:nvPr/>
        </p:nvSpPr>
        <p:spPr bwMode="auto">
          <a:xfrm>
            <a:off x="381000" y="4114800"/>
            <a:ext cx="1600200" cy="742950"/>
          </a:xfrm>
          <a:prstGeom prst="borderCallout2">
            <a:avLst>
              <a:gd name="adj1" fmla="val 15384"/>
              <a:gd name="adj2" fmla="val 104764"/>
              <a:gd name="adj3" fmla="val 15384"/>
              <a:gd name="adj4" fmla="val 109819"/>
              <a:gd name="adj5" fmla="val 63889"/>
              <a:gd name="adj6" fmla="val 126884"/>
            </a:avLst>
          </a:prstGeom>
          <a:noFill/>
          <a:ln w="12699">
            <a:solidFill>
              <a:srgbClr val="FF0000"/>
            </a:solidFill>
            <a:miter lim="800000"/>
            <a:headEnd type="none" w="sm" len="sm"/>
            <a:tailEnd type="none" w="sm" len="sm"/>
          </a:ln>
          <a:effectLst/>
        </p:spPr>
        <p:txBody>
          <a:bodyPr lIns="92075" tIns="46038" rIns="92075" bIns="46038" anchor="ctr">
            <a:spAutoFit/>
          </a:bodyPr>
          <a:lstStyle/>
          <a:p>
            <a:pPr algn="ctr" eaLnBrk="0" hangingPunct="0"/>
            <a:r>
              <a:rPr lang="en-US" sz="1400">
                <a:latin typeface="Arial" charset="0"/>
              </a:rPr>
              <a:t>Double-click raises toolbar dialog box</a:t>
            </a:r>
          </a:p>
        </p:txBody>
      </p:sp>
      <p:sp>
        <p:nvSpPr>
          <p:cNvPr id="86026" name="Line 10"/>
          <p:cNvSpPr>
            <a:spLocks noChangeShapeType="1"/>
          </p:cNvSpPr>
          <p:nvPr/>
        </p:nvSpPr>
        <p:spPr bwMode="auto">
          <a:xfrm>
            <a:off x="2209800" y="1752600"/>
            <a:ext cx="76200" cy="228600"/>
          </a:xfrm>
          <a:prstGeom prst="line">
            <a:avLst/>
          </a:prstGeom>
          <a:noFill/>
          <a:ln w="12699">
            <a:solidFill>
              <a:schemeClr val="hlink"/>
            </a:solidFill>
            <a:round/>
            <a:headEnd type="none" w="sm" len="sm"/>
            <a:tailEnd type="none" w="sm" len="sm"/>
          </a:ln>
          <a:effectLst/>
        </p:spPr>
        <p:txBody>
          <a:bodyPr lIns="92075" tIns="46038" rIns="92075" bIns="46038" anchor="ctr">
            <a:spAutoFit/>
          </a:bodyPr>
          <a:lstStyle/>
          <a:p>
            <a:endParaRPr lang="en-US"/>
          </a:p>
        </p:txBody>
      </p:sp>
      <p:sp>
        <p:nvSpPr>
          <p:cNvPr id="86027" name="Text Box 11"/>
          <p:cNvSpPr txBox="1">
            <a:spLocks noChangeArrowheads="1"/>
          </p:cNvSpPr>
          <p:nvPr/>
        </p:nvSpPr>
        <p:spPr bwMode="auto">
          <a:xfrm>
            <a:off x="0" y="6613525"/>
            <a:ext cx="1365250" cy="244475"/>
          </a:xfrm>
          <a:prstGeom prst="rect">
            <a:avLst/>
          </a:prstGeom>
          <a:noFill/>
          <a:ln w="12699">
            <a:noFill/>
            <a:miter lim="800000"/>
            <a:headEnd type="none" w="sm" len="sm"/>
            <a:tailEnd type="none" w="sm" len="sm"/>
          </a:ln>
          <a:effectLst/>
        </p:spPr>
        <p:txBody>
          <a:bodyPr wrap="none" lIns="92075" tIns="46038" rIns="92075" bIns="46038">
            <a:spAutoFit/>
          </a:bodyPr>
          <a:lstStyle/>
          <a:p>
            <a:pPr eaLnBrk="0" hangingPunct="0"/>
            <a:r>
              <a:rPr lang="en-US" sz="1000">
                <a:solidFill>
                  <a:srgbClr val="808080"/>
                </a:solidFill>
                <a:latin typeface="Arial" charset="0"/>
              </a:rPr>
              <a:t>Microsoft Powerpoint</a:t>
            </a:r>
            <a:endParaRPr lang="en-CA" sz="1000">
              <a:solidFill>
                <a:srgbClr val="808080"/>
              </a:solidFill>
              <a:latin typeface="Arial"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Nielsen’s Ten Heuristics</a:t>
            </a:r>
          </a:p>
        </p:txBody>
      </p:sp>
      <p:sp>
        <p:nvSpPr>
          <p:cNvPr id="3" name="Content Placeholder 2"/>
          <p:cNvSpPr>
            <a:spLocks noGrp="1"/>
          </p:cNvSpPr>
          <p:nvPr>
            <p:ph sz="quarter" idx="1"/>
          </p:nvPr>
        </p:nvSpPr>
        <p:spPr/>
        <p:txBody>
          <a:bodyPr>
            <a:normAutofit/>
          </a:bodyPr>
          <a:lstStyle/>
          <a:p>
            <a:r>
              <a:rPr lang="en-US" b="1" dirty="0"/>
              <a:t>Aesthetic and minimalist design </a:t>
            </a:r>
          </a:p>
          <a:p>
            <a:pPr lvl="1"/>
            <a:r>
              <a:rPr lang="en-US" dirty="0"/>
              <a:t>Dialogs should not contain information that is irrelevant or rarely needed. Every extra unit of information in a dialog competes with the relevant units of information and diminishes their relative visibility.</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noFill/>
          <a:ln/>
        </p:spPr>
        <p:txBody>
          <a:bodyPr lIns="92075" tIns="46038" rIns="92075" bIns="46038"/>
          <a:lstStyle/>
          <a:p>
            <a:r>
              <a:rPr lang="en-US" dirty="0"/>
              <a:t>7. Minimalist Design </a:t>
            </a:r>
          </a:p>
        </p:txBody>
      </p:sp>
      <p:sp>
        <p:nvSpPr>
          <p:cNvPr id="8195" name="Rectangle 3"/>
          <p:cNvSpPr>
            <a:spLocks noGrp="1" noChangeArrowheads="1"/>
          </p:cNvSpPr>
          <p:nvPr>
            <p:ph type="body" idx="1"/>
          </p:nvPr>
        </p:nvSpPr>
        <p:spPr>
          <a:noFill/>
          <a:ln/>
        </p:spPr>
        <p:txBody>
          <a:bodyPr lIns="92075" tIns="46038" rIns="92075" bIns="46038"/>
          <a:lstStyle/>
          <a:p>
            <a:pPr lvl="1"/>
            <a:r>
              <a:rPr lang="en-US" dirty="0"/>
              <a:t>use the user’s conceptual model</a:t>
            </a:r>
          </a:p>
          <a:p>
            <a:pPr lvl="1"/>
            <a:r>
              <a:rPr lang="en-US" dirty="0"/>
              <a:t>match the users’ task sequence </a:t>
            </a:r>
          </a:p>
          <a:p>
            <a:pPr lvl="1"/>
            <a:r>
              <a:rPr lang="en-US" dirty="0"/>
              <a:t>minimize mapping between interface and task semantics</a:t>
            </a:r>
          </a:p>
        </p:txBody>
      </p:sp>
      <p:pic>
        <p:nvPicPr>
          <p:cNvPr id="8197" name="Picture 5"/>
          <p:cNvPicPr>
            <a:picLocks noChangeAspect="1" noChangeArrowheads="1"/>
          </p:cNvPicPr>
          <p:nvPr/>
        </p:nvPicPr>
        <p:blipFill>
          <a:blip r:embed="rId3" cstate="print"/>
          <a:srcRect/>
          <a:stretch>
            <a:fillRect/>
          </a:stretch>
        </p:blipFill>
        <p:spPr bwMode="auto">
          <a:xfrm>
            <a:off x="2057400" y="1865526"/>
            <a:ext cx="5648325" cy="2277849"/>
          </a:xfrm>
          <a:prstGeom prst="rect">
            <a:avLst/>
          </a:prstGeom>
          <a:noFill/>
          <a:ln w="12699">
            <a:noFill/>
            <a:miter lim="800000"/>
            <a:headEnd type="none" w="sm" len="sm"/>
            <a:tailEnd type="none" w="sm" len="sm"/>
          </a:ln>
          <a:effectLst/>
        </p:spPr>
      </p:pic>
      <p:pic>
        <p:nvPicPr>
          <p:cNvPr id="6" name="Picture 3"/>
          <p:cNvPicPr>
            <a:picLocks noChangeAspect="1" noChangeArrowheads="1"/>
          </p:cNvPicPr>
          <p:nvPr/>
        </p:nvPicPr>
        <p:blipFill>
          <a:blip r:embed="rId4" cstate="print"/>
          <a:srcRect l="9375" t="47844" r="10625" b="17655"/>
          <a:stretch>
            <a:fillRect/>
          </a:stretch>
        </p:blipFill>
        <p:spPr bwMode="auto">
          <a:xfrm>
            <a:off x="228600" y="4343400"/>
            <a:ext cx="8686800" cy="2171700"/>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3"/>
          <p:cNvSpPr>
            <a:spLocks noGrp="1" noChangeArrowheads="1"/>
          </p:cNvSpPr>
          <p:nvPr>
            <p:ph type="title"/>
          </p:nvPr>
        </p:nvSpPr>
        <p:spPr/>
        <p:txBody>
          <a:bodyPr/>
          <a:lstStyle/>
          <a:p>
            <a:r>
              <a:rPr lang="en-US" dirty="0"/>
              <a:t>7. Minimalist Design </a:t>
            </a:r>
          </a:p>
        </p:txBody>
      </p:sp>
      <p:sp>
        <p:nvSpPr>
          <p:cNvPr id="78852" name="Rectangle 4"/>
          <p:cNvSpPr>
            <a:spLocks noGrp="1" noChangeArrowheads="1"/>
          </p:cNvSpPr>
          <p:nvPr>
            <p:ph type="body" idx="1"/>
          </p:nvPr>
        </p:nvSpPr>
        <p:spPr/>
        <p:txBody>
          <a:bodyPr>
            <a:normAutofit fontScale="92500" lnSpcReduction="20000"/>
          </a:bodyPr>
          <a:lstStyle/>
          <a:p>
            <a:r>
              <a:rPr lang="en-US" dirty="0"/>
              <a:t>Present exactly the information the user needs</a:t>
            </a:r>
          </a:p>
          <a:p>
            <a:pPr lvl="1"/>
            <a:r>
              <a:rPr lang="en-US" dirty="0"/>
              <a:t>less is more</a:t>
            </a:r>
          </a:p>
          <a:p>
            <a:pPr lvl="2"/>
            <a:r>
              <a:rPr lang="en-US" dirty="0"/>
              <a:t>less to learn, to get wrong, to distract...</a:t>
            </a:r>
            <a:br>
              <a:rPr lang="en-US" dirty="0"/>
            </a:br>
            <a:endParaRPr lang="en-US" dirty="0"/>
          </a:p>
          <a:p>
            <a:pPr lvl="1"/>
            <a:r>
              <a:rPr lang="en-US" dirty="0"/>
              <a:t>information should appear in natural order</a:t>
            </a:r>
          </a:p>
          <a:p>
            <a:pPr lvl="2"/>
            <a:r>
              <a:rPr lang="en-US" dirty="0"/>
              <a:t>related information is graphically clustered</a:t>
            </a:r>
          </a:p>
          <a:p>
            <a:pPr lvl="2"/>
            <a:r>
              <a:rPr lang="en-US" dirty="0"/>
              <a:t>order of accessing information matches user’s expectations</a:t>
            </a:r>
            <a:br>
              <a:rPr lang="en-US" dirty="0"/>
            </a:br>
            <a:endParaRPr lang="en-US" dirty="0"/>
          </a:p>
          <a:p>
            <a:pPr lvl="1"/>
            <a:r>
              <a:rPr lang="en-US" dirty="0"/>
              <a:t>remove or hide irrelevant or rarely needed information</a:t>
            </a:r>
          </a:p>
          <a:p>
            <a:pPr lvl="2"/>
            <a:r>
              <a:rPr lang="en-US" dirty="0"/>
              <a:t>competes with important information on screen</a:t>
            </a:r>
            <a:br>
              <a:rPr lang="en-US" dirty="0"/>
            </a:br>
            <a:endParaRPr lang="en-US" dirty="0"/>
          </a:p>
          <a:p>
            <a:pPr lvl="1"/>
            <a:r>
              <a:rPr lang="en-US" dirty="0"/>
              <a:t>remove modes</a:t>
            </a:r>
            <a:br>
              <a:rPr lang="en-US" dirty="0"/>
            </a:br>
            <a:endParaRPr lang="en-US" dirty="0"/>
          </a:p>
          <a:p>
            <a:pPr lvl="1"/>
            <a:r>
              <a:rPr lang="en-US" dirty="0"/>
              <a:t>use windows sparingly</a:t>
            </a:r>
          </a:p>
          <a:p>
            <a:pPr lvl="2"/>
            <a:r>
              <a:rPr lang="en-US" dirty="0"/>
              <a:t>don’t add unneeded navigation and window management</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090"/>
          <p:cNvGrpSpPr>
            <a:grpSpLocks/>
          </p:cNvGrpSpPr>
          <p:nvPr/>
        </p:nvGrpSpPr>
        <p:grpSpPr bwMode="auto">
          <a:xfrm>
            <a:off x="1371600" y="1650301"/>
            <a:ext cx="6386513" cy="4601274"/>
            <a:chOff x="1008" y="602"/>
            <a:chExt cx="4128" cy="3526"/>
          </a:xfrm>
        </p:grpSpPr>
        <p:sp>
          <p:nvSpPr>
            <p:cNvPr id="93193" name="Rectangle 1033"/>
            <p:cNvSpPr>
              <a:spLocks noChangeArrowheads="1"/>
            </p:cNvSpPr>
            <p:nvPr/>
          </p:nvSpPr>
          <p:spPr bwMode="auto">
            <a:xfrm>
              <a:off x="1008" y="818"/>
              <a:ext cx="4128" cy="3310"/>
            </a:xfrm>
            <a:prstGeom prst="rect">
              <a:avLst/>
            </a:prstGeom>
            <a:solidFill>
              <a:schemeClr val="folHlink"/>
            </a:solidFill>
            <a:ln w="6350">
              <a:solidFill>
                <a:schemeClr val="tx1"/>
              </a:solidFill>
              <a:miter lim="800000"/>
              <a:headEnd type="none" w="sm" len="sm"/>
              <a:tailEnd type="none" w="sm" len="sm"/>
            </a:ln>
            <a:effectLst/>
          </p:spPr>
          <p:txBody>
            <a:bodyPr lIns="92075" tIns="46038" rIns="92075" bIns="46038" anchor="ctr">
              <a:spAutoFit/>
            </a:bodyPr>
            <a:lstStyle/>
            <a:p>
              <a:endParaRPr lang="en-US"/>
            </a:p>
          </p:txBody>
        </p:sp>
        <p:sp>
          <p:nvSpPr>
            <p:cNvPr id="93194" name="Text Box 1034"/>
            <p:cNvSpPr txBox="1">
              <a:spLocks noChangeArrowheads="1"/>
            </p:cNvSpPr>
            <p:nvPr/>
          </p:nvSpPr>
          <p:spPr bwMode="auto">
            <a:xfrm>
              <a:off x="1200" y="602"/>
              <a:ext cx="3936" cy="236"/>
            </a:xfrm>
            <a:prstGeom prst="rect">
              <a:avLst/>
            </a:prstGeom>
            <a:solidFill>
              <a:schemeClr val="folHlink"/>
            </a:solidFill>
            <a:ln w="6350">
              <a:solidFill>
                <a:schemeClr val="tx1"/>
              </a:solidFill>
              <a:miter lim="800000"/>
              <a:headEnd type="none" w="sm" len="sm"/>
              <a:tailEnd type="none" w="sm" len="sm"/>
            </a:ln>
            <a:effectLst/>
          </p:spPr>
          <p:txBody>
            <a:bodyPr lIns="92075" tIns="46038" rIns="92075" bIns="46038" anchor="ctr">
              <a:spAutoFit/>
            </a:bodyPr>
            <a:lstStyle/>
            <a:p>
              <a:pPr algn="ctr" eaLnBrk="0" hangingPunct="0"/>
              <a:r>
                <a:rPr lang="en-US" sz="1400" dirty="0">
                  <a:latin typeface="Arial" charset="0"/>
                </a:rPr>
                <a:t>CompuServe Information Manager</a:t>
              </a:r>
            </a:p>
          </p:txBody>
        </p:sp>
        <p:sp>
          <p:nvSpPr>
            <p:cNvPr id="93195" name="Rectangle 1035"/>
            <p:cNvSpPr>
              <a:spLocks noChangeArrowheads="1"/>
            </p:cNvSpPr>
            <p:nvPr/>
          </p:nvSpPr>
          <p:spPr bwMode="auto">
            <a:xfrm>
              <a:off x="1008" y="626"/>
              <a:ext cx="192" cy="192"/>
            </a:xfrm>
            <a:prstGeom prst="rect">
              <a:avLst/>
            </a:prstGeom>
            <a:solidFill>
              <a:schemeClr val="folHlink"/>
            </a:solidFill>
            <a:ln w="6350">
              <a:solidFill>
                <a:schemeClr val="tx1"/>
              </a:solidFill>
              <a:miter lim="800000"/>
              <a:headEnd type="none" w="sm" len="sm"/>
              <a:tailEnd type="none" w="sm" len="sm"/>
            </a:ln>
            <a:effectLst/>
          </p:spPr>
          <p:txBody>
            <a:bodyPr wrap="none" lIns="92075" tIns="46038" rIns="92075" bIns="46038" anchor="ctr">
              <a:spAutoFit/>
            </a:bodyPr>
            <a:lstStyle/>
            <a:p>
              <a:endParaRPr lang="en-US"/>
            </a:p>
          </p:txBody>
        </p:sp>
        <p:sp>
          <p:nvSpPr>
            <p:cNvPr id="93196" name="Line 1036"/>
            <p:cNvSpPr>
              <a:spLocks noChangeShapeType="1"/>
            </p:cNvSpPr>
            <p:nvPr/>
          </p:nvSpPr>
          <p:spPr bwMode="auto">
            <a:xfrm>
              <a:off x="1056" y="722"/>
              <a:ext cx="96" cy="1"/>
            </a:xfrm>
            <a:prstGeom prst="line">
              <a:avLst/>
            </a:prstGeom>
            <a:noFill/>
            <a:ln w="6350">
              <a:solidFill>
                <a:schemeClr val="tx1"/>
              </a:solidFill>
              <a:round/>
              <a:headEnd type="none" w="sm" len="sm"/>
              <a:tailEnd type="none" w="sm" len="sm"/>
            </a:ln>
            <a:effectLst/>
          </p:spPr>
          <p:txBody>
            <a:bodyPr wrap="none" lIns="92075" tIns="46038" rIns="92075" bIns="46038" anchor="ctr">
              <a:spAutoFit/>
            </a:bodyPr>
            <a:lstStyle/>
            <a:p>
              <a:endParaRPr lang="en-US"/>
            </a:p>
          </p:txBody>
        </p:sp>
        <p:grpSp>
          <p:nvGrpSpPr>
            <p:cNvPr id="3" name="Group 1043"/>
            <p:cNvGrpSpPr>
              <a:grpSpLocks/>
            </p:cNvGrpSpPr>
            <p:nvPr/>
          </p:nvGrpSpPr>
          <p:grpSpPr bwMode="auto">
            <a:xfrm>
              <a:off x="1152" y="1056"/>
              <a:ext cx="2304" cy="1490"/>
              <a:chOff x="1920" y="1726"/>
              <a:chExt cx="2304" cy="1490"/>
            </a:xfrm>
          </p:grpSpPr>
          <p:sp>
            <p:nvSpPr>
              <p:cNvPr id="93204" name="Rectangle 1044"/>
              <p:cNvSpPr>
                <a:spLocks noChangeArrowheads="1"/>
              </p:cNvSpPr>
              <p:nvPr/>
            </p:nvSpPr>
            <p:spPr bwMode="auto">
              <a:xfrm>
                <a:off x="1920" y="1920"/>
                <a:ext cx="2304" cy="1296"/>
              </a:xfrm>
              <a:prstGeom prst="rect">
                <a:avLst/>
              </a:prstGeom>
              <a:solidFill>
                <a:srgbClr val="FFFFFF"/>
              </a:solidFill>
              <a:ln w="6350">
                <a:solidFill>
                  <a:schemeClr val="tx1"/>
                </a:solidFill>
                <a:miter lim="800000"/>
                <a:headEnd type="none" w="sm" len="sm"/>
                <a:tailEnd type="none" w="sm" len="sm"/>
              </a:ln>
              <a:effectLst/>
            </p:spPr>
            <p:txBody>
              <a:bodyPr lIns="92075" tIns="46038" rIns="92075" bIns="46038" anchor="ctr">
                <a:spAutoFit/>
              </a:bodyPr>
              <a:lstStyle/>
              <a:p>
                <a:endParaRPr lang="en-US"/>
              </a:p>
            </p:txBody>
          </p:sp>
          <p:sp>
            <p:nvSpPr>
              <p:cNvPr id="93205" name="Text Box 1045"/>
              <p:cNvSpPr txBox="1">
                <a:spLocks noChangeArrowheads="1"/>
              </p:cNvSpPr>
              <p:nvPr/>
            </p:nvSpPr>
            <p:spPr bwMode="auto">
              <a:xfrm>
                <a:off x="2112" y="1726"/>
                <a:ext cx="2112" cy="196"/>
              </a:xfrm>
              <a:prstGeom prst="rect">
                <a:avLst/>
              </a:prstGeom>
              <a:solidFill>
                <a:srgbClr val="FFFFFF"/>
              </a:solidFill>
              <a:ln w="6350">
                <a:solidFill>
                  <a:schemeClr val="tx1"/>
                </a:solidFill>
                <a:miter lim="800000"/>
                <a:headEnd type="none" w="sm" len="sm"/>
                <a:tailEnd type="none" w="sm" len="sm"/>
              </a:ln>
              <a:effectLst/>
            </p:spPr>
            <p:txBody>
              <a:bodyPr lIns="92075" tIns="46038" rIns="92075" bIns="46038" anchor="ctr">
                <a:spAutoFit/>
              </a:bodyPr>
              <a:lstStyle/>
              <a:p>
                <a:pPr algn="ctr" eaLnBrk="0" hangingPunct="0"/>
                <a:r>
                  <a:rPr lang="en-US" sz="1400">
                    <a:latin typeface="Arial" charset="0"/>
                  </a:rPr>
                  <a:t>Services</a:t>
                </a:r>
              </a:p>
            </p:txBody>
          </p:sp>
          <p:sp>
            <p:nvSpPr>
              <p:cNvPr id="93206" name="Rectangle 1046"/>
              <p:cNvSpPr>
                <a:spLocks noChangeArrowheads="1"/>
              </p:cNvSpPr>
              <p:nvPr/>
            </p:nvSpPr>
            <p:spPr bwMode="auto">
              <a:xfrm>
                <a:off x="1920" y="1728"/>
                <a:ext cx="192" cy="192"/>
              </a:xfrm>
              <a:prstGeom prst="rect">
                <a:avLst/>
              </a:prstGeom>
              <a:solidFill>
                <a:srgbClr val="FFFFFF"/>
              </a:solidFill>
              <a:ln w="6350">
                <a:solidFill>
                  <a:schemeClr val="tx1"/>
                </a:solidFill>
                <a:miter lim="800000"/>
                <a:headEnd type="none" w="sm" len="sm"/>
                <a:tailEnd type="none" w="sm" len="sm"/>
              </a:ln>
              <a:effectLst/>
            </p:spPr>
            <p:txBody>
              <a:bodyPr wrap="none" lIns="92075" tIns="46038" rIns="92075" bIns="46038" anchor="ctr">
                <a:spAutoFit/>
              </a:bodyPr>
              <a:lstStyle/>
              <a:p>
                <a:endParaRPr lang="en-US"/>
              </a:p>
            </p:txBody>
          </p:sp>
          <p:sp>
            <p:nvSpPr>
              <p:cNvPr id="93207" name="Line 1047"/>
              <p:cNvSpPr>
                <a:spLocks noChangeShapeType="1"/>
              </p:cNvSpPr>
              <p:nvPr/>
            </p:nvSpPr>
            <p:spPr bwMode="auto">
              <a:xfrm>
                <a:off x="1968" y="1824"/>
                <a:ext cx="96" cy="1"/>
              </a:xfrm>
              <a:prstGeom prst="line">
                <a:avLst/>
              </a:prstGeom>
              <a:noFill/>
              <a:ln w="6350">
                <a:solidFill>
                  <a:schemeClr val="tx1"/>
                </a:solidFill>
                <a:round/>
                <a:headEnd type="none" w="sm" len="sm"/>
                <a:tailEnd type="none" w="sm" len="sm"/>
              </a:ln>
              <a:effectLst/>
            </p:spPr>
            <p:txBody>
              <a:bodyPr wrap="none" lIns="92075" tIns="46038" rIns="92075" bIns="46038" anchor="ctr">
                <a:spAutoFit/>
              </a:bodyPr>
              <a:lstStyle/>
              <a:p>
                <a:endParaRPr lang="en-US"/>
              </a:p>
            </p:txBody>
          </p:sp>
        </p:grpSp>
        <p:grpSp>
          <p:nvGrpSpPr>
            <p:cNvPr id="4" name="Group 1048"/>
            <p:cNvGrpSpPr>
              <a:grpSpLocks/>
            </p:cNvGrpSpPr>
            <p:nvPr/>
          </p:nvGrpSpPr>
          <p:grpSpPr bwMode="auto">
            <a:xfrm>
              <a:off x="1296" y="1250"/>
              <a:ext cx="2304" cy="1490"/>
              <a:chOff x="1920" y="1726"/>
              <a:chExt cx="2304" cy="1490"/>
            </a:xfrm>
          </p:grpSpPr>
          <p:sp>
            <p:nvSpPr>
              <p:cNvPr id="93209" name="Rectangle 1049"/>
              <p:cNvSpPr>
                <a:spLocks noChangeArrowheads="1"/>
              </p:cNvSpPr>
              <p:nvPr/>
            </p:nvSpPr>
            <p:spPr bwMode="auto">
              <a:xfrm>
                <a:off x="1920" y="1920"/>
                <a:ext cx="2304" cy="1296"/>
              </a:xfrm>
              <a:prstGeom prst="rect">
                <a:avLst/>
              </a:prstGeom>
              <a:solidFill>
                <a:srgbClr val="FFFFFF"/>
              </a:solidFill>
              <a:ln w="6350">
                <a:solidFill>
                  <a:schemeClr val="tx1"/>
                </a:solidFill>
                <a:miter lim="800000"/>
                <a:headEnd type="none" w="sm" len="sm"/>
                <a:tailEnd type="none" w="sm" len="sm"/>
              </a:ln>
              <a:effectLst/>
            </p:spPr>
            <p:txBody>
              <a:bodyPr lIns="92075" tIns="46038" rIns="92075" bIns="46038" anchor="ctr">
                <a:spAutoFit/>
              </a:bodyPr>
              <a:lstStyle/>
              <a:p>
                <a:endParaRPr lang="en-US"/>
              </a:p>
            </p:txBody>
          </p:sp>
          <p:sp>
            <p:nvSpPr>
              <p:cNvPr id="93210" name="Text Box 1050"/>
              <p:cNvSpPr txBox="1">
                <a:spLocks noChangeArrowheads="1"/>
              </p:cNvSpPr>
              <p:nvPr/>
            </p:nvSpPr>
            <p:spPr bwMode="auto">
              <a:xfrm>
                <a:off x="2112" y="1726"/>
                <a:ext cx="2112" cy="196"/>
              </a:xfrm>
              <a:prstGeom prst="rect">
                <a:avLst/>
              </a:prstGeom>
              <a:solidFill>
                <a:srgbClr val="FFFFFF"/>
              </a:solidFill>
              <a:ln w="6350">
                <a:solidFill>
                  <a:schemeClr val="tx1"/>
                </a:solidFill>
                <a:miter lim="800000"/>
                <a:headEnd type="none" w="sm" len="sm"/>
                <a:tailEnd type="none" w="sm" len="sm"/>
              </a:ln>
              <a:effectLst/>
            </p:spPr>
            <p:txBody>
              <a:bodyPr lIns="92075" tIns="46038" rIns="92075" bIns="46038" anchor="ctr">
                <a:spAutoFit/>
              </a:bodyPr>
              <a:lstStyle/>
              <a:p>
                <a:pPr algn="ctr" eaLnBrk="0" hangingPunct="0"/>
                <a:r>
                  <a:rPr lang="en-US" sz="1400">
                    <a:latin typeface="Arial" charset="0"/>
                  </a:rPr>
                  <a:t>Telephone Access Numbers</a:t>
                </a:r>
              </a:p>
            </p:txBody>
          </p:sp>
          <p:sp>
            <p:nvSpPr>
              <p:cNvPr id="93211" name="Rectangle 1051"/>
              <p:cNvSpPr>
                <a:spLocks noChangeArrowheads="1"/>
              </p:cNvSpPr>
              <p:nvPr/>
            </p:nvSpPr>
            <p:spPr bwMode="auto">
              <a:xfrm>
                <a:off x="1920" y="1728"/>
                <a:ext cx="192" cy="192"/>
              </a:xfrm>
              <a:prstGeom prst="rect">
                <a:avLst/>
              </a:prstGeom>
              <a:solidFill>
                <a:srgbClr val="FFFFFF"/>
              </a:solidFill>
              <a:ln w="6350">
                <a:solidFill>
                  <a:schemeClr val="tx1"/>
                </a:solidFill>
                <a:miter lim="800000"/>
                <a:headEnd type="none" w="sm" len="sm"/>
                <a:tailEnd type="none" w="sm" len="sm"/>
              </a:ln>
              <a:effectLst/>
            </p:spPr>
            <p:txBody>
              <a:bodyPr wrap="none" lIns="92075" tIns="46038" rIns="92075" bIns="46038" anchor="ctr">
                <a:spAutoFit/>
              </a:bodyPr>
              <a:lstStyle/>
              <a:p>
                <a:endParaRPr lang="en-US"/>
              </a:p>
            </p:txBody>
          </p:sp>
          <p:sp>
            <p:nvSpPr>
              <p:cNvPr id="93212" name="Line 1052"/>
              <p:cNvSpPr>
                <a:spLocks noChangeShapeType="1"/>
              </p:cNvSpPr>
              <p:nvPr/>
            </p:nvSpPr>
            <p:spPr bwMode="auto">
              <a:xfrm>
                <a:off x="1968" y="1824"/>
                <a:ext cx="96" cy="1"/>
              </a:xfrm>
              <a:prstGeom prst="line">
                <a:avLst/>
              </a:prstGeom>
              <a:noFill/>
              <a:ln w="6350">
                <a:solidFill>
                  <a:schemeClr val="tx1"/>
                </a:solidFill>
                <a:round/>
                <a:headEnd type="none" w="sm" len="sm"/>
                <a:tailEnd type="none" w="sm" len="sm"/>
              </a:ln>
              <a:effectLst/>
            </p:spPr>
            <p:txBody>
              <a:bodyPr wrap="none" lIns="92075" tIns="46038" rIns="92075" bIns="46038" anchor="ctr">
                <a:spAutoFit/>
              </a:bodyPr>
              <a:lstStyle/>
              <a:p>
                <a:endParaRPr lang="en-US"/>
              </a:p>
            </p:txBody>
          </p:sp>
        </p:grpSp>
        <p:grpSp>
          <p:nvGrpSpPr>
            <p:cNvPr id="5" name="Group 1053"/>
            <p:cNvGrpSpPr>
              <a:grpSpLocks/>
            </p:cNvGrpSpPr>
            <p:nvPr/>
          </p:nvGrpSpPr>
          <p:grpSpPr bwMode="auto">
            <a:xfrm>
              <a:off x="1488" y="1442"/>
              <a:ext cx="2304" cy="1490"/>
              <a:chOff x="1920" y="1726"/>
              <a:chExt cx="2304" cy="1490"/>
            </a:xfrm>
          </p:grpSpPr>
          <p:sp>
            <p:nvSpPr>
              <p:cNvPr id="93214" name="Rectangle 1054"/>
              <p:cNvSpPr>
                <a:spLocks noChangeArrowheads="1"/>
              </p:cNvSpPr>
              <p:nvPr/>
            </p:nvSpPr>
            <p:spPr bwMode="auto">
              <a:xfrm>
                <a:off x="1920" y="1920"/>
                <a:ext cx="2304" cy="1296"/>
              </a:xfrm>
              <a:prstGeom prst="rect">
                <a:avLst/>
              </a:prstGeom>
              <a:solidFill>
                <a:srgbClr val="FFFFFF"/>
              </a:solidFill>
              <a:ln w="6350">
                <a:solidFill>
                  <a:schemeClr val="tx1"/>
                </a:solidFill>
                <a:miter lim="800000"/>
                <a:headEnd type="none" w="sm" len="sm"/>
                <a:tailEnd type="none" w="sm" len="sm"/>
              </a:ln>
              <a:effectLst/>
            </p:spPr>
            <p:txBody>
              <a:bodyPr lIns="92075" tIns="46038" rIns="92075" bIns="46038" anchor="ctr">
                <a:spAutoFit/>
              </a:bodyPr>
              <a:lstStyle/>
              <a:p>
                <a:endParaRPr lang="en-US"/>
              </a:p>
            </p:txBody>
          </p:sp>
          <p:sp>
            <p:nvSpPr>
              <p:cNvPr id="93215" name="Text Box 1055"/>
              <p:cNvSpPr txBox="1">
                <a:spLocks noChangeArrowheads="1"/>
              </p:cNvSpPr>
              <p:nvPr/>
            </p:nvSpPr>
            <p:spPr bwMode="auto">
              <a:xfrm>
                <a:off x="2112" y="1726"/>
                <a:ext cx="2112" cy="196"/>
              </a:xfrm>
              <a:prstGeom prst="rect">
                <a:avLst/>
              </a:prstGeom>
              <a:solidFill>
                <a:srgbClr val="FFFFFF"/>
              </a:solidFill>
              <a:ln w="6350">
                <a:solidFill>
                  <a:schemeClr val="tx1"/>
                </a:solidFill>
                <a:miter lim="800000"/>
                <a:headEnd type="none" w="sm" len="sm"/>
                <a:tailEnd type="none" w="sm" len="sm"/>
              </a:ln>
              <a:effectLst/>
            </p:spPr>
            <p:txBody>
              <a:bodyPr lIns="92075" tIns="46038" rIns="92075" bIns="46038" anchor="ctr">
                <a:spAutoFit/>
              </a:bodyPr>
              <a:lstStyle/>
              <a:p>
                <a:pPr algn="ctr" eaLnBrk="0" hangingPunct="0"/>
                <a:r>
                  <a:rPr lang="en-US" sz="1400">
                    <a:latin typeface="Arial" charset="0"/>
                  </a:rPr>
                  <a:t>PHONES</a:t>
                </a:r>
              </a:p>
            </p:txBody>
          </p:sp>
          <p:sp>
            <p:nvSpPr>
              <p:cNvPr id="93216" name="Rectangle 1056"/>
              <p:cNvSpPr>
                <a:spLocks noChangeArrowheads="1"/>
              </p:cNvSpPr>
              <p:nvPr/>
            </p:nvSpPr>
            <p:spPr bwMode="auto">
              <a:xfrm>
                <a:off x="1920" y="1728"/>
                <a:ext cx="192" cy="192"/>
              </a:xfrm>
              <a:prstGeom prst="rect">
                <a:avLst/>
              </a:prstGeom>
              <a:solidFill>
                <a:srgbClr val="FFFFFF"/>
              </a:solidFill>
              <a:ln w="6350">
                <a:solidFill>
                  <a:schemeClr val="tx1"/>
                </a:solidFill>
                <a:miter lim="800000"/>
                <a:headEnd type="none" w="sm" len="sm"/>
                <a:tailEnd type="none" w="sm" len="sm"/>
              </a:ln>
              <a:effectLst/>
            </p:spPr>
            <p:txBody>
              <a:bodyPr wrap="none" lIns="92075" tIns="46038" rIns="92075" bIns="46038" anchor="ctr">
                <a:spAutoFit/>
              </a:bodyPr>
              <a:lstStyle/>
              <a:p>
                <a:endParaRPr lang="en-US"/>
              </a:p>
            </p:txBody>
          </p:sp>
          <p:sp>
            <p:nvSpPr>
              <p:cNvPr id="93217" name="Line 1057"/>
              <p:cNvSpPr>
                <a:spLocks noChangeShapeType="1"/>
              </p:cNvSpPr>
              <p:nvPr/>
            </p:nvSpPr>
            <p:spPr bwMode="auto">
              <a:xfrm>
                <a:off x="1968" y="1824"/>
                <a:ext cx="96" cy="1"/>
              </a:xfrm>
              <a:prstGeom prst="line">
                <a:avLst/>
              </a:prstGeom>
              <a:noFill/>
              <a:ln w="6350">
                <a:solidFill>
                  <a:schemeClr val="tx1"/>
                </a:solidFill>
                <a:round/>
                <a:headEnd type="none" w="sm" len="sm"/>
                <a:tailEnd type="none" w="sm" len="sm"/>
              </a:ln>
              <a:effectLst/>
            </p:spPr>
            <p:txBody>
              <a:bodyPr wrap="none" lIns="92075" tIns="46038" rIns="92075" bIns="46038" anchor="ctr">
                <a:spAutoFit/>
              </a:bodyPr>
              <a:lstStyle/>
              <a:p>
                <a:endParaRPr lang="en-US"/>
              </a:p>
            </p:txBody>
          </p:sp>
        </p:grpSp>
        <p:grpSp>
          <p:nvGrpSpPr>
            <p:cNvPr id="6" name="Group 1058"/>
            <p:cNvGrpSpPr>
              <a:grpSpLocks/>
            </p:cNvGrpSpPr>
            <p:nvPr/>
          </p:nvGrpSpPr>
          <p:grpSpPr bwMode="auto">
            <a:xfrm>
              <a:off x="1680" y="1634"/>
              <a:ext cx="2304" cy="1490"/>
              <a:chOff x="1920" y="1726"/>
              <a:chExt cx="2304" cy="1490"/>
            </a:xfrm>
          </p:grpSpPr>
          <p:sp>
            <p:nvSpPr>
              <p:cNvPr id="93219" name="Rectangle 1059"/>
              <p:cNvSpPr>
                <a:spLocks noChangeArrowheads="1"/>
              </p:cNvSpPr>
              <p:nvPr/>
            </p:nvSpPr>
            <p:spPr bwMode="auto">
              <a:xfrm>
                <a:off x="1920" y="1920"/>
                <a:ext cx="2304" cy="1296"/>
              </a:xfrm>
              <a:prstGeom prst="rect">
                <a:avLst/>
              </a:prstGeom>
              <a:solidFill>
                <a:srgbClr val="FFFFFF"/>
              </a:solidFill>
              <a:ln w="6350">
                <a:solidFill>
                  <a:schemeClr val="tx1"/>
                </a:solidFill>
                <a:miter lim="800000"/>
                <a:headEnd type="none" w="sm" len="sm"/>
                <a:tailEnd type="none" w="sm" len="sm"/>
              </a:ln>
              <a:effectLst/>
            </p:spPr>
            <p:txBody>
              <a:bodyPr lIns="92075" tIns="46038" rIns="92075" bIns="46038" anchor="ctr">
                <a:spAutoFit/>
              </a:bodyPr>
              <a:lstStyle/>
              <a:p>
                <a:endParaRPr lang="en-US"/>
              </a:p>
            </p:txBody>
          </p:sp>
          <p:sp>
            <p:nvSpPr>
              <p:cNvPr id="93220" name="Text Box 1060"/>
              <p:cNvSpPr txBox="1">
                <a:spLocks noChangeArrowheads="1"/>
              </p:cNvSpPr>
              <p:nvPr/>
            </p:nvSpPr>
            <p:spPr bwMode="auto">
              <a:xfrm>
                <a:off x="2112" y="1726"/>
                <a:ext cx="2112" cy="196"/>
              </a:xfrm>
              <a:prstGeom prst="rect">
                <a:avLst/>
              </a:prstGeom>
              <a:solidFill>
                <a:srgbClr val="FFFFFF"/>
              </a:solidFill>
              <a:ln w="6350">
                <a:solidFill>
                  <a:schemeClr val="tx1"/>
                </a:solidFill>
                <a:miter lim="800000"/>
                <a:headEnd type="none" w="sm" len="sm"/>
                <a:tailEnd type="none" w="sm" len="sm"/>
              </a:ln>
              <a:effectLst/>
            </p:spPr>
            <p:txBody>
              <a:bodyPr lIns="92075" tIns="46038" rIns="92075" bIns="46038" anchor="ctr">
                <a:spAutoFit/>
              </a:bodyPr>
              <a:lstStyle/>
              <a:p>
                <a:pPr algn="ctr" eaLnBrk="0" hangingPunct="0"/>
                <a:r>
                  <a:rPr lang="en-US" sz="1400">
                    <a:latin typeface="Arial" charset="0"/>
                  </a:rPr>
                  <a:t>Access Numbers &amp; Logon Instructions</a:t>
                </a:r>
              </a:p>
            </p:txBody>
          </p:sp>
          <p:sp>
            <p:nvSpPr>
              <p:cNvPr id="93221" name="Rectangle 1061"/>
              <p:cNvSpPr>
                <a:spLocks noChangeArrowheads="1"/>
              </p:cNvSpPr>
              <p:nvPr/>
            </p:nvSpPr>
            <p:spPr bwMode="auto">
              <a:xfrm>
                <a:off x="1920" y="1728"/>
                <a:ext cx="192" cy="192"/>
              </a:xfrm>
              <a:prstGeom prst="rect">
                <a:avLst/>
              </a:prstGeom>
              <a:solidFill>
                <a:srgbClr val="FFFFFF"/>
              </a:solidFill>
              <a:ln w="6350">
                <a:solidFill>
                  <a:schemeClr val="tx1"/>
                </a:solidFill>
                <a:miter lim="800000"/>
                <a:headEnd type="none" w="sm" len="sm"/>
                <a:tailEnd type="none" w="sm" len="sm"/>
              </a:ln>
              <a:effectLst/>
            </p:spPr>
            <p:txBody>
              <a:bodyPr wrap="none" lIns="92075" tIns="46038" rIns="92075" bIns="46038" anchor="ctr">
                <a:spAutoFit/>
              </a:bodyPr>
              <a:lstStyle/>
              <a:p>
                <a:endParaRPr lang="en-US"/>
              </a:p>
            </p:txBody>
          </p:sp>
          <p:sp>
            <p:nvSpPr>
              <p:cNvPr id="93222" name="Line 1062"/>
              <p:cNvSpPr>
                <a:spLocks noChangeShapeType="1"/>
              </p:cNvSpPr>
              <p:nvPr/>
            </p:nvSpPr>
            <p:spPr bwMode="auto">
              <a:xfrm>
                <a:off x="1968" y="1824"/>
                <a:ext cx="96" cy="1"/>
              </a:xfrm>
              <a:prstGeom prst="line">
                <a:avLst/>
              </a:prstGeom>
              <a:noFill/>
              <a:ln w="6350">
                <a:solidFill>
                  <a:schemeClr val="tx1"/>
                </a:solidFill>
                <a:round/>
                <a:headEnd type="none" w="sm" len="sm"/>
                <a:tailEnd type="none" w="sm" len="sm"/>
              </a:ln>
              <a:effectLst/>
            </p:spPr>
            <p:txBody>
              <a:bodyPr wrap="none" lIns="92075" tIns="46038" rIns="92075" bIns="46038" anchor="ctr">
                <a:spAutoFit/>
              </a:bodyPr>
              <a:lstStyle/>
              <a:p>
                <a:endParaRPr lang="en-US"/>
              </a:p>
            </p:txBody>
          </p:sp>
        </p:grpSp>
        <p:grpSp>
          <p:nvGrpSpPr>
            <p:cNvPr id="7" name="Group 1063"/>
            <p:cNvGrpSpPr>
              <a:grpSpLocks/>
            </p:cNvGrpSpPr>
            <p:nvPr/>
          </p:nvGrpSpPr>
          <p:grpSpPr bwMode="auto">
            <a:xfrm>
              <a:off x="1872" y="1826"/>
              <a:ext cx="2304" cy="1490"/>
              <a:chOff x="1920" y="1726"/>
              <a:chExt cx="2304" cy="1490"/>
            </a:xfrm>
          </p:grpSpPr>
          <p:sp>
            <p:nvSpPr>
              <p:cNvPr id="93224" name="Rectangle 1064"/>
              <p:cNvSpPr>
                <a:spLocks noChangeArrowheads="1"/>
              </p:cNvSpPr>
              <p:nvPr/>
            </p:nvSpPr>
            <p:spPr bwMode="auto">
              <a:xfrm>
                <a:off x="1920" y="1920"/>
                <a:ext cx="2304" cy="1296"/>
              </a:xfrm>
              <a:prstGeom prst="rect">
                <a:avLst/>
              </a:prstGeom>
              <a:solidFill>
                <a:srgbClr val="FFFFFF"/>
              </a:solidFill>
              <a:ln w="6350">
                <a:solidFill>
                  <a:schemeClr val="tx1"/>
                </a:solidFill>
                <a:miter lim="800000"/>
                <a:headEnd type="none" w="sm" len="sm"/>
                <a:tailEnd type="none" w="sm" len="sm"/>
              </a:ln>
              <a:effectLst/>
            </p:spPr>
            <p:txBody>
              <a:bodyPr lIns="92075" tIns="46038" rIns="92075" bIns="46038" anchor="ctr">
                <a:spAutoFit/>
              </a:bodyPr>
              <a:lstStyle/>
              <a:p>
                <a:endParaRPr lang="en-US"/>
              </a:p>
            </p:txBody>
          </p:sp>
          <p:sp>
            <p:nvSpPr>
              <p:cNvPr id="93225" name="Text Box 1065"/>
              <p:cNvSpPr txBox="1">
                <a:spLocks noChangeArrowheads="1"/>
              </p:cNvSpPr>
              <p:nvPr/>
            </p:nvSpPr>
            <p:spPr bwMode="auto">
              <a:xfrm>
                <a:off x="2112" y="1726"/>
                <a:ext cx="2112" cy="196"/>
              </a:xfrm>
              <a:prstGeom prst="rect">
                <a:avLst/>
              </a:prstGeom>
              <a:solidFill>
                <a:srgbClr val="FFFFFF"/>
              </a:solidFill>
              <a:ln w="6350">
                <a:solidFill>
                  <a:schemeClr val="tx1"/>
                </a:solidFill>
                <a:miter lim="800000"/>
                <a:headEnd type="none" w="sm" len="sm"/>
                <a:tailEnd type="none" w="sm" len="sm"/>
              </a:ln>
              <a:effectLst/>
            </p:spPr>
            <p:txBody>
              <a:bodyPr lIns="92075" tIns="46038" rIns="92075" bIns="46038" anchor="ctr">
                <a:spAutoFit/>
              </a:bodyPr>
              <a:lstStyle/>
              <a:p>
                <a:pPr algn="ctr" eaLnBrk="0" hangingPunct="0"/>
                <a:r>
                  <a:rPr lang="en-US" sz="1400">
                    <a:latin typeface="Arial" charset="0"/>
                  </a:rPr>
                  <a:t>United States and Canada</a:t>
                </a:r>
              </a:p>
            </p:txBody>
          </p:sp>
          <p:sp>
            <p:nvSpPr>
              <p:cNvPr id="93226" name="Rectangle 1066"/>
              <p:cNvSpPr>
                <a:spLocks noChangeArrowheads="1"/>
              </p:cNvSpPr>
              <p:nvPr/>
            </p:nvSpPr>
            <p:spPr bwMode="auto">
              <a:xfrm>
                <a:off x="1920" y="1728"/>
                <a:ext cx="192" cy="192"/>
              </a:xfrm>
              <a:prstGeom prst="rect">
                <a:avLst/>
              </a:prstGeom>
              <a:solidFill>
                <a:srgbClr val="FFFFFF"/>
              </a:solidFill>
              <a:ln w="6350">
                <a:solidFill>
                  <a:schemeClr val="tx1"/>
                </a:solidFill>
                <a:miter lim="800000"/>
                <a:headEnd type="none" w="sm" len="sm"/>
                <a:tailEnd type="none" w="sm" len="sm"/>
              </a:ln>
              <a:effectLst/>
            </p:spPr>
            <p:txBody>
              <a:bodyPr wrap="none" lIns="92075" tIns="46038" rIns="92075" bIns="46038" anchor="ctr">
                <a:spAutoFit/>
              </a:bodyPr>
              <a:lstStyle/>
              <a:p>
                <a:endParaRPr lang="en-US"/>
              </a:p>
            </p:txBody>
          </p:sp>
          <p:sp>
            <p:nvSpPr>
              <p:cNvPr id="93227" name="Line 1067"/>
              <p:cNvSpPr>
                <a:spLocks noChangeShapeType="1"/>
              </p:cNvSpPr>
              <p:nvPr/>
            </p:nvSpPr>
            <p:spPr bwMode="auto">
              <a:xfrm>
                <a:off x="1968" y="1824"/>
                <a:ext cx="96" cy="1"/>
              </a:xfrm>
              <a:prstGeom prst="line">
                <a:avLst/>
              </a:prstGeom>
              <a:noFill/>
              <a:ln w="6350">
                <a:solidFill>
                  <a:schemeClr val="tx1"/>
                </a:solidFill>
                <a:round/>
                <a:headEnd type="none" w="sm" len="sm"/>
                <a:tailEnd type="none" w="sm" len="sm"/>
              </a:ln>
              <a:effectLst/>
            </p:spPr>
            <p:txBody>
              <a:bodyPr wrap="none" lIns="92075" tIns="46038" rIns="92075" bIns="46038" anchor="ctr">
                <a:spAutoFit/>
              </a:bodyPr>
              <a:lstStyle/>
              <a:p>
                <a:endParaRPr lang="en-US"/>
              </a:p>
            </p:txBody>
          </p:sp>
        </p:grpSp>
        <p:grpSp>
          <p:nvGrpSpPr>
            <p:cNvPr id="8" name="Group 1068"/>
            <p:cNvGrpSpPr>
              <a:grpSpLocks/>
            </p:cNvGrpSpPr>
            <p:nvPr/>
          </p:nvGrpSpPr>
          <p:grpSpPr bwMode="auto">
            <a:xfrm>
              <a:off x="2064" y="2016"/>
              <a:ext cx="2304" cy="1490"/>
              <a:chOff x="1920" y="1726"/>
              <a:chExt cx="2304" cy="1490"/>
            </a:xfrm>
          </p:grpSpPr>
          <p:sp>
            <p:nvSpPr>
              <p:cNvPr id="93229" name="Rectangle 1069"/>
              <p:cNvSpPr>
                <a:spLocks noChangeArrowheads="1"/>
              </p:cNvSpPr>
              <p:nvPr/>
            </p:nvSpPr>
            <p:spPr bwMode="auto">
              <a:xfrm>
                <a:off x="1920" y="1920"/>
                <a:ext cx="2304" cy="1296"/>
              </a:xfrm>
              <a:prstGeom prst="rect">
                <a:avLst/>
              </a:prstGeom>
              <a:solidFill>
                <a:srgbClr val="FFFFFF"/>
              </a:solidFill>
              <a:ln w="6350">
                <a:solidFill>
                  <a:schemeClr val="tx1"/>
                </a:solidFill>
                <a:miter lim="800000"/>
                <a:headEnd type="none" w="sm" len="sm"/>
                <a:tailEnd type="none" w="sm" len="sm"/>
              </a:ln>
              <a:effectLst/>
            </p:spPr>
            <p:txBody>
              <a:bodyPr lIns="92075" tIns="46038" rIns="92075" bIns="46038" anchor="ctr">
                <a:spAutoFit/>
              </a:bodyPr>
              <a:lstStyle/>
              <a:p>
                <a:endParaRPr lang="en-US"/>
              </a:p>
            </p:txBody>
          </p:sp>
          <p:sp>
            <p:nvSpPr>
              <p:cNvPr id="93230" name="Text Box 1070"/>
              <p:cNvSpPr txBox="1">
                <a:spLocks noChangeArrowheads="1"/>
              </p:cNvSpPr>
              <p:nvPr/>
            </p:nvSpPr>
            <p:spPr bwMode="auto">
              <a:xfrm>
                <a:off x="2112" y="1726"/>
                <a:ext cx="2112" cy="196"/>
              </a:xfrm>
              <a:prstGeom prst="rect">
                <a:avLst/>
              </a:prstGeom>
              <a:solidFill>
                <a:srgbClr val="FFFFFF"/>
              </a:solidFill>
              <a:ln w="6350">
                <a:solidFill>
                  <a:schemeClr val="tx1"/>
                </a:solidFill>
                <a:miter lim="800000"/>
                <a:headEnd type="none" w="sm" len="sm"/>
                <a:tailEnd type="none" w="sm" len="sm"/>
              </a:ln>
              <a:effectLst/>
            </p:spPr>
            <p:txBody>
              <a:bodyPr lIns="92075" tIns="46038" rIns="92075" bIns="46038" anchor="ctr">
                <a:spAutoFit/>
              </a:bodyPr>
              <a:lstStyle/>
              <a:p>
                <a:pPr algn="ctr" eaLnBrk="0" hangingPunct="0"/>
                <a:r>
                  <a:rPr lang="en-US" sz="1400">
                    <a:latin typeface="Arial" charset="0"/>
                  </a:rPr>
                  <a:t>United States and Canada</a:t>
                </a:r>
              </a:p>
            </p:txBody>
          </p:sp>
          <p:sp>
            <p:nvSpPr>
              <p:cNvPr id="93231" name="Rectangle 1071"/>
              <p:cNvSpPr>
                <a:spLocks noChangeArrowheads="1"/>
              </p:cNvSpPr>
              <p:nvPr/>
            </p:nvSpPr>
            <p:spPr bwMode="auto">
              <a:xfrm>
                <a:off x="1920" y="1728"/>
                <a:ext cx="192" cy="192"/>
              </a:xfrm>
              <a:prstGeom prst="rect">
                <a:avLst/>
              </a:prstGeom>
              <a:solidFill>
                <a:srgbClr val="FFFFFF"/>
              </a:solidFill>
              <a:ln w="6350">
                <a:solidFill>
                  <a:schemeClr val="tx1"/>
                </a:solidFill>
                <a:miter lim="800000"/>
                <a:headEnd type="none" w="sm" len="sm"/>
                <a:tailEnd type="none" w="sm" len="sm"/>
              </a:ln>
              <a:effectLst/>
            </p:spPr>
            <p:txBody>
              <a:bodyPr wrap="none" lIns="92075" tIns="46038" rIns="92075" bIns="46038" anchor="ctr">
                <a:spAutoFit/>
              </a:bodyPr>
              <a:lstStyle/>
              <a:p>
                <a:endParaRPr lang="en-US"/>
              </a:p>
            </p:txBody>
          </p:sp>
          <p:sp>
            <p:nvSpPr>
              <p:cNvPr id="93232" name="Line 1072"/>
              <p:cNvSpPr>
                <a:spLocks noChangeShapeType="1"/>
              </p:cNvSpPr>
              <p:nvPr/>
            </p:nvSpPr>
            <p:spPr bwMode="auto">
              <a:xfrm>
                <a:off x="1968" y="1824"/>
                <a:ext cx="96" cy="1"/>
              </a:xfrm>
              <a:prstGeom prst="line">
                <a:avLst/>
              </a:prstGeom>
              <a:noFill/>
              <a:ln w="6350">
                <a:solidFill>
                  <a:schemeClr val="tx1"/>
                </a:solidFill>
                <a:round/>
                <a:headEnd type="none" w="sm" len="sm"/>
                <a:tailEnd type="none" w="sm" len="sm"/>
              </a:ln>
              <a:effectLst/>
            </p:spPr>
            <p:txBody>
              <a:bodyPr wrap="none" lIns="92075" tIns="46038" rIns="92075" bIns="46038" anchor="ctr">
                <a:spAutoFit/>
              </a:bodyPr>
              <a:lstStyle/>
              <a:p>
                <a:endParaRPr lang="en-US"/>
              </a:p>
            </p:txBody>
          </p:sp>
        </p:grpSp>
        <p:grpSp>
          <p:nvGrpSpPr>
            <p:cNvPr id="9" name="Group 1073"/>
            <p:cNvGrpSpPr>
              <a:grpSpLocks/>
            </p:cNvGrpSpPr>
            <p:nvPr/>
          </p:nvGrpSpPr>
          <p:grpSpPr bwMode="auto">
            <a:xfrm>
              <a:off x="2256" y="2208"/>
              <a:ext cx="2304" cy="1490"/>
              <a:chOff x="1920" y="1726"/>
              <a:chExt cx="2304" cy="1490"/>
            </a:xfrm>
          </p:grpSpPr>
          <p:sp>
            <p:nvSpPr>
              <p:cNvPr id="93234" name="Rectangle 1074"/>
              <p:cNvSpPr>
                <a:spLocks noChangeArrowheads="1"/>
              </p:cNvSpPr>
              <p:nvPr/>
            </p:nvSpPr>
            <p:spPr bwMode="auto">
              <a:xfrm>
                <a:off x="1920" y="1920"/>
                <a:ext cx="2304" cy="1296"/>
              </a:xfrm>
              <a:prstGeom prst="rect">
                <a:avLst/>
              </a:prstGeom>
              <a:solidFill>
                <a:srgbClr val="FFFFFF"/>
              </a:solidFill>
              <a:ln w="6350">
                <a:solidFill>
                  <a:schemeClr val="tx1"/>
                </a:solidFill>
                <a:miter lim="800000"/>
                <a:headEnd type="none" w="sm" len="sm"/>
                <a:tailEnd type="none" w="sm" len="sm"/>
              </a:ln>
              <a:effectLst/>
            </p:spPr>
            <p:txBody>
              <a:bodyPr lIns="92075" tIns="46038" rIns="92075" bIns="46038" anchor="ctr">
                <a:spAutoFit/>
              </a:bodyPr>
              <a:lstStyle/>
              <a:p>
                <a:endParaRPr lang="en-US"/>
              </a:p>
            </p:txBody>
          </p:sp>
          <p:sp>
            <p:nvSpPr>
              <p:cNvPr id="93235" name="Text Box 1075"/>
              <p:cNvSpPr txBox="1">
                <a:spLocks noChangeArrowheads="1"/>
              </p:cNvSpPr>
              <p:nvPr/>
            </p:nvSpPr>
            <p:spPr bwMode="auto">
              <a:xfrm>
                <a:off x="2112" y="1726"/>
                <a:ext cx="2112" cy="196"/>
              </a:xfrm>
              <a:prstGeom prst="rect">
                <a:avLst/>
              </a:prstGeom>
              <a:solidFill>
                <a:srgbClr val="FFFFFF"/>
              </a:solidFill>
              <a:ln w="6350">
                <a:solidFill>
                  <a:schemeClr val="tx1"/>
                </a:solidFill>
                <a:miter lim="800000"/>
                <a:headEnd type="none" w="sm" len="sm"/>
                <a:tailEnd type="none" w="sm" len="sm"/>
              </a:ln>
              <a:effectLst/>
            </p:spPr>
            <p:txBody>
              <a:bodyPr lIns="92075" tIns="46038" rIns="92075" bIns="46038" anchor="ctr">
                <a:spAutoFit/>
              </a:bodyPr>
              <a:lstStyle/>
              <a:p>
                <a:pPr algn="ctr" eaLnBrk="0" hangingPunct="0"/>
                <a:r>
                  <a:rPr lang="en-US" sz="1400" dirty="0">
                    <a:latin typeface="Arial" charset="0"/>
                  </a:rPr>
                  <a:t>CompuServe Network</a:t>
                </a:r>
              </a:p>
            </p:txBody>
          </p:sp>
          <p:sp>
            <p:nvSpPr>
              <p:cNvPr id="93236" name="Rectangle 1076"/>
              <p:cNvSpPr>
                <a:spLocks noChangeArrowheads="1"/>
              </p:cNvSpPr>
              <p:nvPr/>
            </p:nvSpPr>
            <p:spPr bwMode="auto">
              <a:xfrm>
                <a:off x="1920" y="1728"/>
                <a:ext cx="192" cy="192"/>
              </a:xfrm>
              <a:prstGeom prst="rect">
                <a:avLst/>
              </a:prstGeom>
              <a:solidFill>
                <a:srgbClr val="FFFFFF"/>
              </a:solidFill>
              <a:ln w="6350">
                <a:solidFill>
                  <a:schemeClr val="tx1"/>
                </a:solidFill>
                <a:miter lim="800000"/>
                <a:headEnd type="none" w="sm" len="sm"/>
                <a:tailEnd type="none" w="sm" len="sm"/>
              </a:ln>
              <a:effectLst/>
            </p:spPr>
            <p:txBody>
              <a:bodyPr wrap="none" lIns="92075" tIns="46038" rIns="92075" bIns="46038" anchor="ctr">
                <a:spAutoFit/>
              </a:bodyPr>
              <a:lstStyle/>
              <a:p>
                <a:endParaRPr lang="en-US"/>
              </a:p>
            </p:txBody>
          </p:sp>
          <p:sp>
            <p:nvSpPr>
              <p:cNvPr id="93237" name="Line 1077"/>
              <p:cNvSpPr>
                <a:spLocks noChangeShapeType="1"/>
              </p:cNvSpPr>
              <p:nvPr/>
            </p:nvSpPr>
            <p:spPr bwMode="auto">
              <a:xfrm>
                <a:off x="1968" y="1824"/>
                <a:ext cx="96" cy="1"/>
              </a:xfrm>
              <a:prstGeom prst="line">
                <a:avLst/>
              </a:prstGeom>
              <a:noFill/>
              <a:ln w="6350">
                <a:solidFill>
                  <a:schemeClr val="tx1"/>
                </a:solidFill>
                <a:round/>
                <a:headEnd type="none" w="sm" len="sm"/>
                <a:tailEnd type="none" w="sm" len="sm"/>
              </a:ln>
              <a:effectLst/>
            </p:spPr>
            <p:txBody>
              <a:bodyPr wrap="none" lIns="92075" tIns="46038" rIns="92075" bIns="46038" anchor="ctr">
                <a:spAutoFit/>
              </a:bodyPr>
              <a:lstStyle/>
              <a:p>
                <a:endParaRPr lang="en-US"/>
              </a:p>
            </p:txBody>
          </p:sp>
        </p:grpSp>
        <p:grpSp>
          <p:nvGrpSpPr>
            <p:cNvPr id="10" name="Group 1078"/>
            <p:cNvGrpSpPr>
              <a:grpSpLocks/>
            </p:cNvGrpSpPr>
            <p:nvPr/>
          </p:nvGrpSpPr>
          <p:grpSpPr bwMode="auto">
            <a:xfrm>
              <a:off x="2448" y="2400"/>
              <a:ext cx="2304" cy="1490"/>
              <a:chOff x="1920" y="1726"/>
              <a:chExt cx="2304" cy="1490"/>
            </a:xfrm>
          </p:grpSpPr>
          <p:sp>
            <p:nvSpPr>
              <p:cNvPr id="93239" name="Rectangle 1079"/>
              <p:cNvSpPr>
                <a:spLocks noChangeArrowheads="1"/>
              </p:cNvSpPr>
              <p:nvPr/>
            </p:nvSpPr>
            <p:spPr bwMode="auto">
              <a:xfrm>
                <a:off x="1920" y="1920"/>
                <a:ext cx="2304" cy="1296"/>
              </a:xfrm>
              <a:prstGeom prst="rect">
                <a:avLst/>
              </a:prstGeom>
              <a:solidFill>
                <a:srgbClr val="FFFFFF"/>
              </a:solidFill>
              <a:ln w="6350">
                <a:solidFill>
                  <a:schemeClr val="tx1"/>
                </a:solidFill>
                <a:miter lim="800000"/>
                <a:headEnd type="none" w="sm" len="sm"/>
                <a:tailEnd type="none" w="sm" len="sm"/>
              </a:ln>
              <a:effectLst/>
            </p:spPr>
            <p:txBody>
              <a:bodyPr lIns="92075" tIns="46038" rIns="92075" bIns="46038" anchor="ctr">
                <a:spAutoFit/>
              </a:bodyPr>
              <a:lstStyle/>
              <a:p>
                <a:endParaRPr lang="en-US"/>
              </a:p>
            </p:txBody>
          </p:sp>
          <p:sp>
            <p:nvSpPr>
              <p:cNvPr id="93240" name="Text Box 1080"/>
              <p:cNvSpPr txBox="1">
                <a:spLocks noChangeArrowheads="1"/>
              </p:cNvSpPr>
              <p:nvPr/>
            </p:nvSpPr>
            <p:spPr bwMode="auto">
              <a:xfrm>
                <a:off x="2112" y="1726"/>
                <a:ext cx="2112" cy="196"/>
              </a:xfrm>
              <a:prstGeom prst="rect">
                <a:avLst/>
              </a:prstGeom>
              <a:solidFill>
                <a:srgbClr val="FFFFFF"/>
              </a:solidFill>
              <a:ln w="6350">
                <a:solidFill>
                  <a:schemeClr val="tx1"/>
                </a:solidFill>
                <a:miter lim="800000"/>
                <a:headEnd type="none" w="sm" len="sm"/>
                <a:tailEnd type="none" w="sm" len="sm"/>
              </a:ln>
              <a:effectLst/>
            </p:spPr>
            <p:txBody>
              <a:bodyPr lIns="92075" tIns="46038" rIns="92075" bIns="46038" anchor="ctr">
                <a:spAutoFit/>
              </a:bodyPr>
              <a:lstStyle/>
              <a:p>
                <a:pPr algn="ctr" eaLnBrk="0" hangingPunct="0"/>
                <a:r>
                  <a:rPr lang="en-US" sz="1400">
                    <a:latin typeface="Arial" charset="0"/>
                  </a:rPr>
                  <a:t>Only 9600 Baud</a:t>
                </a:r>
              </a:p>
            </p:txBody>
          </p:sp>
          <p:sp>
            <p:nvSpPr>
              <p:cNvPr id="93241" name="Rectangle 1081"/>
              <p:cNvSpPr>
                <a:spLocks noChangeArrowheads="1"/>
              </p:cNvSpPr>
              <p:nvPr/>
            </p:nvSpPr>
            <p:spPr bwMode="auto">
              <a:xfrm>
                <a:off x="1920" y="1728"/>
                <a:ext cx="192" cy="192"/>
              </a:xfrm>
              <a:prstGeom prst="rect">
                <a:avLst/>
              </a:prstGeom>
              <a:solidFill>
                <a:srgbClr val="FFFFFF"/>
              </a:solidFill>
              <a:ln w="6350">
                <a:solidFill>
                  <a:schemeClr val="tx1"/>
                </a:solidFill>
                <a:miter lim="800000"/>
                <a:headEnd type="none" w="sm" len="sm"/>
                <a:tailEnd type="none" w="sm" len="sm"/>
              </a:ln>
              <a:effectLst/>
            </p:spPr>
            <p:txBody>
              <a:bodyPr wrap="none" lIns="92075" tIns="46038" rIns="92075" bIns="46038" anchor="ctr">
                <a:spAutoFit/>
              </a:bodyPr>
              <a:lstStyle/>
              <a:p>
                <a:endParaRPr lang="en-US"/>
              </a:p>
            </p:txBody>
          </p:sp>
          <p:sp>
            <p:nvSpPr>
              <p:cNvPr id="93242" name="Line 1082"/>
              <p:cNvSpPr>
                <a:spLocks noChangeShapeType="1"/>
              </p:cNvSpPr>
              <p:nvPr/>
            </p:nvSpPr>
            <p:spPr bwMode="auto">
              <a:xfrm>
                <a:off x="1968" y="1824"/>
                <a:ext cx="96" cy="1"/>
              </a:xfrm>
              <a:prstGeom prst="line">
                <a:avLst/>
              </a:prstGeom>
              <a:noFill/>
              <a:ln w="6350">
                <a:solidFill>
                  <a:schemeClr val="tx1"/>
                </a:solidFill>
                <a:round/>
                <a:headEnd type="none" w="sm" len="sm"/>
                <a:tailEnd type="none" w="sm" len="sm"/>
              </a:ln>
              <a:effectLst/>
            </p:spPr>
            <p:txBody>
              <a:bodyPr wrap="none" lIns="92075" tIns="46038" rIns="92075" bIns="46038" anchor="ctr">
                <a:spAutoFit/>
              </a:bodyPr>
              <a:lstStyle/>
              <a:p>
                <a:endParaRPr lang="en-US"/>
              </a:p>
            </p:txBody>
          </p:sp>
        </p:grpSp>
        <p:grpSp>
          <p:nvGrpSpPr>
            <p:cNvPr id="11" name="Group 1083"/>
            <p:cNvGrpSpPr>
              <a:grpSpLocks/>
            </p:cNvGrpSpPr>
            <p:nvPr/>
          </p:nvGrpSpPr>
          <p:grpSpPr bwMode="auto">
            <a:xfrm>
              <a:off x="2592" y="2542"/>
              <a:ext cx="2304" cy="1490"/>
              <a:chOff x="1920" y="1726"/>
              <a:chExt cx="2304" cy="1490"/>
            </a:xfrm>
          </p:grpSpPr>
          <p:sp>
            <p:nvSpPr>
              <p:cNvPr id="93244" name="Rectangle 1084"/>
              <p:cNvSpPr>
                <a:spLocks noChangeArrowheads="1"/>
              </p:cNvSpPr>
              <p:nvPr/>
            </p:nvSpPr>
            <p:spPr bwMode="auto">
              <a:xfrm>
                <a:off x="1920" y="1920"/>
                <a:ext cx="2304" cy="1296"/>
              </a:xfrm>
              <a:prstGeom prst="rect">
                <a:avLst/>
              </a:prstGeom>
              <a:solidFill>
                <a:srgbClr val="FFFFFF"/>
              </a:solidFill>
              <a:ln w="6350">
                <a:solidFill>
                  <a:schemeClr val="tx1"/>
                </a:solidFill>
                <a:miter lim="800000"/>
                <a:headEnd type="none" w="sm" len="sm"/>
                <a:tailEnd type="none" w="sm" len="sm"/>
              </a:ln>
              <a:effectLst/>
            </p:spPr>
            <p:txBody>
              <a:bodyPr lIns="92075" tIns="46038" rIns="92075" bIns="46038" anchor="ctr">
                <a:spAutoFit/>
              </a:bodyPr>
              <a:lstStyle/>
              <a:p>
                <a:endParaRPr lang="en-US"/>
              </a:p>
            </p:txBody>
          </p:sp>
          <p:sp>
            <p:nvSpPr>
              <p:cNvPr id="93245" name="Text Box 1085"/>
              <p:cNvSpPr txBox="1">
                <a:spLocks noChangeArrowheads="1"/>
              </p:cNvSpPr>
              <p:nvPr/>
            </p:nvSpPr>
            <p:spPr bwMode="auto">
              <a:xfrm>
                <a:off x="2112" y="1726"/>
                <a:ext cx="2112" cy="196"/>
              </a:xfrm>
              <a:prstGeom prst="rect">
                <a:avLst/>
              </a:prstGeom>
              <a:solidFill>
                <a:srgbClr val="FFFFFF"/>
              </a:solidFill>
              <a:ln w="6350">
                <a:solidFill>
                  <a:schemeClr val="tx1"/>
                </a:solidFill>
                <a:miter lim="800000"/>
                <a:headEnd type="none" w="sm" len="sm"/>
                <a:tailEnd type="none" w="sm" len="sm"/>
              </a:ln>
              <a:effectLst/>
            </p:spPr>
            <p:txBody>
              <a:bodyPr lIns="92075" tIns="46038" rIns="92075" bIns="46038" anchor="ctr">
                <a:spAutoFit/>
              </a:bodyPr>
              <a:lstStyle/>
              <a:p>
                <a:pPr algn="ctr" eaLnBrk="0" hangingPunct="0"/>
                <a:r>
                  <a:rPr lang="en-US" sz="1400">
                    <a:latin typeface="Arial" charset="0"/>
                  </a:rPr>
                  <a:t>List</a:t>
                </a:r>
              </a:p>
            </p:txBody>
          </p:sp>
          <p:sp>
            <p:nvSpPr>
              <p:cNvPr id="93246" name="Rectangle 1086"/>
              <p:cNvSpPr>
                <a:spLocks noChangeArrowheads="1"/>
              </p:cNvSpPr>
              <p:nvPr/>
            </p:nvSpPr>
            <p:spPr bwMode="auto">
              <a:xfrm>
                <a:off x="1920" y="1728"/>
                <a:ext cx="192" cy="192"/>
              </a:xfrm>
              <a:prstGeom prst="rect">
                <a:avLst/>
              </a:prstGeom>
              <a:solidFill>
                <a:srgbClr val="FFFFFF"/>
              </a:solidFill>
              <a:ln w="6350">
                <a:solidFill>
                  <a:schemeClr val="tx1"/>
                </a:solidFill>
                <a:miter lim="800000"/>
                <a:headEnd type="none" w="sm" len="sm"/>
                <a:tailEnd type="none" w="sm" len="sm"/>
              </a:ln>
              <a:effectLst/>
            </p:spPr>
            <p:txBody>
              <a:bodyPr wrap="none" lIns="92075" tIns="46038" rIns="92075" bIns="46038" anchor="ctr">
                <a:spAutoFit/>
              </a:bodyPr>
              <a:lstStyle/>
              <a:p>
                <a:endParaRPr lang="en-US"/>
              </a:p>
            </p:txBody>
          </p:sp>
          <p:sp>
            <p:nvSpPr>
              <p:cNvPr id="93247" name="Line 1087"/>
              <p:cNvSpPr>
                <a:spLocks noChangeShapeType="1"/>
              </p:cNvSpPr>
              <p:nvPr/>
            </p:nvSpPr>
            <p:spPr bwMode="auto">
              <a:xfrm>
                <a:off x="1968" y="1824"/>
                <a:ext cx="96" cy="1"/>
              </a:xfrm>
              <a:prstGeom prst="line">
                <a:avLst/>
              </a:prstGeom>
              <a:noFill/>
              <a:ln w="6350">
                <a:solidFill>
                  <a:schemeClr val="tx1"/>
                </a:solidFill>
                <a:round/>
                <a:headEnd type="none" w="sm" len="sm"/>
                <a:tailEnd type="none" w="sm" len="sm"/>
              </a:ln>
              <a:effectLst/>
            </p:spPr>
            <p:txBody>
              <a:bodyPr wrap="none" lIns="92075" tIns="46038" rIns="92075" bIns="46038" anchor="ctr">
                <a:spAutoFit/>
              </a:bodyPr>
              <a:lstStyle/>
              <a:p>
                <a:endParaRPr lang="en-US"/>
              </a:p>
            </p:txBody>
          </p:sp>
        </p:grpSp>
        <p:sp>
          <p:nvSpPr>
            <p:cNvPr id="93248" name="Text Box 1088"/>
            <p:cNvSpPr txBox="1">
              <a:spLocks noChangeArrowheads="1"/>
            </p:cNvSpPr>
            <p:nvPr/>
          </p:nvSpPr>
          <p:spPr bwMode="auto">
            <a:xfrm>
              <a:off x="2736" y="2880"/>
              <a:ext cx="843" cy="824"/>
            </a:xfrm>
            <a:prstGeom prst="rect">
              <a:avLst/>
            </a:prstGeom>
            <a:noFill/>
            <a:ln w="12699">
              <a:noFill/>
              <a:miter lim="800000"/>
              <a:headEnd type="none" w="sm" len="sm"/>
              <a:tailEnd type="none" w="sm" len="sm"/>
            </a:ln>
            <a:effectLst/>
          </p:spPr>
          <p:txBody>
            <a:bodyPr wrap="none" lIns="92075" tIns="46038" rIns="92075" bIns="46038" anchor="ctr">
              <a:spAutoFit/>
            </a:bodyPr>
            <a:lstStyle/>
            <a:p>
              <a:pPr eaLnBrk="0" hangingPunct="0"/>
              <a:r>
                <a:rPr lang="en-US">
                  <a:latin typeface="Arial" charset="0"/>
                </a:rPr>
                <a:t>?  List</a:t>
              </a:r>
              <a:endParaRPr lang="en-US" sz="1400">
                <a:latin typeface="Arial" charset="0"/>
              </a:endParaRPr>
            </a:p>
            <a:p>
              <a:pPr eaLnBrk="0" hangingPunct="0"/>
              <a:r>
                <a:rPr lang="en-US" sz="1400">
                  <a:latin typeface="Arial" charset="0"/>
                </a:rPr>
                <a:t> </a:t>
              </a:r>
            </a:p>
            <a:p>
              <a:pPr eaLnBrk="0" hangingPunct="0"/>
              <a:r>
                <a:rPr lang="en-US" sz="1400">
                  <a:latin typeface="Arial" charset="0"/>
                </a:rPr>
                <a:t>List by:</a:t>
              </a:r>
            </a:p>
            <a:p>
              <a:pPr eaLnBrk="0" hangingPunct="0"/>
              <a:r>
                <a:rPr lang="en-US" sz="1400">
                  <a:latin typeface="Arial" charset="0"/>
                </a:rPr>
                <a:t>State/Province</a:t>
              </a:r>
            </a:p>
            <a:p>
              <a:pPr eaLnBrk="0" hangingPunct="0"/>
              <a:r>
                <a:rPr lang="en-US" sz="1400">
                  <a:latin typeface="Arial" charset="0"/>
                </a:rPr>
                <a:t>Area Code</a:t>
              </a:r>
            </a:p>
          </p:txBody>
        </p:sp>
        <p:sp>
          <p:nvSpPr>
            <p:cNvPr id="93249" name="Text Box 1089"/>
            <p:cNvSpPr txBox="1">
              <a:spLocks noChangeArrowheads="1"/>
            </p:cNvSpPr>
            <p:nvPr/>
          </p:nvSpPr>
          <p:spPr bwMode="auto">
            <a:xfrm>
              <a:off x="1008" y="816"/>
              <a:ext cx="4128" cy="196"/>
            </a:xfrm>
            <a:prstGeom prst="rect">
              <a:avLst/>
            </a:prstGeom>
            <a:solidFill>
              <a:schemeClr val="folHlink"/>
            </a:solidFill>
            <a:ln w="6350">
              <a:solidFill>
                <a:schemeClr val="tx1"/>
              </a:solidFill>
              <a:miter lim="800000"/>
              <a:headEnd type="none" w="sm" len="sm"/>
              <a:tailEnd type="none" w="sm" len="sm"/>
            </a:ln>
            <a:effectLst/>
          </p:spPr>
          <p:txBody>
            <a:bodyPr lIns="92075" tIns="46038" rIns="92075" bIns="46038" anchor="ctr">
              <a:spAutoFit/>
            </a:bodyPr>
            <a:lstStyle/>
            <a:p>
              <a:pPr eaLnBrk="0" hangingPunct="0"/>
              <a:r>
                <a:rPr lang="en-US" sz="1400">
                  <a:latin typeface="Arial" charset="0"/>
                </a:rPr>
                <a:t>File     Edit    Services    Mail    Special    Window     Help</a:t>
              </a:r>
            </a:p>
          </p:txBody>
        </p:sp>
      </p:grpSp>
      <p:sp>
        <p:nvSpPr>
          <p:cNvPr id="93251" name="Rectangle 1091"/>
          <p:cNvSpPr>
            <a:spLocks noGrp="1" noChangeArrowheads="1"/>
          </p:cNvSpPr>
          <p:nvPr>
            <p:ph type="title"/>
          </p:nvPr>
        </p:nvSpPr>
        <p:spPr/>
        <p:txBody>
          <a:bodyPr/>
          <a:lstStyle/>
          <a:p>
            <a:r>
              <a:rPr lang="en-US" dirty="0"/>
              <a:t>7. Minimalist Design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7. Minimalist Design </a:t>
            </a:r>
          </a:p>
        </p:txBody>
      </p:sp>
      <p:pic>
        <p:nvPicPr>
          <p:cNvPr id="4608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8200" y="2743200"/>
            <a:ext cx="7372350" cy="858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6083"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8200" y="3905250"/>
            <a:ext cx="7372350" cy="81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827250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Nielsen’s Ten Heuristics</a:t>
            </a:r>
          </a:p>
        </p:txBody>
      </p:sp>
      <p:sp>
        <p:nvSpPr>
          <p:cNvPr id="3" name="Content Placeholder 2"/>
          <p:cNvSpPr>
            <a:spLocks noGrp="1"/>
          </p:cNvSpPr>
          <p:nvPr>
            <p:ph sz="quarter" idx="1"/>
          </p:nvPr>
        </p:nvSpPr>
        <p:spPr/>
        <p:txBody>
          <a:bodyPr>
            <a:normAutofit/>
          </a:bodyPr>
          <a:lstStyle/>
          <a:p>
            <a:r>
              <a:rPr lang="en-US" b="1" dirty="0"/>
              <a:t>Error prevention </a:t>
            </a:r>
          </a:p>
          <a:p>
            <a:pPr lvl="1"/>
            <a:r>
              <a:rPr lang="en-US" dirty="0"/>
              <a:t>Make it difficult to make errors. Even better than good error messages is a careful design that prevents a problem from occurring in the first place.</a:t>
            </a:r>
          </a:p>
          <a:p>
            <a:pPr lvl="1"/>
            <a:endParaRPr lang="en-US" dirty="0"/>
          </a:p>
          <a:p>
            <a:pPr lvl="1"/>
            <a:r>
              <a:rPr lang="en-US" dirty="0"/>
              <a:t>For example: select file from menu rather than typing in name, confirmation before dangerous actions, beware of modes, avoid similar command names, warning if Caps Lock is activated when entering a password, etc.</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noFill/>
          <a:ln/>
        </p:spPr>
        <p:txBody>
          <a:bodyPr lIns="92075" tIns="46038" rIns="92075" bIns="46038">
            <a:normAutofit/>
          </a:bodyPr>
          <a:lstStyle/>
          <a:p>
            <a:r>
              <a:rPr lang="en-US" dirty="0"/>
              <a:t>8. Prevent Errors</a:t>
            </a:r>
          </a:p>
        </p:txBody>
      </p:sp>
      <p:sp>
        <p:nvSpPr>
          <p:cNvPr id="48131" name="Rectangle 3"/>
          <p:cNvSpPr>
            <a:spLocks noGrp="1" noChangeArrowheads="1"/>
          </p:cNvSpPr>
          <p:nvPr>
            <p:ph type="body" idx="1"/>
          </p:nvPr>
        </p:nvSpPr>
        <p:spPr>
          <a:xfrm>
            <a:off x="914400" y="1447800"/>
            <a:ext cx="7772400" cy="5105400"/>
          </a:xfrm>
          <a:noFill/>
          <a:ln/>
        </p:spPr>
        <p:txBody>
          <a:bodyPr lIns="92075" tIns="46038" rIns="92075" bIns="46038">
            <a:normAutofit fontScale="92500" lnSpcReduction="20000"/>
          </a:bodyPr>
          <a:lstStyle/>
          <a:p>
            <a:r>
              <a:rPr lang="en-US" dirty="0"/>
              <a:t>Prevent errors</a:t>
            </a:r>
          </a:p>
          <a:p>
            <a:pPr lvl="1"/>
            <a:r>
              <a:rPr lang="en-US" dirty="0"/>
              <a:t>try to make errors impossible</a:t>
            </a:r>
          </a:p>
          <a:p>
            <a:pPr lvl="1"/>
            <a:r>
              <a:rPr lang="en-US" dirty="0"/>
              <a:t>modern widgets:  can only enter legal data</a:t>
            </a:r>
            <a:br>
              <a:rPr lang="en-US" dirty="0"/>
            </a:br>
            <a:br>
              <a:rPr lang="en-US" dirty="0"/>
            </a:br>
            <a:br>
              <a:rPr lang="en-US" dirty="0"/>
            </a:br>
            <a:br>
              <a:rPr lang="en-US" dirty="0"/>
            </a:br>
            <a:br>
              <a:rPr lang="en-US" dirty="0"/>
            </a:br>
            <a:br>
              <a:rPr lang="en-US" dirty="0"/>
            </a:br>
            <a:br>
              <a:rPr lang="en-US" dirty="0"/>
            </a:br>
            <a:endParaRPr lang="en-US" dirty="0"/>
          </a:p>
          <a:p>
            <a:pPr lvl="1">
              <a:buNone/>
            </a:pPr>
            <a:br>
              <a:rPr lang="en-US" dirty="0"/>
            </a:br>
            <a:br>
              <a:rPr lang="en-US" dirty="0"/>
            </a:br>
            <a:endParaRPr lang="en-US" dirty="0"/>
          </a:p>
          <a:p>
            <a:r>
              <a:rPr lang="en-US" dirty="0"/>
              <a:t>Provide reasonableness checks on input data</a:t>
            </a:r>
          </a:p>
          <a:p>
            <a:pPr lvl="1"/>
            <a:r>
              <a:rPr lang="en-US" dirty="0"/>
              <a:t>on entering order for office supplies</a:t>
            </a:r>
          </a:p>
          <a:p>
            <a:pPr lvl="2"/>
            <a:r>
              <a:rPr lang="en-US" dirty="0"/>
              <a:t>5000 pencils is an unusually large order. Do you really want to order that many?</a:t>
            </a:r>
          </a:p>
        </p:txBody>
      </p:sp>
      <p:pic>
        <p:nvPicPr>
          <p:cNvPr id="48132" name="Picture 4"/>
          <p:cNvPicPr>
            <a:picLocks noChangeAspect="1" noChangeArrowheads="1"/>
          </p:cNvPicPr>
          <p:nvPr/>
        </p:nvPicPr>
        <p:blipFill>
          <a:blip r:embed="rId3" cstate="print"/>
          <a:srcRect/>
          <a:stretch>
            <a:fillRect/>
          </a:stretch>
        </p:blipFill>
        <p:spPr bwMode="auto">
          <a:xfrm>
            <a:off x="1676400" y="2667000"/>
            <a:ext cx="2419350" cy="2219325"/>
          </a:xfrm>
          <a:prstGeom prst="rect">
            <a:avLst/>
          </a:prstGeom>
          <a:noFill/>
          <a:ln w="12699">
            <a:noFill/>
            <a:miter lim="800000"/>
            <a:headEnd type="none" w="sm" len="sm"/>
            <a:tailEnd type="none" w="sm" len="sm"/>
          </a:ln>
          <a:effectLst/>
        </p:spPr>
      </p:pic>
      <p:pic>
        <p:nvPicPr>
          <p:cNvPr id="48133" name="Picture 5"/>
          <p:cNvPicPr>
            <a:picLocks noChangeAspect="1" noChangeArrowheads="1"/>
          </p:cNvPicPr>
          <p:nvPr/>
        </p:nvPicPr>
        <p:blipFill>
          <a:blip r:embed="rId4" cstate="print"/>
          <a:srcRect/>
          <a:stretch>
            <a:fillRect/>
          </a:stretch>
        </p:blipFill>
        <p:spPr bwMode="auto">
          <a:xfrm>
            <a:off x="5257800" y="2628900"/>
            <a:ext cx="3343275" cy="2476500"/>
          </a:xfrm>
          <a:prstGeom prst="rect">
            <a:avLst/>
          </a:prstGeom>
          <a:noFill/>
          <a:ln w="12699">
            <a:noFill/>
            <a:miter lim="800000"/>
            <a:headEnd type="none" w="sm" len="sm"/>
            <a:tailEnd type="none" w="sm" len="sm"/>
          </a:ln>
          <a:effectLst/>
        </p:spPr>
      </p:pic>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8. Prevent Errors</a:t>
            </a:r>
          </a:p>
        </p:txBody>
      </p:sp>
      <p:pic>
        <p:nvPicPr>
          <p:cNvPr id="4710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4223" y="2743200"/>
            <a:ext cx="7262977" cy="154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997217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8. Prevent Errors</a:t>
            </a:r>
          </a:p>
        </p:txBody>
      </p:sp>
      <p:pic>
        <p:nvPicPr>
          <p:cNvPr id="4" name="Content Placeholder 3"/>
          <p:cNvPicPr>
            <a:picLocks noGrp="1" noChangeAspect="1" noChangeArrowheads="1"/>
          </p:cNvPicPr>
          <p:nvPr>
            <p:ph sz="quarter" idx="1"/>
          </p:nvPr>
        </p:nvPicPr>
        <p:blipFill>
          <a:blip r:embed="rId2" cstate="print"/>
          <a:srcRect l="7500" t="27358" r="6875" b="25202"/>
          <a:stretch>
            <a:fillRect/>
          </a:stretch>
        </p:blipFill>
        <p:spPr bwMode="auto">
          <a:xfrm>
            <a:off x="914400" y="2485660"/>
            <a:ext cx="7772400" cy="249628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Nielsen’s Ten Heuristics</a:t>
            </a:r>
          </a:p>
        </p:txBody>
      </p:sp>
      <p:sp>
        <p:nvSpPr>
          <p:cNvPr id="3" name="Content Placeholder 2"/>
          <p:cNvSpPr>
            <a:spLocks noGrp="1"/>
          </p:cNvSpPr>
          <p:nvPr>
            <p:ph sz="quarter" idx="1"/>
          </p:nvPr>
        </p:nvSpPr>
        <p:spPr/>
        <p:txBody>
          <a:bodyPr>
            <a:normAutofit/>
          </a:bodyPr>
          <a:lstStyle/>
          <a:p>
            <a:r>
              <a:rPr lang="en-US" b="1" dirty="0"/>
              <a:t>Help users recognize, diagnose and recover from errors </a:t>
            </a:r>
            <a:r>
              <a:rPr lang="en-US" dirty="0"/>
              <a:t>[Good Error Messages]</a:t>
            </a:r>
            <a:endParaRPr lang="en-US" b="1" dirty="0"/>
          </a:p>
          <a:p>
            <a:pPr lvl="1"/>
            <a:r>
              <a:rPr lang="en-US" dirty="0"/>
              <a:t>Error messages should be expressed in plain language (no codes), precisely indicate the problem, and constructively suggest a solution.  </a:t>
            </a:r>
          </a:p>
          <a:p>
            <a:pPr lvl="1"/>
            <a:endParaRPr lang="en-US" dirty="0"/>
          </a:p>
          <a:p>
            <a:pPr lvl="1"/>
            <a:r>
              <a:rPr lang="en-US" dirty="0"/>
              <a:t>Phrase error messages defensively, never blame the user. Multilevel messages. Link to help system. </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Help users recognize, diagnose and recover from errors</a:t>
            </a:r>
            <a:endParaRPr lang="en-US" dirty="0"/>
          </a:p>
        </p:txBody>
      </p:sp>
      <p:pic>
        <p:nvPicPr>
          <p:cNvPr id="4" name="Picture 4" descr="4039752_f260"/>
          <p:cNvPicPr>
            <a:picLocks noChangeAspect="1" noChangeArrowheads="1"/>
          </p:cNvPicPr>
          <p:nvPr/>
        </p:nvPicPr>
        <p:blipFill>
          <a:blip r:embed="rId2" cstate="print"/>
          <a:srcRect/>
          <a:stretch>
            <a:fillRect/>
          </a:stretch>
        </p:blipFill>
        <p:spPr bwMode="auto">
          <a:xfrm>
            <a:off x="1479414" y="2819400"/>
            <a:ext cx="6064386" cy="2798763"/>
          </a:xfrm>
          <a:prstGeom prst="rect">
            <a:avLst/>
          </a:prstGeom>
          <a:noFill/>
          <a:ln w="9525">
            <a:noFill/>
            <a:miter lim="800000"/>
            <a:headEnd/>
            <a:tailEnd/>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9. Deal with errors in a positive manner</a:t>
            </a:r>
          </a:p>
        </p:txBody>
      </p:sp>
      <p:sp>
        <p:nvSpPr>
          <p:cNvPr id="3" name="Content Placeholder 2"/>
          <p:cNvSpPr>
            <a:spLocks noGrp="1"/>
          </p:cNvSpPr>
          <p:nvPr>
            <p:ph sz="quarter" idx="1"/>
          </p:nvPr>
        </p:nvSpPr>
        <p:spPr/>
        <p:txBody>
          <a:bodyPr/>
          <a:lstStyle/>
          <a:p>
            <a:r>
              <a:rPr lang="en-US" dirty="0"/>
              <a:t>Help users recognize, diagnose and recover from errors</a:t>
            </a:r>
          </a:p>
        </p:txBody>
      </p:sp>
      <p:pic>
        <p:nvPicPr>
          <p:cNvPr id="4" name="Picture 2"/>
          <p:cNvPicPr>
            <a:picLocks noChangeAspect="1" noChangeArrowheads="1"/>
          </p:cNvPicPr>
          <p:nvPr/>
        </p:nvPicPr>
        <p:blipFill>
          <a:blip r:embed="rId2" cstate="print"/>
          <a:srcRect l="9375" t="51752" r="10625" b="13747"/>
          <a:stretch>
            <a:fillRect/>
          </a:stretch>
        </p:blipFill>
        <p:spPr bwMode="auto">
          <a:xfrm>
            <a:off x="228600" y="2743200"/>
            <a:ext cx="8686800" cy="21717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noFill/>
          <a:ln/>
        </p:spPr>
        <p:txBody>
          <a:bodyPr lIns="92075" tIns="46038" rIns="92075" bIns="46038">
            <a:normAutofit fontScale="90000"/>
          </a:bodyPr>
          <a:lstStyle/>
          <a:p>
            <a:r>
              <a:rPr lang="en-US" dirty="0"/>
              <a:t>9. Deal with errors in a positive manner</a:t>
            </a:r>
          </a:p>
        </p:txBody>
      </p:sp>
      <p:graphicFrame>
        <p:nvGraphicFramePr>
          <p:cNvPr id="29701" name="Object 5"/>
          <p:cNvGraphicFramePr>
            <a:graphicFrameLocks noChangeAspect="1"/>
          </p:cNvGraphicFramePr>
          <p:nvPr/>
        </p:nvGraphicFramePr>
        <p:xfrm>
          <a:off x="5416550" y="3259137"/>
          <a:ext cx="1968500" cy="2133600"/>
        </p:xfrm>
        <a:graphic>
          <a:graphicData uri="http://schemas.openxmlformats.org/presentationml/2006/ole">
            <mc:AlternateContent xmlns:mc="http://schemas.openxmlformats.org/markup-compatibility/2006">
              <mc:Choice xmlns:v="urn:schemas-microsoft-com:vml" Requires="v">
                <p:oleObj name="Clip" r:id="rId3" imgW="2109585" imgH="2286000" progId="">
                  <p:embed/>
                </p:oleObj>
              </mc:Choice>
              <mc:Fallback>
                <p:oleObj name="Clip" r:id="rId3" imgW="2109585" imgH="2286000" progId="">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6550" y="3259137"/>
                        <a:ext cx="1968500" cy="213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02" name="AutoShape 6"/>
          <p:cNvSpPr>
            <a:spLocks noChangeArrowheads="1"/>
          </p:cNvSpPr>
          <p:nvPr/>
        </p:nvSpPr>
        <p:spPr bwMode="auto">
          <a:xfrm>
            <a:off x="5334000" y="1676400"/>
            <a:ext cx="1927225" cy="1438275"/>
          </a:xfrm>
          <a:prstGeom prst="cloudCallout">
            <a:avLst>
              <a:gd name="adj1" fmla="val -6588"/>
              <a:gd name="adj2" fmla="val 77375"/>
            </a:avLst>
          </a:prstGeom>
          <a:noFill/>
          <a:ln w="38100">
            <a:solidFill>
              <a:srgbClr val="FF0000"/>
            </a:solidFill>
            <a:round/>
            <a:headEnd type="none" w="sm" len="sm"/>
            <a:tailEnd type="none" w="sm" len="sm"/>
          </a:ln>
          <a:effectLst/>
        </p:spPr>
        <p:txBody>
          <a:bodyPr lIns="92075" tIns="46038" rIns="92075" bIns="46038" anchor="ctr">
            <a:spAutoFit/>
          </a:bodyPr>
          <a:lstStyle/>
          <a:p>
            <a:pPr algn="ctr" eaLnBrk="0" hangingPunct="0"/>
            <a:r>
              <a:rPr lang="en-US" sz="1400"/>
              <a:t>I can’t believe I pressed Yes...</a:t>
            </a:r>
            <a:endParaRPr lang="en-US" sz="1400">
              <a:latin typeface="Arial" charset="0"/>
            </a:endParaRPr>
          </a:p>
        </p:txBody>
      </p:sp>
      <p:pic>
        <p:nvPicPr>
          <p:cNvPr id="29700" name="Picture 4"/>
          <p:cNvPicPr>
            <a:picLocks noChangeAspect="1" noChangeArrowheads="1"/>
          </p:cNvPicPr>
          <p:nvPr/>
        </p:nvPicPr>
        <p:blipFill>
          <a:blip r:embed="rId5" cstate="print"/>
          <a:srcRect/>
          <a:stretch>
            <a:fillRect/>
          </a:stretch>
        </p:blipFill>
        <p:spPr bwMode="auto">
          <a:xfrm>
            <a:off x="160789" y="2895600"/>
            <a:ext cx="5020811" cy="1447800"/>
          </a:xfrm>
          <a:prstGeom prst="rect">
            <a:avLst/>
          </a:prstGeom>
          <a:noFill/>
          <a:ln w="12699">
            <a:noFill/>
            <a:miter lim="800000"/>
            <a:headEnd type="none" w="sm" len="sm"/>
            <a:tailEnd type="none" w="sm" len="sm"/>
          </a:ln>
          <a:effectLst/>
        </p:spPr>
      </p:pic>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p:cNvPicPr>
            <a:picLocks noChangeArrowheads="1"/>
          </p:cNvPicPr>
          <p:nvPr/>
        </p:nvPicPr>
        <p:blipFill>
          <a:blip r:embed="rId2" cstate="print">
            <a:clrChange>
              <a:clrFrom>
                <a:srgbClr val="FEFEFE"/>
              </a:clrFrom>
              <a:clrTo>
                <a:srgbClr val="FEFEFE">
                  <a:alpha val="0"/>
                </a:srgbClr>
              </a:clrTo>
            </a:clrChange>
          </a:blip>
          <a:srcRect/>
          <a:stretch>
            <a:fillRect/>
          </a:stretch>
        </p:blipFill>
        <p:spPr bwMode="auto">
          <a:xfrm>
            <a:off x="2195513" y="1325563"/>
            <a:ext cx="4854575" cy="5048250"/>
          </a:xfrm>
          <a:prstGeom prst="rect">
            <a:avLst/>
          </a:prstGeom>
          <a:noFill/>
          <a:ln w="9525">
            <a:noFill/>
            <a:miter lim="800000"/>
            <a:headEnd/>
            <a:tailEnd/>
          </a:ln>
          <a:effectLst/>
        </p:spPr>
      </p:pic>
      <p:sp>
        <p:nvSpPr>
          <p:cNvPr id="47107" name="Rectangle 3"/>
          <p:cNvSpPr>
            <a:spLocks noChangeArrowheads="1"/>
          </p:cNvSpPr>
          <p:nvPr/>
        </p:nvSpPr>
        <p:spPr bwMode="auto">
          <a:xfrm>
            <a:off x="1284288" y="6461125"/>
            <a:ext cx="6629400" cy="396875"/>
          </a:xfrm>
          <a:prstGeom prst="rect">
            <a:avLst/>
          </a:prstGeom>
          <a:noFill/>
          <a:ln w="9525">
            <a:noFill/>
            <a:miter lim="800000"/>
            <a:headEnd/>
            <a:tailEnd/>
          </a:ln>
          <a:effectLst/>
        </p:spPr>
        <p:txBody>
          <a:bodyPr wrap="none" lIns="92075" tIns="46038" rIns="92075" bIns="46038">
            <a:spAutoFit/>
          </a:bodyPr>
          <a:lstStyle/>
          <a:p>
            <a:pPr eaLnBrk="0" hangingPunct="0"/>
            <a:r>
              <a:rPr lang="en-US" sz="2000">
                <a:latin typeface="Arial" charset="0"/>
              </a:rPr>
              <a:t>A problematic message to a nuclear power plant operator</a:t>
            </a:r>
          </a:p>
        </p:txBody>
      </p:sp>
      <p:sp>
        <p:nvSpPr>
          <p:cNvPr id="47108" name="Rectangle 4"/>
          <p:cNvSpPr>
            <a:spLocks noGrp="1" noChangeArrowheads="1"/>
          </p:cNvSpPr>
          <p:nvPr>
            <p:ph type="title"/>
          </p:nvPr>
        </p:nvSpPr>
        <p:spPr/>
        <p:txBody>
          <a:bodyPr>
            <a:normAutofit fontScale="90000"/>
          </a:bodyPr>
          <a:lstStyle/>
          <a:p>
            <a:r>
              <a:rPr lang="en-US" dirty="0"/>
              <a:t>9. Deal with errors in a positive manner</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normAutofit fontScale="90000"/>
          </a:bodyPr>
          <a:lstStyle/>
          <a:p>
            <a:r>
              <a:rPr lang="en-US" dirty="0"/>
              <a:t>9. Deal with errors in a positive manner</a:t>
            </a:r>
            <a:endParaRPr lang="en-CA" dirty="0"/>
          </a:p>
        </p:txBody>
      </p:sp>
      <p:pic>
        <p:nvPicPr>
          <p:cNvPr id="113668" name="Picture 4" descr="Messages to Geeks"/>
          <p:cNvPicPr>
            <a:picLocks noChangeAspect="1" noChangeArrowheads="1"/>
          </p:cNvPicPr>
          <p:nvPr/>
        </p:nvPicPr>
        <p:blipFill>
          <a:blip r:embed="rId2" cstate="print"/>
          <a:srcRect/>
          <a:stretch>
            <a:fillRect/>
          </a:stretch>
        </p:blipFill>
        <p:spPr bwMode="auto">
          <a:xfrm>
            <a:off x="178664" y="1905000"/>
            <a:ext cx="4012336" cy="1371600"/>
          </a:xfrm>
          <a:prstGeom prst="rect">
            <a:avLst/>
          </a:prstGeom>
          <a:noFill/>
        </p:spPr>
      </p:pic>
      <p:pic>
        <p:nvPicPr>
          <p:cNvPr id="113677" name="Picture 13" descr="Help from Dick"/>
          <p:cNvPicPr>
            <a:picLocks noChangeAspect="1" noChangeArrowheads="1"/>
          </p:cNvPicPr>
          <p:nvPr/>
        </p:nvPicPr>
        <p:blipFill>
          <a:blip r:embed="rId3" cstate="print"/>
          <a:srcRect/>
          <a:stretch>
            <a:fillRect/>
          </a:stretch>
        </p:blipFill>
        <p:spPr bwMode="auto">
          <a:xfrm>
            <a:off x="4343400" y="1704792"/>
            <a:ext cx="4572000" cy="1536883"/>
          </a:xfrm>
          <a:prstGeom prst="rect">
            <a:avLst/>
          </a:prstGeom>
          <a:noFill/>
        </p:spPr>
      </p:pic>
      <p:pic>
        <p:nvPicPr>
          <p:cNvPr id="113680" name="Picture 16" descr="Thanks, but no thanks."/>
          <p:cNvPicPr>
            <a:picLocks noChangeAspect="1" noChangeArrowheads="1"/>
          </p:cNvPicPr>
          <p:nvPr/>
        </p:nvPicPr>
        <p:blipFill>
          <a:blip r:embed="rId4" cstate="print"/>
          <a:srcRect/>
          <a:stretch>
            <a:fillRect/>
          </a:stretch>
        </p:blipFill>
        <p:spPr bwMode="auto">
          <a:xfrm>
            <a:off x="168275" y="4267201"/>
            <a:ext cx="4148609" cy="1606550"/>
          </a:xfrm>
          <a:prstGeom prst="rect">
            <a:avLst/>
          </a:prstGeom>
          <a:noFill/>
        </p:spPr>
      </p:pic>
      <p:sp>
        <p:nvSpPr>
          <p:cNvPr id="113682" name="Line 18"/>
          <p:cNvSpPr>
            <a:spLocks noChangeShapeType="1"/>
          </p:cNvSpPr>
          <p:nvPr/>
        </p:nvSpPr>
        <p:spPr bwMode="auto">
          <a:xfrm flipV="1">
            <a:off x="7620000" y="2525713"/>
            <a:ext cx="228600" cy="990600"/>
          </a:xfrm>
          <a:prstGeom prst="line">
            <a:avLst/>
          </a:prstGeom>
          <a:noFill/>
          <a:ln w="12699">
            <a:solidFill>
              <a:schemeClr val="tx1"/>
            </a:solidFill>
            <a:round/>
            <a:headEnd type="none" w="sm" len="sm"/>
            <a:tailEnd type="triangle" w="sm" len="sm"/>
          </a:ln>
          <a:effectLst/>
        </p:spPr>
        <p:txBody>
          <a:bodyPr wrap="none" lIns="92075" tIns="46038" rIns="92075" bIns="46038" anchor="ctr">
            <a:spAutoFit/>
          </a:bodyPr>
          <a:lstStyle/>
          <a:p>
            <a:endParaRPr lang="en-US"/>
          </a:p>
        </p:txBody>
      </p:sp>
      <p:pic>
        <p:nvPicPr>
          <p:cNvPr id="113684" name="Picture 20" descr="Should I be concerned?"/>
          <p:cNvPicPr>
            <a:picLocks noChangeAspect="1" noChangeArrowheads="1"/>
          </p:cNvPicPr>
          <p:nvPr/>
        </p:nvPicPr>
        <p:blipFill>
          <a:blip r:embed="rId5" cstate="print"/>
          <a:srcRect/>
          <a:stretch>
            <a:fillRect/>
          </a:stretch>
        </p:blipFill>
        <p:spPr bwMode="auto">
          <a:xfrm>
            <a:off x="4648200" y="4114800"/>
            <a:ext cx="4177465" cy="1804987"/>
          </a:xfrm>
          <a:prstGeom prst="rect">
            <a:avLst/>
          </a:prstGeom>
          <a:noFill/>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noFill/>
          <a:ln/>
        </p:spPr>
        <p:txBody>
          <a:bodyPr lIns="92075" tIns="46038" rIns="92075" bIns="46038">
            <a:normAutofit fontScale="90000"/>
          </a:bodyPr>
          <a:lstStyle/>
          <a:p>
            <a:r>
              <a:rPr lang="en-US" dirty="0"/>
              <a:t>9. Deal with errors in a positive manner</a:t>
            </a:r>
          </a:p>
        </p:txBody>
      </p:sp>
      <p:sp>
        <p:nvSpPr>
          <p:cNvPr id="44035" name="Rectangle 3"/>
          <p:cNvSpPr>
            <a:spLocks noGrp="1" noChangeArrowheads="1"/>
          </p:cNvSpPr>
          <p:nvPr>
            <p:ph type="body" idx="1"/>
          </p:nvPr>
        </p:nvSpPr>
        <p:spPr>
          <a:noFill/>
          <a:ln/>
        </p:spPr>
        <p:txBody>
          <a:bodyPr lIns="92075" tIns="46038" rIns="92075" bIns="46038">
            <a:normAutofit fontScale="92500" lnSpcReduction="20000"/>
          </a:bodyPr>
          <a:lstStyle/>
          <a:p>
            <a:r>
              <a:rPr lang="en-US"/>
              <a:t>Provide meaningful error messages</a:t>
            </a:r>
          </a:p>
          <a:p>
            <a:pPr lvl="1"/>
            <a:r>
              <a:rPr lang="en-US"/>
              <a:t>error messages should be in the user’s task language</a:t>
            </a:r>
          </a:p>
          <a:p>
            <a:pPr lvl="1"/>
            <a:r>
              <a:rPr lang="en-US"/>
              <a:t>don’t make people feel stupid</a:t>
            </a:r>
            <a:br>
              <a:rPr lang="en-US"/>
            </a:br>
            <a:endParaRPr lang="en-US"/>
          </a:p>
          <a:p>
            <a:pPr lvl="2">
              <a:buFontTx/>
              <a:buNone/>
            </a:pPr>
            <a:r>
              <a:rPr lang="en-US"/>
              <a:t>Try again, bonehead!</a:t>
            </a:r>
          </a:p>
          <a:p>
            <a:pPr lvl="2">
              <a:buFontTx/>
              <a:buNone/>
            </a:pPr>
            <a:endParaRPr lang="en-US"/>
          </a:p>
          <a:p>
            <a:pPr lvl="2">
              <a:buFontTx/>
              <a:buNone/>
            </a:pPr>
            <a:r>
              <a:rPr lang="en-US"/>
              <a:t>Error 25</a:t>
            </a:r>
            <a:br>
              <a:rPr lang="en-US"/>
            </a:br>
            <a:endParaRPr lang="en-US"/>
          </a:p>
          <a:p>
            <a:pPr lvl="2">
              <a:buFontTx/>
              <a:buNone/>
            </a:pPr>
            <a:r>
              <a:rPr lang="en-US"/>
              <a:t>Cannot open this document</a:t>
            </a:r>
            <a:br>
              <a:rPr lang="en-US"/>
            </a:br>
            <a:endParaRPr lang="en-US"/>
          </a:p>
          <a:p>
            <a:pPr lvl="2">
              <a:buFontTx/>
              <a:buNone/>
            </a:pPr>
            <a:r>
              <a:rPr lang="en-US"/>
              <a:t>Cannot open “chapter 5” because the application “Microsoft Word” </a:t>
            </a:r>
            <a:br>
              <a:rPr lang="en-US"/>
            </a:br>
            <a:r>
              <a:rPr lang="en-US"/>
              <a:t>is not on your system</a:t>
            </a:r>
            <a:br>
              <a:rPr lang="en-US"/>
            </a:br>
            <a:endParaRPr lang="en-US"/>
          </a:p>
          <a:p>
            <a:pPr lvl="2">
              <a:buFontTx/>
              <a:buNone/>
            </a:pPr>
            <a:r>
              <a:rPr lang="en-US"/>
              <a:t>Cannot open “chapter 5” because the application “Microsoft Word” </a:t>
            </a:r>
            <a:br>
              <a:rPr lang="en-US"/>
            </a:br>
            <a:r>
              <a:rPr lang="en-US"/>
              <a:t>is not on your system. Open it with “Teachtext” instead?</a:t>
            </a: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Nielsen’s Ten Heuristics</a:t>
            </a:r>
          </a:p>
        </p:txBody>
      </p:sp>
      <p:sp>
        <p:nvSpPr>
          <p:cNvPr id="3" name="Content Placeholder 2"/>
          <p:cNvSpPr>
            <a:spLocks noGrp="1"/>
          </p:cNvSpPr>
          <p:nvPr>
            <p:ph sz="quarter" idx="1"/>
          </p:nvPr>
        </p:nvSpPr>
        <p:spPr/>
        <p:txBody>
          <a:bodyPr>
            <a:normAutofit/>
          </a:bodyPr>
          <a:lstStyle/>
          <a:p>
            <a:r>
              <a:rPr lang="en-US" b="1" dirty="0"/>
              <a:t>Help and documentation </a:t>
            </a:r>
          </a:p>
          <a:p>
            <a:pPr lvl="1"/>
            <a:r>
              <a:rPr lang="en-US" dirty="0"/>
              <a:t>Few systems can be used with no instructions so it may be necessary to provide help and documentation. Any such information should be easy to search, focused on the user’s task, list concrete steps to be carried out, and not be too large.</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2"/>
          <p:cNvPicPr>
            <a:picLocks noChangeArrowheads="1"/>
          </p:cNvPicPr>
          <p:nvPr/>
        </p:nvPicPr>
        <p:blipFill>
          <a:blip r:embed="rId2" cstate="print"/>
          <a:srcRect/>
          <a:stretch>
            <a:fillRect/>
          </a:stretch>
        </p:blipFill>
        <p:spPr bwMode="auto">
          <a:xfrm>
            <a:off x="2743200" y="152400"/>
            <a:ext cx="6157913" cy="6629400"/>
          </a:xfrm>
          <a:prstGeom prst="rect">
            <a:avLst/>
          </a:prstGeom>
          <a:noFill/>
          <a:ln w="9525">
            <a:noFill/>
            <a:miter lim="800000"/>
            <a:headEnd/>
            <a:tailEnd/>
          </a:ln>
          <a:effectLst/>
        </p:spPr>
      </p:pic>
      <p:sp>
        <p:nvSpPr>
          <p:cNvPr id="50179" name="Rectangle 3"/>
          <p:cNvSpPr>
            <a:spLocks noChangeArrowheads="1"/>
          </p:cNvSpPr>
          <p:nvPr/>
        </p:nvSpPr>
        <p:spPr bwMode="auto">
          <a:xfrm>
            <a:off x="365125" y="479425"/>
            <a:ext cx="1590675" cy="457200"/>
          </a:xfrm>
          <a:prstGeom prst="rect">
            <a:avLst/>
          </a:prstGeom>
          <a:noFill/>
          <a:ln w="9525">
            <a:noFill/>
            <a:miter lim="800000"/>
            <a:headEnd/>
            <a:tailEnd/>
          </a:ln>
          <a:effectLst/>
        </p:spPr>
        <p:txBody>
          <a:bodyPr wrap="none" lIns="92075" tIns="46038" rIns="92075" bIns="46038">
            <a:spAutoFit/>
          </a:bodyPr>
          <a:lstStyle/>
          <a:p>
            <a:pPr eaLnBrk="0" hangingPunct="0"/>
            <a:r>
              <a:rPr lang="en-US">
                <a:latin typeface="Arial" charset="0"/>
              </a:rPr>
              <a:t>Manuals...</a:t>
            </a:r>
            <a:endParaRPr lang="en-US" sz="1400">
              <a:latin typeface="Arial"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 Provide help</a:t>
            </a:r>
          </a:p>
        </p:txBody>
      </p:sp>
      <p:graphicFrame>
        <p:nvGraphicFramePr>
          <p:cNvPr id="4" name="Diagram 3"/>
          <p:cNvGraphicFramePr/>
          <p:nvPr/>
        </p:nvGraphicFramePr>
        <p:xfrm>
          <a:off x="1600200" y="182880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noFill/>
          <a:ln/>
        </p:spPr>
        <p:txBody>
          <a:bodyPr lIns="92075" tIns="46038" rIns="92075" bIns="46038"/>
          <a:lstStyle/>
          <a:p>
            <a:r>
              <a:rPr lang="en-US" dirty="0"/>
              <a:t>10. Provide help</a:t>
            </a:r>
          </a:p>
        </p:txBody>
      </p:sp>
      <p:sp>
        <p:nvSpPr>
          <p:cNvPr id="51203" name="Rectangle 3"/>
          <p:cNvSpPr>
            <a:spLocks noGrp="1" noChangeArrowheads="1"/>
          </p:cNvSpPr>
          <p:nvPr>
            <p:ph type="body" idx="1"/>
          </p:nvPr>
        </p:nvSpPr>
        <p:spPr>
          <a:noFill/>
          <a:ln/>
        </p:spPr>
        <p:txBody>
          <a:bodyPr lIns="92075" tIns="46038" rIns="92075" bIns="46038"/>
          <a:lstStyle/>
          <a:p>
            <a:r>
              <a:rPr lang="en-US"/>
              <a:t>Help is not a replacement for bad design!</a:t>
            </a:r>
            <a:br>
              <a:rPr lang="en-US"/>
            </a:br>
            <a:endParaRPr lang="en-US"/>
          </a:p>
          <a:p>
            <a:r>
              <a:rPr lang="en-US"/>
              <a:t>Simple systems:</a:t>
            </a:r>
          </a:p>
          <a:p>
            <a:pPr lvl="1"/>
            <a:r>
              <a:rPr lang="en-US"/>
              <a:t>walk up and use; minimal instructions</a:t>
            </a:r>
            <a:br>
              <a:rPr lang="en-US"/>
            </a:br>
            <a:endParaRPr lang="en-US"/>
          </a:p>
          <a:p>
            <a:r>
              <a:rPr lang="en-US"/>
              <a:t>Most other systems</a:t>
            </a:r>
          </a:p>
          <a:p>
            <a:pPr lvl="1"/>
            <a:r>
              <a:rPr lang="en-US"/>
              <a:t>feature rich</a:t>
            </a:r>
          </a:p>
          <a:p>
            <a:pPr lvl="1"/>
            <a:r>
              <a:rPr lang="en-US"/>
              <a:t>simple things should be simple</a:t>
            </a:r>
          </a:p>
          <a:p>
            <a:pPr lvl="1"/>
            <a:r>
              <a:rPr lang="en-US"/>
              <a:t>learning path for advanced features</a:t>
            </a:r>
          </a:p>
          <a:p>
            <a:endParaRPr lang="en-US" sz="2000" b="1"/>
          </a:p>
        </p:txBody>
      </p:sp>
      <p:grpSp>
        <p:nvGrpSpPr>
          <p:cNvPr id="2" name="Group 19"/>
          <p:cNvGrpSpPr>
            <a:grpSpLocks/>
          </p:cNvGrpSpPr>
          <p:nvPr/>
        </p:nvGrpSpPr>
        <p:grpSpPr bwMode="auto">
          <a:xfrm>
            <a:off x="7092950" y="2941638"/>
            <a:ext cx="2051050" cy="3916362"/>
            <a:chOff x="4468" y="0"/>
            <a:chExt cx="1292" cy="2467"/>
          </a:xfrm>
        </p:grpSpPr>
        <p:grpSp>
          <p:nvGrpSpPr>
            <p:cNvPr id="3" name="Group 10"/>
            <p:cNvGrpSpPr>
              <a:grpSpLocks/>
            </p:cNvGrpSpPr>
            <p:nvPr/>
          </p:nvGrpSpPr>
          <p:grpSpPr bwMode="auto">
            <a:xfrm>
              <a:off x="4508" y="0"/>
              <a:ext cx="856" cy="1041"/>
              <a:chOff x="2191" y="2342"/>
              <a:chExt cx="856" cy="1041"/>
            </a:xfrm>
          </p:grpSpPr>
          <p:pic>
            <p:nvPicPr>
              <p:cNvPr id="51204" name="Picture 4"/>
              <p:cNvPicPr>
                <a:picLocks noChangeArrowheads="1"/>
              </p:cNvPicPr>
              <p:nvPr/>
            </p:nvPicPr>
            <p:blipFill>
              <a:blip r:embed="rId3" cstate="print"/>
              <a:srcRect/>
              <a:stretch>
                <a:fillRect/>
              </a:stretch>
            </p:blipFill>
            <p:spPr bwMode="auto">
              <a:xfrm>
                <a:off x="2191" y="2342"/>
                <a:ext cx="417" cy="482"/>
              </a:xfrm>
              <a:prstGeom prst="rect">
                <a:avLst/>
              </a:prstGeom>
              <a:noFill/>
              <a:ln w="9525">
                <a:noFill/>
                <a:miter lim="800000"/>
                <a:headEnd/>
                <a:tailEnd/>
              </a:ln>
              <a:effectLst/>
            </p:spPr>
          </p:pic>
          <p:pic>
            <p:nvPicPr>
              <p:cNvPr id="51205" name="Picture 5"/>
              <p:cNvPicPr>
                <a:picLocks noChangeArrowheads="1"/>
              </p:cNvPicPr>
              <p:nvPr/>
            </p:nvPicPr>
            <p:blipFill>
              <a:blip r:embed="rId4" cstate="print"/>
              <a:srcRect/>
              <a:stretch>
                <a:fillRect/>
              </a:stretch>
            </p:blipFill>
            <p:spPr bwMode="auto">
              <a:xfrm>
                <a:off x="2278" y="2454"/>
                <a:ext cx="417" cy="482"/>
              </a:xfrm>
              <a:prstGeom prst="rect">
                <a:avLst/>
              </a:prstGeom>
              <a:noFill/>
              <a:ln w="9525">
                <a:noFill/>
                <a:miter lim="800000"/>
                <a:headEnd/>
                <a:tailEnd/>
              </a:ln>
              <a:effectLst/>
            </p:spPr>
          </p:pic>
          <p:pic>
            <p:nvPicPr>
              <p:cNvPr id="51206" name="Picture 6"/>
              <p:cNvPicPr>
                <a:picLocks noChangeArrowheads="1"/>
              </p:cNvPicPr>
              <p:nvPr/>
            </p:nvPicPr>
            <p:blipFill>
              <a:blip r:embed="rId5" cstate="print"/>
              <a:srcRect/>
              <a:stretch>
                <a:fillRect/>
              </a:stretch>
            </p:blipFill>
            <p:spPr bwMode="auto">
              <a:xfrm>
                <a:off x="2366" y="2566"/>
                <a:ext cx="417" cy="482"/>
              </a:xfrm>
              <a:prstGeom prst="rect">
                <a:avLst/>
              </a:prstGeom>
              <a:noFill/>
              <a:ln w="9525">
                <a:noFill/>
                <a:miter lim="800000"/>
                <a:headEnd/>
                <a:tailEnd/>
              </a:ln>
              <a:effectLst/>
            </p:spPr>
          </p:pic>
          <p:pic>
            <p:nvPicPr>
              <p:cNvPr id="51207" name="Picture 7"/>
              <p:cNvPicPr>
                <a:picLocks noChangeArrowheads="1"/>
              </p:cNvPicPr>
              <p:nvPr/>
            </p:nvPicPr>
            <p:blipFill>
              <a:blip r:embed="rId6" cstate="print"/>
              <a:srcRect/>
              <a:stretch>
                <a:fillRect/>
              </a:stretch>
            </p:blipFill>
            <p:spPr bwMode="auto">
              <a:xfrm>
                <a:off x="2454" y="2678"/>
                <a:ext cx="417" cy="482"/>
              </a:xfrm>
              <a:prstGeom prst="rect">
                <a:avLst/>
              </a:prstGeom>
              <a:noFill/>
              <a:ln w="9525">
                <a:noFill/>
                <a:miter lim="800000"/>
                <a:headEnd/>
                <a:tailEnd/>
              </a:ln>
              <a:effectLst/>
            </p:spPr>
          </p:pic>
          <p:pic>
            <p:nvPicPr>
              <p:cNvPr id="51208" name="Picture 8"/>
              <p:cNvPicPr>
                <a:picLocks noChangeArrowheads="1"/>
              </p:cNvPicPr>
              <p:nvPr/>
            </p:nvPicPr>
            <p:blipFill>
              <a:blip r:embed="rId7" cstate="print"/>
              <a:srcRect/>
              <a:stretch>
                <a:fillRect/>
              </a:stretch>
            </p:blipFill>
            <p:spPr bwMode="auto">
              <a:xfrm>
                <a:off x="2542" y="2790"/>
                <a:ext cx="417" cy="482"/>
              </a:xfrm>
              <a:prstGeom prst="rect">
                <a:avLst/>
              </a:prstGeom>
              <a:noFill/>
              <a:ln w="9525">
                <a:noFill/>
                <a:miter lim="800000"/>
                <a:headEnd/>
                <a:tailEnd/>
              </a:ln>
              <a:effectLst/>
            </p:spPr>
          </p:pic>
          <p:pic>
            <p:nvPicPr>
              <p:cNvPr id="51209" name="Picture 9"/>
              <p:cNvPicPr>
                <a:picLocks noChangeArrowheads="1"/>
              </p:cNvPicPr>
              <p:nvPr/>
            </p:nvPicPr>
            <p:blipFill>
              <a:blip r:embed="rId8" cstate="print"/>
              <a:srcRect/>
              <a:stretch>
                <a:fillRect/>
              </a:stretch>
            </p:blipFill>
            <p:spPr bwMode="auto">
              <a:xfrm>
                <a:off x="2630" y="2901"/>
                <a:ext cx="417" cy="482"/>
              </a:xfrm>
              <a:prstGeom prst="rect">
                <a:avLst/>
              </a:prstGeom>
              <a:noFill/>
              <a:ln w="9525">
                <a:noFill/>
                <a:miter lim="800000"/>
                <a:headEnd/>
                <a:tailEnd/>
              </a:ln>
              <a:effectLst/>
            </p:spPr>
          </p:pic>
        </p:grpSp>
        <p:grpSp>
          <p:nvGrpSpPr>
            <p:cNvPr id="4" name="Group 17"/>
            <p:cNvGrpSpPr>
              <a:grpSpLocks/>
            </p:cNvGrpSpPr>
            <p:nvPr/>
          </p:nvGrpSpPr>
          <p:grpSpPr bwMode="auto">
            <a:xfrm>
              <a:off x="5084" y="672"/>
              <a:ext cx="676" cy="913"/>
              <a:chOff x="2880" y="3006"/>
              <a:chExt cx="676" cy="913"/>
            </a:xfrm>
          </p:grpSpPr>
          <p:pic>
            <p:nvPicPr>
              <p:cNvPr id="51211" name="Picture 11"/>
              <p:cNvPicPr>
                <a:picLocks noChangeArrowheads="1"/>
              </p:cNvPicPr>
              <p:nvPr/>
            </p:nvPicPr>
            <p:blipFill>
              <a:blip r:embed="rId9" cstate="print"/>
              <a:srcRect/>
              <a:stretch>
                <a:fillRect/>
              </a:stretch>
            </p:blipFill>
            <p:spPr bwMode="auto">
              <a:xfrm>
                <a:off x="2880" y="3006"/>
                <a:ext cx="633" cy="913"/>
              </a:xfrm>
              <a:prstGeom prst="rect">
                <a:avLst/>
              </a:prstGeom>
              <a:noFill/>
              <a:ln w="9525">
                <a:noFill/>
                <a:miter lim="800000"/>
                <a:headEnd/>
                <a:tailEnd/>
              </a:ln>
              <a:effectLst/>
            </p:spPr>
          </p:pic>
          <p:sp>
            <p:nvSpPr>
              <p:cNvPr id="51212" name="Rectangle 12"/>
              <p:cNvSpPr>
                <a:spLocks noChangeArrowheads="1"/>
              </p:cNvSpPr>
              <p:nvPr/>
            </p:nvSpPr>
            <p:spPr bwMode="auto">
              <a:xfrm>
                <a:off x="2926" y="3363"/>
                <a:ext cx="600" cy="173"/>
              </a:xfrm>
              <a:prstGeom prst="rect">
                <a:avLst/>
              </a:prstGeom>
              <a:noFill/>
              <a:ln w="9525">
                <a:noFill/>
                <a:miter lim="800000"/>
                <a:headEnd/>
                <a:tailEnd/>
              </a:ln>
              <a:effectLst/>
            </p:spPr>
            <p:txBody>
              <a:bodyPr wrap="none" lIns="92075" tIns="46038" rIns="92075" bIns="46038">
                <a:spAutoFit/>
              </a:bodyPr>
              <a:lstStyle/>
              <a:p>
                <a:pPr eaLnBrk="0" hangingPunct="0"/>
                <a:r>
                  <a:rPr lang="en-US" sz="1200">
                    <a:solidFill>
                      <a:srgbClr val="000000"/>
                    </a:solidFill>
                    <a:latin typeface="Arial" charset="0"/>
                  </a:rPr>
                  <a:t>Volume 37:</a:t>
                </a:r>
              </a:p>
            </p:txBody>
          </p:sp>
          <p:sp>
            <p:nvSpPr>
              <p:cNvPr id="51213" name="Rectangle 13"/>
              <p:cNvSpPr>
                <a:spLocks noChangeArrowheads="1"/>
              </p:cNvSpPr>
              <p:nvPr/>
            </p:nvSpPr>
            <p:spPr bwMode="auto">
              <a:xfrm>
                <a:off x="3413" y="3363"/>
                <a:ext cx="143" cy="173"/>
              </a:xfrm>
              <a:prstGeom prst="rect">
                <a:avLst/>
              </a:prstGeom>
              <a:noFill/>
              <a:ln w="9525">
                <a:noFill/>
                <a:miter lim="800000"/>
                <a:headEnd/>
                <a:tailEnd/>
              </a:ln>
              <a:effectLst/>
            </p:spPr>
            <p:txBody>
              <a:bodyPr wrap="none" lIns="92075" tIns="46038" rIns="92075" bIns="46038">
                <a:spAutoFit/>
              </a:bodyPr>
              <a:lstStyle/>
              <a:p>
                <a:pPr eaLnBrk="0" hangingPunct="0"/>
                <a:r>
                  <a:rPr lang="en-US" sz="1200">
                    <a:solidFill>
                      <a:srgbClr val="000000"/>
                    </a:solidFill>
                    <a:latin typeface="Arial" charset="0"/>
                  </a:rPr>
                  <a:t> </a:t>
                </a:r>
              </a:p>
            </p:txBody>
          </p:sp>
          <p:sp>
            <p:nvSpPr>
              <p:cNvPr id="51214" name="Rectangle 14"/>
              <p:cNvSpPr>
                <a:spLocks noChangeArrowheads="1"/>
              </p:cNvSpPr>
              <p:nvPr/>
            </p:nvSpPr>
            <p:spPr bwMode="auto">
              <a:xfrm>
                <a:off x="2926" y="3475"/>
                <a:ext cx="459" cy="173"/>
              </a:xfrm>
              <a:prstGeom prst="rect">
                <a:avLst/>
              </a:prstGeom>
              <a:noFill/>
              <a:ln w="9525">
                <a:noFill/>
                <a:miter lim="800000"/>
                <a:headEnd/>
                <a:tailEnd/>
              </a:ln>
              <a:effectLst/>
            </p:spPr>
            <p:txBody>
              <a:bodyPr wrap="none" lIns="92075" tIns="46038" rIns="92075" bIns="46038">
                <a:spAutoFit/>
              </a:bodyPr>
              <a:lstStyle/>
              <a:p>
                <a:pPr eaLnBrk="0" hangingPunct="0"/>
                <a:r>
                  <a:rPr lang="en-US" sz="1200">
                    <a:solidFill>
                      <a:srgbClr val="000000"/>
                    </a:solidFill>
                    <a:latin typeface="Arial" charset="0"/>
                  </a:rPr>
                  <a:t>A user's</a:t>
                </a:r>
              </a:p>
            </p:txBody>
          </p:sp>
          <p:sp>
            <p:nvSpPr>
              <p:cNvPr id="51215" name="Rectangle 15"/>
              <p:cNvSpPr>
                <a:spLocks noChangeArrowheads="1"/>
              </p:cNvSpPr>
              <p:nvPr/>
            </p:nvSpPr>
            <p:spPr bwMode="auto">
              <a:xfrm>
                <a:off x="3269" y="3475"/>
                <a:ext cx="170" cy="173"/>
              </a:xfrm>
              <a:prstGeom prst="rect">
                <a:avLst/>
              </a:prstGeom>
              <a:noFill/>
              <a:ln w="9525">
                <a:noFill/>
                <a:miter lim="800000"/>
                <a:headEnd/>
                <a:tailEnd/>
              </a:ln>
              <a:effectLst/>
            </p:spPr>
            <p:txBody>
              <a:bodyPr wrap="none" lIns="92075" tIns="46038" rIns="92075" bIns="46038">
                <a:spAutoFit/>
              </a:bodyPr>
              <a:lstStyle/>
              <a:p>
                <a:pPr eaLnBrk="0" hangingPunct="0"/>
                <a:r>
                  <a:rPr lang="en-US" sz="1200">
                    <a:solidFill>
                      <a:srgbClr val="000000"/>
                    </a:solidFill>
                    <a:latin typeface="Arial" charset="0"/>
                  </a:rPr>
                  <a:t>  </a:t>
                </a:r>
              </a:p>
            </p:txBody>
          </p:sp>
          <p:sp>
            <p:nvSpPr>
              <p:cNvPr id="51216" name="Rectangle 16"/>
              <p:cNvSpPr>
                <a:spLocks noChangeArrowheads="1"/>
              </p:cNvSpPr>
              <p:nvPr/>
            </p:nvSpPr>
            <p:spPr bwMode="auto">
              <a:xfrm>
                <a:off x="2926" y="3586"/>
                <a:ext cx="537" cy="173"/>
              </a:xfrm>
              <a:prstGeom prst="rect">
                <a:avLst/>
              </a:prstGeom>
              <a:noFill/>
              <a:ln w="9525">
                <a:noFill/>
                <a:miter lim="800000"/>
                <a:headEnd/>
                <a:tailEnd/>
              </a:ln>
              <a:effectLst/>
            </p:spPr>
            <p:txBody>
              <a:bodyPr wrap="none" lIns="92075" tIns="46038" rIns="92075" bIns="46038">
                <a:spAutoFit/>
              </a:bodyPr>
              <a:lstStyle/>
              <a:p>
                <a:pPr eaLnBrk="0" hangingPunct="0"/>
                <a:r>
                  <a:rPr lang="en-US" sz="1200">
                    <a:solidFill>
                      <a:srgbClr val="000000"/>
                    </a:solidFill>
                    <a:latin typeface="Arial" charset="0"/>
                  </a:rPr>
                  <a:t>guide to...</a:t>
                </a:r>
              </a:p>
            </p:txBody>
          </p:sp>
        </p:grpSp>
        <p:graphicFrame>
          <p:nvGraphicFramePr>
            <p:cNvPr id="182272" name="Object 1024"/>
            <p:cNvGraphicFramePr>
              <a:graphicFrameLocks noChangeAspect="1"/>
            </p:cNvGraphicFramePr>
            <p:nvPr/>
          </p:nvGraphicFramePr>
          <p:xfrm>
            <a:off x="4468" y="1026"/>
            <a:ext cx="688" cy="1441"/>
          </p:xfrm>
          <a:graphic>
            <a:graphicData uri="http://schemas.openxmlformats.org/presentationml/2006/ole">
              <mc:AlternateContent xmlns:mc="http://schemas.openxmlformats.org/markup-compatibility/2006">
                <mc:Choice xmlns:v="urn:schemas-microsoft-com:vml" Requires="v">
                  <p:oleObj name="Clip" r:id="rId10" imgW="1093238" imgH="2287516" progId="">
                    <p:embed/>
                  </p:oleObj>
                </mc:Choice>
                <mc:Fallback>
                  <p:oleObj name="Clip" r:id="rId10" imgW="1093238" imgH="2287516" progId="">
                    <p:embed/>
                    <p:pic>
                      <p:nvPicPr>
                        <p:cNvPr id="0" name="Picture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68" y="1026"/>
                          <a:ext cx="688" cy="14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Rectangle 4"/>
          <p:cNvSpPr>
            <a:spLocks noGrp="1" noChangeArrowheads="1"/>
          </p:cNvSpPr>
          <p:nvPr>
            <p:ph type="title"/>
          </p:nvPr>
        </p:nvSpPr>
        <p:spPr/>
        <p:txBody>
          <a:bodyPr>
            <a:normAutofit/>
          </a:bodyPr>
          <a:lstStyle/>
          <a:p>
            <a:r>
              <a:rPr lang="en-US" dirty="0"/>
              <a:t>10. Provide help</a:t>
            </a:r>
          </a:p>
        </p:txBody>
      </p:sp>
      <p:sp>
        <p:nvSpPr>
          <p:cNvPr id="53253" name="Rectangle 5"/>
          <p:cNvSpPr>
            <a:spLocks noGrp="1" noChangeArrowheads="1"/>
          </p:cNvSpPr>
          <p:nvPr>
            <p:ph type="body" idx="1"/>
          </p:nvPr>
        </p:nvSpPr>
        <p:spPr/>
        <p:txBody>
          <a:bodyPr>
            <a:normAutofit fontScale="92500" lnSpcReduction="20000"/>
          </a:bodyPr>
          <a:lstStyle/>
          <a:p>
            <a:r>
              <a:rPr lang="en-US"/>
              <a:t>Many users do not read manuals</a:t>
            </a:r>
          </a:p>
          <a:p>
            <a:pPr lvl="1"/>
            <a:r>
              <a:rPr lang="en-US"/>
              <a:t>prefer to spend their time pursuing their task</a:t>
            </a:r>
            <a:br>
              <a:rPr lang="en-US"/>
            </a:br>
            <a:endParaRPr lang="en-US"/>
          </a:p>
          <a:p>
            <a:r>
              <a:rPr lang="en-US"/>
              <a:t>Usually used when users are in some kind of panic</a:t>
            </a:r>
          </a:p>
          <a:p>
            <a:pPr lvl="1"/>
            <a:r>
              <a:rPr lang="en-US"/>
              <a:t>paper manuals unavailable in many businesses! </a:t>
            </a:r>
          </a:p>
          <a:p>
            <a:pPr lvl="2"/>
            <a:r>
              <a:rPr lang="en-US"/>
              <a:t>e.g. single copy locked away in system administrator’s office</a:t>
            </a:r>
          </a:p>
          <a:p>
            <a:pPr lvl="1"/>
            <a:r>
              <a:rPr lang="en-US"/>
              <a:t>online documentation better</a:t>
            </a:r>
          </a:p>
          <a:p>
            <a:pPr lvl="1"/>
            <a:r>
              <a:rPr lang="en-US"/>
              <a:t>good search/lookup tools</a:t>
            </a:r>
          </a:p>
          <a:p>
            <a:pPr lvl="1"/>
            <a:r>
              <a:rPr lang="en-US"/>
              <a:t>online help specific to current context</a:t>
            </a:r>
          </a:p>
          <a:p>
            <a:pPr lvl="1"/>
            <a:endParaRPr lang="en-US"/>
          </a:p>
          <a:p>
            <a:r>
              <a:rPr lang="en-US"/>
              <a:t>Sometimes used for quick reference</a:t>
            </a:r>
          </a:p>
          <a:p>
            <a:pPr lvl="1"/>
            <a:r>
              <a:rPr lang="en-US"/>
              <a:t>syntax of actions, possibilities...</a:t>
            </a:r>
          </a:p>
          <a:p>
            <a:pPr lvl="1"/>
            <a:r>
              <a:rPr lang="en-US"/>
              <a:t>list of shortcuts ...</a:t>
            </a: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r>
              <a:rPr lang="en-US" dirty="0"/>
              <a:t>10. Types of help</a:t>
            </a:r>
          </a:p>
        </p:txBody>
      </p:sp>
      <p:sp>
        <p:nvSpPr>
          <p:cNvPr id="90115" name="Rectangle 3"/>
          <p:cNvSpPr>
            <a:spLocks noGrp="1" noChangeArrowheads="1"/>
          </p:cNvSpPr>
          <p:nvPr>
            <p:ph type="body" idx="1"/>
          </p:nvPr>
        </p:nvSpPr>
        <p:spPr/>
        <p:txBody>
          <a:bodyPr/>
          <a:lstStyle/>
          <a:p>
            <a:r>
              <a:rPr lang="en-US"/>
              <a:t>Tutorial and/or getting started manuals</a:t>
            </a:r>
          </a:p>
          <a:p>
            <a:pPr lvl="1"/>
            <a:r>
              <a:rPr lang="en-US"/>
              <a:t>short guides that people are likely to read when first obtaining their systems</a:t>
            </a:r>
          </a:p>
          <a:p>
            <a:pPr lvl="2"/>
            <a:r>
              <a:rPr lang="en-US"/>
              <a:t>encourages exploration and getting to know the system</a:t>
            </a:r>
          </a:p>
          <a:p>
            <a:pPr lvl="2"/>
            <a:r>
              <a:rPr lang="en-US"/>
              <a:t>tries to get conceptual material across and essential syntax</a:t>
            </a:r>
            <a:br>
              <a:rPr lang="en-US"/>
            </a:br>
            <a:endParaRPr lang="en-US"/>
          </a:p>
          <a:p>
            <a:pPr lvl="1"/>
            <a:r>
              <a:rPr lang="en-US"/>
              <a:t>on-line “tours”, exercises, and demos</a:t>
            </a:r>
          </a:p>
          <a:p>
            <a:pPr lvl="2"/>
            <a:r>
              <a:rPr lang="en-US"/>
              <a:t>demonstrates very basic principles through working examples</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r>
              <a:rPr lang="en-US" dirty="0"/>
              <a:t>10. Types of help</a:t>
            </a:r>
          </a:p>
        </p:txBody>
      </p:sp>
      <p:sp>
        <p:nvSpPr>
          <p:cNvPr id="89091" name="Rectangle 3"/>
          <p:cNvSpPr>
            <a:spLocks noGrp="1" noChangeArrowheads="1"/>
          </p:cNvSpPr>
          <p:nvPr>
            <p:ph type="body" idx="1"/>
          </p:nvPr>
        </p:nvSpPr>
        <p:spPr>
          <a:xfrm>
            <a:off x="914400" y="1447800"/>
            <a:ext cx="7772400" cy="2971800"/>
          </a:xfrm>
        </p:spPr>
        <p:txBody>
          <a:bodyPr>
            <a:normAutofit fontScale="92500" lnSpcReduction="20000"/>
          </a:bodyPr>
          <a:lstStyle/>
          <a:p>
            <a:r>
              <a:rPr lang="en-US" dirty="0"/>
              <a:t>Reference manuals</a:t>
            </a:r>
          </a:p>
          <a:p>
            <a:pPr lvl="1"/>
            <a:r>
              <a:rPr lang="en-US" dirty="0"/>
              <a:t>used mostly for detailed lookup by experts</a:t>
            </a:r>
          </a:p>
          <a:p>
            <a:pPr lvl="2"/>
            <a:r>
              <a:rPr lang="en-US" dirty="0"/>
              <a:t>rarely introduces concepts</a:t>
            </a:r>
          </a:p>
          <a:p>
            <a:pPr lvl="2"/>
            <a:r>
              <a:rPr lang="en-US" dirty="0"/>
              <a:t>thematically arranged</a:t>
            </a:r>
          </a:p>
          <a:p>
            <a:pPr lvl="1"/>
            <a:r>
              <a:rPr lang="en-US" dirty="0"/>
              <a:t>on-line hypertext</a:t>
            </a:r>
          </a:p>
          <a:p>
            <a:pPr lvl="2"/>
            <a:r>
              <a:rPr lang="en-US" dirty="0"/>
              <a:t>search / find</a:t>
            </a:r>
          </a:p>
          <a:p>
            <a:pPr lvl="2"/>
            <a:r>
              <a:rPr lang="en-US" dirty="0"/>
              <a:t>table of contents</a:t>
            </a:r>
          </a:p>
          <a:p>
            <a:pPr lvl="2"/>
            <a:r>
              <a:rPr lang="en-US" dirty="0"/>
              <a:t>index</a:t>
            </a:r>
          </a:p>
          <a:p>
            <a:pPr lvl="2"/>
            <a:r>
              <a:rPr lang="en-US" dirty="0"/>
              <a:t>cross-index</a:t>
            </a:r>
          </a:p>
          <a:p>
            <a:endParaRPr lang="en-US" dirty="0"/>
          </a:p>
        </p:txBody>
      </p:sp>
      <p:pic>
        <p:nvPicPr>
          <p:cNvPr id="89093" name="Picture 5"/>
          <p:cNvPicPr>
            <a:picLocks noChangeAspect="1" noChangeArrowheads="1"/>
          </p:cNvPicPr>
          <p:nvPr/>
        </p:nvPicPr>
        <p:blipFill>
          <a:blip r:embed="rId2" cstate="print"/>
          <a:srcRect/>
          <a:stretch>
            <a:fillRect/>
          </a:stretch>
        </p:blipFill>
        <p:spPr bwMode="auto">
          <a:xfrm>
            <a:off x="4114800" y="3209925"/>
            <a:ext cx="3698875" cy="3648075"/>
          </a:xfrm>
          <a:prstGeom prst="rect">
            <a:avLst/>
          </a:prstGeom>
          <a:noFill/>
          <a:ln w="12699">
            <a:noFill/>
            <a:miter lim="800000"/>
            <a:headEnd type="none" w="sm" len="sm"/>
            <a:tailEnd type="none" w="sm" len="sm"/>
          </a:ln>
          <a:effectLst/>
        </p:spPr>
      </p:pic>
      <p:pic>
        <p:nvPicPr>
          <p:cNvPr id="89092" name="Picture 4"/>
          <p:cNvPicPr>
            <a:picLocks noChangeAspect="1" noChangeArrowheads="1"/>
          </p:cNvPicPr>
          <p:nvPr/>
        </p:nvPicPr>
        <p:blipFill>
          <a:blip r:embed="rId3" cstate="print"/>
          <a:srcRect/>
          <a:stretch>
            <a:fillRect/>
          </a:stretch>
        </p:blipFill>
        <p:spPr bwMode="auto">
          <a:xfrm>
            <a:off x="5364163" y="2309813"/>
            <a:ext cx="3656012" cy="3605212"/>
          </a:xfrm>
          <a:prstGeom prst="rect">
            <a:avLst/>
          </a:prstGeom>
          <a:noFill/>
          <a:ln w="12699">
            <a:noFill/>
            <a:miter lim="800000"/>
            <a:headEnd type="none" w="sm" len="sm"/>
            <a:tailEnd type="none" w="sm" len="sm"/>
          </a:ln>
          <a:effectLst/>
        </p:spPr>
      </p:pic>
      <p:pic>
        <p:nvPicPr>
          <p:cNvPr id="89094" name="Picture 6"/>
          <p:cNvPicPr>
            <a:picLocks noChangeAspect="1" noChangeArrowheads="1"/>
          </p:cNvPicPr>
          <p:nvPr/>
        </p:nvPicPr>
        <p:blipFill>
          <a:blip r:embed="rId4" cstate="print"/>
          <a:srcRect/>
          <a:stretch>
            <a:fillRect/>
          </a:stretch>
        </p:blipFill>
        <p:spPr bwMode="auto">
          <a:xfrm>
            <a:off x="971550" y="4508500"/>
            <a:ext cx="1963738" cy="2130425"/>
          </a:xfrm>
          <a:prstGeom prst="rect">
            <a:avLst/>
          </a:prstGeom>
          <a:noFill/>
          <a:ln w="12699">
            <a:noFill/>
            <a:miter lim="800000"/>
            <a:headEnd type="none" w="sm" len="sm"/>
            <a:tailEnd type="none" w="sm" len="sm"/>
          </a:ln>
          <a:effectLst/>
        </p:spPr>
      </p:pic>
      <p:sp>
        <p:nvSpPr>
          <p:cNvPr id="89095" name="Text Box 7"/>
          <p:cNvSpPr txBox="1">
            <a:spLocks noChangeArrowheads="1"/>
          </p:cNvSpPr>
          <p:nvPr/>
        </p:nvSpPr>
        <p:spPr bwMode="auto">
          <a:xfrm>
            <a:off x="0" y="6613525"/>
            <a:ext cx="1028700" cy="244475"/>
          </a:xfrm>
          <a:prstGeom prst="rect">
            <a:avLst/>
          </a:prstGeom>
          <a:noFill/>
          <a:ln w="12699">
            <a:noFill/>
            <a:miter lim="800000"/>
            <a:headEnd type="none" w="sm" len="sm"/>
            <a:tailEnd type="none" w="sm" len="sm"/>
          </a:ln>
          <a:effectLst/>
        </p:spPr>
        <p:txBody>
          <a:bodyPr wrap="none" lIns="92075" tIns="46038" rIns="92075" bIns="46038">
            <a:spAutoFit/>
          </a:bodyPr>
          <a:lstStyle/>
          <a:p>
            <a:pPr eaLnBrk="0" hangingPunct="0"/>
            <a:r>
              <a:rPr lang="en-US" sz="1000">
                <a:solidFill>
                  <a:srgbClr val="808080"/>
                </a:solidFill>
                <a:latin typeface="Arial" charset="0"/>
              </a:rPr>
              <a:t>Microsoft Help </a:t>
            </a:r>
            <a:endParaRPr lang="en-CA" sz="1000">
              <a:solidFill>
                <a:srgbClr val="808080"/>
              </a:solidFill>
              <a:latin typeface="Arial"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noFill/>
          <a:ln/>
        </p:spPr>
        <p:txBody>
          <a:bodyPr lIns="92075" tIns="46038" rIns="92075" bIns="46038"/>
          <a:lstStyle/>
          <a:p>
            <a:r>
              <a:rPr lang="en-US" dirty="0"/>
              <a:t>10. Types of help</a:t>
            </a:r>
          </a:p>
        </p:txBody>
      </p:sp>
      <p:sp>
        <p:nvSpPr>
          <p:cNvPr id="55299" name="Rectangle 3"/>
          <p:cNvSpPr>
            <a:spLocks noGrp="1" noChangeArrowheads="1"/>
          </p:cNvSpPr>
          <p:nvPr>
            <p:ph type="body" idx="1"/>
          </p:nvPr>
        </p:nvSpPr>
        <p:spPr>
          <a:xfrm>
            <a:off x="914400" y="1447800"/>
            <a:ext cx="7772400" cy="4572000"/>
          </a:xfrm>
          <a:noFill/>
          <a:ln/>
        </p:spPr>
        <p:txBody>
          <a:bodyPr lIns="92075" tIns="46038" rIns="92075" bIns="46038"/>
          <a:lstStyle/>
          <a:p>
            <a:r>
              <a:rPr lang="en-US" dirty="0"/>
              <a:t>Reminders</a:t>
            </a:r>
          </a:p>
          <a:p>
            <a:pPr lvl="1"/>
            <a:r>
              <a:rPr lang="en-US" dirty="0"/>
              <a:t>short reference cards</a:t>
            </a:r>
          </a:p>
          <a:p>
            <a:pPr lvl="2"/>
            <a:r>
              <a:rPr lang="en-US" dirty="0"/>
              <a:t>expert user who just wants to check facts</a:t>
            </a:r>
          </a:p>
          <a:p>
            <a:pPr lvl="2"/>
            <a:r>
              <a:rPr lang="en-US" dirty="0"/>
              <a:t>novice who wants to get overview of system’s capabilities</a:t>
            </a:r>
            <a:br>
              <a:rPr lang="en-US" dirty="0"/>
            </a:br>
            <a:endParaRPr lang="en-US" dirty="0"/>
          </a:p>
          <a:p>
            <a:pPr lvl="1"/>
            <a:r>
              <a:rPr lang="en-US" dirty="0"/>
              <a:t>tooltips and other context-sensitive help</a:t>
            </a:r>
          </a:p>
          <a:p>
            <a:pPr lvl="2"/>
            <a:r>
              <a:rPr lang="en-US" dirty="0"/>
              <a:t>text over graphical items indicates their meaning or purpose</a:t>
            </a:r>
          </a:p>
        </p:txBody>
      </p:sp>
      <p:graphicFrame>
        <p:nvGraphicFramePr>
          <p:cNvPr id="55302" name="Object 6"/>
          <p:cNvGraphicFramePr>
            <a:graphicFrameLocks/>
          </p:cNvGraphicFramePr>
          <p:nvPr/>
        </p:nvGraphicFramePr>
        <p:xfrm>
          <a:off x="3429000" y="4495800"/>
          <a:ext cx="1701800" cy="1354138"/>
        </p:xfrm>
        <a:graphic>
          <a:graphicData uri="http://schemas.openxmlformats.org/presentationml/2006/ole">
            <mc:AlternateContent xmlns:mc="http://schemas.openxmlformats.org/markup-compatibility/2006">
              <mc:Choice xmlns:v="urn:schemas-microsoft-com:vml" Requires="v">
                <p:oleObj name="Document" r:id="rId3" imgW="684276" imgH="545592" progId="Word.Document.8">
                  <p:embed/>
                </p:oleObj>
              </mc:Choice>
              <mc:Fallback>
                <p:oleObj name="Document" r:id="rId3" imgW="684276" imgH="545592" progId="Word.Document.8">
                  <p:embed/>
                  <p:pic>
                    <p:nvPicPr>
                      <p:cNvPr id="0" name="Picture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9000" y="4495800"/>
                        <a:ext cx="1701800" cy="1354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5303" name="Text Box 7"/>
          <p:cNvSpPr txBox="1">
            <a:spLocks noChangeArrowheads="1"/>
          </p:cNvSpPr>
          <p:nvPr/>
        </p:nvSpPr>
        <p:spPr bwMode="auto">
          <a:xfrm>
            <a:off x="0" y="6613525"/>
            <a:ext cx="1036638" cy="244475"/>
          </a:xfrm>
          <a:prstGeom prst="rect">
            <a:avLst/>
          </a:prstGeom>
          <a:noFill/>
          <a:ln w="12699">
            <a:noFill/>
            <a:miter lim="800000"/>
            <a:headEnd type="none" w="sm" len="sm"/>
            <a:tailEnd type="none" w="sm" len="sm"/>
          </a:ln>
          <a:effectLst/>
        </p:spPr>
        <p:txBody>
          <a:bodyPr wrap="none" lIns="92075" tIns="46038" rIns="92075" bIns="46038">
            <a:spAutoFit/>
          </a:bodyPr>
          <a:lstStyle/>
          <a:p>
            <a:pPr eaLnBrk="0" hangingPunct="0"/>
            <a:r>
              <a:rPr lang="en-US" sz="1000">
                <a:solidFill>
                  <a:srgbClr val="808080"/>
                </a:solidFill>
                <a:latin typeface="Arial" charset="0"/>
              </a:rPr>
              <a:t>Microsoft Word</a:t>
            </a:r>
            <a:endParaRPr lang="en-CA" sz="1000">
              <a:solidFill>
                <a:srgbClr val="808080"/>
              </a:solidFill>
              <a:latin typeface="Arial" charset="0"/>
            </a:endParaRPr>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r>
              <a:rPr lang="en-US" dirty="0"/>
              <a:t>10. Types of help</a:t>
            </a:r>
          </a:p>
        </p:txBody>
      </p:sp>
      <p:sp>
        <p:nvSpPr>
          <p:cNvPr id="92163" name="Rectangle 3"/>
          <p:cNvSpPr>
            <a:spLocks noGrp="1" noChangeArrowheads="1"/>
          </p:cNvSpPr>
          <p:nvPr>
            <p:ph type="body" idx="1"/>
          </p:nvPr>
        </p:nvSpPr>
        <p:spPr/>
        <p:txBody>
          <a:bodyPr/>
          <a:lstStyle/>
          <a:p>
            <a:r>
              <a:rPr lang="en-US"/>
              <a:t>Wizards</a:t>
            </a:r>
          </a:p>
          <a:p>
            <a:pPr lvl="1"/>
            <a:r>
              <a:rPr lang="en-US"/>
              <a:t>walks user through typical tasks</a:t>
            </a:r>
          </a:p>
          <a:p>
            <a:pPr lvl="1"/>
            <a:r>
              <a:rPr lang="en-US" i="1"/>
              <a:t>but</a:t>
            </a:r>
            <a:r>
              <a:rPr lang="en-US"/>
              <a:t> dangerous if user gets stuck</a:t>
            </a:r>
          </a:p>
          <a:p>
            <a:endParaRPr lang="en-US"/>
          </a:p>
        </p:txBody>
      </p:sp>
      <p:pic>
        <p:nvPicPr>
          <p:cNvPr id="92165" name="Picture 5"/>
          <p:cNvPicPr>
            <a:picLocks noChangeAspect="1" noChangeArrowheads="1"/>
          </p:cNvPicPr>
          <p:nvPr/>
        </p:nvPicPr>
        <p:blipFill>
          <a:blip r:embed="rId2" cstate="print"/>
          <a:srcRect/>
          <a:stretch>
            <a:fillRect/>
          </a:stretch>
        </p:blipFill>
        <p:spPr bwMode="auto">
          <a:xfrm>
            <a:off x="3492500" y="2781300"/>
            <a:ext cx="4905375" cy="2828925"/>
          </a:xfrm>
          <a:prstGeom prst="rect">
            <a:avLst/>
          </a:prstGeom>
          <a:noFill/>
          <a:ln w="12699">
            <a:noFill/>
            <a:miter lim="800000"/>
            <a:headEnd type="none" w="sm" len="sm"/>
            <a:tailEnd type="none" w="sm" len="sm"/>
          </a:ln>
          <a:effectLst/>
        </p:spPr>
      </p:pic>
      <p:graphicFrame>
        <p:nvGraphicFramePr>
          <p:cNvPr id="92166" name="Object 6"/>
          <p:cNvGraphicFramePr>
            <a:graphicFrameLocks noChangeAspect="1"/>
          </p:cNvGraphicFramePr>
          <p:nvPr/>
        </p:nvGraphicFramePr>
        <p:xfrm>
          <a:off x="2484438" y="4570413"/>
          <a:ext cx="1063625" cy="2287587"/>
        </p:xfrm>
        <a:graphic>
          <a:graphicData uri="http://schemas.openxmlformats.org/presentationml/2006/ole">
            <mc:AlternateContent xmlns:mc="http://schemas.openxmlformats.org/markup-compatibility/2006">
              <mc:Choice xmlns:v="urn:schemas-microsoft-com:vml" Requires="v">
                <p:oleObj name="Clip" r:id="rId3" imgW="1063467" imgH="2287818" progId="">
                  <p:embed/>
                </p:oleObj>
              </mc:Choice>
              <mc:Fallback>
                <p:oleObj name="Clip" r:id="rId3" imgW="1063467" imgH="2287818" progId="">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4438" y="4570413"/>
                        <a:ext cx="1063625" cy="2287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167" name="AutoShape 7"/>
          <p:cNvSpPr>
            <a:spLocks noChangeArrowheads="1"/>
          </p:cNvSpPr>
          <p:nvPr/>
        </p:nvSpPr>
        <p:spPr bwMode="auto">
          <a:xfrm>
            <a:off x="684213" y="2997200"/>
            <a:ext cx="2436812" cy="1738313"/>
          </a:xfrm>
          <a:prstGeom prst="cloudCallout">
            <a:avLst>
              <a:gd name="adj1" fmla="val 28500"/>
              <a:gd name="adj2" fmla="val 57306"/>
            </a:avLst>
          </a:prstGeom>
          <a:noFill/>
          <a:ln w="12699">
            <a:solidFill>
              <a:schemeClr val="tx1"/>
            </a:solidFill>
            <a:round/>
            <a:headEnd type="none" w="sm" len="sm"/>
            <a:tailEnd type="none" w="sm" len="sm"/>
          </a:ln>
          <a:effectLst/>
        </p:spPr>
        <p:txBody>
          <a:bodyPr lIns="92075" tIns="46038" rIns="92075" bIns="46038" anchor="ctr">
            <a:spAutoFit/>
          </a:bodyPr>
          <a:lstStyle/>
          <a:p>
            <a:pPr algn="ctr" eaLnBrk="0" hangingPunct="0"/>
            <a:r>
              <a:rPr lang="en-US" sz="1400"/>
              <a:t>What’s my computer’s name? </a:t>
            </a:r>
            <a:br>
              <a:rPr lang="en-US" sz="1400"/>
            </a:br>
            <a:r>
              <a:rPr lang="en-US" sz="1400"/>
              <a:t>Fred? </a:t>
            </a:r>
            <a:br>
              <a:rPr lang="en-US" sz="1400"/>
            </a:br>
            <a:r>
              <a:rPr lang="en-US" sz="1400"/>
              <a:t>Intel? </a:t>
            </a:r>
            <a:br>
              <a:rPr lang="en-US" sz="1400"/>
            </a:br>
            <a:r>
              <a:rPr lang="en-US" sz="1400"/>
              <a:t>AST?</a:t>
            </a:r>
            <a:endParaRPr lang="en-US" sz="1400">
              <a:latin typeface="Arial" charset="0"/>
            </a:endParaRPr>
          </a:p>
        </p:txBody>
      </p:sp>
      <p:sp>
        <p:nvSpPr>
          <p:cNvPr id="92168" name="Text Box 8"/>
          <p:cNvSpPr txBox="1">
            <a:spLocks noChangeArrowheads="1"/>
          </p:cNvSpPr>
          <p:nvPr/>
        </p:nvSpPr>
        <p:spPr bwMode="auto">
          <a:xfrm>
            <a:off x="0" y="6613525"/>
            <a:ext cx="1365250" cy="244475"/>
          </a:xfrm>
          <a:prstGeom prst="rect">
            <a:avLst/>
          </a:prstGeom>
          <a:noFill/>
          <a:ln w="12699">
            <a:noFill/>
            <a:miter lim="800000"/>
            <a:headEnd type="none" w="sm" len="sm"/>
            <a:tailEnd type="none" w="sm" len="sm"/>
          </a:ln>
          <a:effectLst/>
        </p:spPr>
        <p:txBody>
          <a:bodyPr wrap="none" lIns="92075" tIns="46038" rIns="92075" bIns="46038">
            <a:spAutoFit/>
          </a:bodyPr>
          <a:lstStyle/>
          <a:p>
            <a:pPr eaLnBrk="0" hangingPunct="0"/>
            <a:r>
              <a:rPr lang="en-US" sz="1000">
                <a:solidFill>
                  <a:srgbClr val="808080"/>
                </a:solidFill>
                <a:latin typeface="Arial" charset="0"/>
              </a:rPr>
              <a:t>Microsoft Powerpoint</a:t>
            </a:r>
            <a:endParaRPr lang="en-CA" sz="1000">
              <a:solidFill>
                <a:srgbClr val="808080"/>
              </a:solidFill>
              <a:latin typeface="Arial"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r>
              <a:rPr lang="en-US" dirty="0"/>
              <a:t>10. Types of help</a:t>
            </a:r>
          </a:p>
        </p:txBody>
      </p:sp>
      <p:pic>
        <p:nvPicPr>
          <p:cNvPr id="87045" name="Picture 5"/>
          <p:cNvPicPr>
            <a:picLocks noChangeAspect="1" noChangeArrowheads="1"/>
          </p:cNvPicPr>
          <p:nvPr/>
        </p:nvPicPr>
        <p:blipFill>
          <a:blip r:embed="rId2" cstate="print"/>
          <a:srcRect/>
          <a:stretch>
            <a:fillRect/>
          </a:stretch>
        </p:blipFill>
        <p:spPr bwMode="auto">
          <a:xfrm>
            <a:off x="1116013" y="3789363"/>
            <a:ext cx="7591425" cy="1190625"/>
          </a:xfrm>
          <a:prstGeom prst="rect">
            <a:avLst/>
          </a:prstGeom>
          <a:noFill/>
          <a:ln w="12699">
            <a:noFill/>
            <a:miter lim="800000"/>
            <a:headEnd type="none" w="sm" len="sm"/>
            <a:tailEnd type="none" w="sm" len="sm"/>
          </a:ln>
          <a:effectLst/>
        </p:spPr>
      </p:pic>
      <p:pic>
        <p:nvPicPr>
          <p:cNvPr id="87050" name="Picture 10"/>
          <p:cNvPicPr>
            <a:picLocks noChangeAspect="1" noChangeArrowheads="1"/>
          </p:cNvPicPr>
          <p:nvPr/>
        </p:nvPicPr>
        <p:blipFill>
          <a:blip r:embed="rId3" cstate="print"/>
          <a:srcRect/>
          <a:stretch>
            <a:fillRect/>
          </a:stretch>
        </p:blipFill>
        <p:spPr bwMode="auto">
          <a:xfrm>
            <a:off x="1160463" y="5170488"/>
            <a:ext cx="1285875" cy="1133475"/>
          </a:xfrm>
          <a:prstGeom prst="rect">
            <a:avLst/>
          </a:prstGeom>
          <a:noFill/>
          <a:ln w="12699">
            <a:noFill/>
            <a:miter lim="800000"/>
            <a:headEnd type="none" w="sm" len="sm"/>
            <a:tailEnd type="none" w="sm" len="sm"/>
          </a:ln>
          <a:effectLst/>
        </p:spPr>
      </p:pic>
      <p:sp>
        <p:nvSpPr>
          <p:cNvPr id="87049" name="Line 9"/>
          <p:cNvSpPr>
            <a:spLocks noChangeShapeType="1"/>
          </p:cNvSpPr>
          <p:nvPr/>
        </p:nvSpPr>
        <p:spPr bwMode="auto">
          <a:xfrm flipV="1">
            <a:off x="2168525" y="3941763"/>
            <a:ext cx="852488" cy="1381125"/>
          </a:xfrm>
          <a:prstGeom prst="line">
            <a:avLst/>
          </a:prstGeom>
          <a:noFill/>
          <a:ln w="57150">
            <a:solidFill>
              <a:srgbClr val="FF0000"/>
            </a:solidFill>
            <a:round/>
            <a:headEnd type="triangle" w="med" len="med"/>
            <a:tailEnd type="triangle" w="med" len="med"/>
          </a:ln>
          <a:effectLst/>
        </p:spPr>
        <p:txBody>
          <a:bodyPr lIns="92075" tIns="46038" rIns="92075" bIns="46038" anchor="ctr">
            <a:spAutoFit/>
          </a:bodyPr>
          <a:lstStyle/>
          <a:p>
            <a:endParaRPr lang="en-US"/>
          </a:p>
        </p:txBody>
      </p:sp>
      <p:sp>
        <p:nvSpPr>
          <p:cNvPr id="87052" name="Rectangle 12"/>
          <p:cNvSpPr>
            <a:spLocks noGrp="1" noChangeArrowheads="1"/>
          </p:cNvSpPr>
          <p:nvPr>
            <p:ph type="body" idx="1"/>
          </p:nvPr>
        </p:nvSpPr>
        <p:spPr/>
        <p:txBody>
          <a:bodyPr/>
          <a:lstStyle/>
          <a:p>
            <a:r>
              <a:rPr lang="en-US"/>
              <a:t>Tips</a:t>
            </a:r>
          </a:p>
          <a:p>
            <a:pPr lvl="1"/>
            <a:r>
              <a:rPr lang="en-US"/>
              <a:t>migration path to learning system features</a:t>
            </a:r>
          </a:p>
          <a:p>
            <a:pPr lvl="1"/>
            <a:r>
              <a:rPr lang="en-US"/>
              <a:t>also context-specific tips on being more efficient</a:t>
            </a:r>
          </a:p>
          <a:p>
            <a:pPr lvl="1"/>
            <a:r>
              <a:rPr lang="en-US"/>
              <a:t>must be “smart”, otherwise boring and tedious</a:t>
            </a:r>
          </a:p>
        </p:txBody>
      </p:sp>
      <p:sp>
        <p:nvSpPr>
          <p:cNvPr id="87053" name="Text Box 13"/>
          <p:cNvSpPr txBox="1">
            <a:spLocks noChangeArrowheads="1"/>
          </p:cNvSpPr>
          <p:nvPr/>
        </p:nvSpPr>
        <p:spPr bwMode="auto">
          <a:xfrm>
            <a:off x="0" y="6613525"/>
            <a:ext cx="1036638" cy="244475"/>
          </a:xfrm>
          <a:prstGeom prst="rect">
            <a:avLst/>
          </a:prstGeom>
          <a:noFill/>
          <a:ln w="12699">
            <a:noFill/>
            <a:miter lim="800000"/>
            <a:headEnd type="none" w="sm" len="sm"/>
            <a:tailEnd type="none" w="sm" len="sm"/>
          </a:ln>
          <a:effectLst/>
        </p:spPr>
        <p:txBody>
          <a:bodyPr wrap="none" lIns="92075" tIns="46038" rIns="92075" bIns="46038">
            <a:spAutoFit/>
          </a:bodyPr>
          <a:lstStyle/>
          <a:p>
            <a:pPr eaLnBrk="0" hangingPunct="0"/>
            <a:r>
              <a:rPr lang="en-US" sz="1000">
                <a:solidFill>
                  <a:srgbClr val="808080"/>
                </a:solidFill>
                <a:latin typeface="Arial" charset="0"/>
              </a:rPr>
              <a:t>Microsoft Word</a:t>
            </a:r>
            <a:endParaRPr lang="en-CA" sz="1000">
              <a:solidFill>
                <a:srgbClr val="808080"/>
              </a:solidFill>
              <a:latin typeface="Arial"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Chunking the Heuristics</a:t>
            </a:r>
          </a:p>
        </p:txBody>
      </p:sp>
      <p:sp>
        <p:nvSpPr>
          <p:cNvPr id="3" name="Content Placeholder 2"/>
          <p:cNvSpPr>
            <a:spLocks noGrp="1"/>
          </p:cNvSpPr>
          <p:nvPr>
            <p:ph sz="quarter" idx="1"/>
          </p:nvPr>
        </p:nvSpPr>
        <p:spPr/>
        <p:txBody>
          <a:bodyPr>
            <a:normAutofit fontScale="85000" lnSpcReduction="20000"/>
          </a:bodyPr>
          <a:lstStyle/>
          <a:p>
            <a:r>
              <a:rPr lang="en-US" b="1" dirty="0"/>
              <a:t>Meet expectations</a:t>
            </a:r>
          </a:p>
          <a:p>
            <a:pPr lvl="1"/>
            <a:r>
              <a:rPr lang="en-US" dirty="0"/>
              <a:t>Match the real world</a:t>
            </a:r>
          </a:p>
          <a:p>
            <a:pPr lvl="1"/>
            <a:r>
              <a:rPr lang="en-US" dirty="0"/>
              <a:t>Consistency &amp; standards</a:t>
            </a:r>
          </a:p>
          <a:p>
            <a:pPr lvl="1"/>
            <a:r>
              <a:rPr lang="en-US" dirty="0"/>
              <a:t>Help &amp; documentation</a:t>
            </a:r>
          </a:p>
          <a:p>
            <a:r>
              <a:rPr lang="en-US" b="1" dirty="0"/>
              <a:t>User is the boss</a:t>
            </a:r>
          </a:p>
          <a:p>
            <a:pPr lvl="1"/>
            <a:r>
              <a:rPr lang="en-US" dirty="0"/>
              <a:t> User control &amp; freedom</a:t>
            </a:r>
          </a:p>
          <a:p>
            <a:pPr lvl="1"/>
            <a:r>
              <a:rPr lang="en-US" dirty="0"/>
              <a:t>Visibility of system status</a:t>
            </a:r>
          </a:p>
          <a:p>
            <a:pPr lvl="1"/>
            <a:r>
              <a:rPr lang="en-US" dirty="0"/>
              <a:t>Flexibility &amp; efficiency</a:t>
            </a:r>
          </a:p>
          <a:p>
            <a:r>
              <a:rPr lang="en-US" b="1" dirty="0"/>
              <a:t>Handle errors</a:t>
            </a:r>
          </a:p>
          <a:p>
            <a:pPr lvl="1"/>
            <a:r>
              <a:rPr lang="en-US" dirty="0"/>
              <a:t>Error prevention</a:t>
            </a:r>
          </a:p>
          <a:p>
            <a:pPr lvl="1"/>
            <a:r>
              <a:rPr lang="en-US" dirty="0"/>
              <a:t>Recognition, not recall</a:t>
            </a:r>
          </a:p>
          <a:p>
            <a:pPr lvl="1"/>
            <a:r>
              <a:rPr lang="en-US" dirty="0"/>
              <a:t>Error reporting, diagnosis, and recovery</a:t>
            </a:r>
          </a:p>
          <a:p>
            <a:r>
              <a:rPr lang="en-US" b="1" dirty="0"/>
              <a:t>Keep it simple</a:t>
            </a:r>
          </a:p>
          <a:p>
            <a:pPr lvl="1"/>
            <a:r>
              <a:rPr lang="en-US" dirty="0"/>
              <a:t>Aesthetic &amp; minimalist design</a:t>
            </a:r>
          </a:p>
        </p:txBody>
      </p:sp>
    </p:spTree>
    <p:extLst>
      <p:ext uri="{BB962C8B-B14F-4D97-AF65-F5344CB8AC3E}">
        <p14:creationId xmlns:p14="http://schemas.microsoft.com/office/powerpoint/2010/main" val="396415956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Shneiderman’s</a:t>
            </a:r>
            <a:r>
              <a:rPr lang="en-GB" dirty="0"/>
              <a:t> 8 Golden Rules</a:t>
            </a:r>
            <a:endParaRPr lang="en-US" dirty="0"/>
          </a:p>
        </p:txBody>
      </p:sp>
      <p:sp>
        <p:nvSpPr>
          <p:cNvPr id="3" name="Content Placeholder 2"/>
          <p:cNvSpPr>
            <a:spLocks noGrp="1"/>
          </p:cNvSpPr>
          <p:nvPr>
            <p:ph sz="quarter" idx="1"/>
          </p:nvPr>
        </p:nvSpPr>
        <p:spPr/>
        <p:txBody>
          <a:bodyPr/>
          <a:lstStyle/>
          <a:p>
            <a:pPr marL="514350" lvl="0" indent="-514350">
              <a:buFont typeface="+mj-lt"/>
              <a:buAutoNum type="arabicPeriod"/>
            </a:pPr>
            <a:r>
              <a:rPr lang="en-GB" i="1" dirty="0"/>
              <a:t>Strive for consistency </a:t>
            </a:r>
            <a:endParaRPr lang="en-US" dirty="0"/>
          </a:p>
          <a:p>
            <a:pPr marL="514350" lvl="0" indent="-514350">
              <a:buFont typeface="+mj-lt"/>
              <a:buAutoNum type="arabicPeriod"/>
            </a:pPr>
            <a:r>
              <a:rPr lang="en-US" i="1" dirty="0"/>
              <a:t>Enable frequent users to use shortcuts</a:t>
            </a:r>
          </a:p>
          <a:p>
            <a:pPr marL="514350" lvl="0" indent="-514350">
              <a:buFont typeface="+mj-lt"/>
              <a:buAutoNum type="arabicPeriod"/>
            </a:pPr>
            <a:r>
              <a:rPr lang="en-GB" i="1" dirty="0"/>
              <a:t>Offer informative feedback </a:t>
            </a:r>
            <a:endParaRPr lang="en-US" dirty="0"/>
          </a:p>
          <a:p>
            <a:pPr marL="514350" lvl="0" indent="-514350">
              <a:buFont typeface="+mj-lt"/>
              <a:buAutoNum type="arabicPeriod"/>
            </a:pPr>
            <a:r>
              <a:rPr lang="en-GB" i="1" dirty="0"/>
              <a:t>Design dialogs to yield closure </a:t>
            </a:r>
            <a:endParaRPr lang="en-US" dirty="0"/>
          </a:p>
          <a:p>
            <a:pPr marL="514350" lvl="0" indent="-514350">
              <a:buFont typeface="+mj-lt"/>
              <a:buAutoNum type="arabicPeriod"/>
            </a:pPr>
            <a:r>
              <a:rPr lang="en-GB" i="1" dirty="0"/>
              <a:t>Offer error prevention and simple error handling </a:t>
            </a:r>
            <a:endParaRPr lang="en-US" dirty="0"/>
          </a:p>
          <a:p>
            <a:pPr marL="514350" lvl="0" indent="-514350">
              <a:buFont typeface="+mj-lt"/>
              <a:buAutoNum type="arabicPeriod"/>
            </a:pPr>
            <a:r>
              <a:rPr lang="en-GB" i="1" dirty="0"/>
              <a:t>Permit easy reversal of actions </a:t>
            </a:r>
            <a:endParaRPr lang="en-US" dirty="0"/>
          </a:p>
          <a:p>
            <a:pPr marL="514350" lvl="0" indent="-514350">
              <a:buFont typeface="+mj-lt"/>
              <a:buAutoNum type="arabicPeriod"/>
            </a:pPr>
            <a:r>
              <a:rPr lang="en-GB" i="1" dirty="0"/>
              <a:t>Support internal locus of control </a:t>
            </a:r>
            <a:endParaRPr lang="en-US" dirty="0"/>
          </a:p>
          <a:p>
            <a:pPr marL="514350" lvl="0" indent="-514350">
              <a:buFont typeface="+mj-lt"/>
              <a:buAutoNum type="arabicPeriod"/>
            </a:pPr>
            <a:r>
              <a:rPr lang="en-GB" i="1" dirty="0"/>
              <a:t>Reduce short-term memory load</a:t>
            </a:r>
            <a:r>
              <a:rPr lang="en-GB" dirty="0"/>
              <a:t> </a:t>
            </a:r>
            <a:endParaRPr lang="en-US" dirty="0"/>
          </a:p>
        </p:txBody>
      </p:sp>
    </p:spTree>
    <p:extLst>
      <p:ext uri="{BB962C8B-B14F-4D97-AF65-F5344CB8AC3E}">
        <p14:creationId xmlns:p14="http://schemas.microsoft.com/office/powerpoint/2010/main" val="34407963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Norman’s 7 Principles</a:t>
            </a:r>
            <a:endParaRPr lang="en-US" dirty="0"/>
          </a:p>
        </p:txBody>
      </p:sp>
      <p:sp>
        <p:nvSpPr>
          <p:cNvPr id="3" name="Content Placeholder 2"/>
          <p:cNvSpPr>
            <a:spLocks noGrp="1"/>
          </p:cNvSpPr>
          <p:nvPr>
            <p:ph sz="quarter" idx="1"/>
          </p:nvPr>
        </p:nvSpPr>
        <p:spPr/>
        <p:txBody>
          <a:bodyPr/>
          <a:lstStyle/>
          <a:p>
            <a:pPr marL="514350" lvl="0" indent="-514350">
              <a:buFont typeface="+mj-lt"/>
              <a:buAutoNum type="arabicPeriod"/>
            </a:pPr>
            <a:r>
              <a:rPr lang="en-GB" i="1" dirty="0"/>
              <a:t>Use both knowledge in the world and knowledge in the head.</a:t>
            </a:r>
            <a:endParaRPr lang="en-US" dirty="0"/>
          </a:p>
          <a:p>
            <a:pPr marL="514350" lvl="0" indent="-514350">
              <a:buFont typeface="+mj-lt"/>
              <a:buAutoNum type="arabicPeriod"/>
            </a:pPr>
            <a:r>
              <a:rPr lang="en-GB" i="1" dirty="0"/>
              <a:t>Simplify the structure of tasks.</a:t>
            </a:r>
            <a:endParaRPr lang="en-US" dirty="0"/>
          </a:p>
          <a:p>
            <a:pPr marL="514350" lvl="0" indent="-514350">
              <a:buFont typeface="+mj-lt"/>
              <a:buAutoNum type="arabicPeriod"/>
            </a:pPr>
            <a:r>
              <a:rPr lang="en-GB" i="1" dirty="0"/>
              <a:t>Make things visible: bridge the gulfs of  Execution and Evaluation.</a:t>
            </a:r>
            <a:endParaRPr lang="en-US" dirty="0"/>
          </a:p>
          <a:p>
            <a:pPr marL="514350" lvl="0" indent="-514350">
              <a:buFont typeface="+mj-lt"/>
              <a:buAutoNum type="arabicPeriod"/>
            </a:pPr>
            <a:r>
              <a:rPr lang="en-GB" i="1" dirty="0"/>
              <a:t>Get the mappings right.</a:t>
            </a:r>
            <a:endParaRPr lang="en-US" dirty="0"/>
          </a:p>
          <a:p>
            <a:pPr marL="514350" lvl="0" indent="-514350">
              <a:buFont typeface="+mj-lt"/>
              <a:buAutoNum type="arabicPeriod"/>
            </a:pPr>
            <a:r>
              <a:rPr lang="en-GB" i="1" dirty="0"/>
              <a:t>Exploit the power of constraints, both natural and artificial.</a:t>
            </a:r>
            <a:endParaRPr lang="en-US" dirty="0"/>
          </a:p>
          <a:p>
            <a:pPr marL="514350" lvl="0" indent="-514350">
              <a:buFont typeface="+mj-lt"/>
              <a:buAutoNum type="arabicPeriod"/>
            </a:pPr>
            <a:r>
              <a:rPr lang="en-GB" i="1" dirty="0"/>
              <a:t>Design for error.</a:t>
            </a:r>
            <a:endParaRPr lang="en-US" dirty="0"/>
          </a:p>
          <a:p>
            <a:pPr marL="514350" lvl="0" indent="-514350">
              <a:buFont typeface="+mj-lt"/>
              <a:buAutoNum type="arabicPeriod"/>
            </a:pPr>
            <a:r>
              <a:rPr lang="en-GB" i="1" dirty="0"/>
              <a:t>When all else fails, standardize.</a:t>
            </a:r>
            <a:r>
              <a:rPr lang="en-GB" dirty="0"/>
              <a:t> </a:t>
            </a:r>
            <a:endParaRPr lang="en-US" dirty="0"/>
          </a:p>
        </p:txBody>
      </p:sp>
    </p:spTree>
    <p:extLst>
      <p:ext uri="{BB962C8B-B14F-4D97-AF65-F5344CB8AC3E}">
        <p14:creationId xmlns:p14="http://schemas.microsoft.com/office/powerpoint/2010/main" val="171580053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304800"/>
            <a:ext cx="7772400" cy="579438"/>
          </a:xfrm>
        </p:spPr>
        <p:txBody>
          <a:bodyPr>
            <a:normAutofit fontScale="90000"/>
          </a:bodyPr>
          <a:lstStyle/>
          <a:p>
            <a:r>
              <a:rPr lang="en-US" dirty="0"/>
              <a:t>Performing a Heuristic Evaluation</a:t>
            </a:r>
          </a:p>
        </p:txBody>
      </p:sp>
      <p:sp>
        <p:nvSpPr>
          <p:cNvPr id="3" name="Content Placeholder 2"/>
          <p:cNvSpPr>
            <a:spLocks noGrp="1"/>
          </p:cNvSpPr>
          <p:nvPr>
            <p:ph sz="quarter" idx="1"/>
          </p:nvPr>
        </p:nvSpPr>
        <p:spPr>
          <a:xfrm>
            <a:off x="381000" y="990600"/>
            <a:ext cx="8610600" cy="5638800"/>
          </a:xfrm>
        </p:spPr>
        <p:txBody>
          <a:bodyPr>
            <a:normAutofit/>
          </a:bodyPr>
          <a:lstStyle/>
          <a:p>
            <a:pPr marL="514350" indent="-514350">
              <a:buFont typeface="+mj-lt"/>
              <a:buAutoNum type="arabicPeriod"/>
            </a:pPr>
            <a:r>
              <a:rPr lang="en-US" dirty="0"/>
              <a:t>Design may be verbal description, paper mock-up, working prototype, or running system.  [When evaluating paper mock-ups, pay special attention to missing dialogue elements!]</a:t>
            </a:r>
          </a:p>
          <a:p>
            <a:pPr marL="514350" indent="-514350">
              <a:buFont typeface="+mj-lt"/>
              <a:buAutoNum type="arabicPeriod"/>
            </a:pPr>
            <a:r>
              <a:rPr lang="en-US" dirty="0"/>
              <a:t>Provide evaluators with checklist of usability heuristics</a:t>
            </a:r>
          </a:p>
          <a:p>
            <a:pPr marL="514350" indent="-514350">
              <a:buFont typeface="+mj-lt"/>
              <a:buAutoNum type="arabicPeriod"/>
            </a:pPr>
            <a:r>
              <a:rPr lang="en-US" dirty="0"/>
              <a:t>Optionally provide evaluators with some domain-specific training</a:t>
            </a:r>
          </a:p>
          <a:p>
            <a:pPr marL="514350" indent="-514350">
              <a:buFont typeface="+mj-lt"/>
              <a:buAutoNum type="arabicPeriod"/>
            </a:pPr>
            <a:r>
              <a:rPr lang="en-US" dirty="0"/>
              <a:t>Each evaluator works alone (1–2 hours)</a:t>
            </a:r>
          </a:p>
          <a:p>
            <a:pPr marL="514350" indent="-514350">
              <a:buFont typeface="+mj-lt"/>
              <a:buAutoNum type="arabicPeriod"/>
            </a:pPr>
            <a:r>
              <a:rPr lang="en-US" dirty="0"/>
              <a:t>Interface examined in two passes: first pass focuses on general flow, second on particular elements in detail.</a:t>
            </a:r>
          </a:p>
          <a:p>
            <a:pPr marL="514350" indent="-514350">
              <a:buFont typeface="+mj-lt"/>
              <a:buAutoNum type="arabicPeriod"/>
            </a:pPr>
            <a:r>
              <a:rPr lang="en-US" dirty="0"/>
              <a:t>Notes taken either by evaluator or evaluation manager</a:t>
            </a:r>
          </a:p>
          <a:p>
            <a:pPr marL="514350" indent="-514350">
              <a:buFont typeface="+mj-lt"/>
              <a:buAutoNum type="arabicPeriod"/>
            </a:pPr>
            <a:r>
              <a:rPr lang="en-US" dirty="0"/>
              <a:t>Make list of potential problems and list of positive findings</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304800"/>
            <a:ext cx="7772400" cy="579438"/>
          </a:xfrm>
        </p:spPr>
        <p:txBody>
          <a:bodyPr>
            <a:normAutofit fontScale="90000"/>
          </a:bodyPr>
          <a:lstStyle/>
          <a:p>
            <a:r>
              <a:rPr lang="en-US" dirty="0"/>
              <a:t>Performing a Heuristic Evaluation</a:t>
            </a:r>
          </a:p>
        </p:txBody>
      </p:sp>
      <p:sp>
        <p:nvSpPr>
          <p:cNvPr id="3" name="Content Placeholder 2"/>
          <p:cNvSpPr>
            <a:spLocks noGrp="1"/>
          </p:cNvSpPr>
          <p:nvPr>
            <p:ph sz="quarter" idx="1"/>
          </p:nvPr>
        </p:nvSpPr>
        <p:spPr>
          <a:xfrm>
            <a:off x="381000" y="990600"/>
            <a:ext cx="8610600" cy="5638800"/>
          </a:xfrm>
        </p:spPr>
        <p:txBody>
          <a:bodyPr>
            <a:normAutofit/>
          </a:bodyPr>
          <a:lstStyle/>
          <a:p>
            <a:pPr marL="514350" indent="-514350">
              <a:buFont typeface="+mj-lt"/>
              <a:buAutoNum type="arabicPeriod" startAt="8"/>
            </a:pPr>
            <a:r>
              <a:rPr lang="en-US" dirty="0"/>
              <a:t>Take screen shots as you work - they may not be reproducible later</a:t>
            </a:r>
          </a:p>
          <a:p>
            <a:pPr marL="514350" indent="-514350">
              <a:buFont typeface="+mj-lt"/>
              <a:buAutoNum type="arabicPeriod" startAt="8"/>
            </a:pPr>
            <a:r>
              <a:rPr lang="en-US" dirty="0"/>
              <a:t>Independent findings are then aggregated into one large list (by evaluation manager). This is best done with a spreadsheet</a:t>
            </a:r>
          </a:p>
          <a:p>
            <a:pPr marL="514350" indent="-514350">
              <a:buFont typeface="+mj-lt"/>
              <a:buAutoNum type="arabicPeriod" startAt="8"/>
            </a:pPr>
            <a:r>
              <a:rPr lang="en-US" dirty="0"/>
              <a:t>The large list of potential problems is distributed to each evaluator</a:t>
            </a:r>
          </a:p>
          <a:p>
            <a:pPr marL="514350" indent="-514350">
              <a:buFont typeface="+mj-lt"/>
              <a:buAutoNum type="arabicPeriod" startAt="8"/>
            </a:pPr>
            <a:r>
              <a:rPr lang="en-US" dirty="0"/>
              <a:t>Each evaluator now assigns severity ratings individually to each problem in the large list (unseen by the other evaluators)</a:t>
            </a:r>
          </a:p>
          <a:p>
            <a:pPr marL="514350" indent="-514350">
              <a:buFont typeface="+mj-lt"/>
              <a:buAutoNum type="arabicPeriod" startAt="8"/>
            </a:pPr>
            <a:r>
              <a:rPr lang="en-US" dirty="0"/>
              <a:t>The individual severity ratings are averaged to obtain the final severity rating for each problem</a:t>
            </a:r>
          </a:p>
          <a:p>
            <a:pPr marL="514350" indent="-514350">
              <a:buFont typeface="+mj-lt"/>
              <a:buAutoNum type="arabicPeriod" startAt="8"/>
            </a:pPr>
            <a:r>
              <a:rPr lang="en-US" dirty="0"/>
              <a:t>The long list is sorted in decreasing order of average severity</a:t>
            </a:r>
          </a:p>
          <a:p>
            <a:pPr marL="514350" indent="-514350">
              <a:buFont typeface="+mj-lt"/>
              <a:buAutoNum type="arabicPeriod" startAt="8"/>
            </a:pPr>
            <a:r>
              <a:rPr lang="en-US" dirty="0"/>
              <a:t>Group debriefing session to suggest possible redesigns</a:t>
            </a:r>
          </a:p>
        </p:txBody>
      </p:sp>
    </p:spTree>
    <p:extLst>
      <p:ext uri="{BB962C8B-B14F-4D97-AF65-F5344CB8AC3E}">
        <p14:creationId xmlns:p14="http://schemas.microsoft.com/office/powerpoint/2010/main" val="408649858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Sample </a:t>
            </a:r>
            <a:r>
              <a:rPr lang="en-US"/>
              <a:t>spread sheet</a:t>
            </a:r>
            <a:endParaRPr lang="en-US" dirty="0"/>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val="4026139998"/>
              </p:ext>
            </p:extLst>
          </p:nvPr>
        </p:nvGraphicFramePr>
        <p:xfrm>
          <a:off x="381001" y="1447800"/>
          <a:ext cx="8534399" cy="2743200"/>
        </p:xfrm>
        <a:graphic>
          <a:graphicData uri="http://schemas.openxmlformats.org/drawingml/2006/table">
            <a:tbl>
              <a:tblPr firstRow="1" bandRow="1">
                <a:tableStyleId>{5C22544A-7EE6-4342-B048-85BDC9FD1C3A}</a:tableStyleId>
              </a:tblPr>
              <a:tblGrid>
                <a:gridCol w="927652">
                  <a:extLst>
                    <a:ext uri="{9D8B030D-6E8A-4147-A177-3AD203B41FA5}">
                      <a16:colId xmlns:a16="http://schemas.microsoft.com/office/drawing/2014/main" val="20000"/>
                    </a:ext>
                  </a:extLst>
                </a:gridCol>
                <a:gridCol w="2670183">
                  <a:extLst>
                    <a:ext uri="{9D8B030D-6E8A-4147-A177-3AD203B41FA5}">
                      <a16:colId xmlns:a16="http://schemas.microsoft.com/office/drawing/2014/main" val="20001"/>
                    </a:ext>
                  </a:extLst>
                </a:gridCol>
                <a:gridCol w="1782548">
                  <a:extLst>
                    <a:ext uri="{9D8B030D-6E8A-4147-A177-3AD203B41FA5}">
                      <a16:colId xmlns:a16="http://schemas.microsoft.com/office/drawing/2014/main" val="20002"/>
                    </a:ext>
                  </a:extLst>
                </a:gridCol>
                <a:gridCol w="2163416">
                  <a:extLst>
                    <a:ext uri="{9D8B030D-6E8A-4147-A177-3AD203B41FA5}">
                      <a16:colId xmlns:a16="http://schemas.microsoft.com/office/drawing/2014/main" val="20003"/>
                    </a:ext>
                  </a:extLst>
                </a:gridCol>
                <a:gridCol w="990600">
                  <a:extLst>
                    <a:ext uri="{9D8B030D-6E8A-4147-A177-3AD203B41FA5}">
                      <a16:colId xmlns:a16="http://schemas.microsoft.com/office/drawing/2014/main" val="20004"/>
                    </a:ext>
                  </a:extLst>
                </a:gridCol>
              </a:tblGrid>
              <a:tr h="370840">
                <a:tc>
                  <a:txBody>
                    <a:bodyPr/>
                    <a:lstStyle/>
                    <a:p>
                      <a:pPr algn="ctr"/>
                      <a:r>
                        <a:rPr lang="en-US" dirty="0"/>
                        <a:t>Serial no.</a:t>
                      </a:r>
                    </a:p>
                  </a:txBody>
                  <a:tcPr/>
                </a:tc>
                <a:tc>
                  <a:txBody>
                    <a:bodyPr/>
                    <a:lstStyle/>
                    <a:p>
                      <a:pPr algn="ctr"/>
                      <a:r>
                        <a:rPr lang="en-US" dirty="0"/>
                        <a:t>Problem</a:t>
                      </a:r>
                      <a:r>
                        <a:rPr lang="en-US" baseline="0" dirty="0"/>
                        <a:t> </a:t>
                      </a:r>
                      <a:endParaRPr lang="en-US" dirty="0"/>
                    </a:p>
                  </a:txBody>
                  <a:tcPr/>
                </a:tc>
                <a:tc>
                  <a:txBody>
                    <a:bodyPr/>
                    <a:lstStyle/>
                    <a:p>
                      <a:pPr algn="ctr"/>
                      <a:r>
                        <a:rPr lang="en-US" dirty="0"/>
                        <a:t>Heuristic </a:t>
                      </a:r>
                    </a:p>
                  </a:txBody>
                  <a:tcPr/>
                </a:tc>
                <a:tc>
                  <a:txBody>
                    <a:bodyPr/>
                    <a:lstStyle/>
                    <a:p>
                      <a:pPr algn="ctr"/>
                      <a:r>
                        <a:rPr lang="en-US" dirty="0"/>
                        <a:t>Suggestion</a:t>
                      </a:r>
                    </a:p>
                  </a:txBody>
                  <a:tcPr/>
                </a:tc>
                <a:tc>
                  <a:txBody>
                    <a:bodyPr/>
                    <a:lstStyle/>
                    <a:p>
                      <a:pPr algn="ctr"/>
                      <a:r>
                        <a:rPr lang="en-US" dirty="0"/>
                        <a:t>Severity </a:t>
                      </a:r>
                    </a:p>
                  </a:txBody>
                  <a:tcPr/>
                </a:tc>
                <a:extLst>
                  <a:ext uri="{0D108BD9-81ED-4DB2-BD59-A6C34878D82A}">
                    <a16:rowId xmlns:a16="http://schemas.microsoft.com/office/drawing/2014/main" val="10000"/>
                  </a:ext>
                </a:extLst>
              </a:tr>
              <a:tr h="370840">
                <a:tc>
                  <a:txBody>
                    <a:bodyPr/>
                    <a:lstStyle/>
                    <a:p>
                      <a:r>
                        <a:rPr lang="en-US" dirty="0"/>
                        <a:t>1</a:t>
                      </a:r>
                    </a:p>
                  </a:txBody>
                  <a:tcPr/>
                </a:tc>
                <a:tc>
                  <a:txBody>
                    <a:bodyPr/>
                    <a:lstStyle/>
                    <a:p>
                      <a:r>
                        <a:rPr lang="en-US" dirty="0"/>
                        <a:t>The “Cancel” button is missing from the XX</a:t>
                      </a:r>
                      <a:r>
                        <a:rPr lang="en-US" baseline="0" dirty="0"/>
                        <a:t>X dialogue box</a:t>
                      </a:r>
                      <a:endParaRPr lang="en-US" dirty="0"/>
                    </a:p>
                  </a:txBody>
                  <a:tcPr/>
                </a:tc>
                <a:tc>
                  <a:txBody>
                    <a:bodyPr/>
                    <a:lstStyle/>
                    <a:p>
                      <a:r>
                        <a:rPr lang="en-US" dirty="0"/>
                        <a:t>User</a:t>
                      </a:r>
                      <a:r>
                        <a:rPr lang="en-US" baseline="0" dirty="0"/>
                        <a:t> control </a:t>
                      </a:r>
                      <a:r>
                        <a:rPr lang="en-US" baseline="0"/>
                        <a:t>and freedom</a:t>
                      </a:r>
                      <a:r>
                        <a:rPr lang="en-US"/>
                        <a:t>, </a:t>
                      </a:r>
                      <a:r>
                        <a:rPr lang="en-US" dirty="0"/>
                        <a:t>consistency</a:t>
                      </a:r>
                    </a:p>
                  </a:txBody>
                  <a:tcPr/>
                </a:tc>
                <a:tc>
                  <a:txBody>
                    <a:bodyPr/>
                    <a:lstStyle/>
                    <a:p>
                      <a:r>
                        <a:rPr lang="en-US" dirty="0"/>
                        <a:t>Add “Cancel” button at the right side</a:t>
                      </a:r>
                      <a:r>
                        <a:rPr lang="en-US" baseline="0" dirty="0"/>
                        <a:t> of “OK” button</a:t>
                      </a:r>
                      <a:endParaRPr lang="en-US" dirty="0"/>
                    </a:p>
                  </a:txBody>
                  <a:tcPr/>
                </a:tc>
                <a:tc>
                  <a:txBody>
                    <a:bodyPr/>
                    <a:lstStyle/>
                    <a:p>
                      <a:r>
                        <a:rPr lang="en-US" dirty="0"/>
                        <a:t>3</a:t>
                      </a:r>
                    </a:p>
                  </a:txBody>
                  <a:tcPr/>
                </a:tc>
                <a:extLst>
                  <a:ext uri="{0D108BD9-81ED-4DB2-BD59-A6C34878D82A}">
                    <a16:rowId xmlns:a16="http://schemas.microsoft.com/office/drawing/2014/main" val="10001"/>
                  </a:ext>
                </a:extLst>
              </a:tr>
              <a:tr h="370840">
                <a:tc>
                  <a:txBody>
                    <a:bodyPr/>
                    <a:lstStyle/>
                    <a:p>
                      <a:r>
                        <a:rPr lang="en-US" dirty="0"/>
                        <a:t>2</a:t>
                      </a:r>
                    </a:p>
                  </a:txBody>
                  <a:tcPr/>
                </a:tc>
                <a:tc>
                  <a:txBody>
                    <a:bodyPr/>
                    <a:lstStyle/>
                    <a:p>
                      <a:r>
                        <a:rPr lang="en-US" dirty="0"/>
                        <a:t>The color of the</a:t>
                      </a:r>
                      <a:r>
                        <a:rPr lang="en-US" baseline="0" dirty="0"/>
                        <a:t> “XXX” button on screen “ABC” is a bit lighter than the other buttons</a:t>
                      </a:r>
                      <a:endParaRPr lang="en-US" dirty="0"/>
                    </a:p>
                  </a:txBody>
                  <a:tcPr/>
                </a:tc>
                <a:tc>
                  <a:txBody>
                    <a:bodyPr/>
                    <a:lstStyle/>
                    <a:p>
                      <a:r>
                        <a:rPr lang="en-US" dirty="0"/>
                        <a:t>Consistency</a:t>
                      </a:r>
                    </a:p>
                  </a:txBody>
                  <a:tcPr/>
                </a:tc>
                <a:tc>
                  <a:txBody>
                    <a:bodyPr/>
                    <a:lstStyle/>
                    <a:p>
                      <a:r>
                        <a:rPr lang="en-US" dirty="0"/>
                        <a:t>Change the color</a:t>
                      </a:r>
                      <a:r>
                        <a:rPr lang="en-US" baseline="0" dirty="0"/>
                        <a:t> to a bit darker shade</a:t>
                      </a:r>
                      <a:endParaRPr lang="en-US" dirty="0"/>
                    </a:p>
                  </a:txBody>
                  <a:tcPr/>
                </a:tc>
                <a:tc>
                  <a:txBody>
                    <a:bodyPr/>
                    <a:lstStyle/>
                    <a:p>
                      <a:r>
                        <a:rPr lang="en-US" dirty="0"/>
                        <a:t>1</a:t>
                      </a:r>
                    </a:p>
                  </a:txBody>
                  <a:tcPr/>
                </a:tc>
                <a:extLst>
                  <a:ext uri="{0D108BD9-81ED-4DB2-BD59-A6C34878D82A}">
                    <a16:rowId xmlns:a16="http://schemas.microsoft.com/office/drawing/2014/main" val="10002"/>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577607942"/>
              </p:ext>
            </p:extLst>
          </p:nvPr>
        </p:nvGraphicFramePr>
        <p:xfrm>
          <a:off x="304800" y="4495800"/>
          <a:ext cx="8595519" cy="1600200"/>
        </p:xfrm>
        <a:graphic>
          <a:graphicData uri="http://schemas.openxmlformats.org/drawingml/2006/table">
            <a:tbl>
              <a:tblPr firstRow="1" firstCol="1" bandRow="1">
                <a:tableStyleId>{5C22544A-7EE6-4342-B048-85BDC9FD1C3A}</a:tableStyleId>
              </a:tblPr>
              <a:tblGrid>
                <a:gridCol w="894557">
                  <a:extLst>
                    <a:ext uri="{9D8B030D-6E8A-4147-A177-3AD203B41FA5}">
                      <a16:colId xmlns:a16="http://schemas.microsoft.com/office/drawing/2014/main" val="20000"/>
                    </a:ext>
                  </a:extLst>
                </a:gridCol>
                <a:gridCol w="7700962">
                  <a:extLst>
                    <a:ext uri="{9D8B030D-6E8A-4147-A177-3AD203B41FA5}">
                      <a16:colId xmlns:a16="http://schemas.microsoft.com/office/drawing/2014/main" val="20001"/>
                    </a:ext>
                  </a:extLst>
                </a:gridCol>
              </a:tblGrid>
              <a:tr h="266700">
                <a:tc>
                  <a:txBody>
                    <a:bodyPr/>
                    <a:lstStyle/>
                    <a:p>
                      <a:pPr marL="0" marR="0" algn="ctr">
                        <a:spcBef>
                          <a:spcPts val="0"/>
                        </a:spcBef>
                        <a:spcAft>
                          <a:spcPts val="0"/>
                        </a:spcAft>
                        <a:tabLst>
                          <a:tab pos="4088765" algn="l"/>
                        </a:tabLst>
                      </a:pPr>
                      <a:r>
                        <a:rPr lang="en-US" sz="1700" dirty="0">
                          <a:effectLst/>
                        </a:rPr>
                        <a:t>Score</a:t>
                      </a: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tc>
                  <a:txBody>
                    <a:bodyPr/>
                    <a:lstStyle/>
                    <a:p>
                      <a:pPr marL="0" marR="0" algn="ctr">
                        <a:spcBef>
                          <a:spcPts val="0"/>
                        </a:spcBef>
                        <a:spcAft>
                          <a:spcPts val="0"/>
                        </a:spcAft>
                        <a:tabLst>
                          <a:tab pos="4088765" algn="l"/>
                        </a:tabLst>
                      </a:pPr>
                      <a:r>
                        <a:rPr lang="en-US" sz="1700">
                          <a:effectLst/>
                        </a:rPr>
                        <a:t>Severity</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extLst>
                  <a:ext uri="{0D108BD9-81ED-4DB2-BD59-A6C34878D82A}">
                    <a16:rowId xmlns:a16="http://schemas.microsoft.com/office/drawing/2014/main" val="10000"/>
                  </a:ext>
                </a:extLst>
              </a:tr>
              <a:tr h="266700">
                <a:tc>
                  <a:txBody>
                    <a:bodyPr/>
                    <a:lstStyle/>
                    <a:p>
                      <a:pPr marL="0" marR="0" algn="ctr">
                        <a:spcBef>
                          <a:spcPts val="0"/>
                        </a:spcBef>
                        <a:spcAft>
                          <a:spcPts val="0"/>
                        </a:spcAft>
                        <a:tabLst>
                          <a:tab pos="4088765" algn="l"/>
                        </a:tabLst>
                      </a:pPr>
                      <a:r>
                        <a:rPr lang="en-US" sz="1700">
                          <a:effectLst/>
                        </a:rPr>
                        <a:t>0</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tc>
                  <a:txBody>
                    <a:bodyPr/>
                    <a:lstStyle/>
                    <a:p>
                      <a:pPr marL="0" marR="0" algn="l">
                        <a:spcBef>
                          <a:spcPts val="0"/>
                        </a:spcBef>
                        <a:spcAft>
                          <a:spcPts val="0"/>
                        </a:spcAft>
                        <a:tabLst>
                          <a:tab pos="4088765" algn="l"/>
                        </a:tabLst>
                      </a:pPr>
                      <a:r>
                        <a:rPr lang="en-US" sz="1700">
                          <a:effectLst/>
                        </a:rPr>
                        <a:t>I don’t agree that this is a usability problem at all</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extLst>
                  <a:ext uri="{0D108BD9-81ED-4DB2-BD59-A6C34878D82A}">
                    <a16:rowId xmlns:a16="http://schemas.microsoft.com/office/drawing/2014/main" val="10001"/>
                  </a:ext>
                </a:extLst>
              </a:tr>
              <a:tr h="266700">
                <a:tc>
                  <a:txBody>
                    <a:bodyPr/>
                    <a:lstStyle/>
                    <a:p>
                      <a:pPr marL="0" marR="0" algn="ctr">
                        <a:spcBef>
                          <a:spcPts val="0"/>
                        </a:spcBef>
                        <a:spcAft>
                          <a:spcPts val="0"/>
                        </a:spcAft>
                        <a:tabLst>
                          <a:tab pos="4088765" algn="l"/>
                        </a:tabLst>
                      </a:pPr>
                      <a:r>
                        <a:rPr lang="en-US" sz="1700">
                          <a:effectLst/>
                        </a:rPr>
                        <a:t>1</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tc>
                  <a:txBody>
                    <a:bodyPr/>
                    <a:lstStyle/>
                    <a:p>
                      <a:pPr marL="0" marR="0" algn="l">
                        <a:spcBef>
                          <a:spcPts val="0"/>
                        </a:spcBef>
                        <a:spcAft>
                          <a:spcPts val="0"/>
                        </a:spcAft>
                        <a:tabLst>
                          <a:tab pos="4088765" algn="l"/>
                        </a:tabLst>
                      </a:pPr>
                      <a:r>
                        <a:rPr lang="en-US" sz="1700">
                          <a:effectLst/>
                        </a:rPr>
                        <a:t>Cosmetic problem only: need not be fixed unless extra time is available on project</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extLst>
                  <a:ext uri="{0D108BD9-81ED-4DB2-BD59-A6C34878D82A}">
                    <a16:rowId xmlns:a16="http://schemas.microsoft.com/office/drawing/2014/main" val="10002"/>
                  </a:ext>
                </a:extLst>
              </a:tr>
              <a:tr h="266700">
                <a:tc>
                  <a:txBody>
                    <a:bodyPr/>
                    <a:lstStyle/>
                    <a:p>
                      <a:pPr marL="0" marR="0" algn="ctr">
                        <a:spcBef>
                          <a:spcPts val="0"/>
                        </a:spcBef>
                        <a:spcAft>
                          <a:spcPts val="0"/>
                        </a:spcAft>
                        <a:tabLst>
                          <a:tab pos="4088765" algn="l"/>
                        </a:tabLst>
                      </a:pPr>
                      <a:r>
                        <a:rPr lang="en-US" sz="1700">
                          <a:effectLst/>
                        </a:rPr>
                        <a:t>2</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tc>
                  <a:txBody>
                    <a:bodyPr/>
                    <a:lstStyle/>
                    <a:p>
                      <a:pPr marL="0" marR="0" algn="l">
                        <a:spcBef>
                          <a:spcPts val="0"/>
                        </a:spcBef>
                        <a:spcAft>
                          <a:spcPts val="0"/>
                        </a:spcAft>
                        <a:tabLst>
                          <a:tab pos="4088765" algn="l"/>
                        </a:tabLst>
                      </a:pPr>
                      <a:r>
                        <a:rPr lang="en-US" sz="1700">
                          <a:effectLst/>
                        </a:rPr>
                        <a:t>Minor usability problem: fixing this should be given low priority</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extLst>
                  <a:ext uri="{0D108BD9-81ED-4DB2-BD59-A6C34878D82A}">
                    <a16:rowId xmlns:a16="http://schemas.microsoft.com/office/drawing/2014/main" val="10003"/>
                  </a:ext>
                </a:extLst>
              </a:tr>
              <a:tr h="266700">
                <a:tc>
                  <a:txBody>
                    <a:bodyPr/>
                    <a:lstStyle/>
                    <a:p>
                      <a:pPr marL="0" marR="0" algn="ctr">
                        <a:spcBef>
                          <a:spcPts val="0"/>
                        </a:spcBef>
                        <a:spcAft>
                          <a:spcPts val="0"/>
                        </a:spcAft>
                        <a:tabLst>
                          <a:tab pos="4088765" algn="l"/>
                        </a:tabLst>
                      </a:pPr>
                      <a:r>
                        <a:rPr lang="en-US" sz="1700">
                          <a:effectLst/>
                        </a:rPr>
                        <a:t>3</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tc>
                  <a:txBody>
                    <a:bodyPr/>
                    <a:lstStyle/>
                    <a:p>
                      <a:pPr marL="0" marR="0" algn="l">
                        <a:spcBef>
                          <a:spcPts val="0"/>
                        </a:spcBef>
                        <a:spcAft>
                          <a:spcPts val="0"/>
                        </a:spcAft>
                        <a:tabLst>
                          <a:tab pos="4088765" algn="l"/>
                        </a:tabLst>
                      </a:pPr>
                      <a:r>
                        <a:rPr lang="en-US" sz="1700">
                          <a:effectLst/>
                        </a:rPr>
                        <a:t>Major usability problem: important to fix, so should be given high priority</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extLst>
                  <a:ext uri="{0D108BD9-81ED-4DB2-BD59-A6C34878D82A}">
                    <a16:rowId xmlns:a16="http://schemas.microsoft.com/office/drawing/2014/main" val="10004"/>
                  </a:ext>
                </a:extLst>
              </a:tr>
              <a:tr h="266700">
                <a:tc>
                  <a:txBody>
                    <a:bodyPr/>
                    <a:lstStyle/>
                    <a:p>
                      <a:pPr marL="0" marR="0" algn="ctr">
                        <a:spcBef>
                          <a:spcPts val="0"/>
                        </a:spcBef>
                        <a:spcAft>
                          <a:spcPts val="0"/>
                        </a:spcAft>
                        <a:tabLst>
                          <a:tab pos="4088765" algn="l"/>
                        </a:tabLst>
                      </a:pPr>
                      <a:r>
                        <a:rPr lang="en-US" sz="1700">
                          <a:effectLst/>
                        </a:rPr>
                        <a:t>4</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tc>
                  <a:txBody>
                    <a:bodyPr/>
                    <a:lstStyle/>
                    <a:p>
                      <a:pPr marL="0" marR="0" algn="l">
                        <a:spcBef>
                          <a:spcPts val="0"/>
                        </a:spcBef>
                        <a:spcAft>
                          <a:spcPts val="0"/>
                        </a:spcAft>
                        <a:tabLst>
                          <a:tab pos="4088765" algn="l"/>
                        </a:tabLst>
                      </a:pPr>
                      <a:r>
                        <a:rPr lang="en-US" sz="1700" dirty="0">
                          <a:effectLst/>
                        </a:rPr>
                        <a:t>Usability catastrophe: imperative to fix this before product can be released</a:t>
                      </a: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0015" marR="120015" marT="0"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5349091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F6DB2-C35A-4AE2-9795-2AB346BAF6C3}"/>
              </a:ext>
            </a:extLst>
          </p:cNvPr>
          <p:cNvSpPr>
            <a:spLocks noGrp="1"/>
          </p:cNvSpPr>
          <p:nvPr>
            <p:ph type="title"/>
          </p:nvPr>
        </p:nvSpPr>
        <p:spPr/>
        <p:txBody>
          <a:bodyPr/>
          <a:lstStyle/>
          <a:p>
            <a:r>
              <a:rPr lang="en-US" dirty="0"/>
              <a:t>Useful Links </a:t>
            </a:r>
          </a:p>
        </p:txBody>
      </p:sp>
      <p:sp>
        <p:nvSpPr>
          <p:cNvPr id="3" name="Content Placeholder 2">
            <a:extLst>
              <a:ext uri="{FF2B5EF4-FFF2-40B4-BE49-F238E27FC236}">
                <a16:creationId xmlns:a16="http://schemas.microsoft.com/office/drawing/2014/main" id="{807381CC-C6C3-4947-AAB9-44BA9CFDA37B}"/>
              </a:ext>
            </a:extLst>
          </p:cNvPr>
          <p:cNvSpPr>
            <a:spLocks noGrp="1"/>
          </p:cNvSpPr>
          <p:nvPr>
            <p:ph sz="quarter" idx="1"/>
          </p:nvPr>
        </p:nvSpPr>
        <p:spPr/>
        <p:txBody>
          <a:bodyPr/>
          <a:lstStyle/>
          <a:p>
            <a:r>
              <a:rPr lang="en-US" dirty="0">
                <a:hlinkClick r:id="rId2"/>
              </a:rPr>
              <a:t>https://usabilitygeek.com/heuristic-evaluation-introduction/</a:t>
            </a:r>
            <a:r>
              <a:rPr lang="en-US" dirty="0"/>
              <a:t> </a:t>
            </a:r>
          </a:p>
          <a:p>
            <a:endParaRPr lang="en-US" dirty="0"/>
          </a:p>
          <a:p>
            <a:r>
              <a:rPr lang="en-US" dirty="0">
                <a:hlinkClick r:id="rId3"/>
              </a:rPr>
              <a:t>https://uxdesign.cc/ux-case-study-heuristic-analysis-of-yuppiechef-com-c92098052ce4</a:t>
            </a:r>
            <a:r>
              <a:rPr lang="en-US" dirty="0"/>
              <a:t> </a:t>
            </a:r>
          </a:p>
          <a:p>
            <a:endParaRPr lang="en-US" dirty="0"/>
          </a:p>
          <a:p>
            <a:r>
              <a:rPr lang="en-US" dirty="0">
                <a:hlinkClick r:id="rId4"/>
              </a:rPr>
              <a:t>https://uxgorilla.com/heuristic-evaluation/</a:t>
            </a:r>
            <a:r>
              <a:rPr lang="en-US" dirty="0"/>
              <a:t> </a:t>
            </a:r>
          </a:p>
          <a:p>
            <a:endParaRPr lang="en-US" dirty="0"/>
          </a:p>
          <a:p>
            <a:r>
              <a:rPr lang="en-US" dirty="0">
                <a:hlinkClick r:id="rId5"/>
              </a:rPr>
              <a:t>https://blog.prototypr.io/10-usability-heuristics-with-examples-4a81ada920c</a:t>
            </a:r>
            <a:r>
              <a:rPr lang="en-US" dirty="0"/>
              <a:t> </a:t>
            </a:r>
          </a:p>
          <a:p>
            <a:endParaRPr lang="en-US" dirty="0"/>
          </a:p>
          <a:p>
            <a:endParaRPr lang="en-US" dirty="0"/>
          </a:p>
        </p:txBody>
      </p:sp>
    </p:spTree>
    <p:extLst>
      <p:ext uri="{BB962C8B-B14F-4D97-AF65-F5344CB8AC3E}">
        <p14:creationId xmlns:p14="http://schemas.microsoft.com/office/powerpoint/2010/main" val="38976622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Apex">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6955</TotalTime>
  <Words>4466</Words>
  <Application>Microsoft Office PowerPoint</Application>
  <PresentationFormat>On-screen Show (4:3)</PresentationFormat>
  <Paragraphs>595</Paragraphs>
  <Slides>85</Slides>
  <Notes>18</Notes>
  <HiddenSlides>10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3</vt:i4>
      </vt:variant>
      <vt:variant>
        <vt:lpstr>Slide Titles</vt:lpstr>
      </vt:variant>
      <vt:variant>
        <vt:i4>85</vt:i4>
      </vt:variant>
    </vt:vector>
  </HeadingPairs>
  <TitlesOfParts>
    <vt:vector size="96" baseType="lpstr">
      <vt:lpstr>Arial</vt:lpstr>
      <vt:lpstr>Calibri</vt:lpstr>
      <vt:lpstr>Franklin Gothic Book</vt:lpstr>
      <vt:lpstr>Perpetua</vt:lpstr>
      <vt:lpstr>Times</vt:lpstr>
      <vt:lpstr>Times New Roman</vt:lpstr>
      <vt:lpstr>Wingdings 2</vt:lpstr>
      <vt:lpstr>Equity</vt:lpstr>
      <vt:lpstr>Document</vt:lpstr>
      <vt:lpstr>Clip</vt:lpstr>
      <vt:lpstr>Photo Editor Photo</vt:lpstr>
      <vt:lpstr>Human Computer Interaction   Evaluations – Heuristics     </vt:lpstr>
      <vt:lpstr>Usability Evaluation</vt:lpstr>
      <vt:lpstr>PowerPoint Presentation</vt:lpstr>
      <vt:lpstr>PowerPoint Presentation</vt:lpstr>
      <vt:lpstr>Usability Evaluation</vt:lpstr>
      <vt:lpstr>Modified Soup Analogy</vt:lpstr>
      <vt:lpstr>Exploratory Evaluation</vt:lpstr>
      <vt:lpstr>Predictive Evaluation</vt:lpstr>
      <vt:lpstr>Advantage of Predictive evaluation</vt:lpstr>
      <vt:lpstr>Formative Evaluation</vt:lpstr>
      <vt:lpstr>Summative Evaluation</vt:lpstr>
      <vt:lpstr>Usability Evaluation Methods</vt:lpstr>
      <vt:lpstr>Usability Evaluations</vt:lpstr>
      <vt:lpstr>Evaluation Methods</vt:lpstr>
      <vt:lpstr>Heuristic/Expert Inspections</vt:lpstr>
      <vt:lpstr>Heuristic Evaluation Process </vt:lpstr>
      <vt:lpstr>Briefing session </vt:lpstr>
      <vt:lpstr>1 – Briefing Session</vt:lpstr>
      <vt:lpstr>2 – Evaluation </vt:lpstr>
      <vt:lpstr>3 – Debriefing Session</vt:lpstr>
      <vt:lpstr>No. of evaluators &amp; problems</vt:lpstr>
      <vt:lpstr>Severity Ratings</vt:lpstr>
      <vt:lpstr>Nielsen’s Ten Heuristics</vt:lpstr>
      <vt:lpstr>Nielsen’s Ten Heuristics</vt:lpstr>
      <vt:lpstr>1. Provide feedback</vt:lpstr>
      <vt:lpstr>1. Provide feedback</vt:lpstr>
      <vt:lpstr>1. Provide feedback</vt:lpstr>
      <vt:lpstr>1. Provide feedback</vt:lpstr>
      <vt:lpstr>1. Provide feedback</vt:lpstr>
      <vt:lpstr>1. Provide feedback</vt:lpstr>
      <vt:lpstr>Nielsen’s Ten Heuristics</vt:lpstr>
      <vt:lpstr>2. Speak the users’ language</vt:lpstr>
      <vt:lpstr>2. Speak the users’ language</vt:lpstr>
      <vt:lpstr>2. Speak the users’ language</vt:lpstr>
      <vt:lpstr>2. Speak the users’ language</vt:lpstr>
      <vt:lpstr>Nielsen’s Ten Heuristics</vt:lpstr>
      <vt:lpstr>3.  Provide clearly marked exits</vt:lpstr>
      <vt:lpstr>3.  Provide clearly marked exits</vt:lpstr>
      <vt:lpstr>3. Provide clearly marked exits</vt:lpstr>
      <vt:lpstr>Nielsen’s Ten Heuristics</vt:lpstr>
      <vt:lpstr>4. Be consistent</vt:lpstr>
      <vt:lpstr>4. Be consistent</vt:lpstr>
      <vt:lpstr>4. Be Consistent</vt:lpstr>
      <vt:lpstr>Nielsen’s Ten Heuristics</vt:lpstr>
      <vt:lpstr>5. Minimize user’s memory load</vt:lpstr>
      <vt:lpstr>5. Minimize user’s memory load</vt:lpstr>
      <vt:lpstr>5. Minimize  user’s memory  load</vt:lpstr>
      <vt:lpstr>5. Minimize user’s memory load</vt:lpstr>
      <vt:lpstr>Nielsen’s Ten Heuristics</vt:lpstr>
      <vt:lpstr>6. Provide shortcuts</vt:lpstr>
      <vt:lpstr>6. Provide shortcuts</vt:lpstr>
      <vt:lpstr>PowerPoint Presentation</vt:lpstr>
      <vt:lpstr>Nielsen’s Ten Heuristics</vt:lpstr>
      <vt:lpstr>7. Minimalist Design </vt:lpstr>
      <vt:lpstr>7. Minimalist Design </vt:lpstr>
      <vt:lpstr>7. Minimalist Design </vt:lpstr>
      <vt:lpstr>7. Minimalist Design </vt:lpstr>
      <vt:lpstr>Nielsen’s Ten Heuristics</vt:lpstr>
      <vt:lpstr>8. Prevent Errors</vt:lpstr>
      <vt:lpstr>8. Prevent Errors</vt:lpstr>
      <vt:lpstr>8. Prevent Errors</vt:lpstr>
      <vt:lpstr>Nielsen’s Ten Heuristics</vt:lpstr>
      <vt:lpstr>Help users recognize, diagnose and recover from errors</vt:lpstr>
      <vt:lpstr>9. Deal with errors in a positive manner</vt:lpstr>
      <vt:lpstr>9. Deal with errors in a positive manner</vt:lpstr>
      <vt:lpstr>9. Deal with errors in a positive manner</vt:lpstr>
      <vt:lpstr>9. Deal with errors in a positive manner</vt:lpstr>
      <vt:lpstr>9. Deal with errors in a positive manner</vt:lpstr>
      <vt:lpstr>Nielsen’s Ten Heuristics</vt:lpstr>
      <vt:lpstr>PowerPoint Presentation</vt:lpstr>
      <vt:lpstr>10. Provide help</vt:lpstr>
      <vt:lpstr>10. Provide help</vt:lpstr>
      <vt:lpstr>10. Provide help</vt:lpstr>
      <vt:lpstr>10. Types of help</vt:lpstr>
      <vt:lpstr>10. Types of help</vt:lpstr>
      <vt:lpstr>10. Types of help</vt:lpstr>
      <vt:lpstr>10. Types of help</vt:lpstr>
      <vt:lpstr>10. Types of help</vt:lpstr>
      <vt:lpstr>Chunking the Heuristics</vt:lpstr>
      <vt:lpstr>Shneiderman’s 8 Golden Rules</vt:lpstr>
      <vt:lpstr>Norman’s 7 Principles</vt:lpstr>
      <vt:lpstr>Performing a Heuristic Evaluation</vt:lpstr>
      <vt:lpstr>Performing a Heuristic Evaluation</vt:lpstr>
      <vt:lpstr>Sample spread sheet</vt:lpstr>
      <vt:lpstr>Useful Links </vt:lpstr>
    </vt:vector>
  </TitlesOfParts>
  <Company>Personal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Systems</dc:title>
  <cp:revision>620</cp:revision>
  <dcterms:created xsi:type="dcterms:W3CDTF">2010-02-07T17:56:13Z</dcterms:created>
  <dcterms:modified xsi:type="dcterms:W3CDTF">2021-01-22T10:36:23Z</dcterms:modified>
</cp:coreProperties>
</file>