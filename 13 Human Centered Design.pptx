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3"/>
  </p:notesMasterIdLst>
  <p:sldIdLst>
    <p:sldId id="256" r:id="rId3"/>
    <p:sldId id="257" r:id="rId4"/>
    <p:sldId id="258" r:id="rId5"/>
    <p:sldId id="450" r:id="rId6"/>
    <p:sldId id="451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501" r:id="rId17"/>
    <p:sldId id="486" r:id="rId18"/>
    <p:sldId id="502" r:id="rId19"/>
    <p:sldId id="503" r:id="rId20"/>
    <p:sldId id="482" r:id="rId21"/>
    <p:sldId id="484" r:id="rId22"/>
    <p:sldId id="426" r:id="rId23"/>
    <p:sldId id="408" r:id="rId24"/>
    <p:sldId id="410" r:id="rId25"/>
    <p:sldId id="428" r:id="rId26"/>
    <p:sldId id="500" r:id="rId27"/>
    <p:sldId id="429" r:id="rId28"/>
    <p:sldId id="418" r:id="rId29"/>
    <p:sldId id="521" r:id="rId30"/>
    <p:sldId id="268" r:id="rId31"/>
    <p:sldId id="284" r:id="rId3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20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D5D76A56-0ABD-4E3B-A328-4837C8804593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9648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100" b="0" strike="noStrike" spc="-1" dirty="0">
              <a:latin typeface="Arial"/>
            </a:endParaRPr>
          </a:p>
        </p:txBody>
      </p:sp>
      <p:sp>
        <p:nvSpPr>
          <p:cNvPr id="177" name="Google Shape;159;g1234ae6c3d0_2_106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138C98BE-3BB3-4048-A487-3C96FD2BB2E2}" type="slidenum">
              <a:rPr lang="en" sz="1400" b="0" strike="noStrike" spc="-1">
                <a:solidFill>
                  <a:srgbClr val="000000"/>
                </a:solidFill>
                <a:latin typeface="Arial"/>
                <a:ea typeface="Arial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6224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74FC5216-D1F7-61B0-66B0-9C4019E780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4A147FD-5EDB-4CBA-A162-3EFB6A1D83EA}" type="slidenum">
              <a:rPr lang="en-GB" altLang="en-US"/>
              <a:pPr>
                <a:spcBef>
                  <a:spcPct val="0"/>
                </a:spcBef>
              </a:pPr>
              <a:t>4</a:t>
            </a:fld>
            <a:endParaRPr lang="en-GB" altLang="en-US"/>
          </a:p>
        </p:txBody>
      </p:sp>
      <p:sp>
        <p:nvSpPr>
          <p:cNvPr id="87043" name="Rectangle 7">
            <a:extLst>
              <a:ext uri="{FF2B5EF4-FFF2-40B4-BE49-F238E27FC236}">
                <a16:creationId xmlns:a16="http://schemas.microsoft.com/office/drawing/2014/main" id="{151CD5D1-E566-78D8-39D8-030CFBAC4F6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51DD2AA4-1C4A-4697-8699-BDC87DFB2F00}" type="slidenum">
              <a:rPr lang="en-US" altLang="en-US">
                <a:latin typeface="Times" panose="02020603050405020304" pitchFamily="18" charset="0"/>
              </a:rPr>
              <a:pPr algn="r">
                <a:spcBef>
                  <a:spcPct val="0"/>
                </a:spcBef>
              </a:pPr>
              <a:t>4</a:t>
            </a:fld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87044" name="Rectangle 2">
            <a:extLst>
              <a:ext uri="{FF2B5EF4-FFF2-40B4-BE49-F238E27FC236}">
                <a16:creationId xmlns:a16="http://schemas.microsoft.com/office/drawing/2014/main" id="{A36D4FC4-9570-8BDA-B89E-5598412D25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5" name="Rectangle 3">
            <a:extLst>
              <a:ext uri="{FF2B5EF4-FFF2-40B4-BE49-F238E27FC236}">
                <a16:creationId xmlns:a16="http://schemas.microsoft.com/office/drawing/2014/main" id="{C788D819-3F31-F0B7-F63B-A931849B51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>
            <a:extLst>
              <a:ext uri="{FF2B5EF4-FFF2-40B4-BE49-F238E27FC236}">
                <a16:creationId xmlns:a16="http://schemas.microsoft.com/office/drawing/2014/main" id="{025AE2F3-D178-EB5C-171B-3472C44F3D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ln/>
        </p:spPr>
      </p:sp>
      <p:sp>
        <p:nvSpPr>
          <p:cNvPr id="89091" name="Notes Placeholder 2">
            <a:extLst>
              <a:ext uri="{FF2B5EF4-FFF2-40B4-BE49-F238E27FC236}">
                <a16:creationId xmlns:a16="http://schemas.microsoft.com/office/drawing/2014/main" id="{7321DBF8-9708-D9DA-A11F-0BDE1DCB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>
                <a:latin typeface="Arial" panose="020B0604020202020204" pitchFamily="34" charset="0"/>
              </a:rPr>
              <a:t>Figure 3.8</a:t>
            </a:r>
          </a:p>
        </p:txBody>
      </p:sp>
      <p:sp>
        <p:nvSpPr>
          <p:cNvPr id="89092" name="Slide Number Placeholder 3">
            <a:extLst>
              <a:ext uri="{FF2B5EF4-FFF2-40B4-BE49-F238E27FC236}">
                <a16:creationId xmlns:a16="http://schemas.microsoft.com/office/drawing/2014/main" id="{A67D2CAB-D1B4-011C-DFCC-4D42019875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9010300-754D-4741-9470-DB2D894637E7}" type="slidenum">
              <a:rPr lang="en-GB" altLang="en-US"/>
              <a:pPr>
                <a:spcBef>
                  <a:spcPct val="0"/>
                </a:spcBef>
              </a:pPr>
              <a:t>5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2F40C04-5521-4E45-AEA7-90545676157A}" type="slidenum">
              <a:rPr lang="en-GB" altLang="en-US"/>
              <a:pPr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97693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2C06021-4228-4DAE-BE19-9DB048796916}" type="slidenum">
              <a:rPr lang="en-GB" altLang="en-US"/>
              <a:pPr/>
              <a:t>17</a:t>
            </a:fld>
            <a:endParaRPr lang="en-GB" altLang="en-US"/>
          </a:p>
        </p:txBody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19B64679-A5FD-4A61-830B-1B40C39D5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The most familiar </a:t>
            </a:r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scale models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represent the physical appearance of an object in </a:t>
            </a:r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miniature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,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97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BC4A0D8-D208-4814-81C5-7F1129F06991}" type="slidenum">
              <a:rPr lang="en-GB" altLang="en-US"/>
              <a:pPr/>
              <a:t>18</a:t>
            </a:fld>
            <a:endParaRPr lang="en-GB" alt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03216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200" dirty="0"/>
              <a:t>Interactive exploration with envisioned product</a:t>
            </a:r>
          </a:p>
          <a:p>
            <a:pPr>
              <a:lnSpc>
                <a:spcPct val="90000"/>
              </a:lnSpc>
            </a:pPr>
            <a:r>
              <a:rPr lang="en-US" altLang="en-US" sz="1200" i="1" u="sng" dirty="0"/>
              <a:t>Clarifies vague requirements</a:t>
            </a:r>
            <a:r>
              <a:rPr lang="en-US" altLang="en-US" sz="1200" dirty="0"/>
              <a:t> with concrete communication between stakeholders</a:t>
            </a:r>
            <a:endParaRPr lang="en-US" altLang="en-US" sz="1200" i="1" dirty="0"/>
          </a:p>
          <a:p>
            <a:pPr>
              <a:lnSpc>
                <a:spcPct val="90000"/>
              </a:lnSpc>
            </a:pPr>
            <a:r>
              <a:rPr lang="en-US" altLang="en-US" sz="1200" dirty="0"/>
              <a:t>supports design decisions with </a:t>
            </a:r>
            <a:r>
              <a:rPr lang="en-US" altLang="en-US" sz="1200" i="1" dirty="0"/>
              <a:t>forced reflection</a:t>
            </a:r>
          </a:p>
          <a:p>
            <a:pPr>
              <a:lnSpc>
                <a:spcPct val="90000"/>
              </a:lnSpc>
            </a:pPr>
            <a:r>
              <a:rPr lang="en-US" altLang="en-US" sz="1200" dirty="0"/>
              <a:t>Tests feasibility &amp; compatibility</a:t>
            </a:r>
          </a:p>
          <a:p>
            <a:pPr>
              <a:lnSpc>
                <a:spcPct val="90000"/>
              </a:lnSpc>
            </a:pPr>
            <a:r>
              <a:rPr lang="en-US" altLang="en-US" sz="1200" dirty="0"/>
              <a:t>Sells product ideas</a:t>
            </a:r>
            <a:endParaRPr lang="en-US" altLang="en-US" sz="1200" i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35D07-CE9A-41EA-8351-FED4C60B3E9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37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35D07-CE9A-41EA-8351-FED4C60B3E9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605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degree of exactness with which something is copied or reproduced.</a:t>
            </a:r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35D07-CE9A-41EA-8351-FED4C60B3E9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04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828720" y="1200240"/>
            <a:ext cx="7486200" cy="3428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28720" y="1200240"/>
            <a:ext cx="7486200" cy="3428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28720" y="1200240"/>
            <a:ext cx="3652920" cy="3428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64520" y="1200240"/>
            <a:ext cx="3652920" cy="3428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ubTitle"/>
          </p:nvPr>
        </p:nvSpPr>
        <p:spPr>
          <a:xfrm>
            <a:off x="828720" y="57240"/>
            <a:ext cx="7485120" cy="3812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28720" y="1200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664520" y="1200240"/>
            <a:ext cx="3652920" cy="3428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828720" y="2991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28720" y="1200240"/>
            <a:ext cx="3652920" cy="3428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64520" y="1200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664520" y="2991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28720" y="1200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64520" y="1200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28720" y="2991240"/>
            <a:ext cx="7486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28720" y="1200240"/>
            <a:ext cx="7486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828720" y="2991240"/>
            <a:ext cx="7486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28720" y="1200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64520" y="1200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828720" y="2991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64520" y="2991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828720" y="1200240"/>
            <a:ext cx="2410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3359880" y="1200240"/>
            <a:ext cx="2410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5891040" y="1200240"/>
            <a:ext cx="2410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828720" y="2991240"/>
            <a:ext cx="2410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body"/>
          </p:nvPr>
        </p:nvSpPr>
        <p:spPr>
          <a:xfrm>
            <a:off x="3359880" y="2991240"/>
            <a:ext cx="2410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7"/>
          <p:cNvSpPr>
            <a:spLocks noGrp="1"/>
          </p:cNvSpPr>
          <p:nvPr>
            <p:ph type="body"/>
          </p:nvPr>
        </p:nvSpPr>
        <p:spPr>
          <a:xfrm>
            <a:off x="5891040" y="2991240"/>
            <a:ext cx="2410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828720" y="1200240"/>
            <a:ext cx="7486200" cy="3428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828720" y="1200240"/>
            <a:ext cx="7486200" cy="3428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828720" y="1200240"/>
            <a:ext cx="3652920" cy="3428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64520" y="1200240"/>
            <a:ext cx="3652920" cy="3428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828720" y="57240"/>
            <a:ext cx="7485120" cy="3812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28720" y="1200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64520" y="1200240"/>
            <a:ext cx="3652920" cy="3428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828720" y="2991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828720" y="1200240"/>
            <a:ext cx="3652920" cy="3428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64520" y="1200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4664520" y="2991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28720" y="1200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64520" y="1200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828720" y="2991240"/>
            <a:ext cx="7486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828720" y="1200240"/>
            <a:ext cx="7486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828720" y="2991240"/>
            <a:ext cx="7486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828720" y="1200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64520" y="1200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828720" y="2991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64520" y="2991240"/>
            <a:ext cx="365292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828720" y="1200240"/>
            <a:ext cx="2410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3359880" y="1200240"/>
            <a:ext cx="2410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5891040" y="1200240"/>
            <a:ext cx="2410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828720" y="2991240"/>
            <a:ext cx="2410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body"/>
          </p:nvPr>
        </p:nvSpPr>
        <p:spPr>
          <a:xfrm>
            <a:off x="3359880" y="2991240"/>
            <a:ext cx="2410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 type="body"/>
          </p:nvPr>
        </p:nvSpPr>
        <p:spPr>
          <a:xfrm>
            <a:off x="5891040" y="2991240"/>
            <a:ext cx="2410200" cy="1635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71450"/>
            <a:ext cx="8153400" cy="74295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3F16-6F8D-46A1-A057-776BA6AD2C46}" type="datetimeFigureOut">
              <a:rPr lang="en-US" smtClean="0"/>
              <a:pPr/>
              <a:t>05-Mar-2025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81D6C9-1B9F-49AE-AE07-342A3A6A70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200150"/>
            <a:ext cx="8153400" cy="33718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683669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5862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38" y="1485900"/>
            <a:ext cx="3815862" cy="1485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2338" y="3086100"/>
            <a:ext cx="3815862" cy="1485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252413" y="4839891"/>
            <a:ext cx="8686800" cy="114300"/>
          </a:xfrm>
        </p:spPr>
        <p:txBody>
          <a:bodyPr/>
          <a:lstStyle>
            <a:lvl1pPr>
              <a:defRPr/>
            </a:lvl1pPr>
          </a:lstStyle>
          <a:p>
            <a:fld id="{A348A4C7-49A4-4418-A370-548E11554D5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396199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5862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338" y="1485900"/>
            <a:ext cx="3815862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252413" y="4839891"/>
            <a:ext cx="8686800" cy="114300"/>
          </a:xfrm>
        </p:spPr>
        <p:txBody>
          <a:bodyPr/>
          <a:lstStyle>
            <a:lvl1pPr>
              <a:defRPr/>
            </a:lvl1pPr>
          </a:lstStyle>
          <a:p>
            <a:fld id="{DA8A2DF0-C0C8-4B35-9A32-CC0457F939E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357237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04787"/>
            <a:ext cx="8153400" cy="652463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1828800"/>
            <a:ext cx="3886200" cy="26860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1828800"/>
            <a:ext cx="3886200" cy="26860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3E233F16-6F8D-46A1-A057-776BA6AD2C46}" type="datetimeFigureOut">
              <a:rPr lang="en-US" smtClean="0"/>
              <a:pPr/>
              <a:t>05-Mar-2025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181D6C9-1B9F-49AE-AE07-342A3A6A70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314450"/>
            <a:ext cx="3886200" cy="48006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314450"/>
            <a:ext cx="3886200" cy="48006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938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56;p13"/>
          <p:cNvGrpSpPr/>
          <p:nvPr/>
        </p:nvGrpSpPr>
        <p:grpSpPr>
          <a:xfrm>
            <a:off x="827640" y="914040"/>
            <a:ext cx="7488720" cy="63720"/>
            <a:chOff x="827640" y="914040"/>
            <a:chExt cx="7488720" cy="63720"/>
          </a:xfrm>
        </p:grpSpPr>
        <p:sp>
          <p:nvSpPr>
            <p:cNvPr id="15" name="Google Shape;57;p13"/>
            <p:cNvSpPr/>
            <p:nvPr/>
          </p:nvSpPr>
          <p:spPr>
            <a:xfrm rot="10800000">
              <a:off x="827640" y="913680"/>
              <a:ext cx="748872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514843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" name="Google Shape;58;p13"/>
            <p:cNvSpPr/>
            <p:nvPr/>
          </p:nvSpPr>
          <p:spPr>
            <a:xfrm rot="10800000">
              <a:off x="827640" y="977040"/>
              <a:ext cx="748872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12700">
              <a:solidFill>
                <a:srgbClr val="514843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28720" y="1719000"/>
            <a:ext cx="4300200" cy="1664280"/>
          </a:xfrm>
          <a:prstGeom prst="rect">
            <a:avLst/>
          </a:prstGeom>
        </p:spPr>
        <p:txBody>
          <a:bodyPr lIns="0" tIns="34200" rIns="0" bIns="34200" anchor="ctr">
            <a:normAutofit/>
          </a:bodyPr>
          <a:lstStyle/>
          <a:p>
            <a:r>
              <a:rPr lang="en-US" sz="33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235840" y="983160"/>
            <a:ext cx="3907800" cy="3156120"/>
          </a:xfrm>
          <a:prstGeom prst="rect">
            <a:avLst/>
          </a:prstGeom>
        </p:spPr>
        <p:txBody>
          <a:bodyPr lIns="90000" tIns="45000" rIns="90000" bIns="45000">
            <a:normAutofit fontScale="5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" name="Google Shape;63;p14"/>
          <p:cNvSpPr/>
          <p:nvPr/>
        </p:nvSpPr>
        <p:spPr>
          <a:xfrm>
            <a:off x="0" y="0"/>
            <a:ext cx="9143640" cy="809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6" name="Google Shape;64;p14"/>
          <p:cNvGrpSpPr/>
          <p:nvPr/>
        </p:nvGrpSpPr>
        <p:grpSpPr>
          <a:xfrm>
            <a:off x="0" y="857160"/>
            <a:ext cx="9143640" cy="47880"/>
            <a:chOff x="0" y="857160"/>
            <a:chExt cx="9143640" cy="47880"/>
          </a:xfrm>
        </p:grpSpPr>
        <p:sp>
          <p:nvSpPr>
            <p:cNvPr id="7" name="Google Shape;65;p14"/>
            <p:cNvSpPr/>
            <p:nvPr/>
          </p:nvSpPr>
          <p:spPr>
            <a:xfrm>
              <a:off x="0" y="904680"/>
              <a:ext cx="914364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514843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" name="Google Shape;66;p14"/>
            <p:cNvSpPr/>
            <p:nvPr/>
          </p:nvSpPr>
          <p:spPr>
            <a:xfrm>
              <a:off x="0" y="857160"/>
              <a:ext cx="914364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12700">
              <a:solidFill>
                <a:srgbClr val="514843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9" name="Google Shape;67;p14"/>
          <p:cNvPicPr/>
          <p:nvPr/>
        </p:nvPicPr>
        <p:blipFill>
          <a:blip r:embed="rId14"/>
          <a:stretch/>
        </p:blipFill>
        <p:spPr>
          <a:xfrm>
            <a:off x="994320" y="0"/>
            <a:ext cx="1310400" cy="1718640"/>
          </a:xfrm>
          <a:prstGeom prst="rect">
            <a:avLst/>
          </a:prstGeom>
          <a:ln w="0">
            <a:noFill/>
          </a:ln>
        </p:spPr>
      </p:pic>
      <p:grpSp>
        <p:nvGrpSpPr>
          <p:cNvPr id="10" name="Google Shape;68;p14"/>
          <p:cNvGrpSpPr/>
          <p:nvPr/>
        </p:nvGrpSpPr>
        <p:grpSpPr>
          <a:xfrm>
            <a:off x="360" y="4233600"/>
            <a:ext cx="9143640" cy="47880"/>
            <a:chOff x="360" y="4233600"/>
            <a:chExt cx="9143640" cy="47880"/>
          </a:xfrm>
        </p:grpSpPr>
        <p:sp>
          <p:nvSpPr>
            <p:cNvPr id="11" name="Google Shape;69;p14"/>
            <p:cNvSpPr/>
            <p:nvPr/>
          </p:nvSpPr>
          <p:spPr>
            <a:xfrm rot="10800000">
              <a:off x="360" y="4233240"/>
              <a:ext cx="914364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514843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" name="Google Shape;70;p14"/>
            <p:cNvSpPr/>
            <p:nvPr/>
          </p:nvSpPr>
          <p:spPr>
            <a:xfrm rot="10800000">
              <a:off x="360" y="4280760"/>
              <a:ext cx="914364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12700">
              <a:solidFill>
                <a:srgbClr val="514843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3" name="Google Shape;71;p14"/>
          <p:cNvSpPr/>
          <p:nvPr/>
        </p:nvSpPr>
        <p:spPr>
          <a:xfrm>
            <a:off x="0" y="4333680"/>
            <a:ext cx="9143640" cy="809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6;p13"/>
          <p:cNvGrpSpPr/>
          <p:nvPr/>
        </p:nvGrpSpPr>
        <p:grpSpPr>
          <a:xfrm>
            <a:off x="827640" y="914040"/>
            <a:ext cx="7488720" cy="63720"/>
            <a:chOff x="827640" y="914040"/>
            <a:chExt cx="7488720" cy="63720"/>
          </a:xfrm>
        </p:grpSpPr>
        <p:sp>
          <p:nvSpPr>
            <p:cNvPr id="51" name="Google Shape;57;p13"/>
            <p:cNvSpPr/>
            <p:nvPr/>
          </p:nvSpPr>
          <p:spPr>
            <a:xfrm rot="10800000">
              <a:off x="827640" y="913680"/>
              <a:ext cx="748872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514843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2" name="Google Shape;58;p13"/>
            <p:cNvSpPr/>
            <p:nvPr/>
          </p:nvSpPr>
          <p:spPr>
            <a:xfrm rot="10800000">
              <a:off x="827640" y="977040"/>
              <a:ext cx="7488720" cy="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12700">
              <a:solidFill>
                <a:srgbClr val="514843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28720" y="57240"/>
            <a:ext cx="7485120" cy="822240"/>
          </a:xfrm>
          <a:prstGeom prst="rect">
            <a:avLst/>
          </a:prstGeom>
        </p:spPr>
        <p:txBody>
          <a:bodyPr lIns="0" tIns="34200" rIns="0" bIns="34200" anchor="b">
            <a:normAutofit/>
          </a:bodyPr>
          <a:lstStyle/>
          <a:p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828720" y="1200240"/>
            <a:ext cx="7486200" cy="3428640"/>
          </a:xfrm>
          <a:prstGeom prst="rect">
            <a:avLst/>
          </a:prstGeom>
        </p:spPr>
        <p:txBody>
          <a:bodyPr lIns="0" tIns="34200" rIns="0" bIns="3420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dt"/>
          </p:nvPr>
        </p:nvSpPr>
        <p:spPr>
          <a:xfrm>
            <a:off x="828720" y="4767120"/>
            <a:ext cx="1371960" cy="273600"/>
          </a:xfrm>
          <a:prstGeom prst="rect">
            <a:avLst/>
          </a:prstGeom>
        </p:spPr>
        <p:txBody>
          <a:bodyPr lIns="0" tIns="34200" rIns="0" bIns="34200"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/>
          </p:nvPr>
        </p:nvSpPr>
        <p:spPr>
          <a:xfrm>
            <a:off x="2200680" y="4767120"/>
            <a:ext cx="4741920" cy="273600"/>
          </a:xfrm>
          <a:prstGeom prst="rect">
            <a:avLst/>
          </a:prstGeom>
        </p:spPr>
        <p:txBody>
          <a:bodyPr lIns="0" tIns="34200" rIns="0" bIns="34200"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/>
          </p:nvPr>
        </p:nvSpPr>
        <p:spPr>
          <a:xfrm>
            <a:off x="6942600" y="4767120"/>
            <a:ext cx="1371240" cy="273600"/>
          </a:xfrm>
          <a:prstGeom prst="rect">
            <a:avLst/>
          </a:prstGeom>
        </p:spPr>
        <p:txBody>
          <a:bodyPr lIns="0" tIns="34200" rIns="0" bIns="342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F5CD2A6A-9A7A-412D-9A63-D3F81AE4486B}" type="slidenum">
              <a:rPr lang="en" sz="900" b="0" strike="noStrike" spc="-1">
                <a:solidFill>
                  <a:srgbClr val="3C3632"/>
                </a:solidFill>
                <a:latin typeface="Arial"/>
                <a:ea typeface="Arial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raction-design.org/literature/topics/analogies" TargetMode="Externa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61;p26"/>
          <p:cNvSpPr txBox="1"/>
          <p:nvPr/>
        </p:nvSpPr>
        <p:spPr>
          <a:xfrm>
            <a:off x="3119040" y="83160"/>
            <a:ext cx="4479120" cy="62892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 anchor="ctr">
            <a:norm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250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HUMAN-CENTERED DESIGN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162;p26"/>
          <p:cNvSpPr/>
          <p:nvPr/>
        </p:nvSpPr>
        <p:spPr>
          <a:xfrm>
            <a:off x="728711" y="1419190"/>
            <a:ext cx="5561280" cy="30083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1" i="1" strike="noStrike" spc="-1" dirty="0">
                <a:solidFill>
                  <a:srgbClr val="003366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Dr. Nadeem Ahmad Ch.</a:t>
            </a:r>
            <a:endParaRPr lang="en-US" sz="18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Aft>
                <a:spcPts val="600"/>
              </a:spcAft>
              <a:tabLst>
                <a:tab pos="0" algn="l"/>
              </a:tabLst>
            </a:pPr>
            <a:r>
              <a:rPr lang="en" sz="1200" b="0" i="1" strike="noStrike" spc="-1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        </a:t>
            </a:r>
            <a:r>
              <a:rPr lang="en" sz="1200" b="1" i="1" strike="noStrike" spc="-1" dirty="0">
                <a:solidFill>
                  <a:srgbClr val="003366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Associate Professor</a:t>
            </a:r>
            <a:r>
              <a:rPr lang="en" sz="1200" b="0" i="1" strike="noStrike" spc="-1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, University of Central Punjab, Lahore Pakistan</a:t>
            </a:r>
            <a:endParaRPr lang="en-US" spc="-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282575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	</a:t>
            </a:r>
            <a:r>
              <a:rPr lang="en-US" sz="1200" i="1" spc="-1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	</a:t>
            </a:r>
            <a:r>
              <a:rPr lang="en" sz="1200" b="0" i="1" strike="noStrike" spc="-1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Dual PhD in Computer Science (Italy &amp; Germany)</a:t>
            </a:r>
            <a:endParaRPr lang="en-US" sz="12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54160" indent="-253800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" sz="1200" b="0" strike="noStrike" spc="-1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18 years teaching, research &amp; administration experience</a:t>
            </a:r>
            <a:endParaRPr lang="en-US" sz="12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54160" indent="-253800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" sz="1200" b="0" strike="noStrike" spc="-1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24 International research publications</a:t>
            </a:r>
            <a:endParaRPr lang="en-US" sz="12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54160" indent="-253800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" sz="1200" b="0" strike="noStrike" spc="-1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Head of people centered technology research group</a:t>
            </a:r>
            <a:endParaRPr lang="en-US" sz="12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54160" indent="-253800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" sz="1200" b="0" strike="noStrike" spc="-1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Former Pro Vice Chancellor/ Professor of computing, University of Sialkot</a:t>
            </a:r>
            <a:endParaRPr lang="en-US" sz="12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54160" indent="-253800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" sz="1200" b="0" strike="noStrike" spc="-1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Former Chairman CS department, The Superior university, Lahore </a:t>
            </a:r>
            <a:endParaRPr lang="en-US" sz="12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54160" indent="-253800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" sz="1200" b="0" strike="noStrike" spc="-1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Former head of CS &amp; IT department, The University of Lahore</a:t>
            </a:r>
            <a:endParaRPr lang="en-US" sz="12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54160" indent="-177480">
              <a:lnSpc>
                <a:spcPct val="150000"/>
              </a:lnSpc>
              <a:tabLst>
                <a:tab pos="0" algn="l"/>
              </a:tabLst>
            </a:pPr>
            <a:endParaRPr lang="en-US" sz="1200" b="0" strike="noStrike" spc="-1" dirty="0">
              <a:latin typeface="Arial"/>
            </a:endParaRPr>
          </a:p>
        </p:txBody>
      </p:sp>
      <p:sp>
        <p:nvSpPr>
          <p:cNvPr id="102" name="Google Shape;163;p26"/>
          <p:cNvSpPr/>
          <p:nvPr/>
        </p:nvSpPr>
        <p:spPr>
          <a:xfrm>
            <a:off x="5920920" y="1641960"/>
            <a:ext cx="2656440" cy="2489040"/>
          </a:xfrm>
          <a:prstGeom prst="ellipse">
            <a:avLst/>
          </a:prstGeom>
          <a:blipFill rotWithShape="0">
            <a:blip r:embed="rId3"/>
            <a:srcRect t="23076" b="23076"/>
            <a:stretch/>
          </a:blipFill>
          <a:ln w="63500" cap="rnd">
            <a:solidFill>
              <a:srgbClr val="333333"/>
            </a:solidFill>
            <a:round/>
          </a:ln>
          <a:effectLst>
            <a:outerShdw blurRad="380880" dist="291960" dir="5400000" sx="-80000" sy="-18000" rotWithShape="0">
              <a:srgbClr val="000000">
                <a:alpha val="2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68;p27"/>
          <p:cNvSpPr txBox="1"/>
          <p:nvPr/>
        </p:nvSpPr>
        <p:spPr>
          <a:xfrm>
            <a:off x="828720" y="173160"/>
            <a:ext cx="7485120" cy="58284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 anchor="b">
            <a:norm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" sz="250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Table of Contents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Google Shape;169;p27"/>
          <p:cNvSpPr txBox="1"/>
          <p:nvPr/>
        </p:nvSpPr>
        <p:spPr>
          <a:xfrm>
            <a:off x="905040" y="1352520"/>
            <a:ext cx="7486200" cy="342864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>
            <a:normAutofit/>
          </a:bodyPr>
          <a:lstStyle/>
          <a:p>
            <a:pPr marL="177840" indent="-215640" algn="just">
              <a:lnSpc>
                <a:spcPct val="170000"/>
              </a:lnSpc>
              <a:spcBef>
                <a:spcPts val="901"/>
              </a:spcBef>
              <a:buClr>
                <a:srgbClr val="514843"/>
              </a:buClr>
              <a:buFont typeface="Noto Sans Symbols"/>
              <a:buChar char="▪"/>
            </a:pPr>
            <a:r>
              <a:rPr lang="en" sz="18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Human-Centered Design (HCD)</a:t>
            </a:r>
            <a:endParaRPr lang="en-US" sz="18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215640" algn="just">
              <a:lnSpc>
                <a:spcPct val="170000"/>
              </a:lnSpc>
              <a:spcBef>
                <a:spcPts val="901"/>
              </a:spcBef>
              <a:buClr>
                <a:srgbClr val="514843"/>
              </a:buClr>
              <a:buFont typeface="Calibri"/>
              <a:buChar char="▪"/>
            </a:pPr>
            <a:r>
              <a:rPr lang="en" sz="18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Importance of HCD</a:t>
            </a:r>
            <a:endParaRPr lang="en-US" sz="18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215640" algn="just">
              <a:lnSpc>
                <a:spcPct val="170000"/>
              </a:lnSpc>
              <a:spcBef>
                <a:spcPts val="901"/>
              </a:spcBef>
              <a:buClr>
                <a:srgbClr val="514843"/>
              </a:buClr>
              <a:buFont typeface="Calibri"/>
              <a:buChar char="▪"/>
            </a:pPr>
            <a:r>
              <a:rPr lang="en" sz="18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HCD key phases</a:t>
            </a:r>
            <a:endParaRPr lang="en-US" sz="18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215640" algn="just">
              <a:lnSpc>
                <a:spcPct val="170000"/>
              </a:lnSpc>
              <a:spcBef>
                <a:spcPts val="901"/>
              </a:spcBef>
              <a:buClr>
                <a:srgbClr val="514843"/>
              </a:buClr>
              <a:buFont typeface="Calibri"/>
              <a:buChar char="▪"/>
            </a:pPr>
            <a:r>
              <a:rPr lang="en" sz="18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Methods involved in different HCD phases </a:t>
            </a:r>
            <a:endParaRPr lang="en-US" sz="18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01160" algn="just">
              <a:lnSpc>
                <a:spcPct val="100000"/>
              </a:lnSpc>
              <a:spcBef>
                <a:spcPts val="2299"/>
              </a:spcBef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74;p28"/>
          <p:cNvSpPr txBox="1"/>
          <p:nvPr/>
        </p:nvSpPr>
        <p:spPr>
          <a:xfrm>
            <a:off x="828720" y="173160"/>
            <a:ext cx="7485120" cy="53172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 anchor="b">
            <a:norm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" sz="250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Learning Outcomes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175;p28"/>
          <p:cNvSpPr/>
          <p:nvPr/>
        </p:nvSpPr>
        <p:spPr>
          <a:xfrm>
            <a:off x="537120" y="1118520"/>
            <a:ext cx="8169120" cy="326812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4200" rIns="0" bIns="34200">
            <a:normAutofit/>
          </a:bodyPr>
          <a:lstStyle/>
          <a:p>
            <a:pPr marL="177840" indent="-196560">
              <a:lnSpc>
                <a:spcPct val="150000"/>
              </a:lnSpc>
              <a:buClr>
                <a:srgbClr val="514843"/>
              </a:buClr>
              <a:buFont typeface="Noto Sans Symbols"/>
              <a:buChar char="▪"/>
            </a:pPr>
            <a:r>
              <a:rPr lang="en" sz="15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You will learn design thinking process and will understand that how HCD is helpful in providing innovative and out of box solutions.</a:t>
            </a:r>
            <a:endParaRPr lang="en-US" sz="15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96560">
              <a:lnSpc>
                <a:spcPct val="150000"/>
              </a:lnSpc>
              <a:buClr>
                <a:srgbClr val="514843"/>
              </a:buClr>
              <a:buFont typeface="Noto Sans Symbols"/>
              <a:buChar char="▪"/>
            </a:pPr>
            <a:r>
              <a:rPr lang="en" sz="15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By putting yourself in situation of end user, will reveal new knowledge and thrust to resolve their issues.</a:t>
            </a:r>
            <a:endParaRPr lang="en-US" sz="15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96560">
              <a:lnSpc>
                <a:spcPct val="150000"/>
              </a:lnSpc>
              <a:buClr>
                <a:srgbClr val="514843"/>
              </a:buClr>
              <a:buFont typeface="Calibri"/>
              <a:buChar char="▪"/>
            </a:pPr>
            <a:r>
              <a:rPr lang="en" sz="15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You will understand key phases of HCD and will be able to apply them in your own projects.</a:t>
            </a:r>
            <a:endParaRPr lang="en-US" sz="15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96560">
              <a:lnSpc>
                <a:spcPct val="150000"/>
              </a:lnSpc>
              <a:buClr>
                <a:srgbClr val="514843"/>
              </a:buClr>
              <a:buFont typeface="Calibri"/>
              <a:buChar char="▪"/>
            </a:pPr>
            <a:r>
              <a:rPr lang="en" sz="15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You will able to synthesize the knowledge exposed by understanding different methods involved in key phases of HCD. </a:t>
            </a:r>
            <a:endParaRPr lang="en-US" sz="15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96560">
              <a:lnSpc>
                <a:spcPct val="150000"/>
              </a:lnSpc>
              <a:buClr>
                <a:srgbClr val="514843"/>
              </a:buClr>
              <a:buFont typeface="Calibri"/>
              <a:buChar char="▪"/>
            </a:pPr>
            <a:endParaRPr lang="en-US" sz="12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1">
            <a:extLst>
              <a:ext uri="{FF2B5EF4-FFF2-40B4-BE49-F238E27FC236}">
                <a16:creationId xmlns:a16="http://schemas.microsoft.com/office/drawing/2014/main" id="{9DA2EB86-DFD9-1D2B-C095-584BCC00A9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1219200" y="62484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+mn-lt"/>
                <a:ea typeface="ＭＳ Ｐゴシック" pitchFamily="-128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/>
              <a:t>These slides are designed to accompany </a:t>
            </a:r>
            <a:r>
              <a:rPr lang="en-US" i="1"/>
              <a:t>Software Engineering: A Practitioner’s Approach, 7/e </a:t>
            </a:r>
            <a:r>
              <a:rPr lang="en-US"/>
              <a:t>(McGraw-Hill, 2009) Slides copyright 2009 by Roger Pressman. </a:t>
            </a:r>
            <a:endParaRPr lang="en-GB" altLang="en-US" sz="750">
              <a:ea typeface="MS PGothic" panose="020B0600070205080204" pitchFamily="34" charset="-128"/>
            </a:endParaRP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A51EB04-BB33-07C3-F8EC-5E27BE23E56C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800850" y="4686300"/>
            <a:ext cx="971550" cy="3429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b"/>
          <a:lstStyle/>
          <a:p>
            <a:pPr algn="r" eaLnBrk="1" hangingPunct="1">
              <a:defRPr/>
            </a:pPr>
            <a:r>
              <a:rPr lang="en-GB" sz="750">
                <a:ea typeface="ＭＳ Ｐゴシック" panose="020B0600070205080204" pitchFamily="34" charset="-128"/>
              </a:rPr>
              <a:t>www.id-book.com</a:t>
            </a:r>
          </a:p>
        </p:txBody>
      </p:sp>
      <p:sp>
        <p:nvSpPr>
          <p:cNvPr id="86020" name="Rectangle 2">
            <a:extLst>
              <a:ext uri="{FF2B5EF4-FFF2-40B4-BE49-F238E27FC236}">
                <a16:creationId xmlns:a16="http://schemas.microsoft.com/office/drawing/2014/main" id="{12798D32-CECD-E7A8-B68B-6C6CB5AC5F8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28720" y="57240"/>
            <a:ext cx="8134806" cy="82224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dirty="0"/>
              <a:t>Gulfs of execution and evaluation </a:t>
            </a:r>
          </a:p>
        </p:txBody>
      </p:sp>
      <p:sp>
        <p:nvSpPr>
          <p:cNvPr id="86021" name="Rectangle 3">
            <a:extLst>
              <a:ext uri="{FF2B5EF4-FFF2-40B4-BE49-F238E27FC236}">
                <a16:creationId xmlns:a16="http://schemas.microsoft.com/office/drawing/2014/main" id="{CE9CB48B-52BA-E186-D500-B5502BC143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100" dirty="0"/>
              <a:t>The ‘gulfs’ explicate the gaps that exist between the user and the interface 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100" dirty="0"/>
              <a:t>The gulf of execution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800" dirty="0">
                <a:ea typeface="MS PGothic" panose="020B0600070205080204" pitchFamily="34" charset="-128"/>
              </a:rPr>
              <a:t>the distance from the user to the physical system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100" dirty="0"/>
              <a:t>The gulf of evaluation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800" dirty="0">
                <a:ea typeface="MS PGothic" panose="020B0600070205080204" pitchFamily="34" charset="-128"/>
              </a:rPr>
              <a:t>the distance from the physical system to the user 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100" dirty="0"/>
              <a:t>Bridging the gulfs can reduce cognitive effort required to perform tasks</a:t>
            </a:r>
          </a:p>
        </p:txBody>
      </p:sp>
      <p:sp>
        <p:nvSpPr>
          <p:cNvPr id="86022" name="TextBox 3">
            <a:extLst>
              <a:ext uri="{FF2B5EF4-FFF2-40B4-BE49-F238E27FC236}">
                <a16:creationId xmlns:a16="http://schemas.microsoft.com/office/drawing/2014/main" id="{99DA167F-F72D-ECC7-52E3-1EFBA8FA2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4743451"/>
            <a:ext cx="24449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aseline="-25000">
                <a:latin typeface="Times" panose="02020603050405020304" pitchFamily="18" charset="0"/>
              </a:rPr>
              <a:t>Norman, 1986; Hutchins </a:t>
            </a:r>
            <a:r>
              <a:rPr lang="en-GB" altLang="en-US" sz="1800" i="1" baseline="-25000">
                <a:latin typeface="Times" panose="02020603050405020304" pitchFamily="18" charset="0"/>
              </a:rPr>
              <a:t>et al</a:t>
            </a:r>
            <a:r>
              <a:rPr lang="en-GB" altLang="en-US" sz="1800" baseline="-25000">
                <a:latin typeface="Times" panose="02020603050405020304" pitchFamily="18" charset="0"/>
              </a:rPr>
              <a:t>, 1986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4">
            <a:extLst>
              <a:ext uri="{FF2B5EF4-FFF2-40B4-BE49-F238E27FC236}">
                <a16:creationId xmlns:a16="http://schemas.microsoft.com/office/drawing/2014/main" id="{A1947E9D-F824-6C69-AC21-BE072B2D1C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Bridging the gulfs</a:t>
            </a:r>
          </a:p>
        </p:txBody>
      </p:sp>
      <p:sp>
        <p:nvSpPr>
          <p:cNvPr id="88067" name="Footer Placeholder 1">
            <a:extLst>
              <a:ext uri="{FF2B5EF4-FFF2-40B4-BE49-F238E27FC236}">
                <a16:creationId xmlns:a16="http://schemas.microsoft.com/office/drawing/2014/main" id="{AFBCAA72-8380-0005-400A-7ABB13A726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1219200" y="62484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+mn-lt"/>
                <a:ea typeface="ＭＳ Ｐゴシック" pitchFamily="-128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/>
              <a:t>These slides are designed to accompany </a:t>
            </a:r>
            <a:r>
              <a:rPr lang="en-US" i="1"/>
              <a:t>Software Engineering: A Practitioner’s Approach, 7/e </a:t>
            </a:r>
            <a:r>
              <a:rPr lang="en-US"/>
              <a:t>(McGraw-Hill, 2009) Slides copyright 2009 by Roger Pressman. </a:t>
            </a:r>
            <a:endParaRPr lang="en-GB" altLang="en-US" sz="750">
              <a:ea typeface="MS PGothic" panose="020B0600070205080204" pitchFamily="34" charset="-128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F19AC-AE1A-CDFB-9197-16F703E5DB79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6800850" y="4686300"/>
            <a:ext cx="971550" cy="3429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b"/>
          <a:lstStyle/>
          <a:p>
            <a:pPr algn="r" eaLnBrk="1" hangingPunct="1">
              <a:defRPr/>
            </a:pPr>
            <a:r>
              <a:rPr lang="en-GB" sz="750">
                <a:ea typeface="ＭＳ Ｐゴシック" pitchFamily="-128" charset="-128"/>
              </a:rPr>
              <a:t>www.id-book.com</a:t>
            </a:r>
          </a:p>
        </p:txBody>
      </p:sp>
      <p:pic>
        <p:nvPicPr>
          <p:cNvPr id="88069" name="Picture 3" descr="fig_03_08.jpg">
            <a:extLst>
              <a:ext uri="{FF2B5EF4-FFF2-40B4-BE49-F238E27FC236}">
                <a16:creationId xmlns:a16="http://schemas.microsoft.com/office/drawing/2014/main" id="{01960E85-735F-67D6-41B4-E0E7195F39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00151"/>
            <a:ext cx="5007769" cy="2603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80;p29"/>
          <p:cNvSpPr txBox="1"/>
          <p:nvPr/>
        </p:nvSpPr>
        <p:spPr>
          <a:xfrm>
            <a:off x="828720" y="111670"/>
            <a:ext cx="7485120" cy="54612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 anchor="b">
            <a:norm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" sz="250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Human-Centered Design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181;p29"/>
          <p:cNvSpPr txBox="1"/>
          <p:nvPr/>
        </p:nvSpPr>
        <p:spPr>
          <a:xfrm>
            <a:off x="675360" y="1109520"/>
            <a:ext cx="4882320" cy="411984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>
            <a:normAutofit lnSpcReduction="10000"/>
          </a:bodyPr>
          <a:lstStyle/>
          <a:p>
            <a:pPr marL="177840" indent="-202680" algn="just">
              <a:lnSpc>
                <a:spcPct val="150000"/>
              </a:lnSpc>
              <a:buClr>
                <a:srgbClr val="514843"/>
              </a:buClr>
              <a:buFont typeface="Noto Sans Symbols"/>
              <a:buChar char="▪"/>
            </a:pPr>
            <a:r>
              <a:rPr lang="en" sz="180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Human-Centered Design (HCD)</a:t>
            </a:r>
            <a:r>
              <a:rPr lang="en" sz="180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 is an approach to problem-solving used in design, management, and engineering frameworks </a:t>
            </a:r>
            <a:r>
              <a:rPr lang="en" sz="180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by involving the human perspective in all steps</a:t>
            </a:r>
            <a:r>
              <a:rPr lang="en" sz="180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 of the problem-solving process</a:t>
            </a:r>
            <a:r>
              <a:rPr lang="en" sz="1050" b="0" strike="noStrike" spc="-1" dirty="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</a:rPr>
              <a:t>.</a:t>
            </a:r>
            <a:r>
              <a:rPr lang="en" sz="1800" b="1" strike="noStrike" spc="-1" dirty="0">
                <a:solidFill>
                  <a:srgbClr val="514843"/>
                </a:solidFill>
                <a:highlight>
                  <a:srgbClr val="FFFFFF"/>
                </a:highlight>
                <a:latin typeface="Calibri"/>
                <a:ea typeface="Calibri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202680" algn="just">
              <a:lnSpc>
                <a:spcPct val="150000"/>
              </a:lnSpc>
              <a:spcBef>
                <a:spcPts val="1001"/>
              </a:spcBef>
              <a:buClr>
                <a:srgbClr val="514843"/>
              </a:buClr>
              <a:buFont typeface="Noto Sans Symbols"/>
              <a:buChar char="▪"/>
            </a:pPr>
            <a:r>
              <a:rPr lang="en" sz="1800" b="0" strike="noStrike" spc="-1" dirty="0">
                <a:solidFill>
                  <a:srgbClr val="514843"/>
                </a:solidFill>
                <a:highlight>
                  <a:srgbClr val="FFFFFF"/>
                </a:highlight>
                <a:latin typeface="Calibri"/>
                <a:ea typeface="Calibri"/>
              </a:rPr>
              <a:t>Human-centered design is all about building a </a:t>
            </a:r>
            <a:r>
              <a:rPr lang="en" sz="1800" b="1" strike="noStrike" spc="-1" dirty="0">
                <a:solidFill>
                  <a:srgbClr val="514843"/>
                </a:solidFill>
                <a:highlight>
                  <a:srgbClr val="FFFFFF"/>
                </a:highlight>
                <a:latin typeface="Calibri"/>
                <a:ea typeface="Calibri"/>
              </a:rPr>
              <a:t>deep empathy with the people </a:t>
            </a:r>
            <a:r>
              <a:rPr lang="en" sz="1800" b="0" strike="noStrike" spc="-1" dirty="0">
                <a:solidFill>
                  <a:srgbClr val="514843"/>
                </a:solidFill>
                <a:highlight>
                  <a:srgbClr val="FFFFFF"/>
                </a:highlight>
                <a:latin typeface="Calibri"/>
                <a:ea typeface="Calibri"/>
              </a:rPr>
              <a:t>you’re designing for; </a:t>
            </a:r>
            <a:r>
              <a:rPr lang="en" sz="1800" b="1" strike="noStrike" spc="-1" dirty="0">
                <a:solidFill>
                  <a:srgbClr val="514843"/>
                </a:solidFill>
                <a:highlight>
                  <a:srgbClr val="FFFFFF"/>
                </a:highlight>
                <a:latin typeface="Calibri"/>
                <a:ea typeface="Calibri"/>
              </a:rPr>
              <a:t>generating  many ideas; building relevant prototypes</a:t>
            </a:r>
            <a:r>
              <a:rPr lang="en" sz="1800" b="0" strike="noStrike" spc="-1" dirty="0">
                <a:solidFill>
                  <a:srgbClr val="514843"/>
                </a:solidFill>
                <a:highlight>
                  <a:srgbClr val="FFFFFF"/>
                </a:highlight>
                <a:latin typeface="Calibri"/>
                <a:ea typeface="Calibri"/>
              </a:rPr>
              <a:t>; sharing with stakeholders and revealing</a:t>
            </a:r>
            <a:r>
              <a:rPr lang="en" sz="1800" b="1" strike="noStrike" spc="-1" dirty="0">
                <a:solidFill>
                  <a:srgbClr val="514843"/>
                </a:solidFill>
                <a:highlight>
                  <a:srgbClr val="FFFFFF"/>
                </a:highlight>
                <a:latin typeface="Calibri"/>
                <a:ea typeface="Calibri"/>
              </a:rPr>
              <a:t> your innovative solutions</a:t>
            </a:r>
            <a:r>
              <a:rPr lang="en" sz="1800" b="0" strike="noStrike" spc="-1" dirty="0">
                <a:solidFill>
                  <a:srgbClr val="514843"/>
                </a:solidFill>
                <a:highlight>
                  <a:srgbClr val="FFFFFF"/>
                </a:highlight>
                <a:latin typeface="Calibri"/>
                <a:ea typeface="Calibri"/>
              </a:rPr>
              <a:t>.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Google Shape;182;p29"/>
          <p:cNvPicPr/>
          <p:nvPr/>
        </p:nvPicPr>
        <p:blipFill>
          <a:blip r:embed="rId2"/>
          <a:stretch/>
        </p:blipFill>
        <p:spPr>
          <a:xfrm>
            <a:off x="5710320" y="1450440"/>
            <a:ext cx="3219120" cy="3018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87;p30"/>
          <p:cNvSpPr txBox="1"/>
          <p:nvPr/>
        </p:nvSpPr>
        <p:spPr>
          <a:xfrm>
            <a:off x="828720" y="57240"/>
            <a:ext cx="7485120" cy="62856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 anchor="b">
            <a:norm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" sz="250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Human-Centered Design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Google Shape;188;p30"/>
          <p:cNvSpPr txBox="1"/>
          <p:nvPr/>
        </p:nvSpPr>
        <p:spPr>
          <a:xfrm>
            <a:off x="828720" y="1109520"/>
            <a:ext cx="4170960" cy="351936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>
            <a:normAutofit/>
          </a:bodyPr>
          <a:lstStyle/>
          <a:p>
            <a:pPr marL="177840" indent="-177480">
              <a:lnSpc>
                <a:spcPct val="115000"/>
              </a:lnSpc>
              <a:spcBef>
                <a:spcPts val="1800"/>
              </a:spcBef>
              <a:buClr>
                <a:srgbClr val="514843"/>
              </a:buClr>
              <a:buFont typeface="Noto Sans Symbols"/>
              <a:buChar char="▪"/>
            </a:pPr>
            <a:r>
              <a:rPr lang="en" sz="16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Two </a:t>
            </a:r>
            <a:r>
              <a:rPr lang="en" sz="1600" b="1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important</a:t>
            </a:r>
            <a:r>
              <a:rPr lang="en" sz="16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steps in HCD: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77480">
              <a:lnSpc>
                <a:spcPct val="115000"/>
              </a:lnSpc>
              <a:spcBef>
                <a:spcPts val="1001"/>
              </a:spcBef>
              <a:buClr>
                <a:srgbClr val="514843"/>
              </a:buClr>
              <a:buFont typeface="Noto Sans Symbols"/>
              <a:buChar char="▪"/>
            </a:pPr>
            <a:r>
              <a:rPr lang="en" sz="1600" b="1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Observing user behavior</a:t>
            </a:r>
            <a:r>
              <a:rPr lang="en" sz="16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: Try to understand people’s requirements  by observing them. 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>
              <a:lnSpc>
                <a:spcPct val="115000"/>
              </a:lnSpc>
              <a:spcBef>
                <a:spcPts val="1800"/>
              </a:spcBef>
              <a:tabLst>
                <a:tab pos="0" algn="l"/>
              </a:tabLst>
            </a:pPr>
            <a:r>
              <a:rPr lang="en" sz="16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For example, if you’re designing an application for farmers, you should observe them in real scenario.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77480">
              <a:lnSpc>
                <a:spcPct val="115000"/>
              </a:lnSpc>
              <a:spcBef>
                <a:spcPts val="1800"/>
              </a:spcBef>
              <a:buClr>
                <a:srgbClr val="514843"/>
              </a:buClr>
              <a:buFont typeface="Noto Sans Symbols"/>
              <a:buChar char="▪"/>
              <a:tabLst>
                <a:tab pos="0" algn="l"/>
              </a:tabLst>
            </a:pPr>
            <a:r>
              <a:rPr lang="en" sz="1600" b="1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Putting yourself in the situation of the end-user</a:t>
            </a:r>
            <a:r>
              <a:rPr lang="en" sz="16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: Try to understand what the user experience is really like; to feel what their users feel.</a:t>
            </a:r>
            <a:endParaRPr lang="en-US" sz="16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tabLst>
                <a:tab pos="0" algn="l"/>
              </a:tabLst>
            </a:pPr>
            <a:endParaRPr lang="en-US" sz="15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2" name="Google Shape;189;p30"/>
          <p:cNvPicPr/>
          <p:nvPr/>
        </p:nvPicPr>
        <p:blipFill>
          <a:blip r:embed="rId2"/>
          <a:stretch/>
        </p:blipFill>
        <p:spPr>
          <a:xfrm>
            <a:off x="5105520" y="1451160"/>
            <a:ext cx="3878640" cy="2930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94;p31"/>
          <p:cNvSpPr txBox="1"/>
          <p:nvPr/>
        </p:nvSpPr>
        <p:spPr>
          <a:xfrm>
            <a:off x="828720" y="57240"/>
            <a:ext cx="7485120" cy="58932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 anchor="b">
            <a:no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" sz="2500" b="1" strike="noStrike" spc="-1">
                <a:solidFill>
                  <a:srgbClr val="514843"/>
                </a:solidFill>
                <a:latin typeface="Calibri"/>
                <a:ea typeface="Calibri"/>
              </a:rPr>
              <a:t>Why Human-Centered Design Matters?</a:t>
            </a:r>
            <a:endParaRPr lang="en-US" sz="2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195;p31"/>
          <p:cNvSpPr txBox="1"/>
          <p:nvPr/>
        </p:nvSpPr>
        <p:spPr>
          <a:xfrm>
            <a:off x="828360" y="1200240"/>
            <a:ext cx="7485120" cy="361260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>
            <a:normAutofit/>
          </a:bodyPr>
          <a:lstStyle/>
          <a:p>
            <a:pPr>
              <a:lnSpc>
                <a:spcPct val="90000"/>
              </a:lnSpc>
              <a:spcBef>
                <a:spcPts val="1400"/>
              </a:spcBef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6000"/>
              </a:lnSpc>
              <a:spcBef>
                <a:spcPts val="2999"/>
              </a:spcBef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400"/>
              </a:spcBef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Google Shape;196;p31"/>
          <p:cNvPicPr/>
          <p:nvPr/>
        </p:nvPicPr>
        <p:blipFill>
          <a:blip r:embed="rId2"/>
          <a:stretch/>
        </p:blipFill>
        <p:spPr>
          <a:xfrm>
            <a:off x="828720" y="1100520"/>
            <a:ext cx="7805880" cy="3942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201;p32"/>
          <p:cNvSpPr txBox="1"/>
          <p:nvPr/>
        </p:nvSpPr>
        <p:spPr>
          <a:xfrm>
            <a:off x="828720" y="57240"/>
            <a:ext cx="7485120" cy="58788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 anchor="b">
            <a:norm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" sz="2100" b="1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Human-Centered Design Key Phases</a:t>
            </a:r>
            <a:endParaRPr lang="en-US" sz="21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Google Shape;202;p32"/>
          <p:cNvSpPr txBox="1"/>
          <p:nvPr/>
        </p:nvSpPr>
        <p:spPr>
          <a:xfrm>
            <a:off x="715320" y="1087200"/>
            <a:ext cx="7804080" cy="108324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>
            <a:normAutofit/>
          </a:bodyPr>
          <a:lstStyle/>
          <a:p>
            <a:pPr marL="177840" indent="-190080">
              <a:lnSpc>
                <a:spcPct val="115000"/>
              </a:lnSpc>
              <a:buClr>
                <a:srgbClr val="514843"/>
              </a:buClr>
              <a:buFont typeface="Noto Sans Symbols"/>
              <a:buChar char="▪"/>
            </a:pPr>
            <a:r>
              <a:rPr lang="en" sz="180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Human-Centered Design process has many forms, the model presented by Stanford University, Design School has </a:t>
            </a:r>
            <a:r>
              <a:rPr lang="en" sz="180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5 key phases</a:t>
            </a:r>
            <a:r>
              <a:rPr lang="en" sz="180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.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75960">
              <a:lnSpc>
                <a:spcPct val="90000"/>
              </a:lnSpc>
              <a:spcBef>
                <a:spcPts val="1400"/>
              </a:spcBef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Google Shape;203;p32"/>
          <p:cNvPicPr/>
          <p:nvPr/>
        </p:nvPicPr>
        <p:blipFill>
          <a:blip r:embed="rId2"/>
          <a:stretch/>
        </p:blipFill>
        <p:spPr>
          <a:xfrm>
            <a:off x="1117440" y="1961280"/>
            <a:ext cx="7032600" cy="2779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208;p33"/>
          <p:cNvSpPr txBox="1"/>
          <p:nvPr/>
        </p:nvSpPr>
        <p:spPr>
          <a:xfrm>
            <a:off x="828720" y="57240"/>
            <a:ext cx="7485120" cy="62856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 anchor="b">
            <a:norm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" sz="250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Empathize—Research Your Users' Needs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Google Shape;209;p33"/>
          <p:cNvSpPr txBox="1"/>
          <p:nvPr/>
        </p:nvSpPr>
        <p:spPr>
          <a:xfrm>
            <a:off x="828720" y="1109520"/>
            <a:ext cx="7748280" cy="351936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>
            <a:normAutofit fontScale="40000" lnSpcReduction="20000"/>
          </a:bodyPr>
          <a:lstStyle/>
          <a:p>
            <a:pPr marL="177840" indent="-190440">
              <a:lnSpc>
                <a:spcPct val="150000"/>
              </a:lnSpc>
              <a:buClr>
                <a:srgbClr val="514843"/>
              </a:buClr>
              <a:buSzPct val="98000"/>
              <a:buFont typeface="Calibri"/>
              <a:buChar char="▪"/>
            </a:pPr>
            <a:r>
              <a:rPr lang="en" sz="412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 It </a:t>
            </a:r>
            <a:r>
              <a:rPr lang="en" sz="412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involves learning about the difficulties people face</a:t>
            </a:r>
            <a:r>
              <a:rPr lang="en" sz="412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, as well as uncovering their latent </a:t>
            </a:r>
            <a:r>
              <a:rPr lang="en" sz="412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needs and desires </a:t>
            </a:r>
            <a:r>
              <a:rPr lang="en" sz="412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in order to explain their behaviours.</a:t>
            </a:r>
            <a:endParaRPr lang="en-US" sz="412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90440">
              <a:lnSpc>
                <a:spcPct val="150000"/>
              </a:lnSpc>
              <a:buClr>
                <a:srgbClr val="514843"/>
              </a:buClr>
              <a:buSzPct val="98000"/>
              <a:buFont typeface="Calibri"/>
              <a:buChar char="▪"/>
            </a:pPr>
            <a:r>
              <a:rPr lang="en" sz="412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Deep understanding of the problems and realities of the people you are designing for.. </a:t>
            </a:r>
            <a:endParaRPr lang="en-US" sz="412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90440">
              <a:lnSpc>
                <a:spcPct val="150000"/>
              </a:lnSpc>
              <a:buClr>
                <a:srgbClr val="514843"/>
              </a:buClr>
              <a:buSzPct val="98000"/>
              <a:buFont typeface="Calibri"/>
              <a:buChar char="▪"/>
            </a:pPr>
            <a:r>
              <a:rPr lang="en" sz="412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Empathise methods</a:t>
            </a:r>
            <a:endParaRPr lang="en-US" sz="412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>
              <a:lnSpc>
                <a:spcPct val="150000"/>
              </a:lnSpc>
              <a:tabLst>
                <a:tab pos="0" algn="l"/>
              </a:tabLst>
            </a:pPr>
            <a:r>
              <a:rPr lang="en" sz="412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–Assume a beginner’s mindset			–Ask What-How-Why</a:t>
            </a:r>
            <a:endParaRPr lang="en-US" sz="412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>
              <a:lnSpc>
                <a:spcPct val="150000"/>
              </a:lnSpc>
              <a:tabLst>
                <a:tab pos="0" algn="l"/>
              </a:tabLst>
            </a:pPr>
            <a:r>
              <a:rPr lang="en" sz="412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–Conduct interviews with empathy</a:t>
            </a:r>
            <a:endParaRPr lang="en-US" sz="412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>
              <a:lnSpc>
                <a:spcPct val="150000"/>
              </a:lnSpc>
              <a:tabLst>
                <a:tab pos="0" algn="l"/>
              </a:tabLst>
            </a:pPr>
            <a:r>
              <a:rPr lang="en" sz="412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–Build empathy with </a:t>
            </a:r>
            <a:r>
              <a:rPr lang="en" sz="4120" b="0" u="sng" strike="noStrike" spc="-1" dirty="0">
                <a:solidFill>
                  <a:srgbClr val="59704F"/>
                </a:solidFill>
                <a:uFillTx/>
                <a:latin typeface="Calibri"/>
                <a:ea typeface="Calibri"/>
                <a:hlinkClick r:id="rId2"/>
              </a:rPr>
              <a:t>analogies</a:t>
            </a:r>
            <a:r>
              <a:rPr lang="en" sz="412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                       	–Use photo and video user-based studies</a:t>
            </a:r>
            <a:endParaRPr lang="en-US" sz="412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>
              <a:lnSpc>
                <a:spcPct val="150000"/>
              </a:lnSpc>
              <a:tabLst>
                <a:tab pos="0" algn="l"/>
              </a:tabLst>
            </a:pPr>
            <a:r>
              <a:rPr lang="en" sz="412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–Use personal photo and video journals       	–Engage with extreme users</a:t>
            </a:r>
            <a:endParaRPr lang="en-US" sz="412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>
              <a:lnSpc>
                <a:spcPct val="150000"/>
              </a:lnSpc>
              <a:tabLst>
                <a:tab pos="0" algn="l"/>
              </a:tabLst>
            </a:pPr>
            <a:r>
              <a:rPr lang="en" sz="412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–Story share-and-capture			–Create journey maps</a:t>
            </a:r>
            <a:endParaRPr lang="en-US" sz="412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214;p34"/>
          <p:cNvSpPr txBox="1"/>
          <p:nvPr/>
        </p:nvSpPr>
        <p:spPr>
          <a:xfrm>
            <a:off x="828720" y="57240"/>
            <a:ext cx="7485120" cy="62856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 anchor="b">
            <a:norm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" sz="250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Define—State Your Users' Needs and Problems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Google Shape;215;p34"/>
          <p:cNvSpPr txBox="1"/>
          <p:nvPr/>
        </p:nvSpPr>
        <p:spPr>
          <a:xfrm>
            <a:off x="828720" y="1109520"/>
            <a:ext cx="7748280" cy="104508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>
            <a:normAutofit fontScale="40000" lnSpcReduction="20000"/>
          </a:bodyPr>
          <a:lstStyle/>
          <a:p>
            <a:pPr marL="177840" indent="-171360">
              <a:lnSpc>
                <a:spcPct val="150000"/>
              </a:lnSpc>
              <a:buClr>
                <a:srgbClr val="514843"/>
              </a:buClr>
              <a:buSzPct val="98000"/>
              <a:buFont typeface="Calibri"/>
              <a:buChar char="▪"/>
            </a:pPr>
            <a:r>
              <a:rPr lang="en" sz="412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 After empathy, you analyze your observations and synthesize them to define the core problem.</a:t>
            </a:r>
            <a:endParaRPr lang="en-US" sz="412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71360">
              <a:lnSpc>
                <a:spcPct val="150000"/>
              </a:lnSpc>
              <a:buClr>
                <a:srgbClr val="514843"/>
              </a:buClr>
              <a:buSzPct val="98000"/>
              <a:buFont typeface="Calibri"/>
              <a:buChar char="▪"/>
            </a:pPr>
            <a:r>
              <a:rPr lang="en" sz="412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Define methods</a:t>
            </a:r>
            <a:endParaRPr lang="en-US" sz="412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>
              <a:lnSpc>
                <a:spcPct val="150000"/>
              </a:lnSpc>
              <a:tabLst>
                <a:tab pos="0" algn="l"/>
              </a:tabLst>
            </a:pPr>
            <a:endParaRPr lang="en-US" sz="412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216;p34"/>
          <p:cNvSpPr txBox="1"/>
          <p:nvPr/>
        </p:nvSpPr>
        <p:spPr>
          <a:xfrm>
            <a:off x="316080" y="4462560"/>
            <a:ext cx="8691840" cy="44532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" sz="1600" b="1" strike="noStrike" spc="-1">
                <a:solidFill>
                  <a:srgbClr val="514843"/>
                </a:solidFill>
                <a:latin typeface="Calibri"/>
                <a:ea typeface="Calibri"/>
              </a:rPr>
              <a:t>Space Saturate and Group     Empathy Mapping                   Point of view                        </a:t>
            </a:r>
            <a:r>
              <a:rPr lang="en" sz="1600" b="1" strike="noStrike" spc="-1">
                <a:solidFill>
                  <a:srgbClr val="2B2B2B"/>
                </a:solidFill>
                <a:highlight>
                  <a:srgbClr val="F9F9F9"/>
                </a:highlight>
                <a:latin typeface="Calibri"/>
                <a:ea typeface="Calibri"/>
              </a:rPr>
              <a:t>How Might We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" sz="1600" b="1" strike="noStrike" spc="-1">
                <a:solidFill>
                  <a:srgbClr val="514843"/>
                </a:solidFill>
                <a:highlight>
                  <a:srgbClr val="F9F9F9"/>
                </a:highlight>
                <a:latin typeface="Calibri"/>
                <a:ea typeface="Calibri"/>
              </a:rPr>
              <a:t>                                                                                                   Actionable Statements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177840">
              <a:lnSpc>
                <a:spcPct val="150000"/>
              </a:lnSpc>
              <a:spcBef>
                <a:spcPts val="1800"/>
              </a:spcBef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Google Shape;217;p34"/>
          <p:cNvPicPr/>
          <p:nvPr/>
        </p:nvPicPr>
        <p:blipFill>
          <a:blip r:embed="rId2"/>
          <a:stretch/>
        </p:blipFill>
        <p:spPr>
          <a:xfrm>
            <a:off x="412200" y="1896480"/>
            <a:ext cx="1976040" cy="2355840"/>
          </a:xfrm>
          <a:prstGeom prst="rect">
            <a:avLst/>
          </a:prstGeom>
          <a:ln w="0">
            <a:noFill/>
          </a:ln>
        </p:spPr>
      </p:pic>
      <p:pic>
        <p:nvPicPr>
          <p:cNvPr id="125" name="Google Shape;218;p34"/>
          <p:cNvPicPr/>
          <p:nvPr/>
        </p:nvPicPr>
        <p:blipFill>
          <a:blip r:embed="rId3"/>
          <a:stretch/>
        </p:blipFill>
        <p:spPr>
          <a:xfrm>
            <a:off x="2614320" y="1896480"/>
            <a:ext cx="1976040" cy="2355840"/>
          </a:xfrm>
          <a:prstGeom prst="rect">
            <a:avLst/>
          </a:prstGeom>
          <a:ln w="0">
            <a:noFill/>
          </a:ln>
        </p:spPr>
      </p:pic>
      <p:pic>
        <p:nvPicPr>
          <p:cNvPr id="126" name="Google Shape;219;p34"/>
          <p:cNvPicPr/>
          <p:nvPr/>
        </p:nvPicPr>
        <p:blipFill>
          <a:blip r:embed="rId4"/>
          <a:stretch/>
        </p:blipFill>
        <p:spPr>
          <a:xfrm>
            <a:off x="4767480" y="1962720"/>
            <a:ext cx="1976040" cy="2289600"/>
          </a:xfrm>
          <a:prstGeom prst="rect">
            <a:avLst/>
          </a:prstGeom>
          <a:ln w="0">
            <a:noFill/>
          </a:ln>
        </p:spPr>
      </p:pic>
      <p:pic>
        <p:nvPicPr>
          <p:cNvPr id="127" name="Google Shape;220;p34"/>
          <p:cNvPicPr/>
          <p:nvPr/>
        </p:nvPicPr>
        <p:blipFill>
          <a:blip r:embed="rId5"/>
          <a:stretch/>
        </p:blipFill>
        <p:spPr>
          <a:xfrm>
            <a:off x="6927120" y="2048760"/>
            <a:ext cx="1976040" cy="2289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225;p35"/>
          <p:cNvSpPr txBox="1"/>
          <p:nvPr/>
        </p:nvSpPr>
        <p:spPr>
          <a:xfrm>
            <a:off x="828720" y="57240"/>
            <a:ext cx="7485120" cy="62856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 anchor="b">
            <a:norm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" sz="250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Ideate—Challenge Assumptions and Create Ideas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Google Shape;226;p35"/>
          <p:cNvSpPr txBox="1"/>
          <p:nvPr/>
        </p:nvSpPr>
        <p:spPr>
          <a:xfrm>
            <a:off x="828720" y="978888"/>
            <a:ext cx="7748280" cy="389016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>
            <a:noAutofit/>
          </a:bodyPr>
          <a:lstStyle/>
          <a:p>
            <a:pPr marL="177840" indent="-190440">
              <a:lnSpc>
                <a:spcPct val="150000"/>
              </a:lnSpc>
              <a:buClr>
                <a:srgbClr val="514843"/>
              </a:buClr>
              <a:buSzPct val="98000"/>
              <a:buFont typeface="Calibri"/>
              <a:buChar char="▪"/>
            </a:pPr>
            <a:r>
              <a:rPr lang="en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Ideation is the process </a:t>
            </a:r>
            <a:r>
              <a:rPr lang="en" b="1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where you generate ideas </a:t>
            </a:r>
            <a:r>
              <a:rPr lang="en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and solutions through sessions such as Sketching, Prototyping, Brainstorming, Worst Possible Idea, and a wealth of other ideation techniques.</a:t>
            </a:r>
            <a:endParaRPr lang="en-US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90440">
              <a:lnSpc>
                <a:spcPct val="150000"/>
              </a:lnSpc>
              <a:buClr>
                <a:srgbClr val="514843"/>
              </a:buClr>
              <a:buSzPct val="98000"/>
              <a:buFont typeface="Calibri"/>
              <a:buChar char="▪"/>
            </a:pPr>
            <a:r>
              <a:rPr lang="en" b="1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Ideation Will Help You:</a:t>
            </a:r>
            <a:endParaRPr lang="en-US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90440">
              <a:lnSpc>
                <a:spcPct val="150000"/>
              </a:lnSpc>
              <a:buClr>
                <a:srgbClr val="514843"/>
              </a:buClr>
              <a:buSzPct val="98000"/>
              <a:buFont typeface="Calibri"/>
              <a:buChar char="▪"/>
            </a:pPr>
            <a:r>
              <a:rPr lang="en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Step beyond the obvious solutions and therefore</a:t>
            </a:r>
            <a:r>
              <a:rPr lang="en" b="1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increase the innovation </a:t>
            </a:r>
            <a:r>
              <a:rPr lang="en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potential of your solution.</a:t>
            </a:r>
            <a:endParaRPr lang="en-US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90440">
              <a:lnSpc>
                <a:spcPct val="150000"/>
              </a:lnSpc>
              <a:buClr>
                <a:srgbClr val="514843"/>
              </a:buClr>
              <a:buSzPct val="98000"/>
              <a:buFont typeface="Calibri"/>
              <a:buChar char="▪"/>
            </a:pPr>
            <a:r>
              <a:rPr lang="en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Bring together perspectives and </a:t>
            </a:r>
            <a:r>
              <a:rPr lang="en" b="1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strengths of your team </a:t>
            </a:r>
            <a:r>
              <a:rPr lang="en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members.</a:t>
            </a:r>
            <a:endParaRPr lang="en-US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90440">
              <a:lnSpc>
                <a:spcPct val="150000"/>
              </a:lnSpc>
              <a:buClr>
                <a:srgbClr val="514843"/>
              </a:buClr>
              <a:buSzPct val="98000"/>
              <a:buFont typeface="Calibri"/>
              <a:buChar char="▪"/>
            </a:pPr>
            <a:r>
              <a:rPr lang="en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Uncover </a:t>
            </a:r>
            <a:r>
              <a:rPr lang="en" b="1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unexpected areas of innovation</a:t>
            </a:r>
            <a:r>
              <a:rPr lang="en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.</a:t>
            </a:r>
            <a:endParaRPr lang="en-US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90440">
              <a:lnSpc>
                <a:spcPct val="150000"/>
              </a:lnSpc>
              <a:buClr>
                <a:srgbClr val="514843"/>
              </a:buClr>
              <a:buSzPct val="98000"/>
              <a:buFont typeface="Calibri"/>
              <a:buChar char="▪"/>
            </a:pPr>
            <a:r>
              <a:rPr lang="en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Create volume and variety in your innovation options.</a:t>
            </a:r>
            <a:endParaRPr lang="en-US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90440">
              <a:lnSpc>
                <a:spcPct val="150000"/>
              </a:lnSpc>
              <a:buClr>
                <a:srgbClr val="514843"/>
              </a:buClr>
              <a:buSzPct val="98000"/>
              <a:buFont typeface="Calibri"/>
              <a:buChar char="▪"/>
            </a:pPr>
            <a:r>
              <a:rPr lang="en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Get obvious solutions out of your heads, and drive your team beyond them.</a:t>
            </a:r>
            <a:endParaRPr lang="en-US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231;p36"/>
          <p:cNvSpPr txBox="1"/>
          <p:nvPr/>
        </p:nvSpPr>
        <p:spPr>
          <a:xfrm>
            <a:off x="828720" y="57240"/>
            <a:ext cx="7485120" cy="62856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 anchor="b">
            <a:norm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" sz="250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Characteristics for Successful Ideation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Google Shape;232;p36"/>
          <p:cNvSpPr txBox="1"/>
          <p:nvPr/>
        </p:nvSpPr>
        <p:spPr>
          <a:xfrm>
            <a:off x="560160" y="978770"/>
            <a:ext cx="8376120" cy="389016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>
            <a:noAutofit/>
          </a:bodyPr>
          <a:lstStyle/>
          <a:p>
            <a:pPr marL="177840" indent="-183960">
              <a:lnSpc>
                <a:spcPct val="150000"/>
              </a:lnSpc>
              <a:buClr>
                <a:srgbClr val="514843"/>
              </a:buClr>
              <a:buFont typeface="Calibri"/>
              <a:buChar char="▪"/>
            </a:pPr>
            <a:r>
              <a:rPr lang="en" sz="1500" b="1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Adapting:</a:t>
            </a:r>
            <a:r>
              <a:rPr lang="en" sz="15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Be able to switch how you see, understand, and extend thinking as new input gets generated.</a:t>
            </a:r>
            <a:endParaRPr lang="en-US" sz="15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83960">
              <a:lnSpc>
                <a:spcPct val="150000"/>
              </a:lnSpc>
              <a:buClr>
                <a:srgbClr val="514843"/>
              </a:buClr>
              <a:buFont typeface="Calibri"/>
              <a:buChar char="▪"/>
            </a:pPr>
            <a:r>
              <a:rPr lang="en" sz="1500" b="1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Connecting:</a:t>
            </a:r>
            <a:r>
              <a:rPr lang="en" sz="15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Be able to connect seemingly unrelated concepts in order to create new possibilities.</a:t>
            </a:r>
            <a:endParaRPr lang="en-US" sz="15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83960">
              <a:lnSpc>
                <a:spcPct val="150000"/>
              </a:lnSpc>
              <a:buClr>
                <a:srgbClr val="514843"/>
              </a:buClr>
              <a:buFont typeface="Calibri"/>
              <a:buChar char="▪"/>
            </a:pPr>
            <a:r>
              <a:rPr lang="en" sz="1500" b="1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Disrupting:</a:t>
            </a:r>
            <a:r>
              <a:rPr lang="en" sz="15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Be able to overturn commonly held in order to re-think conventional approaches.</a:t>
            </a:r>
            <a:endParaRPr lang="en-US" sz="15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83960">
              <a:lnSpc>
                <a:spcPct val="150000"/>
              </a:lnSpc>
              <a:buClr>
                <a:srgbClr val="514843"/>
              </a:buClr>
              <a:buFont typeface="Calibri"/>
              <a:buChar char="▪"/>
            </a:pPr>
            <a:r>
              <a:rPr lang="en" sz="1500" b="1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Flipping:</a:t>
            </a:r>
            <a:r>
              <a:rPr lang="en" sz="15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Turn deadlocks into opportunities or rapidly changing direction towards greater viability.</a:t>
            </a:r>
            <a:endParaRPr lang="en-US" sz="15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83960">
              <a:lnSpc>
                <a:spcPct val="150000"/>
              </a:lnSpc>
              <a:buClr>
                <a:srgbClr val="514843"/>
              </a:buClr>
              <a:buFont typeface="Calibri"/>
              <a:buChar char="▪"/>
            </a:pPr>
            <a:r>
              <a:rPr lang="en" sz="1500" b="1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Dreaming and Imagining:</a:t>
            </a:r>
            <a:r>
              <a:rPr lang="en" sz="15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Be able to visualise a new picture of reality by turning abstract needs into tangible pictures. .</a:t>
            </a:r>
            <a:endParaRPr lang="en-US" sz="15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83960">
              <a:lnSpc>
                <a:spcPct val="150000"/>
              </a:lnSpc>
              <a:buClr>
                <a:srgbClr val="514843"/>
              </a:buClr>
              <a:buFont typeface="Calibri"/>
              <a:buChar char="▪"/>
            </a:pPr>
            <a:r>
              <a:rPr lang="en" sz="1500" b="1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Experimental:</a:t>
            </a:r>
            <a:r>
              <a:rPr lang="en" sz="15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Be open and curious enough to explore possibilities and take risks.</a:t>
            </a:r>
            <a:endParaRPr lang="en-US" sz="15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83960">
              <a:lnSpc>
                <a:spcPct val="150000"/>
              </a:lnSpc>
              <a:buClr>
                <a:srgbClr val="514843"/>
              </a:buClr>
              <a:buFont typeface="Calibri"/>
              <a:buChar char="▪"/>
            </a:pPr>
            <a:r>
              <a:rPr lang="en" sz="1500" b="1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Recognise Patterns:</a:t>
            </a:r>
            <a:r>
              <a:rPr lang="en" sz="15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Seek to spot common threads of meaning, and ways of seeing, doing and behaving across a spectrum of influence and input; and finally be able to utilize these commonalities to build solutions.</a:t>
            </a:r>
            <a:endParaRPr lang="en-US" sz="15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40" indent="-177840">
              <a:lnSpc>
                <a:spcPct val="150000"/>
              </a:lnSpc>
              <a:buClr>
                <a:srgbClr val="514843"/>
              </a:buClr>
              <a:buFont typeface="Calibri"/>
              <a:buChar char="▪"/>
            </a:pPr>
            <a:r>
              <a:rPr lang="en" sz="1500" b="1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Curiosity:</a:t>
            </a:r>
            <a:r>
              <a:rPr lang="en" sz="1500" b="0" strike="noStrike" spc="-1" dirty="0">
                <a:solidFill>
                  <a:srgbClr val="51484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Be willing to explore and experience, in order to understand and learn something new and different.</a:t>
            </a:r>
            <a:endParaRPr lang="en-US" sz="1500" b="0" strike="noStrike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237;p37"/>
          <p:cNvSpPr txBox="1"/>
          <p:nvPr/>
        </p:nvSpPr>
        <p:spPr>
          <a:xfrm>
            <a:off x="828720" y="57240"/>
            <a:ext cx="7485120" cy="62856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 anchor="b">
            <a:norm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" sz="250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 Prototype—Start to Create Solutions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Google Shape;238;p37"/>
          <p:cNvSpPr txBox="1"/>
          <p:nvPr/>
        </p:nvSpPr>
        <p:spPr>
          <a:xfrm>
            <a:off x="828720" y="1109520"/>
            <a:ext cx="7748280" cy="104508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>
            <a:normAutofit fontScale="25000" lnSpcReduction="20000"/>
          </a:bodyPr>
          <a:lstStyle/>
          <a:p>
            <a:pPr marL="177840" indent="-152280">
              <a:lnSpc>
                <a:spcPct val="150000"/>
              </a:lnSpc>
              <a:buClr>
                <a:srgbClr val="514843"/>
              </a:buClr>
              <a:buSzPct val="98000"/>
              <a:buFont typeface="Calibri"/>
              <a:buChar char="▪"/>
            </a:pPr>
            <a:r>
              <a:rPr lang="en" sz="412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This </a:t>
            </a:r>
            <a:r>
              <a:rPr lang="en" sz="412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method involves producing an early, inexpensive, and scaled down version of the product </a:t>
            </a:r>
            <a:r>
              <a:rPr lang="en" sz="412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in order to reveal any problems with the current design. </a:t>
            </a:r>
            <a:endParaRPr lang="en-US" sz="412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52280">
              <a:lnSpc>
                <a:spcPct val="150000"/>
              </a:lnSpc>
              <a:buClr>
                <a:srgbClr val="514843"/>
              </a:buClr>
              <a:buSzPct val="98000"/>
              <a:buFont typeface="Calibri"/>
              <a:buChar char="▪"/>
            </a:pPr>
            <a:r>
              <a:rPr lang="en" sz="412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Prototyping offers designers the opportunity to bring their ideas to life, test the practicability of the current design, and to potentially investigate how a sample of users think and feel about a product.</a:t>
            </a:r>
            <a:endParaRPr lang="en-US" sz="412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>
              <a:lnSpc>
                <a:spcPct val="150000"/>
              </a:lnSpc>
              <a:tabLst>
                <a:tab pos="0" algn="l"/>
              </a:tabLst>
            </a:pPr>
            <a:endParaRPr lang="en-US" sz="412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Google Shape;239;p37"/>
          <p:cNvPicPr/>
          <p:nvPr/>
        </p:nvPicPr>
        <p:blipFill>
          <a:blip r:embed="rId2"/>
          <a:stretch/>
        </p:blipFill>
        <p:spPr>
          <a:xfrm>
            <a:off x="1902600" y="2269800"/>
            <a:ext cx="2142720" cy="1552320"/>
          </a:xfrm>
          <a:prstGeom prst="rect">
            <a:avLst/>
          </a:prstGeom>
          <a:ln w="0">
            <a:noFill/>
          </a:ln>
        </p:spPr>
      </p:pic>
      <p:pic>
        <p:nvPicPr>
          <p:cNvPr id="135" name="Google Shape;240;p37"/>
          <p:cNvPicPr/>
          <p:nvPr/>
        </p:nvPicPr>
        <p:blipFill>
          <a:blip r:embed="rId3"/>
          <a:srcRect l="-3325" r="3325"/>
          <a:stretch/>
        </p:blipFill>
        <p:spPr>
          <a:xfrm>
            <a:off x="4852800" y="2293920"/>
            <a:ext cx="2295000" cy="1504440"/>
          </a:xfrm>
          <a:prstGeom prst="rect">
            <a:avLst/>
          </a:prstGeom>
          <a:ln w="0">
            <a:noFill/>
          </a:ln>
        </p:spPr>
      </p:pic>
      <p:sp>
        <p:nvSpPr>
          <p:cNvPr id="136" name="Google Shape;241;p37"/>
          <p:cNvSpPr/>
          <p:nvPr/>
        </p:nvSpPr>
        <p:spPr>
          <a:xfrm>
            <a:off x="725400" y="4223880"/>
            <a:ext cx="1873080" cy="62856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1" strike="noStrike" spc="-1">
                <a:solidFill>
                  <a:srgbClr val="000000"/>
                </a:solidFill>
                <a:latin typeface="Calibri"/>
                <a:ea typeface="Calibri"/>
              </a:rPr>
              <a:t>    Storyboarding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37" name="Google Shape;242;p37"/>
          <p:cNvSpPr/>
          <p:nvPr/>
        </p:nvSpPr>
        <p:spPr>
          <a:xfrm>
            <a:off x="2751120" y="4223880"/>
            <a:ext cx="1873080" cy="62856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1" strike="noStrike" spc="-1">
                <a:solidFill>
                  <a:srgbClr val="000000"/>
                </a:solidFill>
                <a:latin typeface="Calibri"/>
                <a:ea typeface="Calibri"/>
              </a:rPr>
              <a:t>       Sketching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38" name="Google Shape;243;p37"/>
          <p:cNvSpPr/>
          <p:nvPr/>
        </p:nvSpPr>
        <p:spPr>
          <a:xfrm>
            <a:off x="4865040" y="4223880"/>
            <a:ext cx="1752480" cy="62856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1" strike="noStrike" spc="-1">
                <a:solidFill>
                  <a:srgbClr val="000000"/>
                </a:solidFill>
                <a:latin typeface="Calibri"/>
                <a:ea typeface="Calibri"/>
              </a:rPr>
              <a:t>    Card Sorting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39" name="Google Shape;244;p37"/>
          <p:cNvSpPr/>
          <p:nvPr/>
        </p:nvSpPr>
        <p:spPr>
          <a:xfrm>
            <a:off x="6856200" y="4223880"/>
            <a:ext cx="1752480" cy="62856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  'Wizard of Oz'</a:t>
            </a:r>
            <a:endParaRPr lang="en-US" sz="18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2395835" y="4686300"/>
            <a:ext cx="1067991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 sz="1350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780830" y="4686300"/>
            <a:ext cx="1582341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 sz="1350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2395835" y="4686300"/>
            <a:ext cx="1067991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 sz="1350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3780830" y="4686300"/>
            <a:ext cx="1582341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 sz="1350"/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title"/>
          </p:nvPr>
        </p:nvSpPr>
        <p:spPr>
          <a:xfrm>
            <a:off x="1408670" y="116231"/>
            <a:ext cx="5444432" cy="676725"/>
          </a:xfrm>
        </p:spPr>
        <p:txBody>
          <a:bodyPr vert="horz" wrap="square" lIns="67866" tIns="33338" rIns="67866" bIns="33338" rtlCol="0" anchor="ctr">
            <a:spAutoFit/>
          </a:bodyPr>
          <a:lstStyle/>
          <a:p>
            <a:r>
              <a:rPr lang="en-US" altLang="en-US" dirty="0"/>
              <a:t>Prototyping</a:t>
            </a:r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2475311" y="742950"/>
            <a:ext cx="3916561" cy="3657600"/>
          </a:xfrm>
        </p:spPr>
        <p:txBody>
          <a:bodyPr vert="horz" lIns="67866" tIns="33338" rIns="67866" bIns="33338" rtlCol="0">
            <a:normAutofit/>
          </a:bodyPr>
          <a:lstStyle/>
          <a:p>
            <a:endParaRPr lang="en-US" altLang="en-US" dirty="0">
              <a:solidFill>
                <a:srgbClr val="000000"/>
              </a:solidFill>
            </a:endParaRPr>
          </a:p>
          <a:p>
            <a:endParaRPr lang="en-US" altLang="en-US" dirty="0"/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2822676" y="1016794"/>
            <a:ext cx="1847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GB" altLang="en-US" sz="1200" b="1">
              <a:latin typeface="Arial" panose="020B0604020202020204" pitchFamily="34" charset="0"/>
            </a:endParaRPr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1257300" y="1329929"/>
            <a:ext cx="6515100" cy="3294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866" tIns="33338" rIns="67866" bIns="33338"/>
          <a:lstStyle>
            <a:lvl1pPr marL="355600" indent="-355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349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450"/>
              </a:spcBef>
              <a:buFontTx/>
              <a:buChar char="•"/>
            </a:pPr>
            <a:r>
              <a:rPr lang="en-GB" altLang="en-US" sz="2400" dirty="0"/>
              <a:t>What is a prototype? </a:t>
            </a:r>
          </a:p>
          <a:p>
            <a:pPr>
              <a:spcBef>
                <a:spcPts val="450"/>
              </a:spcBef>
              <a:buFontTx/>
              <a:buChar char="•"/>
            </a:pPr>
            <a:r>
              <a:rPr lang="en-GB" altLang="en-US" sz="2400" dirty="0"/>
              <a:t>Why prototype?</a:t>
            </a:r>
          </a:p>
          <a:p>
            <a:pPr>
              <a:spcBef>
                <a:spcPts val="450"/>
              </a:spcBef>
              <a:buFontTx/>
              <a:buChar char="•"/>
            </a:pPr>
            <a:r>
              <a:rPr lang="en-GB" altLang="en-US" sz="2400" dirty="0"/>
              <a:t>Evolutionary vs. throwaway prototype</a:t>
            </a:r>
          </a:p>
          <a:p>
            <a:pPr>
              <a:spcBef>
                <a:spcPts val="450"/>
              </a:spcBef>
              <a:buFontTx/>
              <a:buChar char="•"/>
            </a:pPr>
            <a:r>
              <a:rPr lang="en-GB" altLang="en-US" sz="2400" dirty="0"/>
              <a:t>Low vs. high fidelity prototyping</a:t>
            </a:r>
          </a:p>
          <a:p>
            <a:pPr marL="0" indent="0">
              <a:spcBef>
                <a:spcPts val="450"/>
              </a:spcBef>
            </a:pPr>
            <a:endParaRPr lang="en-GB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8213312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21718" y="1360788"/>
            <a:ext cx="4055364" cy="3371850"/>
          </a:xfrm>
        </p:spPr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prototype</a:t>
            </a:r>
            <a:r>
              <a:rPr lang="en-US" dirty="0"/>
              <a:t> is an early sample, model, or release of a product built to test a concept or process or to act as a thing to be replicated or learned from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1200150"/>
            <a:ext cx="2514600" cy="394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7259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18" descr="ericbrown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12397" y="1213248"/>
            <a:ext cx="1437680" cy="1658540"/>
          </a:xfrm>
        </p:spPr>
      </p:pic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2395835" y="4686300"/>
            <a:ext cx="1067991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 sz="1350"/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3780830" y="4686300"/>
            <a:ext cx="1582341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 sz="1350"/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2395835" y="4686300"/>
            <a:ext cx="1067991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 sz="1350"/>
          </a:p>
        </p:txBody>
      </p:sp>
      <p:sp>
        <p:nvSpPr>
          <p:cNvPr id="21510" name="Rectangle 5"/>
          <p:cNvSpPr>
            <a:spLocks noChangeArrowheads="1"/>
          </p:cNvSpPr>
          <p:nvPr/>
        </p:nvSpPr>
        <p:spPr bwMode="auto">
          <a:xfrm>
            <a:off x="3780830" y="4686300"/>
            <a:ext cx="1582341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 sz="1350"/>
          </a:p>
        </p:txBody>
      </p:sp>
      <p:sp>
        <p:nvSpPr>
          <p:cNvPr id="21511" name="Rectangle 6"/>
          <p:cNvSpPr>
            <a:spLocks noGrp="1" noChangeArrowheads="1"/>
          </p:cNvSpPr>
          <p:nvPr>
            <p:ph type="title"/>
          </p:nvPr>
        </p:nvSpPr>
        <p:spPr>
          <a:xfrm>
            <a:off x="1485900" y="149947"/>
            <a:ext cx="6864016" cy="676725"/>
          </a:xfrm>
        </p:spPr>
        <p:txBody>
          <a:bodyPr vert="horz" wrap="square" lIns="67866" tIns="33338" rIns="67866" bIns="33338" rtlCol="0" anchor="ctr">
            <a:spAutoFit/>
          </a:bodyPr>
          <a:lstStyle/>
          <a:p>
            <a:r>
              <a:rPr lang="en-US" altLang="en-US" dirty="0"/>
              <a:t>What is a prototype?</a:t>
            </a:r>
          </a:p>
        </p:txBody>
      </p:sp>
      <p:sp>
        <p:nvSpPr>
          <p:cNvPr id="21512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386013" y="1485900"/>
            <a:ext cx="2146697" cy="3086100"/>
          </a:xfrm>
        </p:spPr>
        <p:txBody>
          <a:bodyPr vert="horz" lIns="67866" tIns="33338" rIns="67866" bIns="33338" rtlCol="0">
            <a:normAutofit/>
          </a:bodyPr>
          <a:lstStyle/>
          <a:p>
            <a:endParaRPr lang="en-US" altLang="en-US">
              <a:solidFill>
                <a:srgbClr val="000000"/>
              </a:solidFill>
            </a:endParaRPr>
          </a:p>
          <a:p>
            <a:endParaRPr lang="en-US" altLang="en-US"/>
          </a:p>
        </p:txBody>
      </p:sp>
      <p:pic>
        <p:nvPicPr>
          <p:cNvPr id="21513" name="Picture 14" descr="9-1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692" b="4211"/>
          <a:stretch>
            <a:fillRect/>
          </a:stretch>
        </p:blipFill>
        <p:spPr>
          <a:xfrm>
            <a:off x="6035575" y="2997994"/>
            <a:ext cx="1965425" cy="1688306"/>
          </a:xfrm>
        </p:spPr>
      </p:pic>
      <p:sp>
        <p:nvSpPr>
          <p:cNvPr id="21514" name="Rectangle 8"/>
          <p:cNvSpPr>
            <a:spLocks noChangeArrowheads="1"/>
          </p:cNvSpPr>
          <p:nvPr/>
        </p:nvSpPr>
        <p:spPr bwMode="auto">
          <a:xfrm>
            <a:off x="1485900" y="1200150"/>
            <a:ext cx="4826497" cy="2022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866" tIns="33338" rIns="67866" bIns="33338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41338" indent="-26987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450"/>
              </a:spcBef>
            </a:pPr>
            <a:r>
              <a:rPr lang="en-GB" altLang="en-US" sz="2100" b="1" dirty="0"/>
              <a:t>Limited representation of a product design</a:t>
            </a:r>
            <a:endParaRPr lang="en-GB" altLang="en-US" sz="2700" dirty="0"/>
          </a:p>
          <a:p>
            <a:pPr>
              <a:spcBef>
                <a:spcPts val="450"/>
              </a:spcBef>
              <a:buFontTx/>
              <a:buChar char="•"/>
            </a:pPr>
            <a:r>
              <a:rPr lang="en-GB" altLang="en-US" dirty="0"/>
              <a:t> Scale models, etc.</a:t>
            </a:r>
          </a:p>
          <a:p>
            <a:pPr>
              <a:spcBef>
                <a:spcPts val="450"/>
              </a:spcBef>
              <a:buFontTx/>
              <a:buChar char="•"/>
            </a:pPr>
            <a:r>
              <a:rPr lang="en-GB" altLang="en-US" dirty="0"/>
              <a:t> In interaction design it can be (among other things):</a:t>
            </a:r>
          </a:p>
          <a:p>
            <a:pPr lvl="1">
              <a:spcBef>
                <a:spcPts val="450"/>
              </a:spcBef>
              <a:buFontTx/>
              <a:buChar char="•"/>
            </a:pPr>
            <a:r>
              <a:rPr lang="en-GB" altLang="en-US" dirty="0"/>
              <a:t>a series of screen sketches</a:t>
            </a:r>
          </a:p>
          <a:p>
            <a:pPr lvl="1">
              <a:spcBef>
                <a:spcPts val="450"/>
              </a:spcBef>
              <a:buFontTx/>
              <a:buChar char="•"/>
            </a:pPr>
            <a:r>
              <a:rPr lang="en-GB" altLang="en-US" dirty="0"/>
              <a:t>a storyboard, i.e. a cartoon-like series of scenes </a:t>
            </a:r>
          </a:p>
          <a:p>
            <a:pPr lvl="1">
              <a:spcBef>
                <a:spcPts val="450"/>
              </a:spcBef>
              <a:buFontTx/>
              <a:buChar char="•"/>
            </a:pPr>
            <a:r>
              <a:rPr lang="en-GB" altLang="en-US" dirty="0"/>
              <a:t>a piece of software with limited functionality</a:t>
            </a:r>
          </a:p>
        </p:txBody>
      </p:sp>
    </p:spTree>
    <p:extLst>
      <p:ext uri="{BB962C8B-B14F-4D97-AF65-F5344CB8AC3E}">
        <p14:creationId xmlns:p14="http://schemas.microsoft.com/office/powerpoint/2010/main" val="259273868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23367" y="195263"/>
            <a:ext cx="4371975" cy="648891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Why prototype?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57350" y="1485900"/>
            <a:ext cx="5486400" cy="3086100"/>
          </a:xfrm>
        </p:spPr>
        <p:txBody>
          <a:bodyPr/>
          <a:lstStyle/>
          <a:p>
            <a:r>
              <a:rPr lang="en-US" altLang="en-US" sz="1800" dirty="0"/>
              <a:t>People cannot describe what they want, but they are quick to </a:t>
            </a:r>
            <a:r>
              <a:rPr lang="en-US" altLang="en-US" sz="1800" i="1" dirty="0"/>
              <a:t>recognize </a:t>
            </a:r>
            <a:r>
              <a:rPr lang="en-US" altLang="en-US" sz="1800" dirty="0"/>
              <a:t>what they do not like!</a:t>
            </a:r>
          </a:p>
          <a:p>
            <a:endParaRPr lang="en-US" altLang="en-US" sz="1800" b="1" dirty="0"/>
          </a:p>
          <a:p>
            <a:r>
              <a:rPr lang="en-US" altLang="en-US" sz="1800" dirty="0"/>
              <a:t>Makes requirements, designs and specifications into concrete tangible objects for evaluation</a:t>
            </a:r>
          </a:p>
          <a:p>
            <a:endParaRPr lang="en-US" altLang="en-US" sz="18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6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prototype?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Evaluation and feedback are central to interaction design</a:t>
            </a:r>
          </a:p>
          <a:p>
            <a:r>
              <a:rPr lang="en-US" dirty="0"/>
              <a:t>Stakeholders can see, hold, interact with a prototype more easily than with a document</a:t>
            </a:r>
          </a:p>
          <a:p>
            <a:r>
              <a:rPr lang="en-US" altLang="en-US" dirty="0"/>
              <a:t>Clarifies vague requirements with concrete communication between stakeholders</a:t>
            </a:r>
            <a:endParaRPr lang="en-US" dirty="0"/>
          </a:p>
          <a:p>
            <a:r>
              <a:rPr lang="en-US" dirty="0"/>
              <a:t>Team members can communicate effectively</a:t>
            </a:r>
          </a:p>
          <a:p>
            <a:r>
              <a:rPr lang="en-US" dirty="0"/>
              <a:t>You can test out ideas for yourself </a:t>
            </a:r>
          </a:p>
          <a:p>
            <a:r>
              <a:rPr lang="en-US" dirty="0"/>
              <a:t>Prototypes answer questions, and support designers in choosing between alternatives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prototype?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Work flow, task design, sequence i.e. in the order they happen</a:t>
            </a:r>
          </a:p>
          <a:p>
            <a:pPr algn="just"/>
            <a:r>
              <a:rPr lang="en-US" dirty="0"/>
              <a:t>Screen layouts and information display i.e. icons, home buttons, back buttons, colors etc.</a:t>
            </a:r>
          </a:p>
          <a:p>
            <a:pPr algn="just"/>
            <a:r>
              <a:rPr lang="en-US" dirty="0"/>
              <a:t>Critical areas i.e. Undo button, help, exit, stop etc.</a:t>
            </a:r>
          </a:p>
          <a:p>
            <a:pPr algn="just"/>
            <a:r>
              <a:rPr lang="en-US" dirty="0"/>
              <a:t>Every thing you need to convey the product experience (but no more)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Throw away</a:t>
            </a:r>
            <a:r>
              <a:rPr lang="en-US" dirty="0"/>
              <a:t> prototyping (</a:t>
            </a:r>
            <a:r>
              <a:rPr lang="en-US" b="1" dirty="0"/>
              <a:t>rapid </a:t>
            </a:r>
            <a:r>
              <a:rPr lang="en-US" dirty="0"/>
              <a:t>prototyping)</a:t>
            </a:r>
          </a:p>
          <a:p>
            <a:pPr lvl="1"/>
            <a:r>
              <a:rPr lang="en-US" dirty="0"/>
              <a:t>Prototype developed as part of a throw-away approach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Evolutionary </a:t>
            </a:r>
            <a:r>
              <a:rPr lang="en-US" dirty="0"/>
              <a:t>prototyping</a:t>
            </a:r>
            <a:r>
              <a:rPr lang="en-US" b="1" dirty="0"/>
              <a:t> </a:t>
            </a:r>
            <a:r>
              <a:rPr lang="en-US" dirty="0"/>
              <a:t>( </a:t>
            </a:r>
            <a:r>
              <a:rPr lang="en-US" b="1" dirty="0"/>
              <a:t>Rapid Application Development</a:t>
            </a:r>
            <a:r>
              <a:rPr lang="en-US" dirty="0"/>
              <a:t>  (</a:t>
            </a:r>
            <a:r>
              <a:rPr lang="en-US" b="1" dirty="0"/>
              <a:t>RAD</a:t>
            </a:r>
            <a:r>
              <a:rPr lang="en-US" dirty="0"/>
              <a:t>))</a:t>
            </a:r>
          </a:p>
          <a:p>
            <a:pPr lvl="1"/>
            <a:r>
              <a:rPr lang="en-US" dirty="0"/>
              <a:t>as for incremental prototyping but with evolving design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Throw-away / Rapid Prototyping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8180" y="2986087"/>
            <a:ext cx="6279356" cy="215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Content Placeholder 2"/>
          <p:cNvSpPr>
            <a:spLocks noGrp="1"/>
          </p:cNvSpPr>
          <p:nvPr>
            <p:ph sz="quarter" idx="1"/>
          </p:nvPr>
        </p:nvSpPr>
        <p:spPr>
          <a:xfrm>
            <a:off x="1602486" y="1200151"/>
            <a:ext cx="6115050" cy="177554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Prototype developed as part of a throw-away approach. </a:t>
            </a:r>
          </a:p>
          <a:p>
            <a:r>
              <a:rPr lang="en-US" dirty="0"/>
              <a:t>It will not form part of the final solution.</a:t>
            </a:r>
          </a:p>
          <a:p>
            <a:r>
              <a:rPr lang="en-US" dirty="0"/>
              <a:t>It is a useful way of exploring ideas, and gaining feedback from user.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009" y="171450"/>
            <a:ext cx="6115050" cy="857250"/>
          </a:xfrm>
        </p:spPr>
        <p:txBody>
          <a:bodyPr>
            <a:normAutofit/>
          </a:bodyPr>
          <a:lstStyle/>
          <a:p>
            <a:r>
              <a:rPr lang="en-US" dirty="0"/>
              <a:t>Evolutionary Prototyping 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071745" y="1200150"/>
            <a:ext cx="6929255" cy="172370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 initial prototype is presented to user.</a:t>
            </a:r>
          </a:p>
          <a:p>
            <a:r>
              <a:rPr lang="en-US" dirty="0"/>
              <a:t>They provide feedback and suggestion for improvement.</a:t>
            </a:r>
          </a:p>
          <a:p>
            <a:r>
              <a:rPr lang="en-US" dirty="0"/>
              <a:t>Each stage of this prototype evolves toward the final system hence it is called as evolutionary prototype.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Prototype fidelity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589545" y="2436140"/>
            <a:ext cx="2914650" cy="268605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Quick, cheap, easily changed</a:t>
            </a:r>
          </a:p>
          <a:p>
            <a:r>
              <a:rPr lang="en-US" dirty="0"/>
              <a:t>Paper based</a:t>
            </a:r>
          </a:p>
          <a:p>
            <a:pPr lvl="1"/>
            <a:r>
              <a:rPr lang="en-US" dirty="0"/>
              <a:t>Sketches of screens with post-it notes (task sequences)</a:t>
            </a:r>
          </a:p>
          <a:p>
            <a:pPr lvl="1"/>
            <a:r>
              <a:rPr lang="en-US" dirty="0"/>
              <a:t>Card-based</a:t>
            </a:r>
          </a:p>
          <a:p>
            <a:pPr lvl="1"/>
            <a:r>
              <a:rPr lang="en-US" dirty="0"/>
              <a:t>Storyboards</a:t>
            </a:r>
          </a:p>
          <a:p>
            <a:pPr lvl="1"/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2795" y="2436140"/>
            <a:ext cx="2914650" cy="268605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90000"/>
              </a:lnSpc>
            </a:pPr>
            <a:r>
              <a:rPr lang="en-GB" dirty="0"/>
              <a:t>Is usually computer based</a:t>
            </a:r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Prototype looks more like the final system than a low-fidelity version. </a:t>
            </a:r>
          </a:p>
          <a:p>
            <a:pPr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Usually include mouse/keyboard interaction </a:t>
            </a:r>
          </a:p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>
          <a:xfrm>
            <a:off x="1589545" y="1921790"/>
            <a:ext cx="2914650" cy="480060"/>
          </a:xfrm>
        </p:spPr>
        <p:txBody>
          <a:bodyPr/>
          <a:lstStyle/>
          <a:p>
            <a:r>
              <a:rPr lang="en-US" dirty="0"/>
              <a:t>Low fidelity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4732795" y="1921790"/>
            <a:ext cx="2914650" cy="480060"/>
          </a:xfrm>
        </p:spPr>
        <p:txBody>
          <a:bodyPr/>
          <a:lstStyle/>
          <a:p>
            <a:r>
              <a:rPr lang="en-US" dirty="0"/>
              <a:t>High fidelity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830" y="1071070"/>
            <a:ext cx="6140729" cy="88247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fidelity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1060848"/>
            <a:ext cx="6115050" cy="4082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600700" y="3771900"/>
            <a:ext cx="188595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323904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fidelity: An Example</a:t>
            </a:r>
          </a:p>
        </p:txBody>
      </p:sp>
      <p:pic>
        <p:nvPicPr>
          <p:cNvPr id="106499" name="Picture 3" descr="parts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343151" y="1719072"/>
            <a:ext cx="4031456" cy="2967228"/>
          </a:xfrm>
          <a:noFill/>
          <a:ln/>
        </p:spPr>
      </p:pic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6330554" y="989410"/>
            <a:ext cx="1288256" cy="369332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/>
              <a:t>Menu Bar</a:t>
            </a:r>
          </a:p>
        </p:txBody>
      </p:sp>
      <p:sp>
        <p:nvSpPr>
          <p:cNvPr id="106501" name="Line 5"/>
          <p:cNvSpPr>
            <a:spLocks noChangeShapeType="1"/>
          </p:cNvSpPr>
          <p:nvPr/>
        </p:nvSpPr>
        <p:spPr bwMode="auto">
          <a:xfrm flipH="1">
            <a:off x="4572000" y="1200150"/>
            <a:ext cx="1709738" cy="638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  <a:effectLst/>
        </p:spPr>
        <p:txBody>
          <a:bodyPr/>
          <a:lstStyle/>
          <a:p>
            <a:endParaRPr lang="en-US" sz="1350"/>
          </a:p>
        </p:txBody>
      </p:sp>
      <p:sp>
        <p:nvSpPr>
          <p:cNvPr id="106502" name="Text Box 6"/>
          <p:cNvSpPr txBox="1">
            <a:spLocks noChangeArrowheads="1"/>
          </p:cNvSpPr>
          <p:nvPr/>
        </p:nvSpPr>
        <p:spPr bwMode="auto">
          <a:xfrm>
            <a:off x="7281862" y="2257426"/>
            <a:ext cx="719138" cy="923330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Scroll</a:t>
            </a:r>
            <a:br>
              <a:rPr lang="en-US"/>
            </a:br>
            <a:r>
              <a:rPr lang="en-US"/>
              <a:t>Bar</a:t>
            </a:r>
          </a:p>
        </p:txBody>
      </p:sp>
      <p:sp>
        <p:nvSpPr>
          <p:cNvPr id="106503" name="Text Box 7"/>
          <p:cNvSpPr txBox="1">
            <a:spLocks noChangeArrowheads="1"/>
          </p:cNvSpPr>
          <p:nvPr/>
        </p:nvSpPr>
        <p:spPr bwMode="auto">
          <a:xfrm>
            <a:off x="6866335" y="3113485"/>
            <a:ext cx="1382315" cy="646331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Secondary Menu</a:t>
            </a:r>
          </a:p>
        </p:txBody>
      </p:sp>
      <p:sp>
        <p:nvSpPr>
          <p:cNvPr id="106504" name="Line 8"/>
          <p:cNvSpPr>
            <a:spLocks noChangeShapeType="1"/>
          </p:cNvSpPr>
          <p:nvPr/>
        </p:nvSpPr>
        <p:spPr bwMode="auto">
          <a:xfrm flipH="1">
            <a:off x="5778104" y="3405188"/>
            <a:ext cx="1076325" cy="23693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  <a:effectLst/>
        </p:spPr>
        <p:txBody>
          <a:bodyPr/>
          <a:lstStyle/>
          <a:p>
            <a:endParaRPr lang="en-US" sz="1350"/>
          </a:p>
        </p:txBody>
      </p:sp>
      <p:sp>
        <p:nvSpPr>
          <p:cNvPr id="106505" name="Text Box 9"/>
          <p:cNvSpPr txBox="1">
            <a:spLocks noChangeArrowheads="1"/>
          </p:cNvSpPr>
          <p:nvPr/>
        </p:nvSpPr>
        <p:spPr bwMode="auto">
          <a:xfrm>
            <a:off x="1083469" y="3024188"/>
            <a:ext cx="1123950" cy="646331"/>
          </a:xfrm>
          <a:prstGeom prst="rect">
            <a:avLst/>
          </a:prstGeom>
          <a:noFill/>
          <a:ln w="25400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Opening Contents</a:t>
            </a:r>
          </a:p>
        </p:txBody>
      </p:sp>
      <p:sp>
        <p:nvSpPr>
          <p:cNvPr id="106506" name="Line 10"/>
          <p:cNvSpPr>
            <a:spLocks noChangeShapeType="1"/>
          </p:cNvSpPr>
          <p:nvPr/>
        </p:nvSpPr>
        <p:spPr bwMode="auto">
          <a:xfrm>
            <a:off x="2033587" y="3362326"/>
            <a:ext cx="481013" cy="5953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  <a:effectLst/>
        </p:spPr>
        <p:txBody>
          <a:bodyPr/>
          <a:lstStyle/>
          <a:p>
            <a:endParaRPr lang="en-US" sz="1350"/>
          </a:p>
        </p:txBody>
      </p:sp>
      <p:sp>
        <p:nvSpPr>
          <p:cNvPr id="106507" name="Line 11"/>
          <p:cNvSpPr>
            <a:spLocks noChangeShapeType="1"/>
          </p:cNvSpPr>
          <p:nvPr/>
        </p:nvSpPr>
        <p:spPr bwMode="auto">
          <a:xfrm flipH="1" flipV="1">
            <a:off x="6281738" y="2565796"/>
            <a:ext cx="1056085" cy="595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lg"/>
          </a:ln>
          <a:effectLst/>
        </p:spPr>
        <p:txBody>
          <a:bodyPr/>
          <a:lstStyle/>
          <a:p>
            <a:endParaRPr lang="en-US" sz="13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fidelity: An Example</a:t>
            </a:r>
          </a:p>
        </p:txBody>
      </p:sp>
      <p:pic>
        <p:nvPicPr>
          <p:cNvPr id="4" name="Picture 3" descr="Team2Fina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600200" y="1257300"/>
            <a:ext cx="6057900" cy="3829050"/>
          </a:xfrm>
          <a:prstGeom prst="rect">
            <a:avLst/>
          </a:prstGeom>
          <a:noFill/>
          <a:ln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lo-</a:t>
            </a:r>
            <a:r>
              <a:rPr lang="en-US" dirty="0" err="1"/>
              <a:t>fi</a:t>
            </a:r>
            <a:r>
              <a:rPr lang="en-US" dirty="0"/>
              <a:t> is often better than hi-fi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At least in the early stages of design…</a:t>
            </a:r>
          </a:p>
          <a:p>
            <a:pPr lvl="1"/>
            <a:r>
              <a:rPr lang="en-US" dirty="0"/>
              <a:t>Hi-fi prototypes can be problematic</a:t>
            </a:r>
          </a:p>
          <a:p>
            <a:pPr lvl="2"/>
            <a:r>
              <a:rPr lang="en-US" dirty="0"/>
              <a:t>users can often think it’s the real thing</a:t>
            </a:r>
          </a:p>
          <a:p>
            <a:pPr lvl="2"/>
            <a:r>
              <a:rPr lang="en-US" dirty="0"/>
              <a:t>users tend to focus on small details (e.g. font size) rather than the bigger picture </a:t>
            </a:r>
          </a:p>
          <a:p>
            <a:pPr lvl="2"/>
            <a:r>
              <a:rPr lang="en-US" dirty="0"/>
              <a:t>developers get over-attached having done the programming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Lo-</a:t>
            </a:r>
            <a:r>
              <a:rPr lang="en-US" dirty="0" err="1"/>
              <a:t>fi</a:t>
            </a:r>
            <a:r>
              <a:rPr lang="en-US" dirty="0"/>
              <a:t> prototypes avoid these issues...</a:t>
            </a:r>
          </a:p>
          <a:p>
            <a:pPr lvl="2"/>
            <a:r>
              <a:rPr lang="en-US" dirty="0"/>
              <a:t>easy to change</a:t>
            </a:r>
          </a:p>
          <a:p>
            <a:pPr lvl="2"/>
            <a:r>
              <a:rPr lang="en-US" dirty="0"/>
              <a:t>users concentrate on big picture (e.g. structure and function)</a:t>
            </a:r>
          </a:p>
          <a:p>
            <a:pPr lvl="2"/>
            <a:r>
              <a:rPr lang="en-US" dirty="0"/>
              <a:t>it’s disposable</a:t>
            </a:r>
          </a:p>
          <a:p>
            <a:endParaRPr lang="en-US" dirty="0"/>
          </a:p>
          <a:p>
            <a:r>
              <a:rPr lang="en-US" dirty="0"/>
              <a:t>So before investing in hi-fi, we need to get lo-</a:t>
            </a:r>
            <a:r>
              <a:rPr lang="en-US" dirty="0" err="1"/>
              <a:t>fi</a:t>
            </a:r>
            <a:r>
              <a:rPr lang="en-US" dirty="0"/>
              <a:t> versions right</a:t>
            </a:r>
          </a:p>
        </p:txBody>
      </p:sp>
    </p:spTree>
    <p:extLst>
      <p:ext uri="{BB962C8B-B14F-4D97-AF65-F5344CB8AC3E}">
        <p14:creationId xmlns:p14="http://schemas.microsoft.com/office/powerpoint/2010/main" val="8012739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249;p38"/>
          <p:cNvSpPr txBox="1"/>
          <p:nvPr/>
        </p:nvSpPr>
        <p:spPr>
          <a:xfrm>
            <a:off x="828720" y="57240"/>
            <a:ext cx="7485120" cy="54612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 anchor="b">
            <a:norm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" sz="250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 Stage 5: Test—Try Your Solutions Out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Google Shape;250;p38"/>
          <p:cNvSpPr txBox="1"/>
          <p:nvPr/>
        </p:nvSpPr>
        <p:spPr>
          <a:xfrm>
            <a:off x="675360" y="1109520"/>
            <a:ext cx="4784040" cy="411984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>
            <a:normAutofit fontScale="82500" lnSpcReduction="10000"/>
          </a:bodyPr>
          <a:lstStyle/>
          <a:p>
            <a:pPr marL="177840" indent="-185760" algn="just">
              <a:lnSpc>
                <a:spcPct val="150000"/>
              </a:lnSpc>
              <a:buClr>
                <a:srgbClr val="514843"/>
              </a:buClr>
              <a:buFont typeface="Noto Sans Symbols"/>
              <a:buChar char="▪"/>
            </a:pPr>
            <a:r>
              <a:rPr lang="en" sz="180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Testing can be undertaken throughout the progress of a Design Thinking project.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85760" algn="just">
              <a:lnSpc>
                <a:spcPct val="150000"/>
              </a:lnSpc>
              <a:spcBef>
                <a:spcPts val="1001"/>
              </a:spcBef>
              <a:buClr>
                <a:srgbClr val="514843"/>
              </a:buClr>
              <a:buFont typeface="Noto Sans Symbols"/>
              <a:buChar char="▪"/>
            </a:pPr>
            <a:r>
              <a:rPr lang="en" sz="180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If users experience difficulties, then the design team must revisit their list of potential solutions.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85760" algn="just">
              <a:lnSpc>
                <a:spcPct val="150000"/>
              </a:lnSpc>
              <a:spcBef>
                <a:spcPts val="1001"/>
              </a:spcBef>
              <a:buClr>
                <a:srgbClr val="514843"/>
              </a:buClr>
              <a:buFont typeface="Calibri"/>
              <a:buChar char="▪"/>
            </a:pPr>
            <a:r>
              <a:rPr lang="en" sz="1800" b="1" strike="noStrike" spc="-1" dirty="0">
                <a:solidFill>
                  <a:srgbClr val="514843"/>
                </a:solidFill>
                <a:latin typeface="Calibri"/>
                <a:ea typeface="Calibri"/>
              </a:rPr>
              <a:t>Testing Guidelines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85760" algn="just">
              <a:lnSpc>
                <a:spcPct val="150000"/>
              </a:lnSpc>
              <a:spcBef>
                <a:spcPts val="1001"/>
              </a:spcBef>
              <a:buClr>
                <a:srgbClr val="514843"/>
              </a:buClr>
              <a:buFont typeface="Noto Sans Symbols"/>
              <a:buChar char="▪"/>
            </a:pPr>
            <a:r>
              <a:rPr lang="en" sz="180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Let your users compare alternatives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85760" algn="just">
              <a:lnSpc>
                <a:spcPct val="150000"/>
              </a:lnSpc>
              <a:buClr>
                <a:srgbClr val="514843"/>
              </a:buClr>
              <a:buFont typeface="Noto Sans Symbols"/>
              <a:buChar char="▪"/>
            </a:pPr>
            <a:r>
              <a:rPr lang="en" sz="180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Show, don’t tell: let your users experience the prototype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85760" algn="just">
              <a:lnSpc>
                <a:spcPct val="150000"/>
              </a:lnSpc>
              <a:buClr>
                <a:srgbClr val="514843"/>
              </a:buClr>
              <a:buFont typeface="Noto Sans Symbols"/>
              <a:buChar char="▪"/>
            </a:pPr>
            <a:r>
              <a:rPr lang="en" sz="180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Ask users to talk through their experience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85760" algn="just">
              <a:lnSpc>
                <a:spcPct val="150000"/>
              </a:lnSpc>
              <a:buClr>
                <a:srgbClr val="514843"/>
              </a:buClr>
              <a:buFont typeface="Noto Sans Symbols"/>
              <a:buChar char="▪"/>
            </a:pPr>
            <a:r>
              <a:rPr lang="en" sz="180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Observe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85760" algn="just">
              <a:lnSpc>
                <a:spcPct val="150000"/>
              </a:lnSpc>
              <a:buClr>
                <a:srgbClr val="514843"/>
              </a:buClr>
              <a:buFont typeface="Noto Sans Symbols"/>
              <a:buChar char="▪"/>
            </a:pPr>
            <a:r>
              <a:rPr lang="en" sz="180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Ask follow up questions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85760" algn="just">
              <a:lnSpc>
                <a:spcPct val="150000"/>
              </a:lnSpc>
              <a:buClr>
                <a:srgbClr val="514843"/>
              </a:buClr>
              <a:buFont typeface="Noto Sans Symbols"/>
              <a:buChar char="▪"/>
            </a:pPr>
            <a:r>
              <a:rPr lang="en" sz="1800" b="0" strike="noStrike" spc="-1" dirty="0">
                <a:solidFill>
                  <a:srgbClr val="514843"/>
                </a:solidFill>
                <a:latin typeface="Calibri"/>
                <a:ea typeface="Calibri"/>
              </a:rPr>
              <a:t>Negative Feedback is Your Way to Learn and Improve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Google Shape;251;p38"/>
          <p:cNvPicPr/>
          <p:nvPr/>
        </p:nvPicPr>
        <p:blipFill>
          <a:blip r:embed="rId2"/>
          <a:stretch/>
        </p:blipFill>
        <p:spPr>
          <a:xfrm>
            <a:off x="5557680" y="1717200"/>
            <a:ext cx="3281040" cy="2757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350;p54"/>
          <p:cNvSpPr txBox="1"/>
          <p:nvPr/>
        </p:nvSpPr>
        <p:spPr>
          <a:xfrm>
            <a:off x="3680743" y="2484617"/>
            <a:ext cx="2502000" cy="1009440"/>
          </a:xfrm>
          <a:prstGeom prst="rect">
            <a:avLst/>
          </a:prstGeom>
          <a:noFill/>
          <a:ln w="0">
            <a:noFill/>
          </a:ln>
        </p:spPr>
        <p:txBody>
          <a:bodyPr lIns="0" tIns="34200" rIns="0" bIns="34200">
            <a:norm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3300" b="0" strike="noStrike" spc="-1">
                <a:solidFill>
                  <a:srgbClr val="514843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Thank You!</a:t>
            </a:r>
            <a:endParaRPr lang="en-US" sz="3300" b="0" strike="noStrike" spc="-1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1665</Words>
  <Application>Microsoft Office PowerPoint</Application>
  <PresentationFormat>On-screen Show (16:9)</PresentationFormat>
  <Paragraphs>193</Paragraphs>
  <Slides>30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ＭＳ Ｐゴシック</vt:lpstr>
      <vt:lpstr>ＭＳ Ｐゴシック</vt:lpstr>
      <vt:lpstr>Arial</vt:lpstr>
      <vt:lpstr>Arial</vt:lpstr>
      <vt:lpstr>Calibri</vt:lpstr>
      <vt:lpstr>Noto Sans Symbols</vt:lpstr>
      <vt:lpstr>Symbol</vt:lpstr>
      <vt:lpstr>Times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Gulfs of execution and evaluation </vt:lpstr>
      <vt:lpstr>Bridging the gulfs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Prototyping</vt:lpstr>
      <vt:lpstr>Prototype</vt:lpstr>
      <vt:lpstr>What is a prototype?</vt:lpstr>
      <vt:lpstr>Why prototype?</vt:lpstr>
      <vt:lpstr>Why prototype?</vt:lpstr>
      <vt:lpstr>What to prototype?</vt:lpstr>
      <vt:lpstr>Prototyping Techniques</vt:lpstr>
      <vt:lpstr>Throw-away / Rapid Prototyping </vt:lpstr>
      <vt:lpstr>Evolutionary Prototyping  </vt:lpstr>
      <vt:lpstr>Prototype fidelity </vt:lpstr>
      <vt:lpstr>Prototype fidelity </vt:lpstr>
      <vt:lpstr>Low fidelity: An Example</vt:lpstr>
      <vt:lpstr>High fidelity: An Example</vt:lpstr>
      <vt:lpstr>Why lo-fi is often better than hi-fi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Nadeem Ahmad</dc:creator>
  <dc:description/>
  <cp:lastModifiedBy>Misbhah Naz</cp:lastModifiedBy>
  <cp:revision>10</cp:revision>
  <dcterms:modified xsi:type="dcterms:W3CDTF">2025-03-05T06:02:18Z</dcterms:modified>
  <dc:language>en-US</dc:language>
</cp:coreProperties>
</file>