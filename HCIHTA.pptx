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2"/>
  </p:notesMasterIdLst>
  <p:sldIdLst>
    <p:sldId id="483" r:id="rId2"/>
    <p:sldId id="505" r:id="rId3"/>
    <p:sldId id="506" r:id="rId4"/>
    <p:sldId id="503" r:id="rId5"/>
    <p:sldId id="504" r:id="rId6"/>
    <p:sldId id="463" r:id="rId7"/>
    <p:sldId id="464" r:id="rId8"/>
    <p:sldId id="470" r:id="rId9"/>
    <p:sldId id="471" r:id="rId10"/>
    <p:sldId id="472" r:id="rId11"/>
    <p:sldId id="474" r:id="rId12"/>
    <p:sldId id="473" r:id="rId13"/>
    <p:sldId id="475" r:id="rId14"/>
    <p:sldId id="476" r:id="rId15"/>
    <p:sldId id="477" r:id="rId16"/>
    <p:sldId id="478" r:id="rId17"/>
    <p:sldId id="479" r:id="rId18"/>
    <p:sldId id="480" r:id="rId19"/>
    <p:sldId id="481" r:id="rId20"/>
    <p:sldId id="50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0" autoAdjust="0"/>
    <p:restoredTop sz="94291" autoAdjust="0"/>
  </p:normalViewPr>
  <p:slideViewPr>
    <p:cSldViewPr>
      <p:cViewPr varScale="1">
        <p:scale>
          <a:sx n="68" d="100"/>
          <a:sy n="68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7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1EF33-497A-4AB8-9E2A-EDA89E2657AC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35D07-CE9A-41EA-8351-FED4C60B3E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7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</a:t>
            </a:r>
            <a:r>
              <a:rPr lang="en-US" baseline="0" dirty="0"/>
              <a:t>         =&gt;  </a:t>
            </a:r>
            <a:r>
              <a:rPr lang="en-US" dirty="0"/>
              <a:t>1.1 then 1.2 then 1.3</a:t>
            </a:r>
          </a:p>
          <a:p>
            <a:r>
              <a:rPr lang="en-US" dirty="0"/>
              <a:t>Optional           =&gt;</a:t>
            </a:r>
            <a:r>
              <a:rPr lang="en-US" baseline="0" dirty="0"/>
              <a:t>  </a:t>
            </a:r>
            <a:r>
              <a:rPr lang="en-US" dirty="0"/>
              <a:t>if the pot is full 2</a:t>
            </a:r>
          </a:p>
          <a:p>
            <a:r>
              <a:rPr lang="en-US" dirty="0"/>
              <a:t>Wait                 </a:t>
            </a:r>
            <a:r>
              <a:rPr lang="en-US" baseline="0" dirty="0"/>
              <a:t> </a:t>
            </a:r>
            <a:r>
              <a:rPr lang="en-US" dirty="0"/>
              <a:t>=&gt;</a:t>
            </a:r>
            <a:r>
              <a:rPr lang="en-US" baseline="0" dirty="0"/>
              <a:t>  </a:t>
            </a:r>
            <a:r>
              <a:rPr lang="en-US" dirty="0"/>
              <a:t>when kettle boils, do 1.4</a:t>
            </a:r>
          </a:p>
          <a:p>
            <a:r>
              <a:rPr lang="en-US" dirty="0"/>
              <a:t>Cycles               =&gt;  do 5.1 5.2 while there are still empty cups</a:t>
            </a:r>
          </a:p>
          <a:p>
            <a:r>
              <a:rPr lang="en-US" dirty="0"/>
              <a:t>Parallel             =&gt; </a:t>
            </a:r>
            <a:r>
              <a:rPr lang="en-US" baseline="0" dirty="0"/>
              <a:t> </a:t>
            </a:r>
            <a:r>
              <a:rPr lang="en-US" dirty="0"/>
              <a:t>do 1; at the same time ...</a:t>
            </a:r>
          </a:p>
          <a:p>
            <a:r>
              <a:rPr lang="en-US" dirty="0"/>
              <a:t>Discretionary </a:t>
            </a:r>
            <a:r>
              <a:rPr lang="en-US" baseline="0" dirty="0"/>
              <a:t>   =&gt;  </a:t>
            </a:r>
            <a:r>
              <a:rPr lang="en-US" dirty="0"/>
              <a:t>do any of 1.3.1, 1.3.2 or 1.3.3 in any order</a:t>
            </a:r>
          </a:p>
          <a:p>
            <a:r>
              <a:rPr lang="en-US" dirty="0"/>
              <a:t>Mixtures           =&gt;</a:t>
            </a:r>
            <a:r>
              <a:rPr lang="en-US" baseline="0" dirty="0"/>
              <a:t> mixture of above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35D07-CE9A-41EA-8351-FED4C60B3E9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9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E35D07-CE9A-41EA-8351-FED4C60B3E9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98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E233F16-6F8D-46A1-A057-776BA6AD2C46}" type="datetimeFigureOut">
              <a:rPr lang="en-US" smtClean="0"/>
              <a:pPr/>
              <a:t>4/19/2021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181D6C9-1B9F-49AE-AE07-342A3A6A7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Task analysis is the process of analyzing the way people perform their jobs: the things they do, the things they act on and the things they need to know.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Task Analysis </a:t>
            </a:r>
          </a:p>
        </p:txBody>
      </p:sp>
    </p:spTree>
    <p:extLst>
      <p:ext uri="{BB962C8B-B14F-4D97-AF65-F5344CB8AC3E}">
        <p14:creationId xmlns:p14="http://schemas.microsoft.com/office/powerpoint/2010/main" val="253563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D22C-0CFC-4193-8633-A5A1AB2B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a WhatsApp group on Android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7E55-5BA8-44D9-9DF3-3F5157FAC0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Tap on … icon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on new group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participant (loop: at least 1 less than 255)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3.1 Search member name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3.2 Select it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3.3 Tap done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group name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group description (Optional)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Upload picture (Optional)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create  </a:t>
            </a:r>
          </a:p>
        </p:txBody>
      </p:sp>
    </p:spTree>
    <p:extLst>
      <p:ext uri="{BB962C8B-B14F-4D97-AF65-F5344CB8AC3E}">
        <p14:creationId xmlns:p14="http://schemas.microsoft.com/office/powerpoint/2010/main" val="370204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D22C-0CFC-4193-8633-A5A1AB2B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a WhatsApp group on Android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7E55-5BA8-44D9-9DF3-3F5157FAC0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Tap on … icon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on new group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participant (loop: at least 1 less than 255)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3.1 scroll through your address book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3.2 click check box for desired participant (loop)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3.3 tap done</a:t>
            </a:r>
          </a:p>
        </p:txBody>
      </p:sp>
    </p:spTree>
    <p:extLst>
      <p:ext uri="{BB962C8B-B14F-4D97-AF65-F5344CB8AC3E}">
        <p14:creationId xmlns:p14="http://schemas.microsoft.com/office/powerpoint/2010/main" val="239554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6D25-1B18-40BC-80F5-87AD9555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Hierarchal Task Analysis (HTA)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5941B-35B5-42FF-904E-7DF67C21A4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whatsapp</a:t>
            </a:r>
            <a:r>
              <a:rPr lang="en-US" dirty="0"/>
              <a:t> group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Tap on :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Tap on new group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Enter group name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Enter group desc if you want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Upload group pic (optional)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Add as many members as you want </a:t>
            </a:r>
          </a:p>
          <a:p>
            <a:pPr marL="834390" lvl="1" indent="-514350">
              <a:buFont typeface="+mj-lt"/>
              <a:buAutoNum type="arabicPeriod"/>
            </a:pPr>
            <a:r>
              <a:rPr lang="en-US" dirty="0"/>
              <a:t>Tap done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67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BEBE9-5823-4F4D-B507-55D7EAA4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4235-ED53-40E5-8BBE-EF64AD87D6E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</a:t>
            </a:r>
            <a:r>
              <a:rPr lang="en-US" dirty="0" err="1"/>
              <a:t>whatsapp</a:t>
            </a:r>
            <a:r>
              <a:rPr lang="en-US" dirty="0"/>
              <a:t> group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on 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on new group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participant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group name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group description (optional)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Upload pic if you want to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Tap done 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221F19-0CE9-4D13-B2F7-87F13DC948DE}"/>
              </a:ext>
            </a:extLst>
          </p:cNvPr>
          <p:cNvSpPr/>
          <p:nvPr/>
        </p:nvSpPr>
        <p:spPr>
          <a:xfrm>
            <a:off x="267270" y="3259361"/>
            <a:ext cx="914416" cy="665525"/>
          </a:xfrm>
          <a:custGeom>
            <a:avLst/>
            <a:gdLst>
              <a:gd name="connsiteX0" fmla="*/ 914416 w 914416"/>
              <a:gd name="connsiteY0" fmla="*/ 299765 h 665525"/>
              <a:gd name="connsiteX1" fmla="*/ 295438 w 914416"/>
              <a:gd name="connsiteY1" fmla="*/ 665525 h 665525"/>
              <a:gd name="connsiteX2" fmla="*/ 295438 w 914416"/>
              <a:gd name="connsiteY2" fmla="*/ 665525 h 665525"/>
              <a:gd name="connsiteX3" fmla="*/ 16 w 914416"/>
              <a:gd name="connsiteY3" fmla="*/ 370104 h 665525"/>
              <a:gd name="connsiteX4" fmla="*/ 309505 w 914416"/>
              <a:gd name="connsiteY4" fmla="*/ 4344 h 665525"/>
              <a:gd name="connsiteX5" fmla="*/ 801875 w 914416"/>
              <a:gd name="connsiteY5" fmla="*/ 159088 h 665525"/>
              <a:gd name="connsiteX6" fmla="*/ 689333 w 914416"/>
              <a:gd name="connsiteY6" fmla="*/ 4344 h 665525"/>
              <a:gd name="connsiteX7" fmla="*/ 689333 w 914416"/>
              <a:gd name="connsiteY7" fmla="*/ 4344 h 665525"/>
              <a:gd name="connsiteX8" fmla="*/ 801875 w 914416"/>
              <a:gd name="connsiteY8" fmla="*/ 145021 h 665525"/>
              <a:gd name="connsiteX9" fmla="*/ 604927 w 914416"/>
              <a:gd name="connsiteY9" fmla="*/ 243494 h 665525"/>
              <a:gd name="connsiteX10" fmla="*/ 604927 w 914416"/>
              <a:gd name="connsiteY10" fmla="*/ 243494 h 66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4416" h="665525">
                <a:moveTo>
                  <a:pt x="914416" y="299765"/>
                </a:moveTo>
                <a:lnTo>
                  <a:pt x="295438" y="665525"/>
                </a:lnTo>
                <a:lnTo>
                  <a:pt x="295438" y="665525"/>
                </a:lnTo>
                <a:cubicBezTo>
                  <a:pt x="246201" y="616288"/>
                  <a:pt x="-2328" y="480301"/>
                  <a:pt x="16" y="370104"/>
                </a:cubicBezTo>
                <a:cubicBezTo>
                  <a:pt x="2360" y="259907"/>
                  <a:pt x="175862" y="39513"/>
                  <a:pt x="309505" y="4344"/>
                </a:cubicBezTo>
                <a:cubicBezTo>
                  <a:pt x="443148" y="-30825"/>
                  <a:pt x="738570" y="159088"/>
                  <a:pt x="801875" y="159088"/>
                </a:cubicBezTo>
                <a:cubicBezTo>
                  <a:pt x="865180" y="159088"/>
                  <a:pt x="689333" y="4344"/>
                  <a:pt x="689333" y="4344"/>
                </a:cubicBezTo>
                <a:lnTo>
                  <a:pt x="689333" y="4344"/>
                </a:lnTo>
                <a:cubicBezTo>
                  <a:pt x="708090" y="27790"/>
                  <a:pt x="815943" y="105163"/>
                  <a:pt x="801875" y="145021"/>
                </a:cubicBezTo>
                <a:cubicBezTo>
                  <a:pt x="787807" y="184879"/>
                  <a:pt x="604927" y="243494"/>
                  <a:pt x="604927" y="243494"/>
                </a:cubicBezTo>
                <a:lnTo>
                  <a:pt x="604927" y="243494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6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Task analysis gathers both declarative and procedural knowledge</a:t>
            </a:r>
          </a:p>
          <a:p>
            <a:pPr lvl="1"/>
            <a:r>
              <a:rPr lang="en-US" dirty="0"/>
              <a:t>Declarative: objects and relationships</a:t>
            </a:r>
          </a:p>
          <a:p>
            <a:pPr lvl="1"/>
            <a:r>
              <a:rPr lang="en-US" dirty="0"/>
              <a:t>Procedural: task sequences, goals and sub-goals</a:t>
            </a:r>
          </a:p>
          <a:p>
            <a:pPr lvl="1"/>
            <a:r>
              <a:rPr lang="en-US" dirty="0"/>
              <a:t>Also dependencies and constraints</a:t>
            </a:r>
          </a:p>
          <a:p>
            <a:endParaRPr lang="en-US" dirty="0"/>
          </a:p>
          <a:p>
            <a:r>
              <a:rPr lang="en-US" dirty="0"/>
              <a:t>Originally a tool for writing training manuals, now used more widely in business process analysis</a:t>
            </a:r>
          </a:p>
          <a:p>
            <a:endParaRPr lang="en-US" dirty="0"/>
          </a:p>
          <a:p>
            <a:r>
              <a:rPr lang="en-US" dirty="0"/>
              <a:t>Emphasizes users + existing tasks, rather than desired system as in systems analysis</a:t>
            </a:r>
          </a:p>
          <a:p>
            <a:endParaRPr lang="en-US" dirty="0"/>
          </a:p>
          <a:p>
            <a:r>
              <a:rPr lang="en-US" dirty="0"/>
              <a:t>Emphasizes observable behavior and whole job, rather than internal mental state and “unit” tasks as in cognitive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6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Analysis: An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In order to clean the house</a:t>
            </a:r>
          </a:p>
          <a:p>
            <a:pPr marL="937260" lvl="2" indent="-342900">
              <a:buFont typeface="+mj-lt"/>
              <a:buAutoNum type="arabicPeriod"/>
            </a:pPr>
            <a:r>
              <a:rPr lang="en-US" sz="2400" dirty="0"/>
              <a:t>get the vacuum cleaner out</a:t>
            </a:r>
            <a:r>
              <a:rPr lang="en-GB" sz="2400" dirty="0"/>
              <a:t> </a:t>
            </a:r>
          </a:p>
          <a:p>
            <a:pPr marL="937260" lvl="2" indent="-342900">
              <a:buFont typeface="+mj-lt"/>
              <a:buAutoNum type="arabicPeriod"/>
            </a:pPr>
            <a:r>
              <a:rPr lang="en-GB" sz="2400" dirty="0"/>
              <a:t>fix </a:t>
            </a:r>
            <a:r>
              <a:rPr lang="en-US" sz="2400" dirty="0"/>
              <a:t>the appropriate attachments</a:t>
            </a:r>
          </a:p>
          <a:p>
            <a:pPr marL="937260" lvl="2" indent="-342900">
              <a:buFont typeface="+mj-lt"/>
              <a:buAutoNum type="arabicPeriod"/>
            </a:pPr>
            <a:r>
              <a:rPr lang="en-US" sz="2400" dirty="0"/>
              <a:t>clean the rooms</a:t>
            </a:r>
          </a:p>
          <a:p>
            <a:pPr marL="937260" lvl="2" indent="-342900">
              <a:buFont typeface="+mj-lt"/>
              <a:buAutoNum type="arabicPeriod"/>
            </a:pPr>
            <a:r>
              <a:rPr lang="en-US" sz="2400" dirty="0"/>
              <a:t>when the dust bag gets full, empty it</a:t>
            </a:r>
          </a:p>
          <a:p>
            <a:pPr marL="937260" lvl="2" indent="-342900">
              <a:buFont typeface="+mj-lt"/>
              <a:buAutoNum type="arabicPeriod"/>
            </a:pPr>
            <a:r>
              <a:rPr lang="en-US" sz="2400" dirty="0"/>
              <a:t>put the vacuum cleaner and tools away</a:t>
            </a:r>
          </a:p>
          <a:p>
            <a:pPr lvl="2"/>
            <a:endParaRPr lang="en-US" sz="2400" dirty="0"/>
          </a:p>
          <a:p>
            <a:r>
              <a:rPr lang="en-US" sz="3200" dirty="0"/>
              <a:t>Must know about:</a:t>
            </a:r>
          </a:p>
          <a:p>
            <a:pPr lvl="2"/>
            <a:r>
              <a:rPr lang="en-US" sz="2400" dirty="0"/>
              <a:t>vacuum cleaners, their attachments,</a:t>
            </a:r>
            <a:r>
              <a:rPr lang="en-GB" sz="2400" dirty="0"/>
              <a:t> </a:t>
            </a:r>
            <a:r>
              <a:rPr lang="en-US" sz="2400" dirty="0"/>
              <a:t>dust bags, cupboards, rooms etc.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1195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Task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Complex planning tasks can be represented as a hierarchy of operations and plans</a:t>
            </a:r>
          </a:p>
          <a:p>
            <a:endParaRPr lang="en-US" dirty="0"/>
          </a:p>
          <a:p>
            <a:r>
              <a:rPr lang="en-US" dirty="0"/>
              <a:t>Hierarchy of Operations (tasks)</a:t>
            </a:r>
          </a:p>
          <a:p>
            <a:pPr lvl="1"/>
            <a:r>
              <a:rPr lang="en-US" dirty="0"/>
              <a:t>different things that people must do within a system and </a:t>
            </a:r>
          </a:p>
          <a:p>
            <a:pPr lvl="1"/>
            <a:r>
              <a:rPr lang="en-US" dirty="0"/>
              <a:t>a hierarchy of tasks and subtasks </a:t>
            </a:r>
          </a:p>
          <a:p>
            <a:endParaRPr lang="en-US" dirty="0"/>
          </a:p>
          <a:p>
            <a:r>
              <a:rPr lang="en-US" dirty="0"/>
              <a:t>Plans </a:t>
            </a:r>
          </a:p>
          <a:p>
            <a:pPr lvl="1"/>
            <a:r>
              <a:rPr lang="en-US" dirty="0"/>
              <a:t>in what order and under what conditions subtasks are performed</a:t>
            </a:r>
          </a:p>
        </p:txBody>
      </p:sp>
    </p:spTree>
    <p:extLst>
      <p:ext uri="{BB962C8B-B14F-4D97-AF65-F5344CB8AC3E}">
        <p14:creationId xmlns:p14="http://schemas.microsoft.com/office/powerpoint/2010/main" val="16779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Textual HTA description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5334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000" b="1" dirty="0"/>
              <a:t>Hierarchy description ...</a:t>
            </a:r>
            <a:endParaRPr lang="en-GB" sz="1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0. in order to clean the house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1. get the vacuum cleaner out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2. get the appropriate attachment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3. clean the 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	3.1. clean the hall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	3.2. clean the living 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	3.3. clean the bedrooms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4. empty the dust bag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	5. put vacuum cleaner and attachments away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sz="10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... and plans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Plan 0: do 1 - 2 - 3 - 5 in that order. when the dust bag gets full do 4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sz="1800" dirty="0"/>
              <a:t>	Plan 3: do any of 3.1, 3.2 or 3.3 in any order depending on which rooms need cleaning</a:t>
            </a:r>
          </a:p>
        </p:txBody>
      </p:sp>
    </p:spTree>
    <p:extLst>
      <p:ext uri="{BB962C8B-B14F-4D97-AF65-F5344CB8AC3E}">
        <p14:creationId xmlns:p14="http://schemas.microsoft.com/office/powerpoint/2010/main" val="231956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Generating the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514350" indent="-514350"/>
            <a:r>
              <a:rPr lang="en-GB" sz="3200" dirty="0"/>
              <a:t>Get list of tasks</a:t>
            </a:r>
          </a:p>
          <a:p>
            <a:pPr marL="1062990" lvl="2" indent="-514350"/>
            <a:r>
              <a:rPr lang="en-US" sz="2600" dirty="0"/>
              <a:t>start with stating the overall objective that the person has to achieve. </a:t>
            </a:r>
          </a:p>
          <a:p>
            <a:pPr marL="514350" indent="-514350"/>
            <a:endParaRPr lang="en-US" sz="2800" dirty="0"/>
          </a:p>
          <a:p>
            <a:pPr marL="514350" indent="-514350"/>
            <a:r>
              <a:rPr lang="en-US" sz="3200" dirty="0"/>
              <a:t>Re-describe into a set of sub-operations and the plan specifying when they are carried out. </a:t>
            </a:r>
          </a:p>
          <a:p>
            <a:pPr marL="1062990" lvl="2" indent="-514350"/>
            <a:r>
              <a:rPr lang="en-GB" sz="2600" dirty="0"/>
              <a:t>group tasks into higher level tasks</a:t>
            </a:r>
          </a:p>
          <a:p>
            <a:pPr marL="1062990" lvl="2" indent="-514350"/>
            <a:r>
              <a:rPr lang="en-GB" sz="2600" dirty="0"/>
              <a:t>decompose lowest level tasks further</a:t>
            </a:r>
          </a:p>
          <a:p>
            <a:pPr marL="1062990" lvl="2" indent="-514350"/>
            <a:r>
              <a:rPr lang="en-US" sz="2600" dirty="0"/>
              <a:t>Each sub-operation can be re-described further if the analyst requires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27593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81000" indent="-381000"/>
            <a:r>
              <a:rPr lang="en-GB" dirty="0"/>
              <a:t>Stopping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381000" indent="-381000"/>
            <a:r>
              <a:rPr lang="en-GB" dirty="0"/>
              <a:t>How do we know when to stop?</a:t>
            </a:r>
          </a:p>
          <a:p>
            <a:pPr marL="655320" lvl="1" indent="-381000"/>
            <a:r>
              <a:rPr lang="en-GB" dirty="0"/>
              <a:t>Is “empty the dust bag” simple enough?</a:t>
            </a:r>
          </a:p>
          <a:p>
            <a:pPr marL="655320" lvl="1" indent="-381000"/>
            <a:r>
              <a:rPr lang="en-GB" dirty="0"/>
              <a:t>Purpose: expand only relevant tasks</a:t>
            </a:r>
          </a:p>
          <a:p>
            <a:pPr marL="655320" lvl="1" indent="-381000"/>
            <a:r>
              <a:rPr lang="en-GB" dirty="0"/>
              <a:t>Motor actions: lowest sensible level</a:t>
            </a:r>
          </a:p>
          <a:p>
            <a:pPr marL="655320" lvl="1" indent="-381000"/>
            <a:endParaRPr lang="en-GB" dirty="0"/>
          </a:p>
          <a:p>
            <a:r>
              <a:rPr lang="en-US" sz="2800" dirty="0"/>
              <a:t>P × C rule</a:t>
            </a:r>
          </a:p>
          <a:p>
            <a:pPr lvl="1"/>
            <a:r>
              <a:rPr lang="en-US" dirty="0"/>
              <a:t>If the probability of making a mistake in the task (P) multiplied by the cost of the mistake (C) is below a threshold, then stop expanding.</a:t>
            </a:r>
          </a:p>
          <a:p>
            <a:pPr lvl="1"/>
            <a:r>
              <a:rPr lang="en-US" dirty="0"/>
              <a:t>That is, simple tasks need not be expanded, unless they are critical.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07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Restructuring HTA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Restructuring and finding the appropriate and meaningful hierarchy, is part of the process of HTA.</a:t>
            </a:r>
          </a:p>
          <a:p>
            <a:endParaRPr lang="en-US" dirty="0"/>
          </a:p>
          <a:p>
            <a:r>
              <a:rPr lang="en-US" dirty="0"/>
              <a:t>For Example: </a:t>
            </a:r>
          </a:p>
          <a:p>
            <a:pPr lvl="1"/>
            <a:r>
              <a:rPr lang="en-US" dirty="0"/>
              <a:t>If we know that we only ever notice the bag is full when we are actively using the machine, we might choose to put subtask 4 ‘empty the dust bag’ within 3 ‘clean the rooms’. </a:t>
            </a:r>
          </a:p>
        </p:txBody>
      </p:sp>
    </p:spTree>
    <p:extLst>
      <p:ext uri="{BB962C8B-B14F-4D97-AF65-F5344CB8AC3E}">
        <p14:creationId xmlns:p14="http://schemas.microsoft.com/office/powerpoint/2010/main" val="297948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HTA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382" y="1821523"/>
            <a:ext cx="8808218" cy="4503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30419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HTA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  <a:tabLst>
                <a:tab pos="2667000" algn="l"/>
              </a:tabLst>
            </a:pPr>
            <a:r>
              <a:rPr lang="en-GB" sz="3200" dirty="0"/>
              <a:t>Given initial HTA (textual or diagram)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sz="3200" dirty="0"/>
              <a:t>How to check / improve it?</a:t>
            </a:r>
          </a:p>
          <a:p>
            <a:pPr>
              <a:buFontTx/>
              <a:buNone/>
              <a:tabLst>
                <a:tab pos="2667000" algn="l"/>
              </a:tabLst>
            </a:pPr>
            <a:endParaRPr lang="en-GB" sz="3200" dirty="0"/>
          </a:p>
          <a:p>
            <a:pPr>
              <a:buFontTx/>
              <a:buNone/>
              <a:tabLst>
                <a:tab pos="2667000" algn="l"/>
              </a:tabLst>
            </a:pPr>
            <a:r>
              <a:rPr lang="en-GB" sz="3200" dirty="0"/>
              <a:t>Some heuristics: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sz="2800" dirty="0"/>
              <a:t>paired actions	</a:t>
            </a:r>
            <a:r>
              <a:rPr lang="en-GB" sz="2000" dirty="0"/>
              <a:t>e.g., where is `turn on gas'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sz="2800" dirty="0"/>
              <a:t>restructure	</a:t>
            </a:r>
            <a:r>
              <a:rPr lang="en-GB" sz="2000" dirty="0"/>
              <a:t>e.g., generate task `make pot'</a:t>
            </a:r>
            <a:endParaRPr lang="en-GB" sz="2800" dirty="0"/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sz="2800" dirty="0"/>
              <a:t>balance	</a:t>
            </a:r>
            <a:r>
              <a:rPr lang="en-GB" sz="2000" dirty="0"/>
              <a:t>e.g., is `pour tea' simpler than making pot?</a:t>
            </a:r>
          </a:p>
          <a:p>
            <a:pPr lvl="1">
              <a:buFontTx/>
              <a:buNone/>
              <a:tabLst>
                <a:tab pos="2667000" algn="l"/>
              </a:tabLst>
            </a:pPr>
            <a:r>
              <a:rPr lang="en-GB" sz="2800" dirty="0"/>
              <a:t>generalise	</a:t>
            </a:r>
            <a:r>
              <a:rPr lang="en-GB" sz="2000" dirty="0"/>
              <a:t>e.g., make one cup ….. or more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93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5400000">
            <a:off x="-1066800" y="3429000"/>
            <a:ext cx="3200400" cy="914400"/>
          </a:xfrm>
        </p:spPr>
        <p:txBody>
          <a:bodyPr/>
          <a:lstStyle/>
          <a:p>
            <a:r>
              <a:rPr lang="en-US" dirty="0"/>
              <a:t>Refined HTA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76200"/>
            <a:ext cx="7903088" cy="6591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64940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Plans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Sequence</a:t>
            </a:r>
          </a:p>
          <a:p>
            <a:pPr lvl="2"/>
            <a:r>
              <a:rPr lang="en-US" dirty="0"/>
              <a:t>1.1 then 1.2 then 1.3</a:t>
            </a:r>
          </a:p>
          <a:p>
            <a:r>
              <a:rPr lang="en-US" dirty="0"/>
              <a:t>Optional </a:t>
            </a:r>
          </a:p>
          <a:p>
            <a:pPr lvl="2"/>
            <a:r>
              <a:rPr lang="en-US" dirty="0"/>
              <a:t>if the pot is full 2</a:t>
            </a:r>
          </a:p>
          <a:p>
            <a:r>
              <a:rPr lang="en-US" dirty="0"/>
              <a:t>Wait </a:t>
            </a:r>
          </a:p>
          <a:p>
            <a:pPr lvl="2"/>
            <a:r>
              <a:rPr lang="en-US" dirty="0"/>
              <a:t>when kettle boils, do 1.4</a:t>
            </a:r>
          </a:p>
          <a:p>
            <a:r>
              <a:rPr lang="en-US" dirty="0"/>
              <a:t>Cycles </a:t>
            </a:r>
          </a:p>
          <a:p>
            <a:pPr lvl="2"/>
            <a:r>
              <a:rPr lang="en-US" dirty="0"/>
              <a:t>do 5.1 5.2 while there are still empty cups</a:t>
            </a:r>
          </a:p>
          <a:p>
            <a:r>
              <a:rPr lang="en-US" dirty="0"/>
              <a:t>Parallel </a:t>
            </a:r>
          </a:p>
          <a:p>
            <a:pPr lvl="2"/>
            <a:r>
              <a:rPr lang="en-US" dirty="0"/>
              <a:t>do 1; at the same time ...</a:t>
            </a:r>
          </a:p>
          <a:p>
            <a:r>
              <a:rPr lang="en-US" dirty="0"/>
              <a:t>Discretionary </a:t>
            </a:r>
          </a:p>
          <a:p>
            <a:pPr lvl="2"/>
            <a:r>
              <a:rPr lang="en-US" dirty="0"/>
              <a:t>do any of 1.3.1, 1.3.2 or 1.3.3 in any order</a:t>
            </a:r>
          </a:p>
          <a:p>
            <a:r>
              <a:rPr lang="en-US" dirty="0"/>
              <a:t>Mixtures</a:t>
            </a:r>
          </a:p>
          <a:p>
            <a:pPr lvl="2"/>
            <a:r>
              <a:rPr lang="en-US" dirty="0"/>
              <a:t>Mixtures of above</a:t>
            </a:r>
          </a:p>
        </p:txBody>
      </p:sp>
    </p:spTree>
    <p:extLst>
      <p:ext uri="{BB962C8B-B14F-4D97-AF65-F5344CB8AC3E}">
        <p14:creationId xmlns:p14="http://schemas.microsoft.com/office/powerpoint/2010/main" val="3626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Waiting …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sz="2400" dirty="0"/>
              <a:t>is waiting part of a plan?</a:t>
            </a:r>
            <a:br>
              <a:rPr lang="en-GB" sz="2400" dirty="0"/>
            </a:br>
            <a:r>
              <a:rPr lang="en-GB" sz="2400" dirty="0"/>
              <a:t>…    or a task?</a:t>
            </a:r>
          </a:p>
          <a:p>
            <a:r>
              <a:rPr lang="en-GB" sz="2400" dirty="0"/>
              <a:t>generally</a:t>
            </a:r>
          </a:p>
          <a:p>
            <a:pPr lvl="1"/>
            <a:r>
              <a:rPr lang="en-GB" sz="2000" dirty="0"/>
              <a:t>task – if ‘busy’ wait</a:t>
            </a:r>
          </a:p>
          <a:p>
            <a:pPr lvl="2"/>
            <a:r>
              <a:rPr lang="en-GB" sz="1800" dirty="0"/>
              <a:t>you are actively waiting</a:t>
            </a:r>
          </a:p>
          <a:p>
            <a:pPr lvl="1"/>
            <a:r>
              <a:rPr lang="en-GB" sz="2000" dirty="0"/>
              <a:t>plan – if end of delay is the event</a:t>
            </a:r>
          </a:p>
          <a:p>
            <a:pPr lvl="2"/>
            <a:r>
              <a:rPr lang="en-GB" sz="1800" dirty="0"/>
              <a:t>e.g. “when alarm rings”, “when reply arrives” </a:t>
            </a:r>
          </a:p>
          <a:p>
            <a:r>
              <a:rPr lang="en-GB" sz="2400" dirty="0"/>
              <a:t>in this example …</a:t>
            </a:r>
          </a:p>
          <a:p>
            <a:pPr lvl="1"/>
            <a:r>
              <a:rPr lang="en-GB" sz="2000" dirty="0"/>
              <a:t>perhaps a little redundant …</a:t>
            </a:r>
          </a:p>
          <a:p>
            <a:pPr lvl="1"/>
            <a:r>
              <a:rPr lang="en-GB" sz="2000" dirty="0"/>
              <a:t>TA not an exact science</a:t>
            </a:r>
          </a:p>
        </p:txBody>
      </p:sp>
      <p:pic>
        <p:nvPicPr>
          <p:cNvPr id="7988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0" y="990600"/>
            <a:ext cx="3048000" cy="240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038600" y="1447800"/>
            <a:ext cx="3581400" cy="609600"/>
            <a:chOff x="3216" y="1248"/>
            <a:chExt cx="1872" cy="384"/>
          </a:xfrm>
        </p:grpSpPr>
        <p:sp>
          <p:nvSpPr>
            <p:cNvPr id="79881" name="Oval 9"/>
            <p:cNvSpPr>
              <a:spLocks noChangeArrowheads="1"/>
            </p:cNvSpPr>
            <p:nvPr/>
          </p:nvSpPr>
          <p:spPr bwMode="auto">
            <a:xfrm>
              <a:off x="3840" y="1248"/>
              <a:ext cx="1248" cy="384"/>
            </a:xfrm>
            <a:prstGeom prst="ellips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4" name="Line 12"/>
            <p:cNvSpPr>
              <a:spLocks noChangeShapeType="1"/>
            </p:cNvSpPr>
            <p:nvPr/>
          </p:nvSpPr>
          <p:spPr bwMode="auto">
            <a:xfrm>
              <a:off x="3216" y="1392"/>
              <a:ext cx="624" cy="48"/>
            </a:xfrm>
            <a:prstGeom prst="lin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048000" y="1981200"/>
            <a:ext cx="4495800" cy="1066800"/>
            <a:chOff x="2208" y="1584"/>
            <a:chExt cx="2832" cy="672"/>
          </a:xfrm>
        </p:grpSpPr>
        <p:sp>
          <p:nvSpPr>
            <p:cNvPr id="79882" name="Oval 10"/>
            <p:cNvSpPr>
              <a:spLocks noChangeArrowheads="1"/>
            </p:cNvSpPr>
            <p:nvPr/>
          </p:nvSpPr>
          <p:spPr bwMode="auto">
            <a:xfrm>
              <a:off x="4176" y="1584"/>
              <a:ext cx="864" cy="672"/>
            </a:xfrm>
            <a:prstGeom prst="ellips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2208" y="1632"/>
              <a:ext cx="1968" cy="240"/>
            </a:xfrm>
            <a:prstGeom prst="line">
              <a:avLst/>
            </a:prstGeom>
            <a:noFill/>
            <a:ln w="57150">
              <a:solidFill>
                <a:srgbClr val="ED181E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83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HTA Pros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Economical method of gathering and organizing information</a:t>
            </a:r>
          </a:p>
          <a:p>
            <a:endParaRPr lang="en-US" dirty="0"/>
          </a:p>
          <a:p>
            <a:r>
              <a:rPr lang="en-US" dirty="0"/>
              <a:t>Enables the analyst to focus on crucial aspects of the task</a:t>
            </a:r>
          </a:p>
          <a:p>
            <a:endParaRPr lang="en-US" dirty="0"/>
          </a:p>
          <a:p>
            <a:r>
              <a:rPr lang="en-US" dirty="0"/>
              <a:t>Allows functional objectives to be specified at the higher levels of the analysis prior to final decisions</a:t>
            </a:r>
          </a:p>
          <a:p>
            <a:endParaRPr lang="en-US" dirty="0"/>
          </a:p>
          <a:p>
            <a:r>
              <a:rPr lang="en-US" dirty="0"/>
              <a:t>A collaboration between the task analyst and people involved in operations. </a:t>
            </a:r>
          </a:p>
          <a:p>
            <a:endParaRPr lang="en-US" dirty="0"/>
          </a:p>
          <a:p>
            <a:r>
              <a:rPr lang="en-US" dirty="0"/>
              <a:t>Can be used as a starting point for using various error analysis methods to examine the error potential</a:t>
            </a:r>
          </a:p>
        </p:txBody>
      </p:sp>
    </p:spTree>
    <p:extLst>
      <p:ext uri="{BB962C8B-B14F-4D97-AF65-F5344CB8AC3E}">
        <p14:creationId xmlns:p14="http://schemas.microsoft.com/office/powerpoint/2010/main" val="1433172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HTA </a:t>
            </a:r>
            <a:r>
              <a:rPr lang="en-US" dirty="0"/>
              <a:t>Cons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analyst needs to develop a measure of skill in order to analyze the task effectively since the technique is not a simple procedure that can be applied immediately. </a:t>
            </a:r>
          </a:p>
          <a:p>
            <a:endParaRPr lang="en-US" dirty="0"/>
          </a:p>
          <a:p>
            <a:r>
              <a:rPr lang="en-US" dirty="0"/>
              <a:t>Because HTA has to be carried out in collaboration with workers, supervisors and engineers, it entails commitment of time and effort from busy people</a:t>
            </a:r>
          </a:p>
        </p:txBody>
      </p:sp>
    </p:spTree>
    <p:extLst>
      <p:ext uri="{BB962C8B-B14F-4D97-AF65-F5344CB8AC3E}">
        <p14:creationId xmlns:p14="http://schemas.microsoft.com/office/powerpoint/2010/main" val="3871804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Consider the activity of making a telephone call. Record the actions in an HTA diagram or textually. Start off simply, assuming you know the number to dial, but then add more complicated situations: finding the number in address book, or what to do when the number is engaged.</a:t>
            </a:r>
          </a:p>
        </p:txBody>
      </p:sp>
    </p:spTree>
    <p:extLst>
      <p:ext uri="{BB962C8B-B14F-4D97-AF65-F5344CB8AC3E}">
        <p14:creationId xmlns:p14="http://schemas.microsoft.com/office/powerpoint/2010/main" val="182127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87331</TotalTime>
  <Words>1168</Words>
  <Application>Microsoft Office PowerPoint</Application>
  <PresentationFormat>On-screen Show (4:3)</PresentationFormat>
  <Paragraphs>165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Tw Cen MT</vt:lpstr>
      <vt:lpstr>Wingdings</vt:lpstr>
      <vt:lpstr>Wingdings 2</vt:lpstr>
      <vt:lpstr>Median</vt:lpstr>
      <vt:lpstr>3. Task Analysis </vt:lpstr>
      <vt:lpstr>Create a WhatsApp group on Android </vt:lpstr>
      <vt:lpstr>Create a WhatsApp group on Android </vt:lpstr>
      <vt:lpstr>Hierarchal Task Analysis (HTA) </vt:lpstr>
      <vt:lpstr>PowerPoint Presentation</vt:lpstr>
      <vt:lpstr>Task Analysis </vt:lpstr>
      <vt:lpstr>Task Analysis: An Example </vt:lpstr>
      <vt:lpstr>Hierarchical Task Analysis</vt:lpstr>
      <vt:lpstr>Textual HTA description</vt:lpstr>
      <vt:lpstr>Generating the hierarchy</vt:lpstr>
      <vt:lpstr>Stopping rules</vt:lpstr>
      <vt:lpstr>Restructuring HTA</vt:lpstr>
      <vt:lpstr>An Example HTA</vt:lpstr>
      <vt:lpstr>Refining HTA</vt:lpstr>
      <vt:lpstr>Refined HTA</vt:lpstr>
      <vt:lpstr>Types of Plans </vt:lpstr>
      <vt:lpstr>Waiting …</vt:lpstr>
      <vt:lpstr>HTA Pros </vt:lpstr>
      <vt:lpstr>HTA Cons </vt:lpstr>
      <vt:lpstr>Class Activity 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Sonia</dc:creator>
  <cp:lastModifiedBy>MusT .</cp:lastModifiedBy>
  <cp:revision>483</cp:revision>
  <dcterms:created xsi:type="dcterms:W3CDTF">2010-02-07T17:56:13Z</dcterms:created>
  <dcterms:modified xsi:type="dcterms:W3CDTF">2021-04-29T09:42:15Z</dcterms:modified>
</cp:coreProperties>
</file>