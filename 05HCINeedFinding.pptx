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353" r:id="rId2"/>
    <p:sldId id="507" r:id="rId3"/>
    <p:sldId id="505" r:id="rId4"/>
    <p:sldId id="546" r:id="rId5"/>
    <p:sldId id="545" r:id="rId6"/>
    <p:sldId id="489" r:id="rId7"/>
    <p:sldId id="343" r:id="rId8"/>
    <p:sldId id="508" r:id="rId9"/>
    <p:sldId id="379" r:id="rId10"/>
    <p:sldId id="537" r:id="rId11"/>
    <p:sldId id="536" r:id="rId12"/>
    <p:sldId id="541" r:id="rId13"/>
    <p:sldId id="548" r:id="rId14"/>
    <p:sldId id="547" r:id="rId15"/>
    <p:sldId id="528" r:id="rId16"/>
    <p:sldId id="524" r:id="rId17"/>
    <p:sldId id="533" r:id="rId18"/>
    <p:sldId id="531" r:id="rId19"/>
    <p:sldId id="530" r:id="rId20"/>
    <p:sldId id="510" r:id="rId21"/>
    <p:sldId id="549" r:id="rId22"/>
    <p:sldId id="509" r:id="rId23"/>
    <p:sldId id="362" r:id="rId24"/>
    <p:sldId id="381" r:id="rId25"/>
    <p:sldId id="270" r:id="rId26"/>
    <p:sldId id="511" r:id="rId27"/>
    <p:sldId id="515" r:id="rId28"/>
    <p:sldId id="516" r:id="rId29"/>
    <p:sldId id="513" r:id="rId30"/>
    <p:sldId id="514" r:id="rId31"/>
    <p:sldId id="454" r:id="rId32"/>
    <p:sldId id="455" r:id="rId33"/>
    <p:sldId id="544" r:id="rId34"/>
    <p:sldId id="506" r:id="rId35"/>
    <p:sldId id="512" r:id="rId36"/>
    <p:sldId id="553" r:id="rId37"/>
    <p:sldId id="554" r:id="rId38"/>
    <p:sldId id="550" r:id="rId39"/>
    <p:sldId id="551" r:id="rId40"/>
    <p:sldId id="380" r:id="rId41"/>
    <p:sldId id="538" r:id="rId42"/>
    <p:sldId id="542" r:id="rId43"/>
    <p:sldId id="272" r:id="rId44"/>
    <p:sldId id="540" r:id="rId45"/>
    <p:sldId id="517" r:id="rId46"/>
    <p:sldId id="518" r:id="rId47"/>
    <p:sldId id="354" r:id="rId48"/>
    <p:sldId id="358" r:id="rId49"/>
  </p:sldIdLst>
  <p:sldSz cx="12192000" cy="6858000"/>
  <p:notesSz cx="6858000" cy="10001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885CAFA-CA6F-4298-86E7-5FAA68F86554}">
          <p14:sldIdLst>
            <p14:sldId id="353"/>
          </p14:sldIdLst>
        </p14:section>
        <p14:section name="Preliminary Analysis" id="{259A8C50-9C1D-4154-9FC0-4D0F4F800675}">
          <p14:sldIdLst>
            <p14:sldId id="507"/>
            <p14:sldId id="505"/>
            <p14:sldId id="546"/>
            <p14:sldId id="545"/>
            <p14:sldId id="489"/>
            <p14:sldId id="343"/>
            <p14:sldId id="508"/>
            <p14:sldId id="379"/>
            <p14:sldId id="537"/>
          </p14:sldIdLst>
        </p14:section>
        <p14:section name="User Research" id="{9B141A96-2152-43C9-836F-3D71804BA504}">
          <p14:sldIdLst>
            <p14:sldId id="536"/>
            <p14:sldId id="541"/>
            <p14:sldId id="548"/>
            <p14:sldId id="547"/>
            <p14:sldId id="528"/>
            <p14:sldId id="524"/>
            <p14:sldId id="533"/>
            <p14:sldId id="531"/>
            <p14:sldId id="530"/>
          </p14:sldIdLst>
        </p14:section>
        <p14:section name="User Modelling" id="{B1DC985C-0CA3-46D7-A71A-D42FF8CFF895}">
          <p14:sldIdLst>
            <p14:sldId id="510"/>
            <p14:sldId id="549"/>
            <p14:sldId id="509"/>
            <p14:sldId id="362"/>
            <p14:sldId id="381"/>
            <p14:sldId id="270"/>
            <p14:sldId id="511"/>
            <p14:sldId id="515"/>
            <p14:sldId id="516"/>
            <p14:sldId id="513"/>
            <p14:sldId id="514"/>
            <p14:sldId id="454"/>
            <p14:sldId id="455"/>
            <p14:sldId id="544"/>
            <p14:sldId id="506"/>
            <p14:sldId id="512"/>
            <p14:sldId id="553"/>
            <p14:sldId id="554"/>
            <p14:sldId id="550"/>
            <p14:sldId id="551"/>
            <p14:sldId id="380"/>
            <p14:sldId id="538"/>
            <p14:sldId id="542"/>
            <p14:sldId id="272"/>
            <p14:sldId id="540"/>
            <p14:sldId id="517"/>
            <p14:sldId id="518"/>
            <p14:sldId id="354"/>
            <p14:sldId id="358"/>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usT ." initials="M." lastIdx="11" clrIdx="0">
    <p:extLst>
      <p:ext uri="{19B8F6BF-5375-455C-9EA6-DF929625EA0E}">
        <p15:presenceInfo xmlns:p15="http://schemas.microsoft.com/office/powerpoint/2012/main" userId="5156833f1983e9af" providerId="Windows Live"/>
      </p:ext>
    </p:extLst>
  </p:cmAuthor>
  <p:cmAuthor id="2" name="Sadaf Baloch" initials="SB" lastIdx="3" clrIdx="1">
    <p:extLst>
      <p:ext uri="{19B8F6BF-5375-455C-9EA6-DF929625EA0E}">
        <p15:presenceInfo xmlns:p15="http://schemas.microsoft.com/office/powerpoint/2012/main" userId="S::sadaf.baloch@ucp.edu.pk::2cdfe0ab-03ea-46b2-8263-c67d3be957c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B11633-EE24-B97E-8508-F95779DDC41B}" v="3" dt="2020-10-15T05:55:32.3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5" autoAdjust="0"/>
    <p:restoredTop sz="89503" autoAdjust="0"/>
  </p:normalViewPr>
  <p:slideViewPr>
    <p:cSldViewPr snapToGrid="0">
      <p:cViewPr varScale="1">
        <p:scale>
          <a:sx n="83" d="100"/>
          <a:sy n="83" d="100"/>
        </p:scale>
        <p:origin x="547"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daf Baloch" userId="S::sadaf.baloch@ucp.edu.pk::2cdfe0ab-03ea-46b2-8263-c67d3be957cb" providerId="AD" clId="Web-{A6B11633-EE24-B97E-8508-F95779DDC41B}"/>
    <pc:docChg chg="modSld">
      <pc:chgData name="Sadaf Baloch" userId="S::sadaf.baloch@ucp.edu.pk::2cdfe0ab-03ea-46b2-8263-c67d3be957cb" providerId="AD" clId="Web-{A6B11633-EE24-B97E-8508-F95779DDC41B}" dt="2020-10-15T05:55:32.363" v="2"/>
      <pc:docMkLst>
        <pc:docMk/>
      </pc:docMkLst>
      <pc:sldChg chg="mod modShow">
        <pc:chgData name="Sadaf Baloch" userId="S::sadaf.baloch@ucp.edu.pk::2cdfe0ab-03ea-46b2-8263-c67d3be957cb" providerId="AD" clId="Web-{A6B11633-EE24-B97E-8508-F95779DDC41B}" dt="2020-10-15T05:55:27.363" v="1"/>
        <pc:sldMkLst>
          <pc:docMk/>
          <pc:sldMk cId="1005525080" sldId="513"/>
        </pc:sldMkLst>
      </pc:sldChg>
      <pc:sldChg chg="mod modShow">
        <pc:chgData name="Sadaf Baloch" userId="S::sadaf.baloch@ucp.edu.pk::2cdfe0ab-03ea-46b2-8263-c67d3be957cb" providerId="AD" clId="Web-{A6B11633-EE24-B97E-8508-F95779DDC41B}" dt="2020-10-15T05:55:32.363" v="2"/>
        <pc:sldMkLst>
          <pc:docMk/>
          <pc:sldMk cId="279565790" sldId="514"/>
        </pc:sldMkLst>
      </pc:sldChg>
      <pc:sldChg chg="mod modShow">
        <pc:chgData name="Sadaf Baloch" userId="S::sadaf.baloch@ucp.edu.pk::2cdfe0ab-03ea-46b2-8263-c67d3be957cb" providerId="AD" clId="Web-{A6B11633-EE24-B97E-8508-F95779DDC41B}" dt="2020-10-15T05:55:24.456" v="0"/>
        <pc:sldMkLst>
          <pc:docMk/>
          <pc:sldMk cId="3036069034" sldId="51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6BF83A-216F-4208-BE74-07046102302F}" type="datetimeFigureOut">
              <a:rPr lang="en-US" smtClean="0"/>
              <a:t>05-Mar-2025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E2B17D-D1E4-46FC-91FC-F57F8469F8A9}" type="slidenum">
              <a:rPr lang="en-US" smtClean="0"/>
              <a:t>‹#›</a:t>
            </a:fld>
            <a:endParaRPr lang="en-US"/>
          </a:p>
        </p:txBody>
      </p:sp>
    </p:spTree>
    <p:extLst>
      <p:ext uri="{BB962C8B-B14F-4D97-AF65-F5344CB8AC3E}">
        <p14:creationId xmlns:p14="http://schemas.microsoft.com/office/powerpoint/2010/main" val="2762163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E2B17D-D1E4-46FC-91FC-F57F8469F8A9}" type="slidenum">
              <a:rPr lang="en-US" smtClean="0"/>
              <a:t>3</a:t>
            </a:fld>
            <a:endParaRPr lang="en-US"/>
          </a:p>
        </p:txBody>
      </p:sp>
    </p:spTree>
    <p:extLst>
      <p:ext uri="{BB962C8B-B14F-4D97-AF65-F5344CB8AC3E}">
        <p14:creationId xmlns:p14="http://schemas.microsoft.com/office/powerpoint/2010/main" val="622360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3DC809B-8B90-4719-85AD-028366CCF037}" type="datetimeFigureOut">
              <a:rPr lang="en-US" smtClean="0"/>
              <a:t>05-Mar-2025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1899649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DC809B-8B90-4719-85AD-028366CCF037}" type="datetimeFigureOut">
              <a:rPr lang="en-US" smtClean="0"/>
              <a:t>05-Mar-2025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2532196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3DC809B-8B90-4719-85AD-028366CCF037}" type="datetimeFigureOut">
              <a:rPr lang="en-US" smtClean="0"/>
              <a:t>05-Mar-2025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3210307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3DC809B-8B90-4719-85AD-028366CCF037}" type="datetimeFigureOut">
              <a:rPr lang="en-US" smtClean="0"/>
              <a:t>05-Mar-2025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2131294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3DC809B-8B90-4719-85AD-028366CCF037}" type="datetimeFigureOut">
              <a:rPr lang="en-US" smtClean="0"/>
              <a:t>05-Mar-2025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1115489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3DC809B-8B90-4719-85AD-028366CCF037}" type="datetimeFigureOut">
              <a:rPr lang="en-US" smtClean="0"/>
              <a:t>05-Mar-2025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1002909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DC809B-8B90-4719-85AD-028366CCF037}" type="datetimeFigureOut">
              <a:rPr lang="en-US" smtClean="0"/>
              <a:t>05-Mar-2025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3444488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3DC809B-8B90-4719-85AD-028366CCF037}" type="datetimeFigureOut">
              <a:rPr lang="en-US" smtClean="0"/>
              <a:t>05-Mar-2025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2519925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3DC809B-8B90-4719-85AD-028366CCF037}" type="datetimeFigureOut">
              <a:rPr lang="en-US" smtClean="0"/>
              <a:t>05-Mar-2025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3622227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DC809B-8B90-4719-85AD-028366CCF037}" type="datetimeFigureOut">
              <a:rPr lang="en-US" smtClean="0"/>
              <a:t>05-Mar-2025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724807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DC809B-8B90-4719-85AD-028366CCF037}" type="datetimeFigureOut">
              <a:rPr lang="en-US" smtClean="0"/>
              <a:t>05-Mar-2025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1793462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C809B-8B90-4719-85AD-028366CCF037}" type="datetimeFigureOut">
              <a:rPr lang="en-US" smtClean="0"/>
              <a:t>05-Mar-2025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0BD36D-CB3D-4FAA-9E11-1E8960B6FEFB}" type="slidenum">
              <a:rPr lang="en-US" smtClean="0"/>
              <a:t>‹#›</a:t>
            </a:fld>
            <a:endParaRPr lang="en-US"/>
          </a:p>
        </p:txBody>
      </p:sp>
    </p:spTree>
    <p:extLst>
      <p:ext uri="{BB962C8B-B14F-4D97-AF65-F5344CB8AC3E}">
        <p14:creationId xmlns:p14="http://schemas.microsoft.com/office/powerpoint/2010/main" val="5509017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medium.theuxblog.com/user-experience-primary-and-secondary-users-in-healthcare-8dd4c5c61490"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medium.muz.li/coffee-ethnography-4ee31901286d" TargetMode="External"/><Relationship Id="rId2" Type="http://schemas.openxmlformats.org/officeDocument/2006/relationships/hyperlink" Target="https://medium.com/@userfocus/what-is-design-ethnography-b0a3f8f0339c" TargetMode="External"/><Relationship Id="rId1" Type="http://schemas.openxmlformats.org/officeDocument/2006/relationships/slideLayout" Target="../slideLayouts/slideLayout2.xml"/><Relationship Id="rId4" Type="http://schemas.openxmlformats.org/officeDocument/2006/relationships/hyperlink" Target="https://medium.com/thinking-design/better-understanding-users-through-ethnography-fd6f6395d4"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smashingmagazine.com/2014/08/a-closer-look-at-personas-part-1/" TargetMode="External"/><Relationship Id="rId2" Type="http://schemas.openxmlformats.org/officeDocument/2006/relationships/hyperlink" Target="https://careerfoundry.com/en/blog/ux-design/how-to-define-a-user-persona/"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medium.com/interactive-mind/5-steps-to-create-good-user-interview-questions-by-metacole-a-comprehensive-guide-8a591b0e2162" TargetMode="External"/><Relationship Id="rId2" Type="http://schemas.openxmlformats.org/officeDocument/2006/relationships/hyperlink" Target="https://uxdesign.cc/asking-the-right-questions-on-user-research-interviews-and-testing-427261742a67" TargetMode="External"/><Relationship Id="rId1" Type="http://schemas.openxmlformats.org/officeDocument/2006/relationships/slideLayout" Target="../slideLayouts/slideLayout2.xml"/><Relationship Id="rId4" Type="http://schemas.openxmlformats.org/officeDocument/2006/relationships/hyperlink" Target="https://medium.com/user-research/never-ask-what-they-want-3-better-questions-to-ask-in-user-interviews-aeddd2a2101e"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67AEC-987B-41D5-BD55-D1EC0737C2CF}"/>
              </a:ext>
            </a:extLst>
          </p:cNvPr>
          <p:cNvSpPr>
            <a:spLocks noGrp="1"/>
          </p:cNvSpPr>
          <p:nvPr>
            <p:ph type="title"/>
          </p:nvPr>
        </p:nvSpPr>
        <p:spPr/>
        <p:txBody>
          <a:bodyPr/>
          <a:lstStyle/>
          <a:p>
            <a:r>
              <a:rPr lang="en-US" dirty="0" err="1"/>
              <a:t>Needfinding</a:t>
            </a:r>
            <a:r>
              <a:rPr lang="en-US" dirty="0"/>
              <a:t>  </a:t>
            </a:r>
          </a:p>
        </p:txBody>
      </p:sp>
      <p:sp>
        <p:nvSpPr>
          <p:cNvPr id="3" name="Text Placeholder 2">
            <a:extLst>
              <a:ext uri="{FF2B5EF4-FFF2-40B4-BE49-F238E27FC236}">
                <a16:creationId xmlns:a16="http://schemas.microsoft.com/office/drawing/2014/main" id="{1980AF93-D565-4406-9D23-671E238ABAC1}"/>
              </a:ext>
            </a:extLst>
          </p:cNvPr>
          <p:cNvSpPr>
            <a:spLocks noGrp="1"/>
          </p:cNvSpPr>
          <p:nvPr>
            <p:ph type="body" idx="1"/>
          </p:nvPr>
        </p:nvSpPr>
        <p:spPr>
          <a:xfrm>
            <a:off x="831850" y="4589463"/>
            <a:ext cx="5448180" cy="1500187"/>
          </a:xfrm>
        </p:spPr>
        <p:txBody>
          <a:bodyPr/>
          <a:lstStyle/>
          <a:p>
            <a:r>
              <a:rPr lang="en-US" dirty="0"/>
              <a:t>The process of understanding users, finding requirements, and Analyzing Data </a:t>
            </a:r>
          </a:p>
        </p:txBody>
      </p:sp>
      <p:pic>
        <p:nvPicPr>
          <p:cNvPr id="1026" name="Picture 2" descr="Image result for ideation">
            <a:extLst>
              <a:ext uri="{FF2B5EF4-FFF2-40B4-BE49-F238E27FC236}">
                <a16:creationId xmlns:a16="http://schemas.microsoft.com/office/drawing/2014/main" id="{739C3F8C-DF04-4408-88FC-90BD0FCBCB86}"/>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823853" y="429968"/>
            <a:ext cx="5080599" cy="4047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2103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B731-48F1-4B1F-AD67-B2058D798921}"/>
              </a:ext>
            </a:extLst>
          </p:cNvPr>
          <p:cNvSpPr>
            <a:spLocks noGrp="1"/>
          </p:cNvSpPr>
          <p:nvPr>
            <p:ph type="title"/>
          </p:nvPr>
        </p:nvSpPr>
        <p:spPr/>
        <p:txBody>
          <a:bodyPr/>
          <a:lstStyle/>
          <a:p>
            <a:r>
              <a:rPr lang="en-US" dirty="0"/>
              <a:t>Know Thy Users </a:t>
            </a:r>
          </a:p>
        </p:txBody>
      </p:sp>
      <p:sp>
        <p:nvSpPr>
          <p:cNvPr id="3" name="Text Placeholder 2">
            <a:extLst>
              <a:ext uri="{FF2B5EF4-FFF2-40B4-BE49-F238E27FC236}">
                <a16:creationId xmlns:a16="http://schemas.microsoft.com/office/drawing/2014/main" id="{CDC85584-CFA0-4D46-93A8-0C5E12AFBA94}"/>
              </a:ext>
            </a:extLst>
          </p:cNvPr>
          <p:cNvSpPr>
            <a:spLocks noGrp="1"/>
          </p:cNvSpPr>
          <p:nvPr>
            <p:ph type="body" idx="1"/>
          </p:nvPr>
        </p:nvSpPr>
        <p:spPr/>
        <p:txBody>
          <a:bodyPr/>
          <a:lstStyle/>
          <a:p>
            <a:pPr algn="ctr"/>
            <a:r>
              <a:rPr lang="en-US" i="1" dirty="0"/>
              <a:t>I’m a very selfish designer: when I design, I design it for me. </a:t>
            </a:r>
          </a:p>
          <a:p>
            <a:pPr algn="ctr"/>
            <a:r>
              <a:rPr lang="en-US" i="1" dirty="0"/>
              <a:t>And so </a:t>
            </a:r>
          </a:p>
          <a:p>
            <a:pPr algn="ctr"/>
            <a:r>
              <a:rPr lang="en-US" i="1" dirty="0"/>
              <a:t>my first task is to become you.</a:t>
            </a:r>
          </a:p>
          <a:p>
            <a:endParaRPr lang="en-US" dirty="0"/>
          </a:p>
        </p:txBody>
      </p:sp>
    </p:spTree>
    <p:extLst>
      <p:ext uri="{BB962C8B-B14F-4D97-AF65-F5344CB8AC3E}">
        <p14:creationId xmlns:p14="http://schemas.microsoft.com/office/powerpoint/2010/main" val="3536932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388FC-3839-4894-B13D-DAA54D00C19A}"/>
              </a:ext>
            </a:extLst>
          </p:cNvPr>
          <p:cNvSpPr>
            <a:spLocks noGrp="1"/>
          </p:cNvSpPr>
          <p:nvPr>
            <p:ph type="title"/>
          </p:nvPr>
        </p:nvSpPr>
        <p:spPr/>
        <p:txBody>
          <a:bodyPr/>
          <a:lstStyle/>
          <a:p>
            <a:r>
              <a:rPr lang="en-US" dirty="0"/>
              <a:t>Preliminary Research and Analysis  </a:t>
            </a:r>
          </a:p>
        </p:txBody>
      </p:sp>
      <p:sp>
        <p:nvSpPr>
          <p:cNvPr id="3" name="Content Placeholder 2">
            <a:extLst>
              <a:ext uri="{FF2B5EF4-FFF2-40B4-BE49-F238E27FC236}">
                <a16:creationId xmlns:a16="http://schemas.microsoft.com/office/drawing/2014/main" id="{8C380497-510D-43E4-9F27-D71B571FE3DE}"/>
              </a:ext>
            </a:extLst>
          </p:cNvPr>
          <p:cNvSpPr>
            <a:spLocks noGrp="1"/>
          </p:cNvSpPr>
          <p:nvPr>
            <p:ph idx="1"/>
          </p:nvPr>
        </p:nvSpPr>
        <p:spPr/>
        <p:txBody>
          <a:bodyPr>
            <a:normAutofit/>
          </a:bodyPr>
          <a:lstStyle/>
          <a:p>
            <a:pPr marL="514350" indent="-514350">
              <a:buFont typeface="+mj-lt"/>
              <a:buAutoNum type="arabicPeriod"/>
            </a:pPr>
            <a:r>
              <a:rPr lang="en-US" dirty="0"/>
              <a:t>Identify Target Market </a:t>
            </a:r>
          </a:p>
          <a:p>
            <a:pPr marL="514350" indent="-514350">
              <a:buFont typeface="+mj-lt"/>
              <a:buAutoNum type="arabicPeriod"/>
            </a:pPr>
            <a:endParaRPr lang="en-US" dirty="0"/>
          </a:p>
          <a:p>
            <a:pPr marL="514350" indent="-514350">
              <a:buFont typeface="+mj-lt"/>
              <a:buAutoNum type="arabicPeriod"/>
            </a:pPr>
            <a:r>
              <a:rPr lang="en-US" dirty="0"/>
              <a:t>Identify user classes </a:t>
            </a:r>
          </a:p>
          <a:p>
            <a:pPr lvl="1"/>
            <a:r>
              <a:rPr lang="en-US" dirty="0"/>
              <a:t>By going into the users</a:t>
            </a:r>
          </a:p>
          <a:p>
            <a:pPr lvl="1"/>
            <a:r>
              <a:rPr lang="en-US" dirty="0"/>
              <a:t>By surveying </a:t>
            </a:r>
          </a:p>
          <a:p>
            <a:pPr lvl="1"/>
            <a:r>
              <a:rPr lang="en-US" dirty="0"/>
              <a:t>By interviewing </a:t>
            </a:r>
          </a:p>
          <a:p>
            <a:pPr lvl="1"/>
            <a:r>
              <a:rPr lang="en-US" dirty="0"/>
              <a:t>By ethnography  </a:t>
            </a:r>
          </a:p>
        </p:txBody>
      </p:sp>
    </p:spTree>
    <p:extLst>
      <p:ext uri="{BB962C8B-B14F-4D97-AF65-F5344CB8AC3E}">
        <p14:creationId xmlns:p14="http://schemas.microsoft.com/office/powerpoint/2010/main" val="1254332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1D8C4-2BDA-414F-BB89-61B0C24759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5B79577-60E7-417F-86A9-2221093FC70D}"/>
              </a:ext>
            </a:extLst>
          </p:cNvPr>
          <p:cNvSpPr>
            <a:spLocks noGrp="1"/>
          </p:cNvSpPr>
          <p:nvPr>
            <p:ph idx="1"/>
          </p:nvPr>
        </p:nvSpPr>
        <p:spPr/>
        <p:txBody>
          <a:bodyPr>
            <a:normAutofit fontScale="92500" lnSpcReduction="20000"/>
          </a:bodyPr>
          <a:lstStyle/>
          <a:p>
            <a:r>
              <a:rPr lang="en-US" dirty="0"/>
              <a:t>Target Market </a:t>
            </a:r>
          </a:p>
          <a:p>
            <a:r>
              <a:rPr lang="en-US" dirty="0"/>
              <a:t>Passenger, Drivers  of Pakistan </a:t>
            </a:r>
          </a:p>
          <a:p>
            <a:endParaRPr lang="en-US" dirty="0"/>
          </a:p>
          <a:p>
            <a:r>
              <a:rPr lang="en-US" dirty="0"/>
              <a:t>Classification </a:t>
            </a:r>
          </a:p>
          <a:p>
            <a:r>
              <a:rPr lang="en-US" dirty="0" err="1"/>
              <a:t>Passegner</a:t>
            </a:r>
            <a:r>
              <a:rPr lang="en-US" dirty="0"/>
              <a:t> </a:t>
            </a:r>
          </a:p>
          <a:p>
            <a:r>
              <a:rPr lang="en-US" dirty="0"/>
              <a:t>Drivers </a:t>
            </a:r>
          </a:p>
          <a:p>
            <a:endParaRPr lang="en-US" dirty="0"/>
          </a:p>
          <a:p>
            <a:r>
              <a:rPr lang="en-US" dirty="0"/>
              <a:t>POS </a:t>
            </a:r>
          </a:p>
          <a:p>
            <a:r>
              <a:rPr lang="en-US" dirty="0"/>
              <a:t>Biller </a:t>
            </a:r>
          </a:p>
          <a:p>
            <a:r>
              <a:rPr lang="en-US" dirty="0"/>
              <a:t>Manager </a:t>
            </a:r>
          </a:p>
        </p:txBody>
      </p:sp>
    </p:spTree>
    <p:extLst>
      <p:ext uri="{BB962C8B-B14F-4D97-AF65-F5344CB8AC3E}">
        <p14:creationId xmlns:p14="http://schemas.microsoft.com/office/powerpoint/2010/main" val="66262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34031-43CC-4425-B9A1-DE31A117D3B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2F0469-DB86-43C5-A151-44C43BD38EF6}"/>
              </a:ext>
            </a:extLst>
          </p:cNvPr>
          <p:cNvSpPr>
            <a:spLocks noGrp="1"/>
          </p:cNvSpPr>
          <p:nvPr>
            <p:ph idx="1"/>
          </p:nvPr>
        </p:nvSpPr>
        <p:spPr/>
        <p:txBody>
          <a:bodyPr>
            <a:normAutofit/>
          </a:bodyPr>
          <a:lstStyle/>
          <a:p>
            <a:endParaRPr lang="en-US" dirty="0"/>
          </a:p>
          <a:p>
            <a:r>
              <a:rPr lang="en-US" dirty="0"/>
              <a:t>User classification </a:t>
            </a:r>
          </a:p>
          <a:p>
            <a:pPr lvl="1"/>
            <a:r>
              <a:rPr lang="en-US" dirty="0"/>
              <a:t>Teachers </a:t>
            </a:r>
          </a:p>
          <a:p>
            <a:pPr lvl="1"/>
            <a:r>
              <a:rPr lang="en-US" dirty="0"/>
              <a:t>Students</a:t>
            </a:r>
          </a:p>
          <a:p>
            <a:pPr lvl="1"/>
            <a:r>
              <a:rPr lang="en-US" dirty="0"/>
              <a:t>Parents  </a:t>
            </a:r>
          </a:p>
          <a:p>
            <a:pPr lvl="1"/>
            <a:r>
              <a:rPr lang="en-US" dirty="0"/>
              <a:t>Admins </a:t>
            </a:r>
          </a:p>
          <a:p>
            <a:endParaRPr lang="en-US" dirty="0"/>
          </a:p>
          <a:p>
            <a:endParaRPr lang="en-US" dirty="0"/>
          </a:p>
        </p:txBody>
      </p:sp>
    </p:spTree>
    <p:extLst>
      <p:ext uri="{BB962C8B-B14F-4D97-AF65-F5344CB8AC3E}">
        <p14:creationId xmlns:p14="http://schemas.microsoft.com/office/powerpoint/2010/main" val="2818749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Preliminary Target Market Analysis </a:t>
            </a:r>
          </a:p>
        </p:txBody>
      </p:sp>
      <p:sp>
        <p:nvSpPr>
          <p:cNvPr id="3" name="Content Placeholder 2"/>
          <p:cNvSpPr>
            <a:spLocks noGrp="1"/>
          </p:cNvSpPr>
          <p:nvPr>
            <p:ph sz="quarter" idx="1"/>
          </p:nvPr>
        </p:nvSpPr>
        <p:spPr/>
        <p:txBody>
          <a:bodyPr>
            <a:normAutofit/>
          </a:bodyPr>
          <a:lstStyle/>
          <a:p>
            <a:r>
              <a:rPr lang="en-US" dirty="0"/>
              <a:t>Shall be all inclusive, as well as all exclusive </a:t>
            </a:r>
          </a:p>
          <a:p>
            <a:endParaRPr lang="en-US" dirty="0"/>
          </a:p>
          <a:p>
            <a:r>
              <a:rPr lang="en-US" dirty="0"/>
              <a:t>Do not focus on only the “best” or most experienced users</a:t>
            </a:r>
          </a:p>
          <a:p>
            <a:endParaRPr lang="en-US" dirty="0"/>
          </a:p>
          <a:p>
            <a:r>
              <a:rPr lang="en-US" dirty="0"/>
              <a:t>Consider a range of users to ensure that your product works for at least 80% of your user population. </a:t>
            </a:r>
          </a:p>
          <a:p>
            <a:endParaRPr lang="en-US" dirty="0"/>
          </a:p>
          <a:p>
            <a:r>
              <a:rPr lang="en-US" dirty="0"/>
              <a:t>However, it is not impracticable to target 90–95% of the population. </a:t>
            </a:r>
          </a:p>
          <a:p>
            <a:endParaRPr lang="en-US" dirty="0"/>
          </a:p>
        </p:txBody>
      </p:sp>
    </p:spTree>
    <p:extLst>
      <p:ext uri="{BB962C8B-B14F-4D97-AF65-F5344CB8AC3E}">
        <p14:creationId xmlns:p14="http://schemas.microsoft.com/office/powerpoint/2010/main" val="1405651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Preliminary Target Market Analysis </a:t>
            </a:r>
          </a:p>
        </p:txBody>
      </p:sp>
      <p:sp>
        <p:nvSpPr>
          <p:cNvPr id="3" name="Content Placeholder 2"/>
          <p:cNvSpPr>
            <a:spLocks noGrp="1"/>
          </p:cNvSpPr>
          <p:nvPr>
            <p:ph idx="1"/>
          </p:nvPr>
        </p:nvSpPr>
        <p:spPr/>
        <p:txBody>
          <a:bodyPr vert="horz" lIns="91440" tIns="45720" rIns="91440" bIns="45720" rtlCol="0" anchor="t">
            <a:normAutofit fontScale="92500" lnSpcReduction="10000"/>
          </a:bodyPr>
          <a:lstStyle/>
          <a:p>
            <a:r>
              <a:rPr lang="en-US" b="1" dirty="0">
                <a:ea typeface="+mn-lt"/>
                <a:cs typeface="+mn-lt"/>
              </a:rPr>
              <a:t>Who: </a:t>
            </a:r>
            <a:r>
              <a:rPr lang="en-US" dirty="0">
                <a:ea typeface="+mn-lt"/>
                <a:cs typeface="+mn-lt"/>
              </a:rPr>
              <a:t>Start with questioning yourself about who is going to buy your product. Are they children, teens, millennials, or baby boomers? Are they males or females? Are they service classed or self-employed? What’s their yearly income?</a:t>
            </a:r>
            <a:endParaRPr lang="en-US" dirty="0">
              <a:cs typeface="Calibri"/>
            </a:endParaRPr>
          </a:p>
          <a:p>
            <a:r>
              <a:rPr lang="en-US" b="1" dirty="0">
                <a:ea typeface="+mn-lt"/>
                <a:cs typeface="+mn-lt"/>
              </a:rPr>
              <a:t>What: </a:t>
            </a:r>
            <a:r>
              <a:rPr lang="en-US" dirty="0">
                <a:ea typeface="+mn-lt"/>
                <a:cs typeface="+mn-lt"/>
              </a:rPr>
              <a:t>What type of products and services do they buy now and what do they expect from it? Does your product fits their requirements?</a:t>
            </a:r>
            <a:endParaRPr lang="en-US" dirty="0"/>
          </a:p>
          <a:p>
            <a:r>
              <a:rPr lang="en-US" b="1" dirty="0">
                <a:ea typeface="+mn-lt"/>
                <a:cs typeface="+mn-lt"/>
              </a:rPr>
              <a:t>When: </a:t>
            </a:r>
            <a:r>
              <a:rPr lang="en-US" dirty="0">
                <a:ea typeface="+mn-lt"/>
                <a:cs typeface="+mn-lt"/>
              </a:rPr>
              <a:t>When do they buy the product? Is it daily or rarely? When do they use the product?</a:t>
            </a:r>
            <a:endParaRPr lang="en-US" dirty="0"/>
          </a:p>
          <a:p>
            <a:r>
              <a:rPr lang="en-US" b="1" dirty="0">
                <a:ea typeface="+mn-lt"/>
                <a:cs typeface="+mn-lt"/>
              </a:rPr>
              <a:t>Where: </a:t>
            </a:r>
            <a:r>
              <a:rPr lang="en-US" dirty="0">
                <a:ea typeface="+mn-lt"/>
                <a:cs typeface="+mn-lt"/>
              </a:rPr>
              <a:t>Where do they live? Where do they use the product?</a:t>
            </a:r>
            <a:endParaRPr lang="en-US" dirty="0"/>
          </a:p>
          <a:p>
            <a:r>
              <a:rPr lang="en-US" b="1" dirty="0">
                <a:ea typeface="+mn-lt"/>
                <a:cs typeface="+mn-lt"/>
              </a:rPr>
              <a:t>Why: </a:t>
            </a:r>
            <a:r>
              <a:rPr lang="en-US" dirty="0">
                <a:ea typeface="+mn-lt"/>
                <a:cs typeface="+mn-lt"/>
              </a:rPr>
              <a:t>Do they buy it because it’s their need, or is it a luxury product for them?</a:t>
            </a:r>
            <a:endParaRPr lang="en-US" dirty="0"/>
          </a:p>
          <a:p>
            <a:pPr lvl="1"/>
            <a:endParaRPr lang="en-US" dirty="0">
              <a:cs typeface="Calibri"/>
            </a:endParaRPr>
          </a:p>
          <a:p>
            <a:endParaRPr lang="en-US" dirty="0"/>
          </a:p>
        </p:txBody>
      </p:sp>
    </p:spTree>
    <p:extLst>
      <p:ext uri="{BB962C8B-B14F-4D97-AF65-F5344CB8AC3E}">
        <p14:creationId xmlns:p14="http://schemas.microsoft.com/office/powerpoint/2010/main" val="1290617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8BC92-25CA-4925-BA8C-C4B3E24C4B0C}"/>
              </a:ext>
            </a:extLst>
          </p:cNvPr>
          <p:cNvSpPr>
            <a:spLocks noGrp="1"/>
          </p:cNvSpPr>
          <p:nvPr>
            <p:ph type="title"/>
          </p:nvPr>
        </p:nvSpPr>
        <p:spPr/>
        <p:txBody>
          <a:bodyPr/>
          <a:lstStyle/>
          <a:p>
            <a:r>
              <a:rPr lang="en-US" dirty="0"/>
              <a:t>User Classification </a:t>
            </a:r>
          </a:p>
        </p:txBody>
      </p:sp>
      <p:pic>
        <p:nvPicPr>
          <p:cNvPr id="4" name="Picture 2" descr="Figure 1: UX relates to the primary user, Co-experience relates to the shared experience by the system of both users, and secondary UX relates to the secondary user. The solid arrows indicate interaction, while the dotted arrow indicates indirect interaction.">
            <a:extLst>
              <a:ext uri="{FF2B5EF4-FFF2-40B4-BE49-F238E27FC236}">
                <a16:creationId xmlns:a16="http://schemas.microsoft.com/office/drawing/2014/main" id="{7C6AB780-7C2D-4667-AFEE-C3A92A35E79D}"/>
              </a:ext>
            </a:extLst>
          </p:cNvPr>
          <p:cNvPicPr>
            <a:picLocks noGrp="1" noChangeAspect="1" noChangeArrowheads="1"/>
          </p:cNvPicPr>
          <p:nvPr>
            <p:ph idx="1"/>
          </p:nvPr>
        </p:nvPicPr>
        <p:blipFill>
          <a:blip r:embed="rId2">
            <a:extLst>
              <a:ext uri="{28A0092B-C50C-407E-A947-70E740481C1C}">
                <a14:useLocalDpi xmlns:a14="http://schemas.microsoft.com/office/drawing/2010/main"/>
              </a:ext>
            </a:extLst>
          </a:blip>
          <a:srcRect/>
          <a:stretch>
            <a:fillRect/>
          </a:stretch>
        </p:blipFill>
        <p:spPr bwMode="auto">
          <a:xfrm>
            <a:off x="397933" y="1397021"/>
            <a:ext cx="11396134" cy="4063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1144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63BB9-9667-47C8-898A-5EA75B32512B}"/>
              </a:ext>
            </a:extLst>
          </p:cNvPr>
          <p:cNvSpPr>
            <a:spLocks noGrp="1"/>
          </p:cNvSpPr>
          <p:nvPr>
            <p:ph type="title"/>
          </p:nvPr>
        </p:nvSpPr>
        <p:spPr/>
        <p:txBody>
          <a:bodyPr/>
          <a:lstStyle/>
          <a:p>
            <a:r>
              <a:rPr lang="en-US" dirty="0"/>
              <a:t>Primary/Secondary Users </a:t>
            </a:r>
          </a:p>
        </p:txBody>
      </p:sp>
      <p:pic>
        <p:nvPicPr>
          <p:cNvPr id="1026" name="Picture 2" descr="Fig. 1. Descriptive model for face-to-face interaction showing location of primary and secondary users with respect to shared technology usage.">
            <a:extLst>
              <a:ext uri="{FF2B5EF4-FFF2-40B4-BE49-F238E27FC236}">
                <a16:creationId xmlns:a16="http://schemas.microsoft.com/office/drawing/2014/main" id="{DA3207A9-F0F5-456A-BD60-B241D9A40731}"/>
              </a:ext>
            </a:extLst>
          </p:cNvPr>
          <p:cNvPicPr>
            <a:picLocks noGrp="1" noChangeAspect="1" noChangeArrowheads="1"/>
          </p:cNvPicPr>
          <p:nvPr>
            <p:ph idx="1"/>
          </p:nvPr>
        </p:nvPicPr>
        <p:blipFill rotWithShape="1">
          <a:blip r:embed="rId2" cstate="print">
            <a:extLst>
              <a:ext uri="{28A0092B-C50C-407E-A947-70E740481C1C}">
                <a14:useLocalDpi xmlns:a14="http://schemas.microsoft.com/office/drawing/2010/main"/>
              </a:ext>
            </a:extLst>
          </a:blip>
          <a:srcRect/>
          <a:stretch/>
        </p:blipFill>
        <p:spPr bwMode="auto">
          <a:xfrm>
            <a:off x="1850145" y="1755386"/>
            <a:ext cx="9146558" cy="4572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723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0A723-3B93-4E3A-BFD6-88AF4211DFF8}"/>
              </a:ext>
            </a:extLst>
          </p:cNvPr>
          <p:cNvSpPr>
            <a:spLocks noGrp="1"/>
          </p:cNvSpPr>
          <p:nvPr>
            <p:ph type="title"/>
          </p:nvPr>
        </p:nvSpPr>
        <p:spPr/>
        <p:txBody>
          <a:bodyPr/>
          <a:lstStyle/>
          <a:p>
            <a:r>
              <a:rPr lang="en-US" dirty="0"/>
              <a:t>Resources </a:t>
            </a:r>
          </a:p>
        </p:txBody>
      </p:sp>
      <p:sp>
        <p:nvSpPr>
          <p:cNvPr id="3" name="Content Placeholder 2">
            <a:extLst>
              <a:ext uri="{FF2B5EF4-FFF2-40B4-BE49-F238E27FC236}">
                <a16:creationId xmlns:a16="http://schemas.microsoft.com/office/drawing/2014/main" id="{E7B737CB-B6AA-4F4E-A95B-332A55DC2DA6}"/>
              </a:ext>
            </a:extLst>
          </p:cNvPr>
          <p:cNvSpPr>
            <a:spLocks noGrp="1"/>
          </p:cNvSpPr>
          <p:nvPr>
            <p:ph idx="1"/>
          </p:nvPr>
        </p:nvSpPr>
        <p:spPr/>
        <p:txBody>
          <a:bodyPr/>
          <a:lstStyle/>
          <a:p>
            <a:r>
              <a:rPr lang="en-US" dirty="0">
                <a:hlinkClick r:id="rId2"/>
              </a:rPr>
              <a:t>https://medium.theuxblog.com/user-experience-primary-and-secondary-users-in-healthcare-8dd4c5c61490</a:t>
            </a:r>
            <a:r>
              <a:rPr lang="en-US" dirty="0"/>
              <a:t> </a:t>
            </a:r>
          </a:p>
          <a:p>
            <a:endParaRPr lang="en-US" dirty="0"/>
          </a:p>
        </p:txBody>
      </p:sp>
    </p:spTree>
    <p:extLst>
      <p:ext uri="{BB962C8B-B14F-4D97-AF65-F5344CB8AC3E}">
        <p14:creationId xmlns:p14="http://schemas.microsoft.com/office/powerpoint/2010/main" val="1355785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6A254-D873-4090-B34A-93008F923FB0}"/>
              </a:ext>
            </a:extLst>
          </p:cNvPr>
          <p:cNvSpPr>
            <a:spLocks noGrp="1"/>
          </p:cNvSpPr>
          <p:nvPr>
            <p:ph type="title"/>
          </p:nvPr>
        </p:nvSpPr>
        <p:spPr/>
        <p:txBody>
          <a:bodyPr/>
          <a:lstStyle/>
          <a:p>
            <a:r>
              <a:rPr lang="en-US" dirty="0"/>
              <a:t>User Research </a:t>
            </a:r>
          </a:p>
        </p:txBody>
      </p:sp>
      <p:sp>
        <p:nvSpPr>
          <p:cNvPr id="3" name="Text Placeholder 2">
            <a:extLst>
              <a:ext uri="{FF2B5EF4-FFF2-40B4-BE49-F238E27FC236}">
                <a16:creationId xmlns:a16="http://schemas.microsoft.com/office/drawing/2014/main" id="{8B33D454-222B-4F86-8F2F-55E465132AAD}"/>
              </a:ext>
            </a:extLst>
          </p:cNvPr>
          <p:cNvSpPr>
            <a:spLocks noGrp="1"/>
          </p:cNvSpPr>
          <p:nvPr>
            <p:ph type="body" idx="1"/>
          </p:nvPr>
        </p:nvSpPr>
        <p:spPr/>
        <p:txBody>
          <a:bodyPr/>
          <a:lstStyle/>
          <a:p>
            <a:r>
              <a:rPr lang="en-US" dirty="0"/>
              <a:t>Ethnography and Interviewing </a:t>
            </a:r>
          </a:p>
        </p:txBody>
      </p:sp>
    </p:spTree>
    <p:extLst>
      <p:ext uri="{BB962C8B-B14F-4D97-AF65-F5344CB8AC3E}">
        <p14:creationId xmlns:p14="http://schemas.microsoft.com/office/powerpoint/2010/main" val="627841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A6E38-CFA2-4060-9FAB-AD25CB413B81}"/>
              </a:ext>
            </a:extLst>
          </p:cNvPr>
          <p:cNvSpPr>
            <a:spLocks noGrp="1"/>
          </p:cNvSpPr>
          <p:nvPr>
            <p:ph type="title"/>
          </p:nvPr>
        </p:nvSpPr>
        <p:spPr>
          <a:xfrm>
            <a:off x="110360" y="365125"/>
            <a:ext cx="3121571" cy="4884792"/>
          </a:xfrm>
        </p:spPr>
        <p:txBody>
          <a:bodyPr/>
          <a:lstStyle/>
          <a:p>
            <a:r>
              <a:rPr lang="en-US" dirty="0"/>
              <a:t>Requirement Elicitation Problem </a:t>
            </a:r>
          </a:p>
        </p:txBody>
      </p:sp>
      <p:pic>
        <p:nvPicPr>
          <p:cNvPr id="1026" name="Picture 2" descr="Related image">
            <a:extLst>
              <a:ext uri="{FF2B5EF4-FFF2-40B4-BE49-F238E27FC236}">
                <a16:creationId xmlns:a16="http://schemas.microsoft.com/office/drawing/2014/main" id="{7589EBD0-72F2-466B-9598-08B146F9F302}"/>
              </a:ext>
            </a:extLst>
          </p:cNvPr>
          <p:cNvPicPr>
            <a:picLocks noGrp="1" noChangeAspect="1" noChangeArrowheads="1"/>
          </p:cNvPicPr>
          <p:nvPr>
            <p:ph idx="1"/>
          </p:nvPr>
        </p:nvPicPr>
        <p:blipFill>
          <a:blip r:embed="rId2" cstate="email">
            <a:extLst>
              <a:ext uri="{28A0092B-C50C-407E-A947-70E740481C1C}">
                <a14:useLocalDpi xmlns:a14="http://schemas.microsoft.com/office/drawing/2010/main"/>
              </a:ext>
            </a:extLst>
          </a:blip>
          <a:srcRect/>
          <a:stretch>
            <a:fillRect/>
          </a:stretch>
        </p:blipFill>
        <p:spPr bwMode="auto">
          <a:xfrm>
            <a:off x="3263464" y="80140"/>
            <a:ext cx="8923283" cy="6736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1881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0F865-7534-4923-842E-EF5FE5DE985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21FB7E4-A232-4571-ACBA-A123A9BBA856}"/>
              </a:ext>
            </a:extLst>
          </p:cNvPr>
          <p:cNvSpPr>
            <a:spLocks noGrp="1"/>
          </p:cNvSpPr>
          <p:nvPr>
            <p:ph idx="1"/>
          </p:nvPr>
        </p:nvSpPr>
        <p:spPr/>
        <p:txBody>
          <a:bodyPr/>
          <a:lstStyle/>
          <a:p>
            <a:r>
              <a:rPr lang="en-US" dirty="0"/>
              <a:t>Target market identification </a:t>
            </a:r>
          </a:p>
          <a:p>
            <a:pPr lvl="1"/>
            <a:r>
              <a:rPr lang="en-US" dirty="0"/>
              <a:t>Covid-19 patients and hospitals in Lahore </a:t>
            </a:r>
          </a:p>
          <a:p>
            <a:pPr lvl="1"/>
            <a:endParaRPr lang="en-US" dirty="0"/>
          </a:p>
          <a:p>
            <a:r>
              <a:rPr lang="en-US" dirty="0"/>
              <a:t>User classes </a:t>
            </a:r>
          </a:p>
          <a:p>
            <a:pPr lvl="1"/>
            <a:r>
              <a:rPr lang="en-US" dirty="0"/>
              <a:t>Patients </a:t>
            </a:r>
          </a:p>
          <a:p>
            <a:pPr lvl="1"/>
            <a:r>
              <a:rPr lang="en-US" dirty="0"/>
              <a:t>Hospital staff </a:t>
            </a:r>
          </a:p>
        </p:txBody>
      </p:sp>
    </p:spTree>
    <p:extLst>
      <p:ext uri="{BB962C8B-B14F-4D97-AF65-F5344CB8AC3E}">
        <p14:creationId xmlns:p14="http://schemas.microsoft.com/office/powerpoint/2010/main" val="827202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7E076-7559-433C-8495-C4A55F89396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CCEFF29-5A47-4C5D-BA07-F48A55B5BDE5}"/>
              </a:ext>
            </a:extLst>
          </p:cNvPr>
          <p:cNvSpPr>
            <a:spLocks noGrp="1"/>
          </p:cNvSpPr>
          <p:nvPr>
            <p:ph idx="1"/>
          </p:nvPr>
        </p:nvSpPr>
        <p:spPr/>
        <p:txBody>
          <a:bodyPr/>
          <a:lstStyle/>
          <a:p>
            <a:r>
              <a:rPr lang="en-US" dirty="0"/>
              <a:t>Ethnography </a:t>
            </a:r>
          </a:p>
          <a:p>
            <a:pPr marL="914400" lvl="1" indent="-457200">
              <a:buFont typeface="+mj-lt"/>
              <a:buAutoNum type="arabicPeriod"/>
            </a:pPr>
            <a:r>
              <a:rPr lang="en-US" dirty="0"/>
              <a:t>Planning </a:t>
            </a:r>
          </a:p>
          <a:p>
            <a:pPr marL="914400" lvl="1" indent="-457200">
              <a:buFont typeface="+mj-lt"/>
              <a:buAutoNum type="arabicPeriod"/>
            </a:pPr>
            <a:r>
              <a:rPr lang="en-US" dirty="0"/>
              <a:t>Observation </a:t>
            </a:r>
          </a:p>
          <a:p>
            <a:pPr marL="914400" lvl="1" indent="-457200">
              <a:buFont typeface="+mj-lt"/>
              <a:buAutoNum type="arabicPeriod"/>
            </a:pPr>
            <a:r>
              <a:rPr lang="en-US" dirty="0"/>
              <a:t>Interviewing (Semi-structured, intensive) </a:t>
            </a:r>
          </a:p>
          <a:p>
            <a:pPr marL="914400" lvl="1" indent="-457200">
              <a:buFont typeface="+mj-lt"/>
              <a:buAutoNum type="arabicPeriod"/>
            </a:pPr>
            <a:r>
              <a:rPr lang="en-US" dirty="0"/>
              <a:t>Data analysis </a:t>
            </a:r>
          </a:p>
        </p:txBody>
      </p:sp>
    </p:spTree>
    <p:extLst>
      <p:ext uri="{BB962C8B-B14F-4D97-AF65-F5344CB8AC3E}">
        <p14:creationId xmlns:p14="http://schemas.microsoft.com/office/powerpoint/2010/main" val="3009253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ADF4D93F-5BF0-4A37-BC6F-4F7CBE61F854}"/>
              </a:ext>
            </a:extLst>
          </p:cNvPr>
          <p:cNvPicPr>
            <a:picLocks noGrp="1" noChangeAspect="1" noChangeArrowheads="1"/>
          </p:cNvPicPr>
          <p:nvPr>
            <p:ph idx="1"/>
          </p:nvPr>
        </p:nvPicPr>
        <p:blipFill>
          <a:blip r:embed="rId2" cstate="email">
            <a:extLst>
              <a:ext uri="{28A0092B-C50C-407E-A947-70E740481C1C}">
                <a14:useLocalDpi xmlns:a14="http://schemas.microsoft.com/office/drawing/2010/main"/>
              </a:ext>
            </a:extLst>
          </a:blip>
          <a:srcRect/>
          <a:stretch>
            <a:fillRect/>
          </a:stretch>
        </p:blipFill>
        <p:spPr bwMode="auto">
          <a:xfrm>
            <a:off x="693684" y="1182414"/>
            <a:ext cx="11067392" cy="5533696"/>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84640CB0-7E6F-4316-89B0-EE16DC8F96D0}"/>
              </a:ext>
            </a:extLst>
          </p:cNvPr>
          <p:cNvSpPr>
            <a:spLocks noGrp="1"/>
          </p:cNvSpPr>
          <p:nvPr>
            <p:ph type="title"/>
          </p:nvPr>
        </p:nvSpPr>
        <p:spPr>
          <a:xfrm>
            <a:off x="838200" y="365126"/>
            <a:ext cx="10515600" cy="1053772"/>
          </a:xfrm>
        </p:spPr>
        <p:txBody>
          <a:bodyPr>
            <a:normAutofit fontScale="90000"/>
          </a:bodyPr>
          <a:lstStyle/>
          <a:p>
            <a:r>
              <a:rPr lang="en-US" dirty="0"/>
              <a:t>Ethnography (Observation + Intensive Interview) </a:t>
            </a:r>
          </a:p>
        </p:txBody>
      </p:sp>
    </p:spTree>
    <p:extLst>
      <p:ext uri="{BB962C8B-B14F-4D97-AF65-F5344CB8AC3E}">
        <p14:creationId xmlns:p14="http://schemas.microsoft.com/office/powerpoint/2010/main" val="577510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BFADA4-69FE-47F8-B63F-162229F0970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218386" y="116054"/>
            <a:ext cx="3427798" cy="877174"/>
          </a:xfrm>
          <a:prstGeom prst="rect">
            <a:avLst/>
          </a:prstGeom>
        </p:spPr>
      </p:pic>
      <p:pic>
        <p:nvPicPr>
          <p:cNvPr id="5" name="Picture 4">
            <a:extLst>
              <a:ext uri="{FF2B5EF4-FFF2-40B4-BE49-F238E27FC236}">
                <a16:creationId xmlns:a16="http://schemas.microsoft.com/office/drawing/2014/main" id="{EAD2CD75-96DE-4DA0-8BBD-592181C04D3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5424" y="693686"/>
            <a:ext cx="11923512" cy="6048260"/>
          </a:xfrm>
          <a:prstGeom prst="rect">
            <a:avLst/>
          </a:prstGeom>
        </p:spPr>
      </p:pic>
    </p:spTree>
    <p:extLst>
      <p:ext uri="{BB962C8B-B14F-4D97-AF65-F5344CB8AC3E}">
        <p14:creationId xmlns:p14="http://schemas.microsoft.com/office/powerpoint/2010/main" val="205638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B6895-6399-4777-9269-FA890CD3493D}"/>
              </a:ext>
            </a:extLst>
          </p:cNvPr>
          <p:cNvSpPr>
            <a:spLocks noGrp="1"/>
          </p:cNvSpPr>
          <p:nvPr>
            <p:ph type="title"/>
          </p:nvPr>
        </p:nvSpPr>
        <p:spPr/>
        <p:txBody>
          <a:bodyPr/>
          <a:lstStyle/>
          <a:p>
            <a:r>
              <a:rPr lang="en-US" dirty="0"/>
              <a:t>Recruiting Criteria </a:t>
            </a:r>
          </a:p>
        </p:txBody>
      </p:sp>
      <p:sp>
        <p:nvSpPr>
          <p:cNvPr id="3" name="Content Placeholder 2">
            <a:extLst>
              <a:ext uri="{FF2B5EF4-FFF2-40B4-BE49-F238E27FC236}">
                <a16:creationId xmlns:a16="http://schemas.microsoft.com/office/drawing/2014/main" id="{C3253C93-7B1F-4134-B70D-96274DCF5F9C}"/>
              </a:ext>
            </a:extLst>
          </p:cNvPr>
          <p:cNvSpPr>
            <a:spLocks noGrp="1"/>
          </p:cNvSpPr>
          <p:nvPr>
            <p:ph idx="1"/>
          </p:nvPr>
        </p:nvSpPr>
        <p:spPr/>
        <p:txBody>
          <a:bodyPr>
            <a:normAutofit fontScale="77500" lnSpcReduction="20000"/>
          </a:bodyPr>
          <a:lstStyle/>
          <a:p>
            <a:r>
              <a:rPr lang="en-US" dirty="0"/>
              <a:t>Typical user</a:t>
            </a:r>
          </a:p>
          <a:p>
            <a:r>
              <a:rPr lang="en-US" dirty="0"/>
              <a:t>Non-user</a:t>
            </a:r>
          </a:p>
          <a:p>
            <a:r>
              <a:rPr lang="en-US" dirty="0"/>
              <a:t>Extreme user</a:t>
            </a:r>
          </a:p>
          <a:p>
            <a:r>
              <a:rPr lang="en-US" dirty="0"/>
              <a:t>Peripheral user</a:t>
            </a:r>
          </a:p>
          <a:p>
            <a:r>
              <a:rPr lang="en-US" dirty="0"/>
              <a:t>Expert user</a:t>
            </a:r>
          </a:p>
          <a:p>
            <a:r>
              <a:rPr lang="en-US" dirty="0"/>
              <a:t>Subject-matter expert (Domain Experts) </a:t>
            </a:r>
          </a:p>
          <a:p>
            <a:r>
              <a:rPr lang="en-US" dirty="0"/>
              <a:t>Wannabe user</a:t>
            </a:r>
          </a:p>
          <a:p>
            <a:r>
              <a:rPr lang="en-US" dirty="0"/>
              <a:t>Should be user</a:t>
            </a:r>
          </a:p>
          <a:p>
            <a:r>
              <a:rPr lang="en-US" dirty="0"/>
              <a:t>Future user</a:t>
            </a:r>
          </a:p>
          <a:p>
            <a:r>
              <a:rPr lang="en-US" dirty="0"/>
              <a:t>Past user</a:t>
            </a:r>
          </a:p>
          <a:p>
            <a:r>
              <a:rPr lang="en-US" dirty="0"/>
              <a:t>Hater</a:t>
            </a:r>
          </a:p>
          <a:p>
            <a:r>
              <a:rPr lang="en-US" dirty="0"/>
              <a:t>Loyal to competitor</a:t>
            </a:r>
          </a:p>
        </p:txBody>
      </p:sp>
      <p:pic>
        <p:nvPicPr>
          <p:cNvPr id="4" name="Picture 4" descr="Image result for interviews">
            <a:extLst>
              <a:ext uri="{FF2B5EF4-FFF2-40B4-BE49-F238E27FC236}">
                <a16:creationId xmlns:a16="http://schemas.microsoft.com/office/drawing/2014/main" id="{703008B4-DE59-4015-A745-6AA357FFA90B}"/>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l="13175" r="8577"/>
          <a:stretch/>
        </p:blipFill>
        <p:spPr bwMode="auto">
          <a:xfrm>
            <a:off x="5830954" y="1825625"/>
            <a:ext cx="5734878" cy="4580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71241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7E052-98DB-4530-A5E3-390CB9AFB32F}"/>
              </a:ext>
            </a:extLst>
          </p:cNvPr>
          <p:cNvSpPr>
            <a:spLocks noGrp="1"/>
          </p:cNvSpPr>
          <p:nvPr>
            <p:ph type="title"/>
          </p:nvPr>
        </p:nvSpPr>
        <p:spPr/>
        <p:txBody>
          <a:bodyPr/>
          <a:lstStyle/>
          <a:p>
            <a:r>
              <a:rPr lang="en-US" dirty="0"/>
              <a:t>Assignments </a:t>
            </a:r>
          </a:p>
        </p:txBody>
      </p:sp>
      <p:sp>
        <p:nvSpPr>
          <p:cNvPr id="3" name="Content Placeholder 2">
            <a:extLst>
              <a:ext uri="{FF2B5EF4-FFF2-40B4-BE49-F238E27FC236}">
                <a16:creationId xmlns:a16="http://schemas.microsoft.com/office/drawing/2014/main" id="{A08C7D07-3AAE-46BD-B5D8-0C5AD8A0BB68}"/>
              </a:ext>
            </a:extLst>
          </p:cNvPr>
          <p:cNvSpPr>
            <a:spLocks noGrp="1"/>
          </p:cNvSpPr>
          <p:nvPr>
            <p:ph idx="1"/>
          </p:nvPr>
        </p:nvSpPr>
        <p:spPr/>
        <p:txBody>
          <a:bodyPr>
            <a:normAutofit/>
          </a:bodyPr>
          <a:lstStyle/>
          <a:p>
            <a:pPr marL="514350" indent="-514350">
              <a:buFont typeface="+mj-lt"/>
              <a:buAutoNum type="arabicPeriod"/>
            </a:pPr>
            <a:r>
              <a:rPr lang="en-US" dirty="0"/>
              <a:t>Interview protocol and script </a:t>
            </a:r>
          </a:p>
          <a:p>
            <a:pPr lvl="1"/>
            <a:r>
              <a:rPr lang="en-US" dirty="0"/>
              <a:t>Submit before next class on Monday </a:t>
            </a:r>
          </a:p>
          <a:p>
            <a:pPr marL="457200" lvl="1" indent="0">
              <a:buNone/>
            </a:pPr>
            <a:endParaRPr lang="en-US" dirty="0"/>
          </a:p>
          <a:p>
            <a:pPr marL="514350" indent="-514350">
              <a:buFont typeface="+mj-lt"/>
              <a:buAutoNum type="arabicPeriod"/>
            </a:pPr>
            <a:r>
              <a:rPr lang="en-US" dirty="0"/>
              <a:t>After user Observation and Interviews, submit the following assignment</a:t>
            </a:r>
          </a:p>
          <a:p>
            <a:pPr lvl="1"/>
            <a:r>
              <a:rPr lang="en-US" dirty="0"/>
              <a:t>User needs</a:t>
            </a:r>
          </a:p>
          <a:p>
            <a:pPr lvl="1"/>
            <a:r>
              <a:rPr lang="en-US" dirty="0"/>
              <a:t>Photos and captions </a:t>
            </a:r>
          </a:p>
          <a:p>
            <a:pPr lvl="1"/>
            <a:r>
              <a:rPr lang="en-US" dirty="0"/>
              <a:t>Submit before next class on Friday </a:t>
            </a:r>
          </a:p>
          <a:p>
            <a:pPr marL="914400" lvl="1" indent="-457200">
              <a:buFont typeface="+mj-lt"/>
              <a:buAutoNum type="arabicPeriod"/>
            </a:pPr>
            <a:endParaRPr lang="en-US" dirty="0"/>
          </a:p>
          <a:p>
            <a:pPr lvl="1"/>
            <a:endParaRPr lang="en-US" dirty="0"/>
          </a:p>
        </p:txBody>
      </p:sp>
    </p:spTree>
    <p:extLst>
      <p:ext uri="{BB962C8B-B14F-4D97-AF65-F5344CB8AC3E}">
        <p14:creationId xmlns:p14="http://schemas.microsoft.com/office/powerpoint/2010/main" val="34635827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CCCA7-C2BC-47BA-B28A-139D57565FB4}"/>
              </a:ext>
            </a:extLst>
          </p:cNvPr>
          <p:cNvSpPr>
            <a:spLocks noGrp="1"/>
          </p:cNvSpPr>
          <p:nvPr>
            <p:ph type="title"/>
          </p:nvPr>
        </p:nvSpPr>
        <p:spPr/>
        <p:txBody>
          <a:bodyPr/>
          <a:lstStyle/>
          <a:p>
            <a:r>
              <a:rPr lang="en-US" dirty="0"/>
              <a:t>Resources </a:t>
            </a:r>
          </a:p>
        </p:txBody>
      </p:sp>
      <p:sp>
        <p:nvSpPr>
          <p:cNvPr id="3" name="Content Placeholder 2">
            <a:extLst>
              <a:ext uri="{FF2B5EF4-FFF2-40B4-BE49-F238E27FC236}">
                <a16:creationId xmlns:a16="http://schemas.microsoft.com/office/drawing/2014/main" id="{ED28BB85-32F2-45F3-97CF-5DA5B4C88D6B}"/>
              </a:ext>
            </a:extLst>
          </p:cNvPr>
          <p:cNvSpPr>
            <a:spLocks noGrp="1"/>
          </p:cNvSpPr>
          <p:nvPr>
            <p:ph idx="1"/>
          </p:nvPr>
        </p:nvSpPr>
        <p:spPr/>
        <p:txBody>
          <a:bodyPr>
            <a:normAutofit/>
          </a:bodyPr>
          <a:lstStyle/>
          <a:p>
            <a:r>
              <a:rPr lang="en-US" dirty="0"/>
              <a:t>See the “05-Empathy Field Guide.pdf” on Portal </a:t>
            </a:r>
          </a:p>
          <a:p>
            <a:endParaRPr lang="en-US" dirty="0">
              <a:hlinkClick r:id="rId2"/>
            </a:endParaRPr>
          </a:p>
          <a:p>
            <a:r>
              <a:rPr lang="en-US" dirty="0">
                <a:hlinkClick r:id="rId2"/>
              </a:rPr>
              <a:t>https://medium.com/@userfocus/what-is-design-ethnography-b0a3f8f0339c</a:t>
            </a:r>
            <a:r>
              <a:rPr lang="en-US" dirty="0"/>
              <a:t> </a:t>
            </a:r>
          </a:p>
          <a:p>
            <a:endParaRPr lang="en-US" dirty="0"/>
          </a:p>
          <a:p>
            <a:r>
              <a:rPr lang="en-US" dirty="0">
                <a:hlinkClick r:id="rId3"/>
              </a:rPr>
              <a:t>https://medium.muz.li/coffee-ethnography-4ee31901286d</a:t>
            </a:r>
            <a:r>
              <a:rPr lang="en-US" dirty="0"/>
              <a:t> </a:t>
            </a:r>
          </a:p>
          <a:p>
            <a:endParaRPr lang="en-US" dirty="0"/>
          </a:p>
          <a:p>
            <a:r>
              <a:rPr lang="en-US" dirty="0">
                <a:hlinkClick r:id="rId4"/>
              </a:rPr>
              <a:t>https://medium.com/thinking-design/better-understanding-users-through-ethnography-fd6f6395d4</a:t>
            </a:r>
            <a:r>
              <a:rPr lang="en-US" dirty="0"/>
              <a:t> </a:t>
            </a:r>
          </a:p>
        </p:txBody>
      </p:sp>
    </p:spTree>
    <p:extLst>
      <p:ext uri="{BB962C8B-B14F-4D97-AF65-F5344CB8AC3E}">
        <p14:creationId xmlns:p14="http://schemas.microsoft.com/office/powerpoint/2010/main" val="28927254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F95A1-CF35-4791-B39A-055BDFE89303}"/>
              </a:ext>
            </a:extLst>
          </p:cNvPr>
          <p:cNvSpPr>
            <a:spLocks noGrp="1"/>
          </p:cNvSpPr>
          <p:nvPr>
            <p:ph type="title"/>
          </p:nvPr>
        </p:nvSpPr>
        <p:spPr/>
        <p:txBody>
          <a:bodyPr/>
          <a:lstStyle/>
          <a:p>
            <a:r>
              <a:rPr lang="en-US" dirty="0"/>
              <a:t>User Modelling </a:t>
            </a:r>
          </a:p>
        </p:txBody>
      </p:sp>
      <p:sp>
        <p:nvSpPr>
          <p:cNvPr id="3" name="Content Placeholder 2">
            <a:extLst>
              <a:ext uri="{FF2B5EF4-FFF2-40B4-BE49-F238E27FC236}">
                <a16:creationId xmlns:a16="http://schemas.microsoft.com/office/drawing/2014/main" id="{2F325214-C64A-4C7F-9A48-B6EC1FE93F11}"/>
              </a:ext>
            </a:extLst>
          </p:cNvPr>
          <p:cNvSpPr>
            <a:spLocks noGrp="1"/>
          </p:cNvSpPr>
          <p:nvPr>
            <p:ph idx="1"/>
          </p:nvPr>
        </p:nvSpPr>
        <p:spPr/>
        <p:txBody>
          <a:bodyPr/>
          <a:lstStyle/>
          <a:p>
            <a:r>
              <a:rPr lang="en-US" dirty="0"/>
              <a:t>Revise your target market definition and classification </a:t>
            </a:r>
          </a:p>
          <a:p>
            <a:endParaRPr lang="en-US" dirty="0"/>
          </a:p>
          <a:p>
            <a:r>
              <a:rPr lang="en-US" dirty="0"/>
              <a:t>Build the following </a:t>
            </a:r>
          </a:p>
          <a:p>
            <a:pPr marL="914400" lvl="1" indent="-457200">
              <a:buFont typeface="+mj-lt"/>
              <a:buAutoNum type="arabicPeriod"/>
            </a:pPr>
            <a:r>
              <a:rPr lang="en-US" dirty="0"/>
              <a:t>Class profiles </a:t>
            </a:r>
          </a:p>
          <a:p>
            <a:pPr marL="914400" lvl="1" indent="-457200">
              <a:buFont typeface="+mj-lt"/>
              <a:buAutoNum type="arabicPeriod"/>
            </a:pPr>
            <a:r>
              <a:rPr lang="en-US" dirty="0"/>
              <a:t>Personae </a:t>
            </a:r>
          </a:p>
          <a:p>
            <a:pPr marL="914400" lvl="1" indent="-457200">
              <a:buFont typeface="+mj-lt"/>
              <a:buAutoNum type="arabicPeriod"/>
            </a:pPr>
            <a:r>
              <a:rPr lang="en-US" dirty="0"/>
              <a:t>Scenarios (Storyboards) </a:t>
            </a:r>
          </a:p>
          <a:p>
            <a:endParaRPr lang="en-US" dirty="0"/>
          </a:p>
        </p:txBody>
      </p:sp>
    </p:spTree>
    <p:extLst>
      <p:ext uri="{BB962C8B-B14F-4D97-AF65-F5344CB8AC3E}">
        <p14:creationId xmlns:p14="http://schemas.microsoft.com/office/powerpoint/2010/main" val="785852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AB67F-1C3E-4D0C-B064-5456BC0C45A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3210BDC-B0AA-4CF6-9B49-04F2587BF443}"/>
              </a:ext>
            </a:extLst>
          </p:cNvPr>
          <p:cNvSpPr>
            <a:spLocks noGrp="1"/>
          </p:cNvSpPr>
          <p:nvPr>
            <p:ph idx="1"/>
          </p:nvPr>
        </p:nvSpPr>
        <p:spPr/>
        <p:txBody>
          <a:bodyPr/>
          <a:lstStyle/>
          <a:p>
            <a:r>
              <a:rPr lang="en-US" dirty="0"/>
              <a:t>Target market of Blood donation application </a:t>
            </a:r>
          </a:p>
          <a:p>
            <a:pPr lvl="1"/>
            <a:r>
              <a:rPr lang="en-US" dirty="0"/>
              <a:t>Blood banks, Blood Recipients and blood donors in Lahore </a:t>
            </a:r>
          </a:p>
          <a:p>
            <a:pPr lvl="1"/>
            <a:endParaRPr lang="en-US" dirty="0"/>
          </a:p>
          <a:p>
            <a:r>
              <a:rPr lang="en-US" dirty="0"/>
              <a:t>User classes </a:t>
            </a:r>
          </a:p>
          <a:p>
            <a:pPr lvl="1"/>
            <a:r>
              <a:rPr lang="en-US" dirty="0"/>
              <a:t>Blood recipients </a:t>
            </a:r>
          </a:p>
          <a:p>
            <a:pPr lvl="1"/>
            <a:r>
              <a:rPr lang="en-US" dirty="0"/>
              <a:t>Blood donors </a:t>
            </a:r>
          </a:p>
          <a:p>
            <a:pPr lvl="1"/>
            <a:r>
              <a:rPr lang="en-US" dirty="0"/>
              <a:t>Blood banks </a:t>
            </a:r>
          </a:p>
        </p:txBody>
      </p:sp>
    </p:spTree>
    <p:extLst>
      <p:ext uri="{BB962C8B-B14F-4D97-AF65-F5344CB8AC3E}">
        <p14:creationId xmlns:p14="http://schemas.microsoft.com/office/powerpoint/2010/main" val="3505102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DAB84-3A1E-482A-BA96-C86BE75E8B20}"/>
              </a:ext>
            </a:extLst>
          </p:cNvPr>
          <p:cNvSpPr>
            <a:spLocks noGrp="1"/>
          </p:cNvSpPr>
          <p:nvPr>
            <p:ph type="title"/>
          </p:nvPr>
        </p:nvSpPr>
        <p:spPr/>
        <p:txBody>
          <a:bodyPr/>
          <a:lstStyle/>
          <a:p>
            <a:r>
              <a:rPr lang="en-US" dirty="0"/>
              <a:t>Class Profile: Travel Agent (Primary) </a:t>
            </a:r>
          </a:p>
        </p:txBody>
      </p:sp>
      <p:pic>
        <p:nvPicPr>
          <p:cNvPr id="4" name="Content Placeholder 3">
            <a:extLst>
              <a:ext uri="{FF2B5EF4-FFF2-40B4-BE49-F238E27FC236}">
                <a16:creationId xmlns:a16="http://schemas.microsoft.com/office/drawing/2014/main" id="{B74739A0-94AF-43F8-9A68-9DEE93439204}"/>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481262" y="1327483"/>
            <a:ext cx="11085095" cy="5437226"/>
          </a:xfrm>
          <a:prstGeom prst="rect">
            <a:avLst/>
          </a:prstGeom>
        </p:spPr>
      </p:pic>
    </p:spTree>
    <p:extLst>
      <p:ext uri="{BB962C8B-B14F-4D97-AF65-F5344CB8AC3E}">
        <p14:creationId xmlns:p14="http://schemas.microsoft.com/office/powerpoint/2010/main" val="2497699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039D4-D81F-4E1E-9DDD-9F081C75FB27}"/>
              </a:ext>
            </a:extLst>
          </p:cNvPr>
          <p:cNvSpPr>
            <a:spLocks noGrp="1"/>
          </p:cNvSpPr>
          <p:nvPr>
            <p:ph type="title"/>
          </p:nvPr>
        </p:nvSpPr>
        <p:spPr/>
        <p:txBody>
          <a:bodyPr/>
          <a:lstStyle/>
          <a:p>
            <a:r>
              <a:rPr lang="en-US" dirty="0"/>
              <a:t>Personae </a:t>
            </a:r>
          </a:p>
        </p:txBody>
      </p:sp>
      <p:sp>
        <p:nvSpPr>
          <p:cNvPr id="3" name="Text Placeholder 2">
            <a:extLst>
              <a:ext uri="{FF2B5EF4-FFF2-40B4-BE49-F238E27FC236}">
                <a16:creationId xmlns:a16="http://schemas.microsoft.com/office/drawing/2014/main" id="{0D9596C4-A771-43A5-BD00-CB6832F26C57}"/>
              </a:ext>
            </a:extLst>
          </p:cNvPr>
          <p:cNvSpPr>
            <a:spLocks noGrp="1"/>
          </p:cNvSpPr>
          <p:nvPr>
            <p:ph type="body" idx="1"/>
          </p:nvPr>
        </p:nvSpPr>
        <p:spPr/>
        <p:txBody>
          <a:bodyPr/>
          <a:lstStyle/>
          <a:p>
            <a:r>
              <a:rPr lang="en-US" dirty="0"/>
              <a:t>The non-Elastic User </a:t>
            </a:r>
          </a:p>
        </p:txBody>
      </p:sp>
      <p:pic>
        <p:nvPicPr>
          <p:cNvPr id="4" name="Picture 3">
            <a:extLst>
              <a:ext uri="{FF2B5EF4-FFF2-40B4-BE49-F238E27FC236}">
                <a16:creationId xmlns:a16="http://schemas.microsoft.com/office/drawing/2014/main" id="{F3EDEF6F-1E55-4F8D-B750-903EB6EEC2CD}"/>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5884423" y="234517"/>
            <a:ext cx="5463027" cy="6388965"/>
          </a:xfrm>
          <a:prstGeom prst="rect">
            <a:avLst/>
          </a:prstGeom>
          <a:noFill/>
          <a:ln w="9525">
            <a:noFill/>
            <a:miter lim="800000"/>
            <a:headEnd/>
            <a:tailEnd/>
          </a:ln>
          <a:effectLst/>
        </p:spPr>
      </p:pic>
    </p:spTree>
    <p:extLst>
      <p:ext uri="{BB962C8B-B14F-4D97-AF65-F5344CB8AC3E}">
        <p14:creationId xmlns:p14="http://schemas.microsoft.com/office/powerpoint/2010/main" val="799042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A5B40-BF66-4B9E-8C73-E84462F17738}"/>
              </a:ext>
            </a:extLst>
          </p:cNvPr>
          <p:cNvSpPr>
            <a:spLocks noGrp="1"/>
          </p:cNvSpPr>
          <p:nvPr>
            <p:ph type="title"/>
          </p:nvPr>
        </p:nvSpPr>
        <p:spPr/>
        <p:txBody>
          <a:bodyPr/>
          <a:lstStyle/>
          <a:p>
            <a:r>
              <a:rPr lang="en-US" dirty="0"/>
              <a:t>Personas </a:t>
            </a:r>
          </a:p>
        </p:txBody>
      </p:sp>
      <p:sp>
        <p:nvSpPr>
          <p:cNvPr id="3" name="Content Placeholder 2">
            <a:extLst>
              <a:ext uri="{FF2B5EF4-FFF2-40B4-BE49-F238E27FC236}">
                <a16:creationId xmlns:a16="http://schemas.microsoft.com/office/drawing/2014/main" id="{B9195FE1-B97C-489E-BED2-E8828F73C09F}"/>
              </a:ext>
            </a:extLst>
          </p:cNvPr>
          <p:cNvSpPr>
            <a:spLocks noGrp="1"/>
          </p:cNvSpPr>
          <p:nvPr>
            <p:ph idx="1"/>
          </p:nvPr>
        </p:nvSpPr>
        <p:spPr/>
        <p:txBody>
          <a:bodyPr/>
          <a:lstStyle/>
          <a:p>
            <a:r>
              <a:rPr lang="en-US" dirty="0"/>
              <a:t>At least One representative of each class</a:t>
            </a:r>
          </a:p>
          <a:p>
            <a:endParaRPr lang="en-US" dirty="0"/>
          </a:p>
        </p:txBody>
      </p:sp>
    </p:spTree>
    <p:extLst>
      <p:ext uri="{BB962C8B-B14F-4D97-AF65-F5344CB8AC3E}">
        <p14:creationId xmlns:p14="http://schemas.microsoft.com/office/powerpoint/2010/main" val="19366892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Persona </a:t>
            </a:r>
          </a:p>
        </p:txBody>
      </p:sp>
      <p:sp>
        <p:nvSpPr>
          <p:cNvPr id="3" name="Content Placeholder 2"/>
          <p:cNvSpPr>
            <a:spLocks noGrp="1"/>
          </p:cNvSpPr>
          <p:nvPr>
            <p:ph sz="quarter" idx="1"/>
          </p:nvPr>
        </p:nvSpPr>
        <p:spPr/>
        <p:txBody>
          <a:bodyPr>
            <a:normAutofit fontScale="92500" lnSpcReduction="20000"/>
          </a:bodyPr>
          <a:lstStyle/>
          <a:p>
            <a:r>
              <a:rPr lang="en-US" dirty="0"/>
              <a:t>Never refer to “the user”, instead refer to a very specific individual, a persona.</a:t>
            </a:r>
          </a:p>
          <a:p>
            <a:endParaRPr lang="en-US" dirty="0"/>
          </a:p>
          <a:p>
            <a:r>
              <a:rPr lang="en-US" dirty="0"/>
              <a:t>Take a class profile and then fill in details to create a “typical” user </a:t>
            </a:r>
          </a:p>
          <a:p>
            <a:pPr lvl="1"/>
            <a:r>
              <a:rPr lang="en-US" b="1" dirty="0"/>
              <a:t>At least One representative of each class</a:t>
            </a:r>
          </a:p>
          <a:p>
            <a:endParaRPr lang="en-US" dirty="0"/>
          </a:p>
          <a:p>
            <a:r>
              <a:rPr lang="en-US" dirty="0"/>
              <a:t>From the insight you gained in your ethnography (immersion, observation and interviews), you now invent user archetypes</a:t>
            </a:r>
            <a:r>
              <a:rPr lang="en-US" b="1" dirty="0"/>
              <a:t> </a:t>
            </a:r>
            <a:r>
              <a:rPr lang="en-US" dirty="0"/>
              <a:t>to represent the main user groups of your product.</a:t>
            </a:r>
          </a:p>
          <a:p>
            <a:endParaRPr lang="en-US" dirty="0"/>
          </a:p>
          <a:p>
            <a:r>
              <a:rPr lang="en-US" dirty="0"/>
              <a:t>It is more important to define the persona in </a:t>
            </a:r>
            <a:r>
              <a:rPr lang="en-US" b="1" dirty="0"/>
              <a:t>great and specific detail</a:t>
            </a:r>
            <a:r>
              <a:rPr lang="en-US" dirty="0"/>
              <a:t>, so that it cannot wiggle under the pressure of development.</a:t>
            </a:r>
          </a:p>
          <a:p>
            <a:endParaRPr lang="en-US" dirty="0"/>
          </a:p>
        </p:txBody>
      </p:sp>
    </p:spTree>
    <p:extLst>
      <p:ext uri="{BB962C8B-B14F-4D97-AF65-F5344CB8AC3E}">
        <p14:creationId xmlns:p14="http://schemas.microsoft.com/office/powerpoint/2010/main" val="42125780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68585-5216-4EC8-A638-FC5F18C1485C}"/>
              </a:ext>
            </a:extLst>
          </p:cNvPr>
          <p:cNvSpPr>
            <a:spLocks noGrp="1"/>
          </p:cNvSpPr>
          <p:nvPr>
            <p:ph type="title"/>
          </p:nvPr>
        </p:nvSpPr>
        <p:spPr/>
        <p:txBody>
          <a:bodyPr/>
          <a:lstStyle/>
          <a:p>
            <a:endParaRPr lang="en-US"/>
          </a:p>
        </p:txBody>
      </p:sp>
      <p:pic>
        <p:nvPicPr>
          <p:cNvPr id="2050" name="Picture 2">
            <a:extLst>
              <a:ext uri="{FF2B5EF4-FFF2-40B4-BE49-F238E27FC236}">
                <a16:creationId xmlns:a16="http://schemas.microsoft.com/office/drawing/2014/main" id="{C98E8153-7841-463F-B237-6660387B041B}"/>
              </a:ext>
            </a:extLst>
          </p:cNvPr>
          <p:cNvPicPr>
            <a:picLocks noGrp="1" noChangeAspect="1" noChangeArrowheads="1"/>
          </p:cNvPicPr>
          <p:nvPr>
            <p:ph idx="1"/>
          </p:nvPr>
        </p:nvPicPr>
        <p:blipFill>
          <a:blip r:embed="rId2" cstate="email">
            <a:extLst>
              <a:ext uri="{28A0092B-C50C-407E-A947-70E740481C1C}">
                <a14:useLocalDpi xmlns:a14="http://schemas.microsoft.com/office/drawing/2010/main"/>
              </a:ext>
            </a:extLst>
          </a:blip>
          <a:srcRect/>
          <a:stretch>
            <a:fillRect/>
          </a:stretch>
        </p:blipFill>
        <p:spPr bwMode="auto">
          <a:xfrm>
            <a:off x="348554" y="238900"/>
            <a:ext cx="11620228" cy="640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99672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result for persona ux">
            <a:extLst>
              <a:ext uri="{FF2B5EF4-FFF2-40B4-BE49-F238E27FC236}">
                <a16:creationId xmlns:a16="http://schemas.microsoft.com/office/drawing/2014/main" id="{BF5962DD-1CA3-45C1-B017-F0E5B9080CD7}"/>
              </a:ext>
            </a:extLst>
          </p:cNvPr>
          <p:cNvPicPr>
            <a:picLocks noGrp="1" noChangeAspect="1" noChangeArrowheads="1"/>
          </p:cNvPicPr>
          <p:nvPr>
            <p:ph idx="1"/>
          </p:nvPr>
        </p:nvPicPr>
        <p:blipFill>
          <a:blip r:embed="rId2" cstate="email">
            <a:extLst>
              <a:ext uri="{28A0092B-C50C-407E-A947-70E740481C1C}">
                <a14:useLocalDpi xmlns:a14="http://schemas.microsoft.com/office/drawing/2010/main"/>
              </a:ext>
            </a:extLst>
          </a:blip>
          <a:srcRect/>
          <a:stretch>
            <a:fillRect/>
          </a:stretch>
        </p:blipFill>
        <p:spPr bwMode="auto">
          <a:xfrm>
            <a:off x="872837" y="190569"/>
            <a:ext cx="10002982" cy="6526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70208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098" name="Picture 2" descr="Image result for persona ux">
            <a:extLst>
              <a:ext uri="{FF2B5EF4-FFF2-40B4-BE49-F238E27FC236}">
                <a16:creationId xmlns:a16="http://schemas.microsoft.com/office/drawing/2014/main" id="{B91D7550-5E3D-4EAF-964D-73E3F324005C}"/>
              </a:ext>
            </a:extLst>
          </p:cNvPr>
          <p:cNvPicPr>
            <a:picLocks noGrp="1" noChangeAspect="1" noChangeArrowheads="1"/>
          </p:cNvPicPr>
          <p:nvPr>
            <p:ph idx="1"/>
          </p:nvPr>
        </p:nvPicPr>
        <p:blipFill>
          <a:blip r:embed="rId2">
            <a:extLst>
              <a:ext uri="{28A0092B-C50C-407E-A947-70E740481C1C}">
                <a14:useLocalDpi xmlns:a14="http://schemas.microsoft.com/office/drawing/2010/main"/>
              </a:ext>
            </a:extLst>
          </a:blip>
          <a:srcRect/>
          <a:stretch>
            <a:fillRect/>
          </a:stretch>
        </p:blipFill>
        <p:spPr bwMode="auto">
          <a:xfrm>
            <a:off x="318657" y="176197"/>
            <a:ext cx="11236036" cy="6527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60690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descr="Image result for persona ux">
            <a:extLst>
              <a:ext uri="{FF2B5EF4-FFF2-40B4-BE49-F238E27FC236}">
                <a16:creationId xmlns:a16="http://schemas.microsoft.com/office/drawing/2014/main" id="{4DDBF3CA-5EF1-459B-A3BC-B6BC928D37AA}"/>
              </a:ext>
            </a:extLst>
          </p:cNvPr>
          <p:cNvPicPr>
            <a:picLocks noGrp="1" noChangeAspect="1" noChangeArrowheads="1"/>
          </p:cNvPicPr>
          <p:nvPr>
            <p:ph idx="1"/>
          </p:nvPr>
        </p:nvPicPr>
        <p:blipFill>
          <a:blip r:embed="rId2" cstate="email">
            <a:extLst>
              <a:ext uri="{28A0092B-C50C-407E-A947-70E740481C1C}">
                <a14:useLocalDpi xmlns:a14="http://schemas.microsoft.com/office/drawing/2010/main"/>
              </a:ext>
            </a:extLst>
          </a:blip>
          <a:srcRect/>
          <a:stretch>
            <a:fillRect/>
          </a:stretch>
        </p:blipFill>
        <p:spPr bwMode="auto">
          <a:xfrm>
            <a:off x="453119" y="166260"/>
            <a:ext cx="11087722" cy="6449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55250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050" name="Picture 2" descr="Image result for persona ux">
            <a:extLst>
              <a:ext uri="{FF2B5EF4-FFF2-40B4-BE49-F238E27FC236}">
                <a16:creationId xmlns:a16="http://schemas.microsoft.com/office/drawing/2014/main" id="{F2E86F93-2493-47B0-A121-5824F0E4A6E1}"/>
              </a:ext>
            </a:extLst>
          </p:cNvPr>
          <p:cNvPicPr>
            <a:picLocks noGrp="1" noChangeAspect="1" noChangeArrowheads="1"/>
          </p:cNvPicPr>
          <p:nvPr>
            <p:ph idx="1"/>
          </p:nvPr>
        </p:nvPicPr>
        <p:blipFill>
          <a:blip r:embed="rId2">
            <a:extLst>
              <a:ext uri="{28A0092B-C50C-407E-A947-70E740481C1C}">
                <a14:useLocalDpi xmlns:a14="http://schemas.microsoft.com/office/drawing/2010/main"/>
              </a:ext>
            </a:extLst>
          </a:blip>
          <a:srcRect/>
          <a:stretch>
            <a:fillRect/>
          </a:stretch>
        </p:blipFill>
        <p:spPr bwMode="auto">
          <a:xfrm>
            <a:off x="152399" y="249384"/>
            <a:ext cx="11887200" cy="6420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565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6200000">
            <a:off x="-609601" y="2971800"/>
            <a:ext cx="5715000" cy="1143000"/>
          </a:xfrm>
        </p:spPr>
        <p:txBody>
          <a:bodyPr>
            <a:normAutofit/>
          </a:bodyPr>
          <a:lstStyle/>
          <a:p>
            <a:r>
              <a:rPr lang="en-GB" dirty="0"/>
              <a:t>An Example Persona</a:t>
            </a:r>
            <a:endParaRPr lang="en-US"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599" y="133350"/>
            <a:ext cx="8755118" cy="659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486376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411162"/>
            <a:ext cx="8610600" cy="731838"/>
          </a:xfrm>
        </p:spPr>
        <p:txBody>
          <a:bodyPr>
            <a:normAutofit/>
          </a:bodyPr>
          <a:lstStyle/>
          <a:p>
            <a:r>
              <a:rPr lang="en-GB" dirty="0"/>
              <a:t>Alexandra Davis’s Persona (contd.) </a:t>
            </a:r>
            <a:endParaRPr lang="en-US" dirty="0"/>
          </a:p>
        </p:txBody>
      </p:sp>
      <p:sp>
        <p:nvSpPr>
          <p:cNvPr id="3" name="Content Placeholder 2"/>
          <p:cNvSpPr>
            <a:spLocks noGrp="1"/>
          </p:cNvSpPr>
          <p:nvPr>
            <p:ph sz="quarter" idx="1"/>
          </p:nvPr>
        </p:nvSpPr>
        <p:spPr>
          <a:xfrm>
            <a:off x="299545" y="1143000"/>
            <a:ext cx="11540358" cy="5562600"/>
          </a:xfrm>
        </p:spPr>
        <p:txBody>
          <a:bodyPr>
            <a:normAutofit fontScale="85000" lnSpcReduction="20000"/>
          </a:bodyPr>
          <a:lstStyle/>
          <a:p>
            <a:pPr marL="0" indent="0">
              <a:buNone/>
            </a:pPr>
            <a:r>
              <a:rPr lang="en-US" dirty="0"/>
              <a:t>She loves the perks she gets working for TravelSmart.com. She is able to travel all over the world with her family at a substantially reduced rate. This is very important to her and she wouldn’t work those kinds of hours without such perks. Alexandra began working as a travel agent right after college. </a:t>
            </a:r>
          </a:p>
          <a:p>
            <a:pPr marL="0" indent="0">
              <a:buNone/>
            </a:pPr>
            <a:r>
              <a:rPr lang="en-US" dirty="0"/>
              <a:t>She has used every system out there and is amazed at how difficult they are to use. Speed is the name of the game. “Clients don’t want to sit on the phone and listen to me typing for five minutes while I look up all the available five-star hotels in Barbados”. I need that information with few keystrokes and all on one screen. Don’t make me page through screen after screen to see the rates for all the hotels.” Alexandra loves helping clients design their dream vacation! She helps to take care of all of their travel needs – including choosing destinations, booking airfares, arranging car rentals, booking hotels, and arranging tickets for attractions. Clients often send Alexandra postcards and pictures from their destinations because they are so grateful for all her help. She appreciates the fact the TravelSmart.com offers clients the opportunity to do it all themselves or to seek out the help of a professional. She feels that travel agents are sorely under-appreciated. “Of course people can make travel reservations on any website today. There are tons of them out there and they all offer pretty much the same deals. But if you don’t know anything about your destination, you could easily pick a bad hotel because their advertising literature is out of date, or you could pay too much because you don’t know what to ask for. Travel agents do so much more than book flights!”</a:t>
            </a:r>
          </a:p>
        </p:txBody>
      </p:sp>
    </p:spTree>
    <p:extLst>
      <p:ext uri="{BB962C8B-B14F-4D97-AF65-F5344CB8AC3E}">
        <p14:creationId xmlns:p14="http://schemas.microsoft.com/office/powerpoint/2010/main" val="5819159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9CF17-2DAB-425C-9BF9-F9400D70B28F}"/>
              </a:ext>
            </a:extLst>
          </p:cNvPr>
          <p:cNvSpPr>
            <a:spLocks noGrp="1"/>
          </p:cNvSpPr>
          <p:nvPr>
            <p:ph type="title"/>
          </p:nvPr>
        </p:nvSpPr>
        <p:spPr/>
        <p:txBody>
          <a:bodyPr/>
          <a:lstStyle/>
          <a:p>
            <a:r>
              <a:rPr lang="en-US" dirty="0"/>
              <a:t>Ingredients of a Persona </a:t>
            </a:r>
          </a:p>
        </p:txBody>
      </p:sp>
      <p:sp>
        <p:nvSpPr>
          <p:cNvPr id="3" name="Content Placeholder 2">
            <a:extLst>
              <a:ext uri="{FF2B5EF4-FFF2-40B4-BE49-F238E27FC236}">
                <a16:creationId xmlns:a16="http://schemas.microsoft.com/office/drawing/2014/main" id="{46FEE9BA-7366-49A8-8D11-A964D8B5238F}"/>
              </a:ext>
            </a:extLst>
          </p:cNvPr>
          <p:cNvSpPr>
            <a:spLocks noGrp="1"/>
          </p:cNvSpPr>
          <p:nvPr>
            <p:ph idx="1"/>
          </p:nvPr>
        </p:nvSpPr>
        <p:spPr>
          <a:xfrm>
            <a:off x="838200" y="1593273"/>
            <a:ext cx="10515600" cy="4583690"/>
          </a:xfrm>
        </p:spPr>
        <p:txBody>
          <a:bodyPr/>
          <a:lstStyle/>
          <a:p>
            <a:r>
              <a:rPr lang="en-US" dirty="0"/>
              <a:t>Personality Description part </a:t>
            </a:r>
          </a:p>
          <a:p>
            <a:pPr lvl="1"/>
            <a:r>
              <a:rPr lang="en-US" dirty="0"/>
              <a:t>Real Picture of a real user </a:t>
            </a:r>
          </a:p>
          <a:p>
            <a:pPr lvl="1"/>
            <a:r>
              <a:rPr lang="en-US" dirty="0"/>
              <a:t>Personal description </a:t>
            </a:r>
          </a:p>
          <a:p>
            <a:pPr lvl="1"/>
            <a:r>
              <a:rPr lang="en-US" dirty="0"/>
              <a:t>Personal goals </a:t>
            </a:r>
          </a:p>
          <a:p>
            <a:endParaRPr lang="en-US" dirty="0"/>
          </a:p>
          <a:p>
            <a:r>
              <a:rPr lang="en-US" dirty="0"/>
              <a:t>Things related to the future System</a:t>
            </a:r>
          </a:p>
          <a:p>
            <a:pPr lvl="1"/>
            <a:r>
              <a:rPr lang="en-US" dirty="0"/>
              <a:t>Goals with the system </a:t>
            </a:r>
          </a:p>
          <a:p>
            <a:pPr lvl="1"/>
            <a:r>
              <a:rPr lang="en-US" dirty="0"/>
              <a:t>Wants / needs from the future system </a:t>
            </a:r>
          </a:p>
          <a:p>
            <a:pPr lvl="1"/>
            <a:r>
              <a:rPr lang="en-US" dirty="0"/>
              <a:t>Irritation / pain points with the current system </a:t>
            </a:r>
          </a:p>
          <a:p>
            <a:pPr lvl="1"/>
            <a:r>
              <a:rPr lang="en-US" dirty="0"/>
              <a:t>Any other usability or functional requirements </a:t>
            </a:r>
          </a:p>
        </p:txBody>
      </p:sp>
    </p:spTree>
    <p:extLst>
      <p:ext uri="{BB962C8B-B14F-4D97-AF65-F5344CB8AC3E}">
        <p14:creationId xmlns:p14="http://schemas.microsoft.com/office/powerpoint/2010/main" val="19183289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3718-B4DE-4054-A79A-6AC8A6D63890}"/>
              </a:ext>
            </a:extLst>
          </p:cNvPr>
          <p:cNvSpPr>
            <a:spLocks noGrp="1"/>
          </p:cNvSpPr>
          <p:nvPr>
            <p:ph type="title"/>
          </p:nvPr>
        </p:nvSpPr>
        <p:spPr/>
        <p:txBody>
          <a:bodyPr/>
          <a:lstStyle/>
          <a:p>
            <a:r>
              <a:rPr lang="en-US" dirty="0"/>
              <a:t>Resources </a:t>
            </a:r>
          </a:p>
        </p:txBody>
      </p:sp>
      <p:sp>
        <p:nvSpPr>
          <p:cNvPr id="3" name="Content Placeholder 2">
            <a:extLst>
              <a:ext uri="{FF2B5EF4-FFF2-40B4-BE49-F238E27FC236}">
                <a16:creationId xmlns:a16="http://schemas.microsoft.com/office/drawing/2014/main" id="{2984BC8D-9864-4E76-A87A-0121AD935AE8}"/>
              </a:ext>
            </a:extLst>
          </p:cNvPr>
          <p:cNvSpPr>
            <a:spLocks noGrp="1"/>
          </p:cNvSpPr>
          <p:nvPr>
            <p:ph idx="1"/>
          </p:nvPr>
        </p:nvSpPr>
        <p:spPr/>
        <p:txBody>
          <a:bodyPr/>
          <a:lstStyle/>
          <a:p>
            <a:r>
              <a:rPr lang="en-US" dirty="0"/>
              <a:t>See “05-Ten Steps to Personas.pdf” on Portal </a:t>
            </a:r>
          </a:p>
          <a:p>
            <a:endParaRPr lang="en-US" dirty="0">
              <a:hlinkClick r:id="rId2"/>
            </a:endParaRPr>
          </a:p>
          <a:p>
            <a:r>
              <a:rPr lang="en-US" dirty="0">
                <a:hlinkClick r:id="rId2"/>
              </a:rPr>
              <a:t>https://careerfoundry.com/en/blog/ux-design/how-to-define-a-user-persona/</a:t>
            </a:r>
            <a:r>
              <a:rPr lang="en-US" dirty="0"/>
              <a:t> </a:t>
            </a:r>
          </a:p>
          <a:p>
            <a:endParaRPr lang="en-US" dirty="0"/>
          </a:p>
          <a:p>
            <a:r>
              <a:rPr lang="en-US" dirty="0">
                <a:hlinkClick r:id="rId3"/>
              </a:rPr>
              <a:t>https://www.smashingmagazine.com/2014/08/a-closer-look-at-personas-part-1/</a:t>
            </a:r>
            <a:r>
              <a:rPr lang="en-US" dirty="0"/>
              <a:t> </a:t>
            </a:r>
          </a:p>
          <a:p>
            <a:endParaRPr lang="en-US" dirty="0"/>
          </a:p>
        </p:txBody>
      </p:sp>
    </p:spTree>
    <p:extLst>
      <p:ext uri="{BB962C8B-B14F-4D97-AF65-F5344CB8AC3E}">
        <p14:creationId xmlns:p14="http://schemas.microsoft.com/office/powerpoint/2010/main" val="23711356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A07DF-E9E4-47BF-A5CC-39CA565CE81E}"/>
              </a:ext>
            </a:extLst>
          </p:cNvPr>
          <p:cNvSpPr>
            <a:spLocks noGrp="1"/>
          </p:cNvSpPr>
          <p:nvPr>
            <p:ph type="title"/>
          </p:nvPr>
        </p:nvSpPr>
        <p:spPr/>
        <p:txBody>
          <a:bodyPr/>
          <a:lstStyle/>
          <a:p>
            <a:r>
              <a:rPr lang="en-US" dirty="0"/>
              <a:t>Scenarios </a:t>
            </a:r>
          </a:p>
        </p:txBody>
      </p:sp>
      <p:sp>
        <p:nvSpPr>
          <p:cNvPr id="3" name="Text Placeholder 2">
            <a:extLst>
              <a:ext uri="{FF2B5EF4-FFF2-40B4-BE49-F238E27FC236}">
                <a16:creationId xmlns:a16="http://schemas.microsoft.com/office/drawing/2014/main" id="{5592B9CC-F950-4D29-9A69-73F3E4CAE8E7}"/>
              </a:ext>
            </a:extLst>
          </p:cNvPr>
          <p:cNvSpPr>
            <a:spLocks noGrp="1"/>
          </p:cNvSpPr>
          <p:nvPr>
            <p:ph type="body" idx="1"/>
          </p:nvPr>
        </p:nvSpPr>
        <p:spPr/>
        <p:txBody>
          <a:bodyPr/>
          <a:lstStyle/>
          <a:p>
            <a:r>
              <a:rPr lang="en-US" dirty="0"/>
              <a:t>Also called user / use / usage scenarios </a:t>
            </a:r>
          </a:p>
        </p:txBody>
      </p:sp>
    </p:spTree>
    <p:extLst>
      <p:ext uri="{BB962C8B-B14F-4D97-AF65-F5344CB8AC3E}">
        <p14:creationId xmlns:p14="http://schemas.microsoft.com/office/powerpoint/2010/main" val="37234145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3E61-87F1-4018-8251-DEFFE215DB9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F6850C-3C78-4B87-A742-1475F01C04B7}"/>
              </a:ext>
            </a:extLst>
          </p:cNvPr>
          <p:cNvSpPr>
            <a:spLocks noGrp="1"/>
          </p:cNvSpPr>
          <p:nvPr>
            <p:ph idx="1"/>
          </p:nvPr>
        </p:nvSpPr>
        <p:spPr/>
        <p:txBody>
          <a:bodyPr>
            <a:normAutofit fontScale="92500"/>
          </a:bodyPr>
          <a:lstStyle/>
          <a:p>
            <a:pPr marL="0" indent="0">
              <a:buNone/>
            </a:pPr>
            <a:r>
              <a:rPr lang="en-US" dirty="0"/>
              <a:t>1 – title (goal), 2 – persona, 3 – background story (situation), </a:t>
            </a:r>
          </a:p>
          <a:p>
            <a:pPr marL="0" indent="0">
              <a:buNone/>
            </a:pPr>
            <a:r>
              <a:rPr lang="en-US" dirty="0"/>
              <a:t>4 – abstract task steps </a:t>
            </a:r>
          </a:p>
          <a:p>
            <a:pPr marL="0" indent="0">
              <a:buNone/>
            </a:pPr>
            <a:endParaRPr lang="en-US" dirty="0"/>
          </a:p>
          <a:p>
            <a:pPr marL="0" indent="0">
              <a:buNone/>
            </a:pPr>
            <a:r>
              <a:rPr lang="en-US" u="sng" dirty="0"/>
              <a:t>Qasim wants to send an email while on the road </a:t>
            </a:r>
          </a:p>
          <a:p>
            <a:pPr marL="0" indent="0">
              <a:buNone/>
            </a:pPr>
            <a:r>
              <a:rPr lang="en-US" dirty="0"/>
              <a:t>Qasim is travelling from his home towards his office. This morning, he already got up late and thus is rushing. He is afraid that he might get late to work. However, at mall road he encounters a serious traffic jam. Its been 15 minutes that he is stuck and not able to move even a few meters. Suddenly, he receives an email notification from his colleague that boss is asking for his whereabouts. He decides to send an email to his boss. </a:t>
            </a:r>
          </a:p>
        </p:txBody>
      </p:sp>
    </p:spTree>
    <p:extLst>
      <p:ext uri="{BB962C8B-B14F-4D97-AF65-F5344CB8AC3E}">
        <p14:creationId xmlns:p14="http://schemas.microsoft.com/office/powerpoint/2010/main" val="1239741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3E61-87F1-4018-8251-DEFFE215DB9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F6850C-3C78-4B87-A742-1475F01C04B7}"/>
              </a:ext>
            </a:extLst>
          </p:cNvPr>
          <p:cNvSpPr>
            <a:spLocks noGrp="1"/>
          </p:cNvSpPr>
          <p:nvPr>
            <p:ph idx="1"/>
          </p:nvPr>
        </p:nvSpPr>
        <p:spPr/>
        <p:txBody>
          <a:bodyPr>
            <a:normAutofit/>
          </a:bodyPr>
          <a:lstStyle/>
          <a:p>
            <a:pPr marL="0" indent="0">
              <a:buNone/>
            </a:pPr>
            <a:r>
              <a:rPr lang="en-US" dirty="0"/>
              <a:t>4 – abstract task steps </a:t>
            </a:r>
          </a:p>
          <a:p>
            <a:pPr marL="0" indent="0">
              <a:buNone/>
            </a:pPr>
            <a:endParaRPr lang="en-US" dirty="0"/>
          </a:p>
          <a:p>
            <a:pPr marL="0" indent="0">
              <a:buNone/>
            </a:pPr>
            <a:r>
              <a:rPr lang="en-US" dirty="0"/>
              <a:t>Qasim starts composing a new email. He explain to his boss about his situation in the traffic jam. He then adds boss’s email address and also adds a CC to the </a:t>
            </a:r>
            <a:r>
              <a:rPr lang="en-US" dirty="0" err="1"/>
              <a:t>hr</a:t>
            </a:r>
            <a:r>
              <a:rPr lang="en-US" dirty="0"/>
              <a:t> manager. He then send </a:t>
            </a:r>
            <a:r>
              <a:rPr lang="en-US"/>
              <a:t>his email. </a:t>
            </a:r>
            <a:endParaRPr lang="en-US" dirty="0"/>
          </a:p>
        </p:txBody>
      </p:sp>
    </p:spTree>
    <p:extLst>
      <p:ext uri="{BB962C8B-B14F-4D97-AF65-F5344CB8AC3E}">
        <p14:creationId xmlns:p14="http://schemas.microsoft.com/office/powerpoint/2010/main" val="41424131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AA3E8-8CC6-406C-A8EA-B4D93A18F50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5D210A9-0327-4948-933E-E1464433CF84}"/>
              </a:ext>
            </a:extLst>
          </p:cNvPr>
          <p:cNvSpPr>
            <a:spLocks noGrp="1"/>
          </p:cNvSpPr>
          <p:nvPr>
            <p:ph idx="1"/>
          </p:nvPr>
        </p:nvSpPr>
        <p:spPr/>
        <p:txBody>
          <a:bodyPr>
            <a:normAutofit lnSpcReduction="10000"/>
          </a:bodyPr>
          <a:lstStyle/>
          <a:p>
            <a:pPr marL="0" indent="0">
              <a:buNone/>
            </a:pPr>
            <a:r>
              <a:rPr lang="en-US" dirty="0"/>
              <a:t>1 – title, 2 – persona’s name, 3 – background story, </a:t>
            </a:r>
          </a:p>
          <a:p>
            <a:pPr marL="0" indent="0">
              <a:buNone/>
            </a:pPr>
            <a:r>
              <a:rPr lang="en-US" dirty="0"/>
              <a:t>4 – abstract Task steps </a:t>
            </a:r>
          </a:p>
          <a:p>
            <a:pPr marL="0" indent="0">
              <a:buNone/>
            </a:pPr>
            <a:endParaRPr lang="en-US" dirty="0"/>
          </a:p>
          <a:p>
            <a:pPr marL="0" indent="0">
              <a:buNone/>
            </a:pPr>
            <a:r>
              <a:rPr lang="en-US" u="sng" dirty="0"/>
              <a:t>Nasir sends an email to his boss </a:t>
            </a:r>
          </a:p>
          <a:p>
            <a:pPr marL="0" indent="0">
              <a:buNone/>
            </a:pPr>
            <a:r>
              <a:rPr lang="en-US" dirty="0"/>
              <a:t>Nasir was on the way to his office when he got stuck into a traffic jam. The traffic jam was very intense, and he spent more than an hour without even moving for a meter. He was afraid of being late from his work. Soon after, he found a new email on his email client from his colleague telling about boss’s arrival. He decided to write an email to his boss explaining the situation …. </a:t>
            </a:r>
          </a:p>
          <a:p>
            <a:pPr marL="0" indent="0">
              <a:buNone/>
            </a:pPr>
            <a:endParaRPr lang="en-US" dirty="0"/>
          </a:p>
        </p:txBody>
      </p:sp>
    </p:spTree>
    <p:extLst>
      <p:ext uri="{BB962C8B-B14F-4D97-AF65-F5344CB8AC3E}">
        <p14:creationId xmlns:p14="http://schemas.microsoft.com/office/powerpoint/2010/main" val="10832532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2E84C-F1A2-493E-8EBC-F50DE1B668C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07B5DD-B97D-4F9F-B9C7-2AF8FCC8D6C5}"/>
              </a:ext>
            </a:extLst>
          </p:cNvPr>
          <p:cNvSpPr>
            <a:spLocks noGrp="1"/>
          </p:cNvSpPr>
          <p:nvPr>
            <p:ph idx="1"/>
          </p:nvPr>
        </p:nvSpPr>
        <p:spPr/>
        <p:txBody>
          <a:bodyPr/>
          <a:lstStyle/>
          <a:p>
            <a:pPr marL="0" indent="0">
              <a:buNone/>
            </a:pPr>
            <a:r>
              <a:rPr lang="en-US" dirty="0"/>
              <a:t>4 – abstract Task steps </a:t>
            </a:r>
          </a:p>
          <a:p>
            <a:pPr marL="0" indent="0">
              <a:buNone/>
            </a:pPr>
            <a:endParaRPr lang="en-US" dirty="0"/>
          </a:p>
          <a:p>
            <a:pPr marL="0" indent="0">
              <a:buNone/>
            </a:pPr>
            <a:endParaRPr lang="en-US" dirty="0"/>
          </a:p>
          <a:p>
            <a:pPr marL="0" indent="0">
              <a:buNone/>
            </a:pPr>
            <a:r>
              <a:rPr lang="en-US" dirty="0"/>
              <a:t>Nasir starts a new email. He adds his boss as the recipient and adds HR department head into CC list. He then writes an appropriate subject explaining that he might get late, and writes email body detailing his current situation. </a:t>
            </a:r>
          </a:p>
        </p:txBody>
      </p:sp>
    </p:spTree>
    <p:extLst>
      <p:ext uri="{BB962C8B-B14F-4D97-AF65-F5344CB8AC3E}">
        <p14:creationId xmlns:p14="http://schemas.microsoft.com/office/powerpoint/2010/main" val="30905497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9F9D2076-CF01-402E-9375-26FBC160534D}"/>
              </a:ext>
            </a:extLst>
          </p:cNvPr>
          <p:cNvPicPr>
            <a:picLocks noGrp="1" noChangeAspect="1" noChangeArrowheads="1"/>
          </p:cNvPicPr>
          <p:nvPr>
            <p:ph idx="1"/>
          </p:nvPr>
        </p:nvPicPr>
        <p:blipFill>
          <a:blip r:embed="rId2">
            <a:extLst>
              <a:ext uri="{28A0092B-C50C-407E-A947-70E740481C1C}">
                <a14:useLocalDpi xmlns:a14="http://schemas.microsoft.com/office/drawing/2010/main"/>
              </a:ext>
            </a:extLst>
          </a:blip>
          <a:srcRect/>
          <a:stretch>
            <a:fillRect/>
          </a:stretch>
        </p:blipFill>
        <p:spPr bwMode="auto">
          <a:xfrm>
            <a:off x="3578776" y="234757"/>
            <a:ext cx="8557908" cy="6388486"/>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E7EA8C99-84FC-4CE9-B19A-96751107C79B}"/>
              </a:ext>
            </a:extLst>
          </p:cNvPr>
          <p:cNvSpPr txBox="1">
            <a:spLocks/>
          </p:cNvSpPr>
          <p:nvPr/>
        </p:nvSpPr>
        <p:spPr>
          <a:xfrm>
            <a:off x="838200" y="567559"/>
            <a:ext cx="3008586"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400" dirty="0"/>
              <a:t>User Scenario </a:t>
            </a:r>
          </a:p>
          <a:p>
            <a:pPr marL="0" indent="0">
              <a:buNone/>
            </a:pPr>
            <a:r>
              <a:rPr lang="en-US" sz="2400" dirty="0"/>
              <a:t>A precise description of a persona using an interface to achieve a goal</a:t>
            </a:r>
          </a:p>
          <a:p>
            <a:pPr marL="0" indent="0">
              <a:buNone/>
            </a:pPr>
            <a:endParaRPr lang="en-US" dirty="0"/>
          </a:p>
        </p:txBody>
      </p:sp>
    </p:spTree>
    <p:extLst>
      <p:ext uri="{BB962C8B-B14F-4D97-AF65-F5344CB8AC3E}">
        <p14:creationId xmlns:p14="http://schemas.microsoft.com/office/powerpoint/2010/main" val="25676301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Scenarios </a:t>
            </a:r>
          </a:p>
        </p:txBody>
      </p:sp>
      <p:sp>
        <p:nvSpPr>
          <p:cNvPr id="3" name="Content Placeholder 2"/>
          <p:cNvSpPr>
            <a:spLocks noGrp="1"/>
          </p:cNvSpPr>
          <p:nvPr>
            <p:ph sz="quarter" idx="1"/>
          </p:nvPr>
        </p:nvSpPr>
        <p:spPr/>
        <p:txBody>
          <a:bodyPr>
            <a:normAutofit lnSpcReduction="10000"/>
          </a:bodyPr>
          <a:lstStyle/>
          <a:p>
            <a:r>
              <a:rPr lang="en-US" dirty="0"/>
              <a:t>Scenarios normally include descriptions about: </a:t>
            </a:r>
          </a:p>
          <a:p>
            <a:pPr lvl="1"/>
            <a:r>
              <a:rPr lang="en-US" dirty="0"/>
              <a:t>The individual user (i.e., the persona)</a:t>
            </a:r>
          </a:p>
          <a:p>
            <a:pPr lvl="1"/>
            <a:r>
              <a:rPr lang="en-US" dirty="0"/>
              <a:t>The task or situation </a:t>
            </a:r>
          </a:p>
          <a:p>
            <a:pPr lvl="1"/>
            <a:r>
              <a:rPr lang="en-US" dirty="0"/>
              <a:t>The user’s desired outcome/goal for that task </a:t>
            </a:r>
          </a:p>
          <a:p>
            <a:pPr lvl="1"/>
            <a:r>
              <a:rPr lang="en-US" dirty="0"/>
              <a:t>Procedure and task flow information </a:t>
            </a:r>
          </a:p>
          <a:p>
            <a:pPr lvl="1"/>
            <a:r>
              <a:rPr lang="en-US" dirty="0"/>
              <a:t>A time interval </a:t>
            </a:r>
          </a:p>
          <a:p>
            <a:pPr lvl="1"/>
            <a:r>
              <a:rPr lang="en-US" dirty="0"/>
              <a:t>Envisioned features/functionality the user will need/use. </a:t>
            </a:r>
          </a:p>
          <a:p>
            <a:endParaRPr lang="en-US" dirty="0"/>
          </a:p>
          <a:p>
            <a:r>
              <a:rPr lang="en-US" dirty="0"/>
              <a:t>Success and/or failure scenarios </a:t>
            </a:r>
          </a:p>
          <a:p>
            <a:pPr lvl="1"/>
            <a:r>
              <a:rPr lang="en-US" dirty="0"/>
              <a:t>You may also want to include exceptions. What are some of the rare events that happen? </a:t>
            </a:r>
          </a:p>
        </p:txBody>
      </p:sp>
    </p:spTree>
    <p:extLst>
      <p:ext uri="{BB962C8B-B14F-4D97-AF65-F5344CB8AC3E}">
        <p14:creationId xmlns:p14="http://schemas.microsoft.com/office/powerpoint/2010/main" val="922275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FAC1F-45A4-4F1F-842C-3D1311F6F798}"/>
              </a:ext>
            </a:extLst>
          </p:cNvPr>
          <p:cNvSpPr>
            <a:spLocks noGrp="1"/>
          </p:cNvSpPr>
          <p:nvPr>
            <p:ph type="title"/>
          </p:nvPr>
        </p:nvSpPr>
        <p:spPr/>
        <p:txBody>
          <a:bodyPr/>
          <a:lstStyle/>
          <a:p>
            <a:r>
              <a:rPr lang="en-US" dirty="0"/>
              <a:t>Ingredient of a Scenario </a:t>
            </a:r>
          </a:p>
        </p:txBody>
      </p:sp>
      <p:sp>
        <p:nvSpPr>
          <p:cNvPr id="3" name="Content Placeholder 2">
            <a:extLst>
              <a:ext uri="{FF2B5EF4-FFF2-40B4-BE49-F238E27FC236}">
                <a16:creationId xmlns:a16="http://schemas.microsoft.com/office/drawing/2014/main" id="{B95AEB27-554A-454A-8227-23AFA5E92EBA}"/>
              </a:ext>
            </a:extLst>
          </p:cNvPr>
          <p:cNvSpPr>
            <a:spLocks noGrp="1"/>
          </p:cNvSpPr>
          <p:nvPr>
            <p:ph idx="1"/>
          </p:nvPr>
        </p:nvSpPr>
        <p:spPr/>
        <p:txBody>
          <a:bodyPr>
            <a:normAutofit lnSpcReduction="10000"/>
          </a:bodyPr>
          <a:lstStyle/>
          <a:p>
            <a:pPr marL="971550" lvl="1" indent="-514350">
              <a:buFont typeface="+mj-lt"/>
              <a:buAutoNum type="arabicPeriod"/>
            </a:pPr>
            <a:r>
              <a:rPr lang="en-US" dirty="0"/>
              <a:t>Title of the scenario </a:t>
            </a:r>
          </a:p>
          <a:p>
            <a:pPr marL="971550" lvl="1" indent="-514350">
              <a:buFont typeface="+mj-lt"/>
              <a:buAutoNum type="arabicPeriod"/>
            </a:pPr>
            <a:endParaRPr lang="en-US" dirty="0"/>
          </a:p>
          <a:p>
            <a:pPr marL="971550" lvl="1" indent="-514350">
              <a:buFont typeface="+mj-lt"/>
              <a:buAutoNum type="arabicPeriod"/>
            </a:pPr>
            <a:r>
              <a:rPr lang="en-US" dirty="0"/>
              <a:t>Background story </a:t>
            </a:r>
          </a:p>
          <a:p>
            <a:pPr marL="971550" lvl="1" indent="-514350">
              <a:buFont typeface="+mj-lt"/>
              <a:buAutoNum type="arabicPeriod"/>
            </a:pPr>
            <a:endParaRPr lang="en-US" dirty="0"/>
          </a:p>
          <a:p>
            <a:pPr marL="971550" lvl="1" indent="-514350">
              <a:buFont typeface="+mj-lt"/>
              <a:buAutoNum type="arabicPeriod"/>
            </a:pPr>
            <a:r>
              <a:rPr lang="en-US" dirty="0"/>
              <a:t>Goal of the user </a:t>
            </a:r>
          </a:p>
          <a:p>
            <a:pPr marL="971550" lvl="1" indent="-514350">
              <a:buFont typeface="+mj-lt"/>
              <a:buAutoNum type="arabicPeriod"/>
            </a:pPr>
            <a:endParaRPr lang="en-US" dirty="0"/>
          </a:p>
          <a:p>
            <a:pPr marL="971550" lvl="1" indent="-514350">
              <a:buFont typeface="+mj-lt"/>
              <a:buAutoNum type="arabicPeriod"/>
            </a:pPr>
            <a:r>
              <a:rPr lang="en-US" dirty="0"/>
              <a:t>Abstract steps to achieve the task </a:t>
            </a:r>
          </a:p>
          <a:p>
            <a:endParaRPr lang="en-US" dirty="0"/>
          </a:p>
          <a:p>
            <a:r>
              <a:rPr lang="en-US" dirty="0"/>
              <a:t>All of the above written in a story format</a:t>
            </a:r>
          </a:p>
          <a:p>
            <a:r>
              <a:rPr lang="en-US" dirty="0"/>
              <a:t>Also, do not forget to use a particular persona’s name, instead of he/she </a:t>
            </a:r>
          </a:p>
        </p:txBody>
      </p:sp>
    </p:spTree>
    <p:extLst>
      <p:ext uri="{BB962C8B-B14F-4D97-AF65-F5344CB8AC3E}">
        <p14:creationId xmlns:p14="http://schemas.microsoft.com/office/powerpoint/2010/main" val="13738759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Sally plans her vacation </a:t>
            </a:r>
          </a:p>
        </p:txBody>
      </p:sp>
      <p:sp>
        <p:nvSpPr>
          <p:cNvPr id="3" name="Content Placeholder 2"/>
          <p:cNvSpPr>
            <a:spLocks noGrp="1"/>
          </p:cNvSpPr>
          <p:nvPr>
            <p:ph sz="quarter" idx="1"/>
          </p:nvPr>
        </p:nvSpPr>
        <p:spPr>
          <a:xfrm>
            <a:off x="838199" y="1447800"/>
            <a:ext cx="10910455" cy="5181600"/>
          </a:xfrm>
        </p:spPr>
        <p:txBody>
          <a:bodyPr>
            <a:normAutofit/>
          </a:bodyPr>
          <a:lstStyle/>
          <a:p>
            <a:pPr marL="0" indent="0" algn="just">
              <a:buNone/>
            </a:pPr>
            <a:r>
              <a:rPr lang="en-US" dirty="0"/>
              <a:t>Summer vacation are already started in schools. Sally needs to plan a vacation for her family. She decides to hop on TravelSmart.com and do both the research and reservations there. She begins by researching the top family-friendly destinations as recommended by TravelSmart.com customers. She wants to compare the travel time, travel costs, hotel costs, hotel availability, and amusement activities for each destination. For each of those criteria, Sally gave a weighting to help her make her decision. She finally settled on the destination that required the least travel time, cheapest travel costs, moderate hotel costs, good availability, and a large selection of activities for the whole family. From that spot, Sally begins searching for the flights and hotels that meet her criteria. She decides to save those results for later because she wants to be sure the whole family is in agreement before she makes the reservations with her credit card.</a:t>
            </a:r>
          </a:p>
        </p:txBody>
      </p:sp>
    </p:spTree>
    <p:extLst>
      <p:ext uri="{BB962C8B-B14F-4D97-AF65-F5344CB8AC3E}">
        <p14:creationId xmlns:p14="http://schemas.microsoft.com/office/powerpoint/2010/main" val="32560636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CDA89-69A7-4CB0-9B70-7C0043312D7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9B03B29-2E6A-4F19-BD0B-DA2028136C45}"/>
              </a:ext>
            </a:extLst>
          </p:cNvPr>
          <p:cNvSpPr>
            <a:spLocks noGrp="1"/>
          </p:cNvSpPr>
          <p:nvPr>
            <p:ph idx="1"/>
          </p:nvPr>
        </p:nvSpPr>
        <p:spPr/>
        <p:txBody>
          <a:bodyPr vert="horz" lIns="91440" tIns="45720" rIns="91440" bIns="45720" rtlCol="0" anchor="t">
            <a:normAutofit/>
          </a:bodyPr>
          <a:lstStyle/>
          <a:p>
            <a:pPr marL="0" indent="0" algn="just">
              <a:buNone/>
            </a:pPr>
            <a:r>
              <a:rPr lang="en-US" dirty="0">
                <a:ea typeface="+mn-lt"/>
                <a:cs typeface="+mn-lt"/>
              </a:rPr>
              <a:t>Miss </a:t>
            </a:r>
            <a:r>
              <a:rPr lang="en-US" dirty="0" err="1">
                <a:ea typeface="+mn-lt"/>
                <a:cs typeface="+mn-lt"/>
              </a:rPr>
              <a:t>Roohi</a:t>
            </a:r>
            <a:r>
              <a:rPr lang="en-US" dirty="0">
                <a:ea typeface="+mn-lt"/>
                <a:cs typeface="+mn-lt"/>
              </a:rPr>
              <a:t> teaches grade two Mathematics. She plans to take a pop-up quiz in her class. There are total 31 students in her class. She calls three students randomly by their serial numbers, write three problems on the board, and assign one problem to each of them. Each student solves the assigned problem which she then evaluates. After this she calls the next batch of students and repeats the same process with them. All students are called only once. To be fair in her selection she uses the ‘Number’ feature of the RNG application where she sets the range from 1 to 31, turns on the </a:t>
            </a:r>
            <a:r>
              <a:rPr lang="en-US" i="1" dirty="0">
                <a:ea typeface="+mn-lt"/>
                <a:cs typeface="+mn-lt"/>
              </a:rPr>
              <a:t>no repeat</a:t>
            </a:r>
            <a:r>
              <a:rPr lang="en-US" dirty="0">
                <a:ea typeface="+mn-lt"/>
                <a:cs typeface="+mn-lt"/>
              </a:rPr>
              <a:t>, sets the </a:t>
            </a:r>
            <a:r>
              <a:rPr lang="en-US" i="1" dirty="0">
                <a:ea typeface="+mn-lt"/>
                <a:cs typeface="+mn-lt"/>
              </a:rPr>
              <a:t>quantity</a:t>
            </a:r>
            <a:r>
              <a:rPr lang="en-US" dirty="0">
                <a:ea typeface="+mn-lt"/>
                <a:cs typeface="+mn-lt"/>
              </a:rPr>
              <a:t> to 3, and turns off the sound effect.</a:t>
            </a:r>
            <a:endParaRPr lang="en-US" dirty="0">
              <a:cs typeface="Calibri" panose="020F0502020204030204"/>
            </a:endParaRPr>
          </a:p>
        </p:txBody>
      </p:sp>
    </p:spTree>
    <p:extLst>
      <p:ext uri="{BB962C8B-B14F-4D97-AF65-F5344CB8AC3E}">
        <p14:creationId xmlns:p14="http://schemas.microsoft.com/office/powerpoint/2010/main" val="19827001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Image result for scenario ux">
            <a:extLst>
              <a:ext uri="{FF2B5EF4-FFF2-40B4-BE49-F238E27FC236}">
                <a16:creationId xmlns:a16="http://schemas.microsoft.com/office/drawing/2014/main" id="{1AD970A7-62D5-49F2-9E1E-2EC4CD912ED8}"/>
              </a:ext>
            </a:extLst>
          </p:cNvPr>
          <p:cNvPicPr>
            <a:picLocks noGrp="1" noChangeAspect="1" noChangeArrowheads="1"/>
          </p:cNvPicPr>
          <p:nvPr>
            <p:ph idx="1"/>
          </p:nvPr>
        </p:nvPicPr>
        <p:blipFill>
          <a:blip r:embed="rId2" cstate="email">
            <a:extLst>
              <a:ext uri="{28A0092B-C50C-407E-A947-70E740481C1C}">
                <a14:useLocalDpi xmlns:a14="http://schemas.microsoft.com/office/drawing/2010/main"/>
              </a:ext>
            </a:extLst>
          </a:blip>
          <a:srcRect/>
          <a:stretch>
            <a:fillRect/>
          </a:stretch>
        </p:blipFill>
        <p:spPr bwMode="auto">
          <a:xfrm>
            <a:off x="441435" y="161614"/>
            <a:ext cx="11130456" cy="6522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60485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D5718-8F25-4DDC-B26A-D2D153A85EB8}"/>
              </a:ext>
            </a:extLst>
          </p:cNvPr>
          <p:cNvSpPr>
            <a:spLocks noGrp="1"/>
          </p:cNvSpPr>
          <p:nvPr>
            <p:ph type="title"/>
          </p:nvPr>
        </p:nvSpPr>
        <p:spPr/>
        <p:txBody>
          <a:bodyPr/>
          <a:lstStyle/>
          <a:p>
            <a:r>
              <a:rPr lang="en-US" dirty="0"/>
              <a:t>Resources </a:t>
            </a:r>
          </a:p>
        </p:txBody>
      </p:sp>
      <p:sp>
        <p:nvSpPr>
          <p:cNvPr id="3" name="Content Placeholder 2">
            <a:extLst>
              <a:ext uri="{FF2B5EF4-FFF2-40B4-BE49-F238E27FC236}">
                <a16:creationId xmlns:a16="http://schemas.microsoft.com/office/drawing/2014/main" id="{542A04FC-24AC-4524-8580-72872EB1795C}"/>
              </a:ext>
            </a:extLst>
          </p:cNvPr>
          <p:cNvSpPr>
            <a:spLocks noGrp="1"/>
          </p:cNvSpPr>
          <p:nvPr>
            <p:ph idx="1"/>
          </p:nvPr>
        </p:nvSpPr>
        <p:spPr/>
        <p:txBody>
          <a:bodyPr/>
          <a:lstStyle/>
          <a:p>
            <a:r>
              <a:rPr lang="en-US" dirty="0">
                <a:hlinkClick r:id="rId2"/>
              </a:rPr>
              <a:t>https://uxdesign.cc/asking-the-right-questions-on-user-research-interviews-and-testing-427261742a67</a:t>
            </a:r>
            <a:r>
              <a:rPr lang="en-US" dirty="0"/>
              <a:t> </a:t>
            </a:r>
            <a:endParaRPr lang="en-US" dirty="0">
              <a:hlinkClick r:id="rId3"/>
            </a:endParaRPr>
          </a:p>
          <a:p>
            <a:endParaRPr lang="en-US" dirty="0">
              <a:hlinkClick r:id="rId3"/>
            </a:endParaRPr>
          </a:p>
          <a:p>
            <a:r>
              <a:rPr lang="en-US" dirty="0">
                <a:hlinkClick r:id="rId3"/>
              </a:rPr>
              <a:t>https://medium.com/interactive-mind/5-steps-to-create-good-user-interview-questions-by-metacole-a-comprehensive-guide-8a591b0e2162</a:t>
            </a:r>
            <a:r>
              <a:rPr lang="en-US" dirty="0"/>
              <a:t> </a:t>
            </a:r>
          </a:p>
          <a:p>
            <a:endParaRPr lang="en-US" dirty="0"/>
          </a:p>
          <a:p>
            <a:r>
              <a:rPr lang="en-US" dirty="0">
                <a:hlinkClick r:id="rId4"/>
              </a:rPr>
              <a:t>https://medium.com/user-research/never-ask-what-they-want-3-better-questions-to-ask-in-user-interviews-aeddd2a2101e</a:t>
            </a:r>
            <a:r>
              <a:rPr lang="en-US" dirty="0"/>
              <a:t> </a:t>
            </a:r>
          </a:p>
          <a:p>
            <a:endParaRPr lang="en-US" dirty="0"/>
          </a:p>
          <a:p>
            <a:endParaRPr lang="en-US" dirty="0"/>
          </a:p>
        </p:txBody>
      </p:sp>
    </p:spTree>
    <p:extLst>
      <p:ext uri="{BB962C8B-B14F-4D97-AF65-F5344CB8AC3E}">
        <p14:creationId xmlns:p14="http://schemas.microsoft.com/office/powerpoint/2010/main" val="14685616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82FEB-48B2-4947-9D3F-92B2B5C874F0}"/>
              </a:ext>
            </a:extLst>
          </p:cNvPr>
          <p:cNvSpPr>
            <a:spLocks noGrp="1"/>
          </p:cNvSpPr>
          <p:nvPr>
            <p:ph type="title"/>
          </p:nvPr>
        </p:nvSpPr>
        <p:spPr/>
        <p:txBody>
          <a:bodyPr/>
          <a:lstStyle/>
          <a:p>
            <a:r>
              <a:rPr lang="en-US" dirty="0"/>
              <a:t>Submit your first report </a:t>
            </a:r>
          </a:p>
        </p:txBody>
      </p:sp>
      <p:sp>
        <p:nvSpPr>
          <p:cNvPr id="3" name="Text Placeholder 2">
            <a:extLst>
              <a:ext uri="{FF2B5EF4-FFF2-40B4-BE49-F238E27FC236}">
                <a16:creationId xmlns:a16="http://schemas.microsoft.com/office/drawing/2014/main" id="{BDB4EF77-F6A0-4A15-8F75-F1D8A53F6359}"/>
              </a:ext>
            </a:extLst>
          </p:cNvPr>
          <p:cNvSpPr>
            <a:spLocks noGrp="1"/>
          </p:cNvSpPr>
          <p:nvPr>
            <p:ph type="body" idx="1"/>
          </p:nvPr>
        </p:nvSpPr>
        <p:spPr/>
        <p:txBody>
          <a:bodyPr/>
          <a:lstStyle/>
          <a:p>
            <a:r>
              <a:rPr lang="en-US" dirty="0"/>
              <a:t>Project Deliverable 1 (PD1) </a:t>
            </a:r>
          </a:p>
        </p:txBody>
      </p:sp>
    </p:spTree>
    <p:extLst>
      <p:ext uri="{BB962C8B-B14F-4D97-AF65-F5344CB8AC3E}">
        <p14:creationId xmlns:p14="http://schemas.microsoft.com/office/powerpoint/2010/main" val="23833908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14725-B73E-4339-83FA-D0005373A32B}"/>
              </a:ext>
            </a:extLst>
          </p:cNvPr>
          <p:cNvSpPr>
            <a:spLocks noGrp="1"/>
          </p:cNvSpPr>
          <p:nvPr>
            <p:ph type="title"/>
          </p:nvPr>
        </p:nvSpPr>
        <p:spPr/>
        <p:txBody>
          <a:bodyPr/>
          <a:lstStyle/>
          <a:p>
            <a:r>
              <a:rPr lang="en-US" dirty="0"/>
              <a:t>Project Deliverable 1 (PD1) </a:t>
            </a:r>
          </a:p>
        </p:txBody>
      </p:sp>
      <p:sp>
        <p:nvSpPr>
          <p:cNvPr id="3" name="Content Placeholder 2">
            <a:extLst>
              <a:ext uri="{FF2B5EF4-FFF2-40B4-BE49-F238E27FC236}">
                <a16:creationId xmlns:a16="http://schemas.microsoft.com/office/drawing/2014/main" id="{F2DD6521-772B-42C0-8178-E0FC934C10A6}"/>
              </a:ext>
            </a:extLst>
          </p:cNvPr>
          <p:cNvSpPr>
            <a:spLocks noGrp="1"/>
          </p:cNvSpPr>
          <p:nvPr>
            <p:ph idx="1"/>
          </p:nvPr>
        </p:nvSpPr>
        <p:spPr/>
        <p:txBody>
          <a:bodyPr/>
          <a:lstStyle/>
          <a:p>
            <a:r>
              <a:rPr lang="en-US" dirty="0">
                <a:solidFill>
                  <a:srgbClr val="FF0000"/>
                </a:solidFill>
              </a:rPr>
              <a:t>Please put details here </a:t>
            </a:r>
          </a:p>
          <a:p>
            <a:endParaRPr lang="en-US" dirty="0"/>
          </a:p>
        </p:txBody>
      </p:sp>
    </p:spTree>
    <p:extLst>
      <p:ext uri="{BB962C8B-B14F-4D97-AF65-F5344CB8AC3E}">
        <p14:creationId xmlns:p14="http://schemas.microsoft.com/office/powerpoint/2010/main" val="18050744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27208</TotalTime>
  <Words>1842</Words>
  <Application>Microsoft Office PowerPoint</Application>
  <PresentationFormat>Widescreen</PresentationFormat>
  <Paragraphs>198</Paragraphs>
  <Slides>48</Slides>
  <Notes>1</Notes>
  <HiddenSlides>4</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Arial</vt:lpstr>
      <vt:lpstr>Calibri</vt:lpstr>
      <vt:lpstr>Calibri Light</vt:lpstr>
      <vt:lpstr>Office Theme</vt:lpstr>
      <vt:lpstr>Needfinding  </vt:lpstr>
      <vt:lpstr>Know Thy Users </vt:lpstr>
      <vt:lpstr>Preliminary Research and Analysis  </vt:lpstr>
      <vt:lpstr>PowerPoint Presentation</vt:lpstr>
      <vt:lpstr>PowerPoint Presentation</vt:lpstr>
      <vt:lpstr>Preliminary Target Market Analysis </vt:lpstr>
      <vt:lpstr>Preliminary Target Market Analysis </vt:lpstr>
      <vt:lpstr>User Classification </vt:lpstr>
      <vt:lpstr>Primary/Secondary Users </vt:lpstr>
      <vt:lpstr>Resources </vt:lpstr>
      <vt:lpstr>User Research </vt:lpstr>
      <vt:lpstr>Requirement Elicitation Problem </vt:lpstr>
      <vt:lpstr>PowerPoint Presentation</vt:lpstr>
      <vt:lpstr>PowerPoint Presentation</vt:lpstr>
      <vt:lpstr>Ethnography (Observation + Intensive Interview) </vt:lpstr>
      <vt:lpstr>PowerPoint Presentation</vt:lpstr>
      <vt:lpstr>Recruiting Criteria </vt:lpstr>
      <vt:lpstr>Assignments </vt:lpstr>
      <vt:lpstr>Resources </vt:lpstr>
      <vt:lpstr>User Modelling </vt:lpstr>
      <vt:lpstr>PowerPoint Presentation</vt:lpstr>
      <vt:lpstr>Class Profile: Travel Agent (Primary) </vt:lpstr>
      <vt:lpstr>Personae </vt:lpstr>
      <vt:lpstr>Personas </vt:lpstr>
      <vt:lpstr>The Persona </vt:lpstr>
      <vt:lpstr>PowerPoint Presentation</vt:lpstr>
      <vt:lpstr>PowerPoint Presentation</vt:lpstr>
      <vt:lpstr>PowerPoint Presentation</vt:lpstr>
      <vt:lpstr>PowerPoint Presentation</vt:lpstr>
      <vt:lpstr>PowerPoint Presentation</vt:lpstr>
      <vt:lpstr>An Example Persona</vt:lpstr>
      <vt:lpstr>Alexandra Davis’s Persona (contd.) </vt:lpstr>
      <vt:lpstr>Ingredients of a Persona </vt:lpstr>
      <vt:lpstr>Resources </vt:lpstr>
      <vt:lpstr>Scenarios </vt:lpstr>
      <vt:lpstr>PowerPoint Presentation</vt:lpstr>
      <vt:lpstr>PowerPoint Presentation</vt:lpstr>
      <vt:lpstr>PowerPoint Presentation</vt:lpstr>
      <vt:lpstr>PowerPoint Presentation</vt:lpstr>
      <vt:lpstr>PowerPoint Presentation</vt:lpstr>
      <vt:lpstr>Creating Scenarios </vt:lpstr>
      <vt:lpstr>Ingredient of a Scenario </vt:lpstr>
      <vt:lpstr>Sally plans her vacation </vt:lpstr>
      <vt:lpstr>PowerPoint Presentation</vt:lpstr>
      <vt:lpstr>PowerPoint Presentation</vt:lpstr>
      <vt:lpstr>Resources </vt:lpstr>
      <vt:lpstr>Submit your first report </vt:lpstr>
      <vt:lpstr>Project Deliverable 1 (PD1)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Ethnography</dc:title>
  <cp:lastModifiedBy>Misbhah Naz</cp:lastModifiedBy>
  <cp:revision>468</cp:revision>
  <dcterms:created xsi:type="dcterms:W3CDTF">2019-09-26T19:35:35Z</dcterms:created>
  <dcterms:modified xsi:type="dcterms:W3CDTF">2025-03-05T05:30:31Z</dcterms:modified>
</cp:coreProperties>
</file>