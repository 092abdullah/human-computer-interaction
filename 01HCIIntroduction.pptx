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1"/>
  </p:sldMasterIdLst>
  <p:notesMasterIdLst>
    <p:notesMasterId r:id="rId52"/>
  </p:notesMasterIdLst>
  <p:sldIdLst>
    <p:sldId id="404" r:id="rId2"/>
    <p:sldId id="572" r:id="rId3"/>
    <p:sldId id="518" r:id="rId4"/>
    <p:sldId id="521" r:id="rId5"/>
    <p:sldId id="456" r:id="rId6"/>
    <p:sldId id="542" r:id="rId7"/>
    <p:sldId id="459" r:id="rId8"/>
    <p:sldId id="411" r:id="rId9"/>
    <p:sldId id="557" r:id="rId10"/>
    <p:sldId id="558" r:id="rId11"/>
    <p:sldId id="568" r:id="rId12"/>
    <p:sldId id="413" r:id="rId13"/>
    <p:sldId id="488" r:id="rId14"/>
    <p:sldId id="495" r:id="rId15"/>
    <p:sldId id="496" r:id="rId16"/>
    <p:sldId id="499" r:id="rId17"/>
    <p:sldId id="544" r:id="rId18"/>
    <p:sldId id="546" r:id="rId19"/>
    <p:sldId id="545" r:id="rId20"/>
    <p:sldId id="548" r:id="rId21"/>
    <p:sldId id="549" r:id="rId22"/>
    <p:sldId id="550" r:id="rId23"/>
    <p:sldId id="551" r:id="rId24"/>
    <p:sldId id="552" r:id="rId25"/>
    <p:sldId id="569" r:id="rId26"/>
    <p:sldId id="553" r:id="rId27"/>
    <p:sldId id="505" r:id="rId28"/>
    <p:sldId id="570" r:id="rId29"/>
    <p:sldId id="571" r:id="rId30"/>
    <p:sldId id="560" r:id="rId31"/>
    <p:sldId id="561" r:id="rId32"/>
    <p:sldId id="562" r:id="rId33"/>
    <p:sldId id="565" r:id="rId34"/>
    <p:sldId id="574" r:id="rId35"/>
    <p:sldId id="573" r:id="rId36"/>
    <p:sldId id="563" r:id="rId37"/>
    <p:sldId id="564" r:id="rId38"/>
    <p:sldId id="566" r:id="rId39"/>
    <p:sldId id="567" r:id="rId40"/>
    <p:sldId id="522" r:id="rId41"/>
    <p:sldId id="556" r:id="rId42"/>
    <p:sldId id="537" r:id="rId43"/>
    <p:sldId id="555" r:id="rId44"/>
    <p:sldId id="536" r:id="rId45"/>
    <p:sldId id="519" r:id="rId46"/>
    <p:sldId id="514" r:id="rId47"/>
    <p:sldId id="515" r:id="rId48"/>
    <p:sldId id="516" r:id="rId49"/>
    <p:sldId id="517" r:id="rId50"/>
    <p:sldId id="525"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B8F76A-1FEE-70C0-2E14-E780E4CB9C1D}" v="3" dt="2020-10-15T05:52:36.2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510" autoAdjust="0"/>
  </p:normalViewPr>
  <p:slideViewPr>
    <p:cSldViewPr>
      <p:cViewPr varScale="1">
        <p:scale>
          <a:sx n="74" d="100"/>
          <a:sy n="74" d="100"/>
        </p:scale>
        <p:origin x="171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daf Baloch" userId="S::sadaf.baloch@ucp.edu.pk::2cdfe0ab-03ea-46b2-8263-c67d3be957cb" providerId="AD" clId="Web-{1AB8F76A-1FEE-70C0-2E14-E780E4CB9C1D}"/>
    <pc:docChg chg="modSld">
      <pc:chgData name="Sadaf Baloch" userId="S::sadaf.baloch@ucp.edu.pk::2cdfe0ab-03ea-46b2-8263-c67d3be957cb" providerId="AD" clId="Web-{1AB8F76A-1FEE-70C0-2E14-E780E4CB9C1D}" dt="2020-10-15T05:52:36.269" v="2"/>
      <pc:docMkLst>
        <pc:docMk/>
      </pc:docMkLst>
      <pc:sldChg chg="mod modShow">
        <pc:chgData name="Sadaf Baloch" userId="S::sadaf.baloch@ucp.edu.pk::2cdfe0ab-03ea-46b2-8263-c67d3be957cb" providerId="AD" clId="Web-{1AB8F76A-1FEE-70C0-2E14-E780E4CB9C1D}" dt="2020-10-15T05:52:11.175" v="1"/>
        <pc:sldMkLst>
          <pc:docMk/>
          <pc:sldMk cId="1428046726" sldId="552"/>
        </pc:sldMkLst>
      </pc:sldChg>
      <pc:sldChg chg="mod modShow">
        <pc:chgData name="Sadaf Baloch" userId="S::sadaf.baloch@ucp.edu.pk::2cdfe0ab-03ea-46b2-8263-c67d3be957cb" providerId="AD" clId="Web-{1AB8F76A-1FEE-70C0-2E14-E780E4CB9C1D}" dt="2020-10-15T05:40:02.314" v="0"/>
        <pc:sldMkLst>
          <pc:docMk/>
          <pc:sldMk cId="1594404481" sldId="559"/>
        </pc:sldMkLst>
      </pc:sldChg>
      <pc:sldChg chg="mod modShow">
        <pc:chgData name="Sadaf Baloch" userId="S::sadaf.baloch@ucp.edu.pk::2cdfe0ab-03ea-46b2-8263-c67d3be957cb" providerId="AD" clId="Web-{1AB8F76A-1FEE-70C0-2E14-E780E4CB9C1D}" dt="2020-10-15T05:52:36.269" v="2"/>
        <pc:sldMkLst>
          <pc:docMk/>
          <pc:sldMk cId="2304338697" sldId="5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71EF33-497A-4AB8-9E2A-EDA89E2657AC}" type="datetimeFigureOut">
              <a:rPr lang="en-US" smtClean="0"/>
              <a:pPr/>
              <a:t>05-Mar-2025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E35D07-CE9A-41EA-8351-FED4C60B3E9A}" type="slidenum">
              <a:rPr lang="en-US" smtClean="0"/>
              <a:pPr/>
              <a:t>‹#›</a:t>
            </a:fld>
            <a:endParaRPr lang="en-US"/>
          </a:p>
        </p:txBody>
      </p:sp>
    </p:spTree>
    <p:extLst>
      <p:ext uri="{BB962C8B-B14F-4D97-AF65-F5344CB8AC3E}">
        <p14:creationId xmlns:p14="http://schemas.microsoft.com/office/powerpoint/2010/main" val="171217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1</a:t>
            </a:fld>
            <a:endParaRPr lang="en-US"/>
          </a:p>
        </p:txBody>
      </p:sp>
    </p:spTree>
    <p:extLst>
      <p:ext uri="{BB962C8B-B14F-4D97-AF65-F5344CB8AC3E}">
        <p14:creationId xmlns:p14="http://schemas.microsoft.com/office/powerpoint/2010/main" val="3332776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dirty="0"/>
              <a:t>http://www.dailymotion.com/video/x7fxmz_angry-man-computer-smash-too-funny_fun</a:t>
            </a:r>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31</a:t>
            </a:fld>
            <a:endParaRPr lang="en-US"/>
          </a:p>
        </p:txBody>
      </p:sp>
    </p:spTree>
    <p:extLst>
      <p:ext uri="{BB962C8B-B14F-4D97-AF65-F5344CB8AC3E}">
        <p14:creationId xmlns:p14="http://schemas.microsoft.com/office/powerpoint/2010/main" val="3586675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dirty="0">
                <a:solidFill>
                  <a:schemeClr val="tx1"/>
                </a:solidFill>
                <a:effectLst/>
                <a:latin typeface="+mn-lt"/>
                <a:ea typeface="+mn-ea"/>
                <a:cs typeface="+mn-cs"/>
              </a:rPr>
              <a:t>tasks </a:t>
            </a:r>
            <a:r>
              <a:rPr lang="en-US" sz="1200" b="0" i="0" kern="1200" dirty="0">
                <a:solidFill>
                  <a:schemeClr val="tx1"/>
                </a:solidFill>
                <a:effectLst/>
                <a:latin typeface="+mn-lt"/>
                <a:ea typeface="+mn-ea"/>
                <a:cs typeface="+mn-cs"/>
              </a:rPr>
              <a:t>- operations on the concepts of the domain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dirty="0">
                <a:solidFill>
                  <a:schemeClr val="tx1"/>
                </a:solidFill>
                <a:effectLst/>
                <a:latin typeface="+mn-lt"/>
                <a:ea typeface="+mn-ea"/>
                <a:cs typeface="+mn-cs"/>
              </a:rPr>
              <a:t>core language </a:t>
            </a:r>
            <a:r>
              <a:rPr lang="en-US" sz="1200" b="0" i="0" kern="1200" dirty="0">
                <a:solidFill>
                  <a:schemeClr val="tx1"/>
                </a:solidFill>
                <a:effectLst/>
                <a:latin typeface="+mn-lt"/>
                <a:ea typeface="+mn-ea"/>
                <a:cs typeface="+mn-cs"/>
              </a:rPr>
              <a:t>- language that describes the computational attributes of the domain relevant to the system state</a:t>
            </a:r>
          </a:p>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Articulation</a:t>
            </a:r>
            <a:r>
              <a:rPr lang="en-US" sz="1200" b="0" i="0" kern="1200" dirty="0">
                <a:solidFill>
                  <a:schemeClr val="tx1"/>
                </a:solidFill>
                <a:effectLst/>
                <a:latin typeface="+mn-lt"/>
                <a:ea typeface="+mn-ea"/>
                <a:cs typeface="+mn-cs"/>
              </a:rPr>
              <a:t> is the user's translation of their task into the input language.  Consider a user who wants to turn on the lights at the far end of a room.</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Poor Articulation</a:t>
            </a:r>
          </a:p>
          <a:p>
            <a:r>
              <a:rPr lang="en-US" sz="1200" b="0" i="0" kern="1200" dirty="0">
                <a:solidFill>
                  <a:schemeClr val="tx1"/>
                </a:solidFill>
                <a:effectLst/>
                <a:latin typeface="+mn-lt"/>
                <a:ea typeface="+mn-ea"/>
                <a:cs typeface="+mn-cs"/>
              </a:rPr>
              <a:t>	The user sees a bank of </a:t>
            </a:r>
            <a:r>
              <a:rPr lang="en-US" sz="1200" b="0" i="0" kern="1200" dirty="0" err="1">
                <a:solidFill>
                  <a:schemeClr val="tx1"/>
                </a:solidFill>
                <a:effectLst/>
                <a:latin typeface="+mn-lt"/>
                <a:ea typeface="+mn-ea"/>
                <a:cs typeface="+mn-cs"/>
              </a:rPr>
              <a:t>unlabelled</a:t>
            </a:r>
            <a:r>
              <a:rPr lang="en-US" sz="1200" b="0" i="0" kern="1200" dirty="0">
                <a:solidFill>
                  <a:schemeClr val="tx1"/>
                </a:solidFill>
                <a:effectLst/>
                <a:latin typeface="+mn-lt"/>
                <a:ea typeface="+mn-ea"/>
                <a:cs typeface="+mn-cs"/>
              </a:rPr>
              <a:t> switches.  The user has no idea which switch controls the lights at the far end of the room. The problem here is that the 	</a:t>
            </a:r>
            <a:r>
              <a:rPr lang="en-US" sz="1200" b="0" i="0" kern="1200" dirty="0" err="1">
                <a:solidFill>
                  <a:schemeClr val="tx1"/>
                </a:solidFill>
                <a:effectLst/>
                <a:latin typeface="+mn-lt"/>
                <a:ea typeface="+mn-ea"/>
                <a:cs typeface="+mn-cs"/>
              </a:rPr>
              <a:t>langauge</a:t>
            </a:r>
            <a:r>
              <a:rPr lang="en-US" sz="1200" b="0" i="0" kern="1200" dirty="0">
                <a:solidFill>
                  <a:schemeClr val="tx1"/>
                </a:solidFill>
                <a:effectLst/>
                <a:latin typeface="+mn-lt"/>
                <a:ea typeface="+mn-ea"/>
                <a:cs typeface="+mn-cs"/>
              </a:rPr>
              <a:t> provided (the </a:t>
            </a:r>
            <a:r>
              <a:rPr lang="en-US" sz="1200" b="0" i="0" kern="1200" dirty="0" err="1">
                <a:solidFill>
                  <a:schemeClr val="tx1"/>
                </a:solidFill>
                <a:effectLst/>
                <a:latin typeface="+mn-lt"/>
                <a:ea typeface="+mn-ea"/>
                <a:cs typeface="+mn-cs"/>
              </a:rPr>
              <a:t>unlabelled</a:t>
            </a:r>
            <a:r>
              <a:rPr lang="en-US" sz="1200" b="0" i="0" kern="1200" dirty="0">
                <a:solidFill>
                  <a:schemeClr val="tx1"/>
                </a:solidFill>
                <a:effectLst/>
                <a:latin typeface="+mn-lt"/>
                <a:ea typeface="+mn-ea"/>
                <a:cs typeface="+mn-cs"/>
              </a:rPr>
              <a:t> switches) does not allow the user to articulate the goal (turn on the lights at the far end of the room).</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Good Articulation</a:t>
            </a:r>
          </a:p>
          <a:p>
            <a:r>
              <a:rPr lang="en-US" sz="1200" b="0" i="0" kern="1200" dirty="0">
                <a:solidFill>
                  <a:schemeClr val="tx1"/>
                </a:solidFill>
                <a:effectLst/>
                <a:latin typeface="+mn-lt"/>
                <a:ea typeface="+mn-ea"/>
                <a:cs typeface="+mn-cs"/>
              </a:rPr>
              <a:t>	The switches are clearly labelled.  The user articulates their task of pressing the switch that is labelled "the far end of the room".</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language provided here 	(the labelled switches) allows the user to articulate their task without difficulty.</a:t>
            </a:r>
          </a:p>
          <a:p>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Performance</a:t>
            </a:r>
          </a:p>
          <a:p>
            <a:r>
              <a:rPr lang="en-US" sz="1200" b="0" i="0" kern="1200" dirty="0">
                <a:solidFill>
                  <a:schemeClr val="tx1"/>
                </a:solidFill>
                <a:effectLst/>
                <a:latin typeface="+mn-lt"/>
                <a:ea typeface="+mn-ea"/>
                <a:cs typeface="+mn-cs"/>
              </a:rPr>
              <a:t>	Performance is the interface's translation of the input language into stimuli to the system.  This translation is determined by the designer or programmer (not 	the user). </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Poor Performance</a:t>
            </a:r>
          </a:p>
          <a:p>
            <a:r>
              <a:rPr lang="en-US" sz="1200" b="0" i="0" kern="1200" dirty="0">
                <a:solidFill>
                  <a:schemeClr val="tx1"/>
                </a:solidFill>
                <a:effectLst/>
                <a:latin typeface="+mn-lt"/>
                <a:ea typeface="+mn-ea"/>
                <a:cs typeface="+mn-cs"/>
              </a:rPr>
              <a:t>	Consider a remote control for a television without a button for turning off the television.  The user must go directly to the device and turn it off on the control </a:t>
            </a:r>
          </a:p>
          <a:p>
            <a:r>
              <a:rPr lang="en-US" sz="1200" b="0" i="0" kern="1200" dirty="0">
                <a:solidFill>
                  <a:schemeClr val="tx1"/>
                </a:solidFill>
                <a:effectLst/>
                <a:latin typeface="+mn-lt"/>
                <a:ea typeface="+mn-ea"/>
                <a:cs typeface="+mn-cs"/>
              </a:rPr>
              <a:t>	panel.</a:t>
            </a:r>
          </a:p>
          <a:p>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Presentation</a:t>
            </a:r>
          </a:p>
          <a:p>
            <a:r>
              <a:rPr lang="en-US" sz="1200" b="0" i="0" kern="1200" dirty="0">
                <a:solidFill>
                  <a:schemeClr val="tx1"/>
                </a:solidFill>
                <a:effectLst/>
                <a:latin typeface="+mn-lt"/>
                <a:ea typeface="+mn-ea"/>
                <a:cs typeface="+mn-cs"/>
              </a:rPr>
              <a:t>	Presentation is the translation of the system's new state into the output language of the interface.  This translation is determined by the designer or 	programmer. </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Poor Presentation</a:t>
            </a:r>
          </a:p>
          <a:p>
            <a:r>
              <a:rPr lang="en-US" sz="1200" b="0" i="0" kern="1200" dirty="0">
                <a:solidFill>
                  <a:schemeClr val="tx1"/>
                </a:solidFill>
                <a:effectLst/>
                <a:latin typeface="+mn-lt"/>
                <a:ea typeface="+mn-ea"/>
                <a:cs typeface="+mn-cs"/>
              </a:rPr>
              <a:t>	Consider writing an essay using a word processor.  You need to see the effects of your editing as a whole.  However, the word processor only displays the 	immediate paragraph without the surrounding text or other pages.  The surrounding text and other pages may have changed as well during the editing.  In 	effect, all of the state changes cannot be displayed in the output language.  You cannot readily confirm the effect of your editing throughout the essay. </a:t>
            </a:r>
          </a:p>
          <a:p>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Observation</a:t>
            </a:r>
          </a:p>
          <a:p>
            <a:r>
              <a:rPr lang="en-US" sz="1200" b="0" i="0" kern="1200" dirty="0">
                <a:solidFill>
                  <a:schemeClr val="tx1"/>
                </a:solidFill>
                <a:effectLst/>
                <a:latin typeface="+mn-lt"/>
                <a:ea typeface="+mn-ea"/>
                <a:cs typeface="+mn-cs"/>
              </a:rPr>
              <a:t>	Observation is the translation of the output language into personal understanding.  This translation is done by the user.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https://cs.senecac.on.ca/~bth740/pages/content/model.html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35</a:t>
            </a:fld>
            <a:endParaRPr lang="en-US"/>
          </a:p>
        </p:txBody>
      </p:sp>
    </p:spTree>
    <p:extLst>
      <p:ext uri="{BB962C8B-B14F-4D97-AF65-F5344CB8AC3E}">
        <p14:creationId xmlns:p14="http://schemas.microsoft.com/office/powerpoint/2010/main" val="3174798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0" i="0" u="none" strike="noStrike" kern="1200" baseline="0" dirty="0">
                <a:solidFill>
                  <a:schemeClr val="tx1"/>
                </a:solidFill>
                <a:latin typeface="+mn-lt"/>
                <a:ea typeface="+mn-ea"/>
                <a:cs typeface="+mn-cs"/>
              </a:rPr>
              <a:t>One airline’s IFE was so frustrating for the flight attendants to use that many of them</a:t>
            </a:r>
          </a:p>
          <a:p>
            <a:r>
              <a:rPr lang="en-US" sz="1200" b="0" i="0" u="none" strike="noStrike" kern="1200" baseline="0" dirty="0">
                <a:solidFill>
                  <a:schemeClr val="tx1"/>
                </a:solidFill>
                <a:latin typeface="+mn-lt"/>
                <a:ea typeface="+mn-ea"/>
                <a:cs typeface="+mn-cs"/>
              </a:rPr>
              <a:t>were bidding to fly shorter, local routes to avoid having to learn and use the difficult</a:t>
            </a:r>
          </a:p>
          <a:p>
            <a:r>
              <a:rPr lang="en-US" sz="1200" b="0" i="0" u="none" strike="noStrike" kern="1200" baseline="0" dirty="0">
                <a:solidFill>
                  <a:schemeClr val="tx1"/>
                </a:solidFill>
                <a:latin typeface="+mn-lt"/>
                <a:ea typeface="+mn-ea"/>
                <a:cs typeface="+mn-cs"/>
              </a:rPr>
              <a:t>systems. This is remarkable considering that the time-honored airline route-bidding</a:t>
            </a:r>
          </a:p>
          <a:p>
            <a:r>
              <a:rPr lang="en-US" sz="1200" b="0" i="0" u="none" strike="noStrike" kern="1200" baseline="0" dirty="0">
                <a:solidFill>
                  <a:schemeClr val="tx1"/>
                </a:solidFill>
                <a:latin typeface="+mn-lt"/>
                <a:ea typeface="+mn-ea"/>
                <a:cs typeface="+mn-cs"/>
              </a:rPr>
              <a:t>process is based on seniority, and that those same long-distance routes have always been</a:t>
            </a:r>
          </a:p>
          <a:p>
            <a:r>
              <a:rPr lang="en-US" sz="1200" b="0" i="0" u="none" strike="noStrike" kern="1200" baseline="0" dirty="0">
                <a:solidFill>
                  <a:schemeClr val="tx1"/>
                </a:solidFill>
                <a:latin typeface="+mn-lt"/>
                <a:ea typeface="+mn-ea"/>
                <a:cs typeface="+mn-cs"/>
              </a:rPr>
              <a:t>considered the most desirable plums because of their lengthy layovers in exotic locales</a:t>
            </a:r>
          </a:p>
          <a:p>
            <a:r>
              <a:rPr lang="en-US" sz="1200" b="0" i="0" u="none" strike="noStrike" kern="1200" baseline="0" dirty="0">
                <a:solidFill>
                  <a:schemeClr val="tx1"/>
                </a:solidFill>
                <a:latin typeface="+mn-lt"/>
                <a:ea typeface="+mn-ea"/>
                <a:cs typeface="+mn-cs"/>
              </a:rPr>
              <a:t>like Singapore or Paris. For flight attendants to bid for unglamorous, unromantic yo-yo</a:t>
            </a:r>
          </a:p>
          <a:p>
            <a:r>
              <a:rPr lang="en-US" sz="1200" b="0" i="0" u="none" strike="noStrike" kern="1200" baseline="0" dirty="0">
                <a:solidFill>
                  <a:schemeClr val="tx1"/>
                </a:solidFill>
                <a:latin typeface="+mn-lt"/>
                <a:ea typeface="+mn-ea"/>
                <a:cs typeface="+mn-cs"/>
              </a:rPr>
              <a:t>flights from Denver-to-Dallas or LA-to-San Francisco just to avoid the IFE indicated a</a:t>
            </a:r>
          </a:p>
          <a:p>
            <a:r>
              <a:rPr lang="en-US" sz="1200" b="0" i="0" u="none" strike="noStrike" kern="1200" baseline="0" dirty="0">
                <a:solidFill>
                  <a:schemeClr val="tx1"/>
                </a:solidFill>
                <a:latin typeface="+mn-lt"/>
                <a:ea typeface="+mn-ea"/>
                <a:cs typeface="+mn-cs"/>
              </a:rPr>
              <a:t>serious morale problem. Any airline that inflicted bad tools on its most prized</a:t>
            </a:r>
          </a:p>
          <a:p>
            <a:r>
              <a:rPr lang="en-US" sz="1200" b="0" i="0" u="none" strike="noStrike" kern="1200" baseline="0" dirty="0">
                <a:solidFill>
                  <a:schemeClr val="tx1"/>
                </a:solidFill>
                <a:latin typeface="+mn-lt"/>
                <a:ea typeface="+mn-ea"/>
                <a:cs typeface="+mn-cs"/>
              </a:rPr>
              <a:t>employee—the ones who spent the most time with the customer---was making a foolish</a:t>
            </a:r>
          </a:p>
          <a:p>
            <a:r>
              <a:rPr lang="en-US" sz="1200" b="0" i="0" u="none" strike="noStrike" kern="1200" baseline="0" dirty="0">
                <a:solidFill>
                  <a:schemeClr val="tx1"/>
                </a:solidFill>
                <a:latin typeface="+mn-lt"/>
                <a:ea typeface="+mn-ea"/>
                <a:cs typeface="+mn-cs"/>
              </a:rPr>
              <a:t>decision and was profligately discarding money, customer loyalty, and staff loyalty.</a:t>
            </a:r>
          </a:p>
          <a:p>
            <a:r>
              <a:rPr lang="en-US" sz="1200" b="0" i="0" u="none" strike="noStrike" kern="1200" baseline="0" dirty="0">
                <a:solidFill>
                  <a:schemeClr val="tx1"/>
                </a:solidFill>
                <a:latin typeface="+mn-lt"/>
                <a:ea typeface="+mn-ea"/>
                <a:cs typeface="+mn-cs"/>
              </a:rPr>
              <a:t>The computer-IFE of another large airline was even worse. The airline had created an inflight</a:t>
            </a:r>
          </a:p>
          <a:p>
            <a:r>
              <a:rPr lang="en-US" sz="1200" b="0" i="0" u="none" strike="noStrike" kern="1200" baseline="0" dirty="0">
                <a:solidFill>
                  <a:schemeClr val="tx1"/>
                </a:solidFill>
                <a:latin typeface="+mn-lt"/>
                <a:ea typeface="+mn-ea"/>
                <a:cs typeface="+mn-cs"/>
              </a:rPr>
              <a:t>entertainment system that linked movie delivery with the cash collection function.</a:t>
            </a:r>
          </a:p>
          <a:p>
            <a:r>
              <a:rPr lang="en-US" sz="1200" b="0" i="0" u="none" strike="noStrike" kern="1200" baseline="0" dirty="0">
                <a:solidFill>
                  <a:schemeClr val="tx1"/>
                </a:solidFill>
                <a:latin typeface="+mn-lt"/>
                <a:ea typeface="+mn-ea"/>
                <a:cs typeface="+mn-cs"/>
              </a:rPr>
              <a:t>In a sealed et airplane flying at 37,000 feet, cash collection procedures had typically been</a:t>
            </a:r>
          </a:p>
          <a:p>
            <a:r>
              <a:rPr lang="en-US" sz="1200" b="0" i="0" u="none" strike="noStrike" kern="1200" baseline="0" dirty="0">
                <a:solidFill>
                  <a:schemeClr val="tx1"/>
                </a:solidFill>
                <a:latin typeface="+mn-lt"/>
                <a:ea typeface="+mn-ea"/>
                <a:cs typeface="+mn-cs"/>
              </a:rPr>
              <a:t>quite laissez-faire; after all, nobody was going to sneak out the back door. Flight</a:t>
            </a:r>
          </a:p>
          <a:p>
            <a:r>
              <a:rPr lang="en-US" sz="1200" b="0" i="0" u="none" strike="noStrike" kern="1200" baseline="0" dirty="0">
                <a:solidFill>
                  <a:schemeClr val="tx1"/>
                </a:solidFill>
                <a:latin typeface="+mn-lt"/>
                <a:ea typeface="+mn-ea"/>
                <a:cs typeface="+mn-cs"/>
              </a:rPr>
              <a:t>attendants delivered goods and services when it was convenient and collected cash in</a:t>
            </a:r>
          </a:p>
          <a:p>
            <a:r>
              <a:rPr lang="en-US" sz="1200" b="0" i="0" u="none" strike="noStrike" kern="1200" baseline="0" dirty="0">
                <a:solidFill>
                  <a:schemeClr val="tx1"/>
                </a:solidFill>
                <a:latin typeface="+mn-lt"/>
                <a:ea typeface="+mn-ea"/>
                <a:cs typeface="+mn-cs"/>
              </a:rPr>
              <a:t>only a very loosely coupled fashion. This kept them from running unnecessarily up and</a:t>
            </a:r>
          </a:p>
          <a:p>
            <a:r>
              <a:rPr lang="en-US" sz="1200" b="0" i="0" u="none" strike="noStrike" kern="1200" baseline="0" dirty="0">
                <a:solidFill>
                  <a:schemeClr val="tx1"/>
                </a:solidFill>
                <a:latin typeface="+mn-lt"/>
                <a:ea typeface="+mn-ea"/>
                <a:cs typeface="+mn-cs"/>
              </a:rPr>
              <a:t>down the narrow aisles. Sure there were occasional errors, but never more than a few</a:t>
            </a:r>
          </a:p>
          <a:p>
            <a:r>
              <a:rPr lang="en-US" sz="1200" b="0" i="0" u="none" strike="noStrike" kern="1200" baseline="0" dirty="0">
                <a:solidFill>
                  <a:schemeClr val="tx1"/>
                </a:solidFill>
                <a:latin typeface="+mn-lt"/>
                <a:ea typeface="+mn-ea"/>
                <a:cs typeface="+mn-cs"/>
              </a:rPr>
              <a:t>dollars were involved, and the system was quite human and forgiving; everyone was</a:t>
            </a:r>
          </a:p>
          <a:p>
            <a:r>
              <a:rPr lang="en-US" sz="1200" b="0" i="0" u="none" strike="noStrike" kern="1200" baseline="0" dirty="0">
                <a:solidFill>
                  <a:schemeClr val="tx1"/>
                </a:solidFill>
                <a:latin typeface="+mn-lt"/>
                <a:ea typeface="+mn-ea"/>
                <a:cs typeface="+mn-cs"/>
              </a:rPr>
              <a:t>happy and the work was not oppressive.</a:t>
            </a:r>
          </a:p>
          <a:p>
            <a:r>
              <a:rPr lang="en-US" sz="1200" b="0" i="0" u="none" strike="noStrike" kern="1200" baseline="0" dirty="0">
                <a:solidFill>
                  <a:schemeClr val="tx1"/>
                </a:solidFill>
                <a:latin typeface="+mn-lt"/>
                <a:ea typeface="+mn-ea"/>
                <a:cs typeface="+mn-cs"/>
              </a:rPr>
              <a:t>With cash-collection connected to content delivery by computer, the flight attendant had</a:t>
            </a:r>
          </a:p>
          <a:p>
            <a:r>
              <a:rPr lang="en-US" sz="1200" b="0" i="0" u="none" strike="noStrike" kern="1200" baseline="0" dirty="0">
                <a:solidFill>
                  <a:schemeClr val="tx1"/>
                </a:solidFill>
                <a:latin typeface="+mn-lt"/>
                <a:ea typeface="+mn-ea"/>
                <a:cs typeface="+mn-cs"/>
              </a:rPr>
              <a:t>to first get the cash from the passenger, then walk all the way to the head-end of the</a:t>
            </a:r>
          </a:p>
          <a:p>
            <a:r>
              <a:rPr lang="en-US" sz="1200" b="0" i="0" u="none" strike="noStrike" kern="1200" baseline="0" dirty="0">
                <a:solidFill>
                  <a:schemeClr val="tx1"/>
                </a:solidFill>
                <a:latin typeface="+mn-lt"/>
                <a:ea typeface="+mn-ea"/>
                <a:cs typeface="+mn-cs"/>
              </a:rPr>
              <a:t>cabin, where the attendant’s console was, enter an attendant password, then perform a</a:t>
            </a:r>
          </a:p>
          <a:p>
            <a:r>
              <a:rPr lang="en-US" sz="1200" b="0" i="0" u="none" strike="noStrike" kern="1200" baseline="0" dirty="0">
                <a:solidFill>
                  <a:schemeClr val="tx1"/>
                </a:solidFill>
                <a:latin typeface="+mn-lt"/>
                <a:ea typeface="+mn-ea"/>
                <a:cs typeface="+mn-cs"/>
              </a:rPr>
              <a:t>cash register-like transaction. Only when that transaction was completed could the</a:t>
            </a:r>
          </a:p>
          <a:p>
            <a:r>
              <a:rPr lang="en-US" sz="1200" b="0" i="0" u="none" strike="noStrike" kern="1200" baseline="0" dirty="0">
                <a:solidFill>
                  <a:schemeClr val="tx1"/>
                </a:solidFill>
                <a:latin typeface="+mn-lt"/>
                <a:ea typeface="+mn-ea"/>
                <a:cs typeface="+mn-cs"/>
              </a:rPr>
              <a:t>passenger actually view a movie or listen to music. This inane product design forced the</a:t>
            </a:r>
          </a:p>
          <a:p>
            <a:r>
              <a:rPr lang="en-US" sz="1200" b="0" i="0" u="none" strike="noStrike" kern="1200" baseline="0" dirty="0">
                <a:solidFill>
                  <a:schemeClr val="tx1"/>
                </a:solidFill>
                <a:latin typeface="+mn-lt"/>
                <a:ea typeface="+mn-ea"/>
                <a:cs typeface="+mn-cs"/>
              </a:rPr>
              <a:t>flight attendants to walk up and down those narrow aisles hundreds of extra times during</a:t>
            </a:r>
          </a:p>
          <a:p>
            <a:r>
              <a:rPr lang="en-US" sz="1200" b="0" i="0" u="none" strike="noStrike" kern="1200" baseline="0" dirty="0">
                <a:solidFill>
                  <a:schemeClr val="tx1"/>
                </a:solidFill>
                <a:latin typeface="+mn-lt"/>
                <a:ea typeface="+mn-ea"/>
                <a:cs typeface="+mn-cs"/>
              </a:rPr>
              <a:t>a typical trip. Out of sheer frustration, the flight attendants would trip the circuit breaker</a:t>
            </a:r>
          </a:p>
          <a:p>
            <a:r>
              <a:rPr lang="en-US" sz="1200" b="0" i="0" u="none" strike="noStrike" kern="1200" baseline="0" dirty="0">
                <a:solidFill>
                  <a:schemeClr val="tx1"/>
                </a:solidFill>
                <a:latin typeface="+mn-lt"/>
                <a:ea typeface="+mn-ea"/>
                <a:cs typeface="+mn-cs"/>
              </a:rPr>
              <a:t>on the in-flight entertainment system at the beginning of each long flight, shortly after</a:t>
            </a:r>
          </a:p>
          <a:p>
            <a:r>
              <a:rPr lang="en-US" sz="1200" b="0" i="0" u="none" strike="noStrike" kern="1200" baseline="0" dirty="0">
                <a:solidFill>
                  <a:schemeClr val="tx1"/>
                </a:solidFill>
                <a:latin typeface="+mn-lt"/>
                <a:ea typeface="+mn-ea"/>
                <a:cs typeface="+mn-cs"/>
              </a:rPr>
              <a:t>departure. They would then blandly announce to the passengers that, sorry, the system</a:t>
            </a:r>
          </a:p>
          <a:p>
            <a:r>
              <a:rPr lang="en-US" sz="1200" b="0" i="0" u="none" strike="noStrike" kern="1200" baseline="0" dirty="0">
                <a:solidFill>
                  <a:schemeClr val="tx1"/>
                </a:solidFill>
                <a:latin typeface="+mn-lt"/>
                <a:ea typeface="+mn-ea"/>
                <a:cs typeface="+mn-cs"/>
              </a:rPr>
              <a:t>was broken and there would be no movie on this flight.</a:t>
            </a:r>
          </a:p>
          <a:p>
            <a:r>
              <a:rPr lang="en-US" sz="1200" b="0" i="0" u="none" strike="noStrike" kern="1200" baseline="0" dirty="0">
                <a:solidFill>
                  <a:schemeClr val="tx1"/>
                </a:solidFill>
                <a:latin typeface="+mn-lt"/>
                <a:ea typeface="+mn-ea"/>
                <a:cs typeface="+mn-cs"/>
              </a:rPr>
              <a:t>The airline had spent millions of dollars constructing a system so obnoxious that its users</a:t>
            </a:r>
          </a:p>
          <a:p>
            <a:r>
              <a:rPr lang="en-US" sz="1200" b="0" i="0" u="none" strike="noStrike" kern="1200" baseline="0" dirty="0">
                <a:solidFill>
                  <a:schemeClr val="tx1"/>
                </a:solidFill>
                <a:latin typeface="+mn-lt"/>
                <a:ea typeface="+mn-ea"/>
                <a:cs typeface="+mn-cs"/>
              </a:rPr>
              <a:t>deliberately turned it off to avoid interacting with it. The thousands of bored passengers</a:t>
            </a:r>
          </a:p>
          <a:p>
            <a:r>
              <a:rPr lang="en-US" sz="1200" b="0" i="0" u="none" strike="noStrike" kern="1200" baseline="0" dirty="0">
                <a:solidFill>
                  <a:schemeClr val="tx1"/>
                </a:solidFill>
                <a:latin typeface="+mn-lt"/>
                <a:ea typeface="+mn-ea"/>
                <a:cs typeface="+mn-cs"/>
              </a:rPr>
              <a:t>were merely innocent victims. And this happened on long, overseas trips typically packed</a:t>
            </a:r>
          </a:p>
          <a:p>
            <a:r>
              <a:rPr lang="en-US" sz="1200" b="0" i="0" u="none" strike="noStrike" kern="1200" baseline="0" dirty="0">
                <a:solidFill>
                  <a:schemeClr val="tx1"/>
                </a:solidFill>
                <a:latin typeface="+mn-lt"/>
                <a:ea typeface="+mn-ea"/>
                <a:cs typeface="+mn-cs"/>
              </a:rPr>
              <a:t>with much-sought-after frequent flyers. I cannot put a dollar figure</a:t>
            </a:r>
          </a:p>
          <a:p>
            <a:r>
              <a:rPr lang="en-US" sz="1200" b="0" i="0" u="none" strike="noStrike" kern="1200" baseline="0" dirty="0">
                <a:solidFill>
                  <a:schemeClr val="tx1"/>
                </a:solidFill>
                <a:latin typeface="+mn-lt"/>
                <a:ea typeface="+mn-ea"/>
                <a:cs typeface="+mn-cs"/>
              </a:rPr>
              <a:t>On the expense this caused the airline, but I can say with conviction that it was</a:t>
            </a:r>
          </a:p>
          <a:p>
            <a:r>
              <a:rPr lang="en-US" sz="1200" b="0" i="0" u="none" strike="noStrike" kern="1200" baseline="0" dirty="0">
                <a:solidFill>
                  <a:schemeClr val="tx1"/>
                </a:solidFill>
                <a:latin typeface="+mn-lt"/>
                <a:ea typeface="+mn-ea"/>
                <a:cs typeface="+mn-cs"/>
              </a:rPr>
              <a:t>catastrophically expensive.</a:t>
            </a:r>
          </a:p>
          <a:p>
            <a:r>
              <a:rPr lang="en-US" sz="1200" b="0" i="0" u="none" strike="noStrike" kern="1200" baseline="0" dirty="0">
                <a:solidFill>
                  <a:schemeClr val="tx1"/>
                </a:solidFill>
                <a:latin typeface="+mn-lt"/>
                <a:ea typeface="+mn-ea"/>
                <a:cs typeface="+mn-cs"/>
              </a:rPr>
              <a:t>The software inside the IFEs worked with flawless precision, but was a resounding failure</a:t>
            </a:r>
          </a:p>
          <a:p>
            <a:r>
              <a:rPr lang="en-US" sz="1200" b="0" i="0" u="none" strike="noStrike" kern="1200" baseline="0" dirty="0">
                <a:solidFill>
                  <a:schemeClr val="tx1"/>
                </a:solidFill>
                <a:latin typeface="+mn-lt"/>
                <a:ea typeface="+mn-ea"/>
                <a:cs typeface="+mn-cs"/>
              </a:rPr>
              <a:t>because it misbehaved with its human keepers.</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44</a:t>
            </a:fld>
            <a:endParaRPr lang="en-US"/>
          </a:p>
        </p:txBody>
      </p:sp>
    </p:spTree>
    <p:extLst>
      <p:ext uri="{BB962C8B-B14F-4D97-AF65-F5344CB8AC3E}">
        <p14:creationId xmlns:p14="http://schemas.microsoft.com/office/powerpoint/2010/main" val="498632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50</a:t>
            </a:fld>
            <a:endParaRPr lang="en-US"/>
          </a:p>
        </p:txBody>
      </p:sp>
    </p:spTree>
    <p:extLst>
      <p:ext uri="{BB962C8B-B14F-4D97-AF65-F5344CB8AC3E}">
        <p14:creationId xmlns:p14="http://schemas.microsoft.com/office/powerpoint/2010/main" val="3593117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3E233F16-6F8D-46A1-A057-776BA6AD2C46}" type="datetimeFigureOut">
              <a:rPr lang="en-US" smtClean="0"/>
              <a:pPr/>
              <a:t>05-Mar-2025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3E233F16-6F8D-46A1-A057-776BA6AD2C46}" type="datetimeFigureOut">
              <a:rPr lang="en-US" smtClean="0"/>
              <a:pPr/>
              <a:t>05-Mar-2025</a:t>
            </a:fld>
            <a:endParaRPr lang="en-US"/>
          </a:p>
        </p:txBody>
      </p:sp>
      <p:sp>
        <p:nvSpPr>
          <p:cNvPr id="10" name="Slide Number Placeholder 9"/>
          <p:cNvSpPr>
            <a:spLocks noGrp="1"/>
          </p:cNvSpPr>
          <p:nvPr>
            <p:ph type="sldNum" sz="quarter" idx="16"/>
          </p:nvPr>
        </p:nvSpPr>
        <p:spPr/>
        <p:txBody>
          <a:bodyPr rtlCol="0"/>
          <a:lstStyle/>
          <a:p>
            <a:fld id="{E181D6C9-1B9F-49AE-AE07-342A3A6A70E0}"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3E233F16-6F8D-46A1-A057-776BA6AD2C46}" type="datetimeFigureOut">
              <a:rPr lang="en-US" smtClean="0"/>
              <a:pPr/>
              <a:t>05-Mar-2025</a:t>
            </a:fld>
            <a:endParaRPr lang="en-US"/>
          </a:p>
        </p:txBody>
      </p:sp>
      <p:sp>
        <p:nvSpPr>
          <p:cNvPr id="12" name="Slide Number Placeholder 11"/>
          <p:cNvSpPr>
            <a:spLocks noGrp="1"/>
          </p:cNvSpPr>
          <p:nvPr>
            <p:ph type="sldNum" sz="quarter" idx="16"/>
          </p:nvPr>
        </p:nvSpPr>
        <p:spPr/>
        <p:txBody>
          <a:bodyPr rtlCol="0"/>
          <a:lstStyle/>
          <a:p>
            <a:fld id="{E181D6C9-1B9F-49AE-AE07-342A3A6A70E0}"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181D6C9-1B9F-49AE-AE07-342A3A6A70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3E233F16-6F8D-46A1-A057-776BA6AD2C46}" type="datetimeFigureOut">
              <a:rPr lang="en-US" smtClean="0"/>
              <a:pPr/>
              <a:t>05-Mar-2025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181D6C9-1B9F-49AE-AE07-342A3A6A70E0}"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05-Mar-2025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3E233F16-6F8D-46A1-A057-776BA6AD2C46}" type="datetimeFigureOut">
              <a:rPr lang="en-US" smtClean="0"/>
              <a:pPr/>
              <a:t>05-Mar-2025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181D6C9-1B9F-49AE-AE07-342A3A6A70E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3E233F16-6F8D-46A1-A057-776BA6AD2C46}" type="datetimeFigureOut">
              <a:rPr lang="en-US" smtClean="0"/>
              <a:pPr/>
              <a:t>05-Mar-2025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181D6C9-1B9F-49AE-AE07-342A3A6A70E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0"/>
            <a:ext cx="7467600" cy="1828800"/>
          </a:xfrm>
        </p:spPr>
        <p:txBody>
          <a:bodyPr>
            <a:normAutofit fontScale="90000"/>
          </a:bodyPr>
          <a:lstStyle/>
          <a:p>
            <a:r>
              <a:rPr lang="en-US" dirty="0"/>
              <a:t>Human Computer Interaction  </a:t>
            </a:r>
            <a:br>
              <a:rPr lang="en-US" dirty="0"/>
            </a:br>
            <a:endParaRPr lang="en-US" sz="3200" dirty="0"/>
          </a:p>
        </p:txBody>
      </p:sp>
      <p:sp>
        <p:nvSpPr>
          <p:cNvPr id="3" name="Subtitle 2"/>
          <p:cNvSpPr>
            <a:spLocks noGrp="1"/>
          </p:cNvSpPr>
          <p:nvPr>
            <p:ph type="subTitle" idx="1"/>
          </p:nvPr>
        </p:nvSpPr>
        <p:spPr/>
        <p:txBody>
          <a:bodyPr/>
          <a:lstStyle/>
          <a:p>
            <a:r>
              <a:rPr lang="en-US" sz="2800" dirty="0"/>
              <a:t>Introduction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Weightages</a:t>
            </a:r>
          </a:p>
        </p:txBody>
      </p:sp>
      <p:graphicFrame>
        <p:nvGraphicFramePr>
          <p:cNvPr id="6" name="Table 5"/>
          <p:cNvGraphicFramePr>
            <a:graphicFrameLocks noGrp="1"/>
          </p:cNvGraphicFramePr>
          <p:nvPr>
            <p:extLst>
              <p:ext uri="{D42A27DB-BD31-4B8C-83A1-F6EECF244321}">
                <p14:modId xmlns:p14="http://schemas.microsoft.com/office/powerpoint/2010/main" val="654788355"/>
              </p:ext>
            </p:extLst>
          </p:nvPr>
        </p:nvGraphicFramePr>
        <p:xfrm>
          <a:off x="152400" y="1752600"/>
          <a:ext cx="8104845" cy="4495800"/>
        </p:xfrm>
        <a:graphic>
          <a:graphicData uri="http://schemas.openxmlformats.org/drawingml/2006/table">
            <a:tbl>
              <a:tblPr lastRow="1" bandRow="1">
                <a:tableStyleId>{5C22544A-7EE6-4342-B048-85BDC9FD1C3A}</a:tableStyleId>
              </a:tblPr>
              <a:tblGrid>
                <a:gridCol w="2209800">
                  <a:extLst>
                    <a:ext uri="{9D8B030D-6E8A-4147-A177-3AD203B41FA5}">
                      <a16:colId xmlns:a16="http://schemas.microsoft.com/office/drawing/2014/main" val="20000"/>
                    </a:ext>
                  </a:extLst>
                </a:gridCol>
                <a:gridCol w="1094794">
                  <a:extLst>
                    <a:ext uri="{9D8B030D-6E8A-4147-A177-3AD203B41FA5}">
                      <a16:colId xmlns:a16="http://schemas.microsoft.com/office/drawing/2014/main" val="20002"/>
                    </a:ext>
                  </a:extLst>
                </a:gridCol>
                <a:gridCol w="4800251">
                  <a:extLst>
                    <a:ext uri="{9D8B030D-6E8A-4147-A177-3AD203B41FA5}">
                      <a16:colId xmlns:a16="http://schemas.microsoft.com/office/drawing/2014/main" val="20003"/>
                    </a:ext>
                  </a:extLst>
                </a:gridCol>
              </a:tblGrid>
              <a:tr h="370840">
                <a:tc>
                  <a:txBody>
                    <a:bodyPr/>
                    <a:lstStyle/>
                    <a:p>
                      <a:r>
                        <a:rPr lang="en-US" dirty="0"/>
                        <a:t>Quizzes</a:t>
                      </a:r>
                    </a:p>
                  </a:txBody>
                  <a:tcPr/>
                </a:tc>
                <a:tc>
                  <a:txBody>
                    <a:bodyPr/>
                    <a:lstStyle/>
                    <a:p>
                      <a:r>
                        <a:rPr lang="en-US" baseline="0" dirty="0"/>
                        <a:t>10 %</a:t>
                      </a:r>
                      <a:endParaRPr lang="en-US" dirty="0"/>
                    </a:p>
                  </a:txBody>
                  <a:tcPr/>
                </a:tc>
                <a:tc>
                  <a:txBody>
                    <a:bodyPr/>
                    <a:lstStyle/>
                    <a:p>
                      <a:pPr marL="285750" indent="-285750">
                        <a:buFont typeface="Arial" panose="020B0604020202020204" pitchFamily="34" charset="0"/>
                        <a:buChar char="•"/>
                      </a:pPr>
                      <a:r>
                        <a:rPr lang="en-US" dirty="0"/>
                        <a:t>No re-takes allowed</a:t>
                      </a:r>
                    </a:p>
                    <a:p>
                      <a:pPr marL="285750" indent="-285750">
                        <a:buFont typeface="Arial" panose="020B0604020202020204" pitchFamily="34" charset="0"/>
                        <a:buChar char="•"/>
                      </a:pPr>
                      <a:r>
                        <a:rPr lang="en-US" dirty="0"/>
                        <a:t>Strict actions will be taken in case of plagiarism</a:t>
                      </a:r>
                    </a:p>
                  </a:txBody>
                  <a:tcPr/>
                </a:tc>
                <a:extLst>
                  <a:ext uri="{0D108BD9-81ED-4DB2-BD59-A6C34878D82A}">
                    <a16:rowId xmlns:a16="http://schemas.microsoft.com/office/drawing/2014/main" val="10000"/>
                  </a:ext>
                </a:extLst>
              </a:tr>
              <a:tr h="370840">
                <a:tc>
                  <a:txBody>
                    <a:bodyPr/>
                    <a:lstStyle/>
                    <a:p>
                      <a:r>
                        <a:rPr lang="en-US" dirty="0"/>
                        <a:t>Assignments</a:t>
                      </a:r>
                    </a:p>
                  </a:txBody>
                  <a:tcPr/>
                </a:tc>
                <a:tc>
                  <a:txBody>
                    <a:bodyPr/>
                    <a:lstStyle/>
                    <a:p>
                      <a:r>
                        <a:rPr lang="en-US" dirty="0"/>
                        <a:t>10 %</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 case of late submission 25% marks will</a:t>
                      </a:r>
                      <a:r>
                        <a:rPr lang="en-US" baseline="0" dirty="0"/>
                        <a:t> be deducted per day i.e. if the late submission is being allowed</a:t>
                      </a:r>
                      <a:endParaRPr lang="en-US" dirty="0"/>
                    </a:p>
                  </a:txBody>
                  <a:tcPr/>
                </a:tc>
                <a:extLst>
                  <a:ext uri="{0D108BD9-81ED-4DB2-BD59-A6C34878D82A}">
                    <a16:rowId xmlns:a16="http://schemas.microsoft.com/office/drawing/2014/main" val="10001"/>
                  </a:ext>
                </a:extLst>
              </a:tr>
              <a:tr h="370840">
                <a:tc>
                  <a:txBody>
                    <a:bodyPr/>
                    <a:lstStyle/>
                    <a:p>
                      <a:r>
                        <a:rPr lang="en-US" dirty="0"/>
                        <a:t>Mid Term</a:t>
                      </a:r>
                    </a:p>
                  </a:txBody>
                  <a:tcPr/>
                </a:tc>
                <a:tc>
                  <a:txBody>
                    <a:bodyPr/>
                    <a:lstStyle/>
                    <a:p>
                      <a:r>
                        <a:rPr lang="en-US" dirty="0"/>
                        <a:t>20 %</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Strict actions will be taken in case of plagiarism</a:t>
                      </a:r>
                    </a:p>
                  </a:txBody>
                  <a:tcPr/>
                </a:tc>
                <a:extLst>
                  <a:ext uri="{0D108BD9-81ED-4DB2-BD59-A6C34878D82A}">
                    <a16:rowId xmlns:a16="http://schemas.microsoft.com/office/drawing/2014/main" val="10002"/>
                  </a:ext>
                </a:extLst>
              </a:tr>
              <a:tr h="370840">
                <a:tc>
                  <a:txBody>
                    <a:bodyPr/>
                    <a:lstStyle/>
                    <a:p>
                      <a:r>
                        <a:rPr lang="en-US" dirty="0"/>
                        <a:t>Project</a:t>
                      </a:r>
                    </a:p>
                  </a:txBody>
                  <a:tcPr/>
                </a:tc>
                <a:tc>
                  <a:txBody>
                    <a:bodyPr/>
                    <a:lstStyle/>
                    <a:p>
                      <a:r>
                        <a:rPr lang="en-US" dirty="0"/>
                        <a:t>10%</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 case of late submission 25% marks will</a:t>
                      </a:r>
                      <a:r>
                        <a:rPr lang="en-US" baseline="0" dirty="0"/>
                        <a:t> be deducted per day i.e. if the late submission </a:t>
                      </a:r>
                      <a:r>
                        <a:rPr lang="en-US" baseline="0"/>
                        <a:t>is being </a:t>
                      </a:r>
                      <a:r>
                        <a:rPr lang="en-US" baseline="0" dirty="0"/>
                        <a:t>allowed</a:t>
                      </a:r>
                      <a:endParaRPr lang="en-US" dirty="0"/>
                    </a:p>
                  </a:txBody>
                  <a:tcPr/>
                </a:tc>
                <a:extLst>
                  <a:ext uri="{0D108BD9-81ED-4DB2-BD59-A6C34878D82A}">
                    <a16:rowId xmlns:a16="http://schemas.microsoft.com/office/drawing/2014/main" val="10003"/>
                  </a:ext>
                </a:extLst>
              </a:tr>
              <a:tr h="370840">
                <a:tc>
                  <a:txBody>
                    <a:bodyPr/>
                    <a:lstStyle/>
                    <a:p>
                      <a:r>
                        <a:rPr lang="en-US" dirty="0"/>
                        <a:t>Class Activities</a:t>
                      </a:r>
                    </a:p>
                  </a:txBody>
                  <a:tcPr/>
                </a:tc>
                <a:tc>
                  <a:txBody>
                    <a:bodyPr/>
                    <a:lstStyle/>
                    <a:p>
                      <a:r>
                        <a:rPr lang="en-US" dirty="0"/>
                        <a:t>10 %</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To be done</a:t>
                      </a:r>
                      <a:r>
                        <a:rPr lang="en-US" baseline="0" dirty="0"/>
                        <a:t> and submitted in class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If you are absent, then you have missed your class activity, nothing can be done about it.</a:t>
                      </a:r>
                      <a:endParaRPr lang="en-US" dirty="0"/>
                    </a:p>
                  </a:txBody>
                  <a:tcPr/>
                </a:tc>
                <a:extLst>
                  <a:ext uri="{0D108BD9-81ED-4DB2-BD59-A6C34878D82A}">
                    <a16:rowId xmlns:a16="http://schemas.microsoft.com/office/drawing/2014/main" val="10004"/>
                  </a:ext>
                </a:extLst>
              </a:tr>
              <a:tr h="370840">
                <a:tc>
                  <a:txBody>
                    <a:bodyPr/>
                    <a:lstStyle/>
                    <a:p>
                      <a:r>
                        <a:rPr lang="en-US" dirty="0"/>
                        <a:t>Final</a:t>
                      </a:r>
                      <a:r>
                        <a:rPr lang="en-US" baseline="0" dirty="0"/>
                        <a:t> Term</a:t>
                      </a:r>
                      <a:endParaRPr lang="en-US" dirty="0"/>
                    </a:p>
                  </a:txBody>
                  <a:tcPr/>
                </a:tc>
                <a:tc>
                  <a:txBody>
                    <a:bodyPr/>
                    <a:lstStyle/>
                    <a:p>
                      <a:r>
                        <a:rPr lang="en-US" dirty="0"/>
                        <a:t>40 %</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Strict actions will be taken in case of plagiarism</a:t>
                      </a:r>
                    </a:p>
                  </a:txBody>
                  <a:tcPr/>
                </a:tc>
                <a:extLst>
                  <a:ext uri="{0D108BD9-81ED-4DB2-BD59-A6C34878D82A}">
                    <a16:rowId xmlns:a16="http://schemas.microsoft.com/office/drawing/2014/main" val="10005"/>
                  </a:ext>
                </a:extLst>
              </a:tr>
              <a:tr h="370840">
                <a:tc>
                  <a:txBody>
                    <a:bodyPr/>
                    <a:lstStyle/>
                    <a:p>
                      <a:r>
                        <a:rPr lang="en-US" dirty="0"/>
                        <a:t>Total</a:t>
                      </a:r>
                    </a:p>
                  </a:txBody>
                  <a:tcPr/>
                </a:tc>
                <a:tc>
                  <a:txBody>
                    <a:bodyPr/>
                    <a:lstStyle/>
                    <a:p>
                      <a:r>
                        <a:rPr lang="en-US" dirty="0"/>
                        <a:t>100 %</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6351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547938"/>
            <a:ext cx="7772400" cy="2862262"/>
          </a:xfrm>
        </p:spPr>
        <p:txBody>
          <a:bodyPr>
            <a:normAutofit/>
          </a:bodyPr>
          <a:lstStyle/>
          <a:p>
            <a:pPr marL="457200" indent="-457200">
              <a:buFont typeface="+mj-lt"/>
              <a:buAutoNum type="arabicPeriod"/>
            </a:pPr>
            <a:r>
              <a:rPr lang="en-US" dirty="0"/>
              <a:t>Bad Designs are everywhere </a:t>
            </a:r>
          </a:p>
          <a:p>
            <a:pPr marL="457200" indent="-457200">
              <a:buFont typeface="+mj-lt"/>
              <a:buAutoNum type="arabicPeriod"/>
            </a:pPr>
            <a:r>
              <a:rPr lang="en-US" dirty="0"/>
              <a:t>Human Computer Interaction</a:t>
            </a:r>
            <a:endParaRPr lang="en-US" sz="2400" dirty="0"/>
          </a:p>
          <a:p>
            <a:pPr marL="457200" indent="-457200">
              <a:buFont typeface="+mj-lt"/>
              <a:buAutoNum type="arabicPeriod"/>
            </a:pPr>
            <a:r>
              <a:rPr lang="en-US" dirty="0"/>
              <a:t>Difference between focus of SE and HCI</a:t>
            </a:r>
          </a:p>
          <a:p>
            <a:pPr marL="457200" indent="-457200">
              <a:buFont typeface="+mj-lt"/>
              <a:buAutoNum type="arabicPeriod"/>
            </a:pPr>
            <a:r>
              <a:rPr lang="en-US" dirty="0"/>
              <a:t>History of User Interfaces  </a:t>
            </a:r>
          </a:p>
          <a:p>
            <a:pPr marL="457200" indent="-457200">
              <a:buFont typeface="+mj-lt"/>
              <a:buAutoNum type="arabicPeriod"/>
            </a:pPr>
            <a:r>
              <a:rPr lang="en-US" dirty="0"/>
              <a:t>Course Reference Material </a:t>
            </a:r>
          </a:p>
        </p:txBody>
      </p:sp>
      <p:sp>
        <p:nvSpPr>
          <p:cNvPr id="2" name="Title 1"/>
          <p:cNvSpPr>
            <a:spLocks noGrp="1"/>
          </p:cNvSpPr>
          <p:nvPr>
            <p:ph type="title"/>
          </p:nvPr>
        </p:nvSpPr>
        <p:spPr/>
        <p:txBody>
          <a:bodyPr/>
          <a:lstStyle/>
          <a:p>
            <a:r>
              <a:rPr lang="en-US" dirty="0"/>
              <a:t>Introduction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US"/>
          </a:p>
        </p:txBody>
      </p:sp>
      <p:sp>
        <p:nvSpPr>
          <p:cNvPr id="2" name="Title 1"/>
          <p:cNvSpPr>
            <a:spLocks noGrp="1"/>
          </p:cNvSpPr>
          <p:nvPr>
            <p:ph type="title"/>
          </p:nvPr>
        </p:nvSpPr>
        <p:spPr/>
        <p:txBody>
          <a:bodyPr/>
          <a:lstStyle/>
          <a:p>
            <a:r>
              <a:rPr lang="en-US" dirty="0"/>
              <a:t>1. Bad Designs are everywhere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Did You Ever Hate Your Computer? </a:t>
            </a:r>
          </a:p>
        </p:txBody>
      </p:sp>
      <p:pic>
        <p:nvPicPr>
          <p:cNvPr id="13316" name="Picture 4" descr="http://www.techfume.com/wp-content/uploads/2011/02/break-computers-i-hate-computer-6-reasons.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7400" y="1411476"/>
            <a:ext cx="5219700" cy="4836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744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Facts</a:t>
            </a:r>
          </a:p>
        </p:txBody>
      </p:sp>
      <p:sp>
        <p:nvSpPr>
          <p:cNvPr id="3" name="Content Placeholder 2"/>
          <p:cNvSpPr>
            <a:spLocks noGrp="1"/>
          </p:cNvSpPr>
          <p:nvPr>
            <p:ph sz="quarter" idx="1"/>
          </p:nvPr>
        </p:nvSpPr>
        <p:spPr/>
        <p:txBody>
          <a:bodyPr>
            <a:normAutofit fontScale="92500" lnSpcReduction="20000"/>
          </a:bodyPr>
          <a:lstStyle/>
          <a:p>
            <a:r>
              <a:rPr lang="en-US" dirty="0"/>
              <a:t>1 in every 4 computers has been physically attacked by its owner - </a:t>
            </a:r>
            <a:r>
              <a:rPr lang="en-US" dirty="0" err="1"/>
              <a:t>Novatech</a:t>
            </a:r>
            <a:r>
              <a:rPr lang="en-US" dirty="0"/>
              <a:t> (British PC Manufacturer)</a:t>
            </a:r>
          </a:p>
          <a:p>
            <a:endParaRPr lang="en-US" dirty="0"/>
          </a:p>
          <a:p>
            <a:r>
              <a:rPr lang="en-US" dirty="0"/>
              <a:t>Almost </a:t>
            </a:r>
            <a:r>
              <a:rPr lang="en-US" dirty="0">
                <a:cs typeface="Arial" charset="0"/>
              </a:rPr>
              <a:t>⅓</a:t>
            </a:r>
            <a:r>
              <a:rPr lang="en-US" dirty="0"/>
              <a:t> of people have physically attacked a computer – National Opinion Poll/Symantec </a:t>
            </a:r>
          </a:p>
          <a:p>
            <a:endParaRPr lang="en-US" dirty="0"/>
          </a:p>
          <a:p>
            <a:r>
              <a:rPr lang="en-US" dirty="0"/>
              <a:t>67% experienced frustration, exasperation and anger – National Opinion Poll/Symantec </a:t>
            </a:r>
          </a:p>
          <a:p>
            <a:endParaRPr lang="en-US" dirty="0"/>
          </a:p>
          <a:p>
            <a:r>
              <a:rPr lang="en-US" dirty="0"/>
              <a:t>70% swore at their machines – National Opinion Poll/Symantec</a:t>
            </a:r>
            <a:endParaRPr lang="en-US" sz="3600" dirty="0"/>
          </a:p>
          <a:p>
            <a:endParaRPr lang="en-US" dirty="0"/>
          </a:p>
        </p:txBody>
      </p:sp>
    </p:spTree>
    <p:extLst>
      <p:ext uri="{BB962C8B-B14F-4D97-AF65-F5344CB8AC3E}">
        <p14:creationId xmlns:p14="http://schemas.microsoft.com/office/powerpoint/2010/main" val="3670569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Good and Bad Interfaces! </a:t>
            </a:r>
          </a:p>
        </p:txBody>
      </p:sp>
      <p:sp>
        <p:nvSpPr>
          <p:cNvPr id="3" name="Content Placeholder 2"/>
          <p:cNvSpPr>
            <a:spLocks noGrp="1"/>
          </p:cNvSpPr>
          <p:nvPr>
            <p:ph sz="quarter" idx="1"/>
          </p:nvPr>
        </p:nvSpPr>
        <p:spPr>
          <a:xfrm>
            <a:off x="914400" y="1447800"/>
            <a:ext cx="4724400" cy="4572000"/>
          </a:xfrm>
        </p:spPr>
        <p:txBody>
          <a:bodyPr/>
          <a:lstStyle/>
          <a:p>
            <a:pPr algn="ctr">
              <a:buNone/>
            </a:pPr>
            <a:endParaRPr lang="en-US" dirty="0"/>
          </a:p>
          <a:p>
            <a:pPr algn="ctr">
              <a:buNone/>
            </a:pPr>
            <a:r>
              <a:rPr lang="en-US" dirty="0"/>
              <a:t>Computers are every where </a:t>
            </a:r>
          </a:p>
          <a:p>
            <a:pPr algn="ctr">
              <a:buNone/>
            </a:pPr>
            <a:endParaRPr lang="en-US" dirty="0"/>
          </a:p>
          <a:p>
            <a:pPr algn="ctr">
              <a:buNone/>
            </a:pPr>
            <a:r>
              <a:rPr lang="en-US" dirty="0"/>
              <a:t>And </a:t>
            </a:r>
          </a:p>
          <a:p>
            <a:pPr algn="ctr">
              <a:buNone/>
            </a:pPr>
            <a:endParaRPr lang="en-US" dirty="0"/>
          </a:p>
          <a:p>
            <a:pPr algn="ctr">
              <a:buNone/>
            </a:pPr>
            <a:r>
              <a:rPr lang="en-US" dirty="0"/>
              <a:t>Their good design is very important </a:t>
            </a:r>
          </a:p>
        </p:txBody>
      </p:sp>
      <p:pic>
        <p:nvPicPr>
          <p:cNvPr id="4" name="Picture 3"/>
          <p:cNvPicPr>
            <a:picLocks noChangeAspect="1" noChangeArrowheads="1"/>
          </p:cNvPicPr>
          <p:nvPr/>
        </p:nvPicPr>
        <p:blipFill>
          <a:blip r:embed="rId2" cstate="print"/>
          <a:srcRect/>
          <a:stretch>
            <a:fillRect/>
          </a:stretch>
        </p:blipFill>
        <p:spPr bwMode="auto">
          <a:xfrm>
            <a:off x="5257800" y="1466850"/>
            <a:ext cx="3539704" cy="4095750"/>
          </a:xfrm>
          <a:prstGeom prst="rect">
            <a:avLst/>
          </a:prstGeom>
          <a:noFill/>
          <a:ln w="9525">
            <a:noFill/>
            <a:miter lim="800000"/>
            <a:headEnd/>
            <a:tailEnd/>
          </a:ln>
          <a:effectLst/>
        </p:spPr>
      </p:pic>
    </p:spTree>
    <p:extLst>
      <p:ext uri="{BB962C8B-B14F-4D97-AF65-F5344CB8AC3E}">
        <p14:creationId xmlns:p14="http://schemas.microsoft.com/office/powerpoint/2010/main" val="2036718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Bad Designs are Everywhere </a:t>
            </a:r>
          </a:p>
        </p:txBody>
      </p:sp>
      <p:pic>
        <p:nvPicPr>
          <p:cNvPr id="1028" name="Picture 4" descr="Z:\HCI\Lectures\Bad Designs\USB.jpg"/>
          <p:cNvPicPr>
            <a:picLocks noChangeAspect="1" noChangeArrowheads="1"/>
          </p:cNvPicPr>
          <p:nvPr/>
        </p:nvPicPr>
        <p:blipFill>
          <a:blip r:embed="rId2" cstate="print"/>
          <a:srcRect/>
          <a:stretch>
            <a:fillRect/>
          </a:stretch>
        </p:blipFill>
        <p:spPr bwMode="auto">
          <a:xfrm>
            <a:off x="1143000" y="1981200"/>
            <a:ext cx="2763872" cy="2068512"/>
          </a:xfrm>
          <a:prstGeom prst="rect">
            <a:avLst/>
          </a:prstGeom>
          <a:noFill/>
        </p:spPr>
      </p:pic>
      <p:pic>
        <p:nvPicPr>
          <p:cNvPr id="7" name="Picture 5" descr="Z:\HCI\Lectures\Bad Designs\doors2.jpg"/>
          <p:cNvPicPr>
            <a:picLocks noChangeAspect="1" noChangeArrowheads="1"/>
          </p:cNvPicPr>
          <p:nvPr/>
        </p:nvPicPr>
        <p:blipFill>
          <a:blip r:embed="rId3" cstate="print"/>
          <a:srcRect/>
          <a:stretch>
            <a:fillRect/>
          </a:stretch>
        </p:blipFill>
        <p:spPr bwMode="auto">
          <a:xfrm>
            <a:off x="4876800" y="1981199"/>
            <a:ext cx="3505200" cy="4478867"/>
          </a:xfrm>
          <a:prstGeom prst="rect">
            <a:avLst/>
          </a:prstGeom>
          <a:noFill/>
        </p:spPr>
      </p:pic>
      <p:sp>
        <p:nvSpPr>
          <p:cNvPr id="3" name="Content Placeholder 2"/>
          <p:cNvSpPr>
            <a:spLocks noGrp="1"/>
          </p:cNvSpPr>
          <p:nvPr>
            <p:ph sz="quarter" idx="1"/>
          </p:nvPr>
        </p:nvSpPr>
        <p:spPr/>
        <p:txBody>
          <a:bodyPr/>
          <a:lstStyle/>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or Bad?</a:t>
            </a:r>
          </a:p>
        </p:txBody>
      </p:sp>
      <p:sp>
        <p:nvSpPr>
          <p:cNvPr id="3" name="Content Placeholder 2"/>
          <p:cNvSpPr>
            <a:spLocks noGrp="1"/>
          </p:cNvSpPr>
          <p:nvPr>
            <p:ph sz="quarter" idx="1"/>
          </p:nvPr>
        </p:nvSpPr>
        <p:spPr/>
        <p:txBody>
          <a:bodyPr/>
          <a:lstStyle/>
          <a:p>
            <a:endParaRPr lang="en-US"/>
          </a:p>
        </p:txBody>
      </p:sp>
      <p:pic>
        <p:nvPicPr>
          <p:cNvPr id="1026" name="Picture 2" descr="Image result for real life bad design exam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4194" y="1600200"/>
            <a:ext cx="428625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502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dirty="0"/>
          </a:p>
        </p:txBody>
      </p:sp>
      <p:pic>
        <p:nvPicPr>
          <p:cNvPr id="2050" name="Picture 2" descr="http://assets.dornob.com/wp-content/uploads/2014/04/door-to-nowhe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0112" y="1600200"/>
            <a:ext cx="4457700" cy="4114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653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5122" name="Picture 2" descr="https://www.wired.com/images_blogs/design/2014/03/13_glas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00200"/>
            <a:ext cx="3886200" cy="44958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imwm.org/wordpress/wp-content/uploads/2012/11/Creative-coffe-cup-design-11-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610818"/>
            <a:ext cx="3276600"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279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Good and bad design</a:t>
            </a:r>
            <a:endParaRPr lang="en-US" dirty="0"/>
          </a:p>
        </p:txBody>
      </p:sp>
      <p:pic>
        <p:nvPicPr>
          <p:cNvPr id="3074" name="Picture 2" descr="Z:\HCI\Lectures\Bad Designs\mouseconnector8b.jpg"/>
          <p:cNvPicPr>
            <a:picLocks noChangeAspect="1" noChangeArrowheads="1"/>
          </p:cNvPicPr>
          <p:nvPr/>
        </p:nvPicPr>
        <p:blipFill>
          <a:blip r:embed="rId2" cstate="print"/>
          <a:srcRect/>
          <a:stretch>
            <a:fillRect/>
          </a:stretch>
        </p:blipFill>
        <p:spPr bwMode="auto">
          <a:xfrm>
            <a:off x="6324600" y="3810000"/>
            <a:ext cx="1231900" cy="2311400"/>
          </a:xfrm>
          <a:prstGeom prst="rect">
            <a:avLst/>
          </a:prstGeom>
          <a:noFill/>
          <a:ln w="76200">
            <a:solidFill>
              <a:srgbClr val="00B050"/>
            </a:solidFill>
          </a:ln>
        </p:spPr>
      </p:pic>
      <p:pic>
        <p:nvPicPr>
          <p:cNvPr id="3075" name="Picture 3" descr="Z:\HCI\Lectures\Bad Designs\mouseconnector3.jpg"/>
          <p:cNvPicPr>
            <a:picLocks noChangeAspect="1" noChangeArrowheads="1"/>
          </p:cNvPicPr>
          <p:nvPr/>
        </p:nvPicPr>
        <p:blipFill>
          <a:blip r:embed="rId3" cstate="print"/>
          <a:srcRect/>
          <a:stretch>
            <a:fillRect/>
          </a:stretch>
        </p:blipFill>
        <p:spPr bwMode="auto">
          <a:xfrm>
            <a:off x="685799" y="2057400"/>
            <a:ext cx="4332043" cy="3276600"/>
          </a:xfrm>
          <a:prstGeom prst="rect">
            <a:avLst/>
          </a:prstGeom>
          <a:noFill/>
          <a:ln w="76200">
            <a:solidFill>
              <a:srgbClr val="C00000"/>
            </a:solidFill>
          </a:ln>
        </p:spPr>
      </p:pic>
      <p:pic>
        <p:nvPicPr>
          <p:cNvPr id="3076" name="Picture 4" descr="Z:\HCI\Lectures\Bad Designs\mouseconnector4b.jpg"/>
          <p:cNvPicPr>
            <a:picLocks noChangeAspect="1" noChangeArrowheads="1"/>
          </p:cNvPicPr>
          <p:nvPr/>
        </p:nvPicPr>
        <p:blipFill>
          <a:blip r:embed="rId4" cstate="print"/>
          <a:srcRect/>
          <a:stretch>
            <a:fillRect/>
          </a:stretch>
        </p:blipFill>
        <p:spPr bwMode="auto">
          <a:xfrm>
            <a:off x="6324600" y="1447800"/>
            <a:ext cx="1244600" cy="1714500"/>
          </a:xfrm>
          <a:prstGeom prst="rect">
            <a:avLst/>
          </a:prstGeom>
          <a:noFill/>
          <a:ln w="76200">
            <a:solidFill>
              <a:srgbClr val="00B050"/>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Case Study: Unix Commands</a:t>
            </a:r>
          </a:p>
        </p:txBody>
      </p:sp>
      <p:sp>
        <p:nvSpPr>
          <p:cNvPr id="3" name="Content Placeholder 2"/>
          <p:cNvSpPr>
            <a:spLocks noGrp="1"/>
          </p:cNvSpPr>
          <p:nvPr>
            <p:ph sz="quarter" idx="1"/>
          </p:nvPr>
        </p:nvSpPr>
        <p:spPr/>
        <p:txBody>
          <a:bodyPr/>
          <a:lstStyle/>
          <a:p>
            <a:endParaRPr lang="en-US" dirty="0"/>
          </a:p>
          <a:p>
            <a:r>
              <a:rPr lang="en-US" dirty="0"/>
              <a:t>Intend to type: </a:t>
            </a:r>
            <a:r>
              <a:rPr lang="en-US" dirty="0" err="1"/>
              <a:t>rm</a:t>
            </a:r>
            <a:r>
              <a:rPr lang="en-US" dirty="0"/>
              <a:t> *˜ to remove </a:t>
            </a:r>
            <a:r>
              <a:rPr lang="en-US" dirty="0" err="1"/>
              <a:t>Emacs</a:t>
            </a:r>
            <a:r>
              <a:rPr lang="en-US" dirty="0"/>
              <a:t> backup files.</a:t>
            </a:r>
          </a:p>
          <a:p>
            <a:endParaRPr lang="en-US" dirty="0"/>
          </a:p>
          <a:p>
            <a:r>
              <a:rPr lang="en-US" dirty="0"/>
              <a:t>Actually type: </a:t>
            </a:r>
            <a:r>
              <a:rPr lang="en-US" dirty="0" err="1"/>
              <a:t>rm</a:t>
            </a:r>
            <a:r>
              <a:rPr lang="en-US" dirty="0"/>
              <a:t> * ˜ which removes everything!</a:t>
            </a:r>
          </a:p>
          <a:p>
            <a:endParaRPr lang="en-US" dirty="0"/>
          </a:p>
          <a:p>
            <a:r>
              <a:rPr lang="en-US" dirty="0"/>
              <a:t>And there is no undo . . .</a:t>
            </a:r>
          </a:p>
        </p:txBody>
      </p:sp>
    </p:spTree>
    <p:extLst>
      <p:ext uri="{BB962C8B-B14F-4D97-AF65-F5344CB8AC3E}">
        <p14:creationId xmlns:p14="http://schemas.microsoft.com/office/powerpoint/2010/main" val="3221031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a:t>
            </a:r>
          </a:p>
        </p:txBody>
      </p:sp>
      <p:pic>
        <p:nvPicPr>
          <p:cNvPr id="3074" name="Picture 2" descr="https://chasemor.files.wordpress.com/2010/11/baddesign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6" y="16238"/>
            <a:ext cx="9144000" cy="6841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554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a:t>
            </a:r>
          </a:p>
        </p:txBody>
      </p:sp>
      <p:pic>
        <p:nvPicPr>
          <p:cNvPr id="4" name="Picture 4"/>
          <p:cNvPicPr>
            <a:picLocks noChangeAspect="1" noChangeArrowheads="1"/>
          </p:cNvPicPr>
          <p:nvPr/>
        </p:nvPicPr>
        <p:blipFill>
          <a:blip r:embed="rId2" cstate="print"/>
          <a:srcRect/>
          <a:stretch>
            <a:fillRect/>
          </a:stretch>
        </p:blipFill>
        <p:spPr bwMode="auto">
          <a:xfrm>
            <a:off x="1859714" y="1419126"/>
            <a:ext cx="5074486" cy="5286474"/>
          </a:xfrm>
          <a:prstGeom prst="rect">
            <a:avLst/>
          </a:prstGeom>
          <a:noFill/>
          <a:ln w="9525">
            <a:noFill/>
            <a:miter lim="800000"/>
            <a:headEnd/>
            <a:tailEnd/>
          </a:ln>
          <a:effectLst/>
        </p:spPr>
      </p:pic>
    </p:spTree>
    <p:extLst>
      <p:ext uri="{BB962C8B-B14F-4D97-AF65-F5344CB8AC3E}">
        <p14:creationId xmlns:p14="http://schemas.microsoft.com/office/powerpoint/2010/main" val="1361094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Useless Error Messages </a:t>
            </a:r>
          </a:p>
        </p:txBody>
      </p:sp>
      <p:pic>
        <p:nvPicPr>
          <p:cNvPr id="7170" name="Picture 2" descr="Cryptic inde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3604" y="1676400"/>
            <a:ext cx="6327796" cy="20574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Oh, OK, that makes sens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4906" y="4267200"/>
            <a:ext cx="6286494"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3875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or Bad?</a:t>
            </a:r>
          </a:p>
        </p:txBody>
      </p:sp>
      <p:sp>
        <p:nvSpPr>
          <p:cNvPr id="3" name="Content Placeholder 2"/>
          <p:cNvSpPr>
            <a:spLocks noGrp="1"/>
          </p:cNvSpPr>
          <p:nvPr>
            <p:ph sz="quarter" idx="1"/>
          </p:nvPr>
        </p:nvSpPr>
        <p:spPr/>
        <p:txBody>
          <a:bodyPr/>
          <a:lstStyle/>
          <a:p>
            <a:endParaRPr lang="en-US"/>
          </a:p>
        </p:txBody>
      </p:sp>
      <p:pic>
        <p:nvPicPr>
          <p:cNvPr id="1026" name="Picture 2" descr="http://courses.csail.mit.edu/6.831/2014/readings/assets/L01/Pictures/0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95400"/>
            <a:ext cx="8763000" cy="556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4427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Redesign</a:t>
            </a:r>
          </a:p>
        </p:txBody>
      </p:sp>
      <p:sp>
        <p:nvSpPr>
          <p:cNvPr id="3" name="Content Placeholder 2"/>
          <p:cNvSpPr>
            <a:spLocks noGrp="1"/>
          </p:cNvSpPr>
          <p:nvPr>
            <p:ph sz="quarter"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95450"/>
            <a:ext cx="8305799" cy="501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1356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or Bad?</a:t>
            </a:r>
          </a:p>
        </p:txBody>
      </p:sp>
      <p:sp>
        <p:nvSpPr>
          <p:cNvPr id="3" name="Content Placeholder 2"/>
          <p:cNvSpPr>
            <a:spLocks noGrp="1"/>
          </p:cNvSpPr>
          <p:nvPr>
            <p:ph sz="quarter" idx="1"/>
          </p:nvPr>
        </p:nvSpPr>
        <p:spPr/>
        <p:txBody>
          <a:bodyPr/>
          <a:lstStyle/>
          <a:p>
            <a:endParaRPr 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1524000"/>
            <a:ext cx="8039100" cy="478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2152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Designs are Everywhere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41" y="1362670"/>
            <a:ext cx="9076159" cy="5495330"/>
          </a:xfrm>
          <a:prstGeom prst="rect">
            <a:avLst/>
          </a:prstGeom>
        </p:spPr>
      </p:pic>
    </p:spTree>
    <p:extLst>
      <p:ext uri="{BB962C8B-B14F-4D97-AF65-F5344CB8AC3E}">
        <p14:creationId xmlns:p14="http://schemas.microsoft.com/office/powerpoint/2010/main" val="9508266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Designs are Everywhere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47800"/>
            <a:ext cx="9144000" cy="5133474"/>
          </a:xfrm>
          <a:prstGeom prst="rect">
            <a:avLst/>
          </a:prstGeom>
        </p:spPr>
      </p:pic>
    </p:spTree>
    <p:extLst>
      <p:ext uri="{BB962C8B-B14F-4D97-AF65-F5344CB8AC3E}">
        <p14:creationId xmlns:p14="http://schemas.microsoft.com/office/powerpoint/2010/main" val="1056030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Designs are Everywhere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577" y="1905000"/>
            <a:ext cx="6347823" cy="4385974"/>
          </a:xfrm>
          <a:prstGeom prst="rect">
            <a:avLst/>
          </a:prstGeom>
        </p:spPr>
      </p:pic>
    </p:spTree>
    <p:extLst>
      <p:ext uri="{BB962C8B-B14F-4D97-AF65-F5344CB8AC3E}">
        <p14:creationId xmlns:p14="http://schemas.microsoft.com/office/powerpoint/2010/main" val="2541699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Designs are Everywhere </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950" y="581025"/>
            <a:ext cx="7658100" cy="5895975"/>
          </a:xfrm>
          <a:prstGeom prst="rect">
            <a:avLst/>
          </a:prstGeom>
        </p:spPr>
      </p:pic>
    </p:spTree>
    <p:extLst>
      <p:ext uri="{BB962C8B-B14F-4D97-AF65-F5344CB8AC3E}">
        <p14:creationId xmlns:p14="http://schemas.microsoft.com/office/powerpoint/2010/main" val="3472325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Designs are Everywhere </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2500" r="7500" b="24050"/>
          <a:stretch/>
        </p:blipFill>
        <p:spPr>
          <a:xfrm>
            <a:off x="108423" y="1219200"/>
            <a:ext cx="9035577" cy="5350199"/>
          </a:xfrm>
          <a:prstGeom prst="rect">
            <a:avLst/>
          </a:prstGeom>
        </p:spPr>
      </p:pic>
    </p:spTree>
    <p:extLst>
      <p:ext uri="{BB962C8B-B14F-4D97-AF65-F5344CB8AC3E}">
        <p14:creationId xmlns:p14="http://schemas.microsoft.com/office/powerpoint/2010/main" val="1428046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mage result for good UI design in HCI"/>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8308" y="2136475"/>
            <a:ext cx="6492914" cy="2671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0592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Designs are Everywhere </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43509"/>
          <a:stretch/>
        </p:blipFill>
        <p:spPr>
          <a:xfrm>
            <a:off x="0" y="1657350"/>
            <a:ext cx="9084777" cy="3752850"/>
          </a:xfrm>
          <a:prstGeom prst="rect">
            <a:avLst/>
          </a:prstGeom>
        </p:spPr>
      </p:pic>
    </p:spTree>
    <p:extLst>
      <p:ext uri="{BB962C8B-B14F-4D97-AF65-F5344CB8AC3E}">
        <p14:creationId xmlns:p14="http://schemas.microsoft.com/office/powerpoint/2010/main" val="1493937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 </a:t>
            </a:r>
          </a:p>
        </p:txBody>
      </p:sp>
      <p:sp>
        <p:nvSpPr>
          <p:cNvPr id="3" name="Content Placeholder 2"/>
          <p:cNvSpPr>
            <a:spLocks noGrp="1"/>
          </p:cNvSpPr>
          <p:nvPr>
            <p:ph sz="quarter" idx="1"/>
          </p:nvPr>
        </p:nvSpPr>
        <p:spPr/>
        <p:txBody>
          <a:bodyPr/>
          <a:lstStyle/>
          <a:p>
            <a:pPr algn="ctr">
              <a:buNone/>
            </a:pPr>
            <a:endParaRPr lang="en-US" b="1" dirty="0"/>
          </a:p>
          <a:p>
            <a:pPr algn="ctr">
              <a:buNone/>
            </a:pPr>
            <a:endParaRPr lang="en-US" b="1" dirty="0"/>
          </a:p>
          <a:p>
            <a:pPr algn="ctr">
              <a:buNone/>
            </a:pPr>
            <a:r>
              <a:rPr lang="en-US" b="1" dirty="0"/>
              <a:t>Better Designs! </a:t>
            </a:r>
          </a:p>
        </p:txBody>
      </p:sp>
    </p:spTree>
    <p:extLst>
      <p:ext uri="{BB962C8B-B14F-4D97-AF65-F5344CB8AC3E}">
        <p14:creationId xmlns:p14="http://schemas.microsoft.com/office/powerpoint/2010/main" val="38510552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Good Design</a:t>
            </a:r>
          </a:p>
        </p:txBody>
      </p:sp>
      <p:pic>
        <p:nvPicPr>
          <p:cNvPr id="8194" name="Picture 2" descr="Image result for good interface desig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81924" y="2125266"/>
            <a:ext cx="4780153" cy="3666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0389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Image result for good interface desig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1048" y="1340760"/>
            <a:ext cx="7002585" cy="4071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60124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normAutofit/>
          </a:bodyPr>
          <a:lstStyle/>
          <a:p>
            <a:pPr marL="457200" indent="-457200">
              <a:buAutoNum type="arabicPeriod"/>
            </a:pPr>
            <a:r>
              <a:rPr lang="en-US" dirty="0"/>
              <a:t>Significance of HCI</a:t>
            </a:r>
          </a:p>
          <a:p>
            <a:pPr marL="457200" indent="-457200">
              <a:buAutoNum type="arabicPeriod"/>
            </a:pPr>
            <a:r>
              <a:rPr lang="en-US" dirty="0"/>
              <a:t>Computers are everywhere</a:t>
            </a:r>
          </a:p>
          <a:p>
            <a:pPr marL="457200" indent="-457200">
              <a:buAutoNum type="arabicPeriod"/>
            </a:pPr>
            <a:endParaRPr lang="en-US" dirty="0"/>
          </a:p>
        </p:txBody>
      </p:sp>
      <p:sp>
        <p:nvSpPr>
          <p:cNvPr id="2" name="Title 1"/>
          <p:cNvSpPr>
            <a:spLocks noGrp="1"/>
          </p:cNvSpPr>
          <p:nvPr>
            <p:ph type="title"/>
          </p:nvPr>
        </p:nvSpPr>
        <p:spPr/>
        <p:txBody>
          <a:bodyPr/>
          <a:lstStyle/>
          <a:p>
            <a:r>
              <a:rPr lang="en-US" dirty="0"/>
              <a:t>Human Computer Interaction </a:t>
            </a:r>
          </a:p>
        </p:txBody>
      </p:sp>
    </p:spTree>
    <p:extLst>
      <p:ext uri="{BB962C8B-B14F-4D97-AF65-F5344CB8AC3E}">
        <p14:creationId xmlns:p14="http://schemas.microsoft.com/office/powerpoint/2010/main" val="38549016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624138"/>
            <a:ext cx="7772400" cy="4005262"/>
          </a:xfrm>
        </p:spPr>
        <p:txBody>
          <a:bodyPr>
            <a:normAutofit/>
          </a:bodyPr>
          <a:lstStyle/>
          <a:p>
            <a:pPr marL="457200" indent="-457200">
              <a:buFont typeface="+mj-lt"/>
              <a:buAutoNum type="arabicPeriod"/>
            </a:pPr>
            <a:r>
              <a:rPr lang="en-US" dirty="0"/>
              <a:t>Bright Side</a:t>
            </a:r>
          </a:p>
          <a:p>
            <a:pPr marL="1005840" lvl="1" indent="-457200">
              <a:buFont typeface="+mj-lt"/>
              <a:buAutoNum type="arabicPeriod"/>
            </a:pPr>
            <a:r>
              <a:rPr lang="en-US" sz="2000" dirty="0"/>
              <a:t>Computers are enabling new discoveries </a:t>
            </a:r>
          </a:p>
          <a:p>
            <a:pPr marL="1005840" lvl="1" indent="-457200">
              <a:buFont typeface="+mj-lt"/>
              <a:buAutoNum type="arabicPeriod"/>
            </a:pPr>
            <a:r>
              <a:rPr lang="en-US" sz="2000" dirty="0"/>
              <a:t>Leading to efficiency</a:t>
            </a:r>
          </a:p>
          <a:p>
            <a:pPr marL="1005840" lvl="1" indent="-457200">
              <a:buFont typeface="+mj-lt"/>
              <a:buAutoNum type="arabicPeriod"/>
            </a:pPr>
            <a:r>
              <a:rPr lang="en-US" sz="2000" dirty="0"/>
              <a:t>Making out life easy and convenient</a:t>
            </a:r>
          </a:p>
          <a:p>
            <a:pPr marL="457200" indent="-457200">
              <a:buFont typeface="+mj-lt"/>
              <a:buAutoNum type="arabicPeriod"/>
            </a:pPr>
            <a:r>
              <a:rPr lang="en-US" dirty="0"/>
              <a:t>Dark Side</a:t>
            </a:r>
          </a:p>
          <a:p>
            <a:pPr marL="1005840" lvl="1" indent="-457200">
              <a:buFont typeface="+mj-lt"/>
              <a:buAutoNum type="arabicPeriod"/>
            </a:pPr>
            <a:r>
              <a:rPr lang="en-US" sz="2000" dirty="0"/>
              <a:t>Computers are annoying us</a:t>
            </a:r>
          </a:p>
          <a:p>
            <a:pPr marL="1005840" lvl="1" indent="-457200">
              <a:buFont typeface="+mj-lt"/>
              <a:buAutoNum type="arabicPeriod"/>
            </a:pPr>
            <a:r>
              <a:rPr lang="en-US" sz="2000" dirty="0"/>
              <a:t>They are infuriating us</a:t>
            </a:r>
          </a:p>
          <a:p>
            <a:pPr marL="1005840" lvl="1" indent="-457200">
              <a:buFont typeface="+mj-lt"/>
              <a:buAutoNum type="arabicPeriod"/>
            </a:pPr>
            <a:r>
              <a:rPr lang="en-US" sz="2000" dirty="0"/>
              <a:t>They even kill a few of us </a:t>
            </a:r>
          </a:p>
          <a:p>
            <a:pPr marL="1005840" lvl="1" indent="-457200">
              <a:buFont typeface="+mj-lt"/>
              <a:buAutoNum type="arabicPeriod"/>
            </a:pPr>
            <a:endParaRPr lang="en-US" dirty="0"/>
          </a:p>
          <a:p>
            <a:endParaRPr lang="en-US" dirty="0"/>
          </a:p>
        </p:txBody>
      </p:sp>
      <p:sp>
        <p:nvSpPr>
          <p:cNvPr id="2" name="Title 1"/>
          <p:cNvSpPr>
            <a:spLocks noGrp="1"/>
          </p:cNvSpPr>
          <p:nvPr>
            <p:ph type="title"/>
          </p:nvPr>
        </p:nvSpPr>
        <p:spPr/>
        <p:txBody>
          <a:bodyPr>
            <a:normAutofit/>
          </a:bodyPr>
          <a:lstStyle/>
          <a:p>
            <a:r>
              <a:rPr lang="en-US" dirty="0"/>
              <a:t>Computer is becoming Ubiquitous</a:t>
            </a:r>
          </a:p>
        </p:txBody>
      </p:sp>
    </p:spTree>
    <p:extLst>
      <p:ext uri="{BB962C8B-B14F-4D97-AF65-F5344CB8AC3E}">
        <p14:creationId xmlns:p14="http://schemas.microsoft.com/office/powerpoint/2010/main" val="30061405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normAutofit lnSpcReduction="10000"/>
          </a:bodyPr>
          <a:lstStyle/>
          <a:p>
            <a:r>
              <a:rPr lang="en-US" dirty="0"/>
              <a:t>HCI plays a role to bridge up the gap between the interfaces of machines and human understanding that we have seen in previous examples</a:t>
            </a:r>
          </a:p>
        </p:txBody>
      </p:sp>
      <p:sp>
        <p:nvSpPr>
          <p:cNvPr id="2" name="Title 1"/>
          <p:cNvSpPr>
            <a:spLocks noGrp="1"/>
          </p:cNvSpPr>
          <p:nvPr>
            <p:ph type="title"/>
          </p:nvPr>
        </p:nvSpPr>
        <p:spPr/>
        <p:txBody>
          <a:bodyPr/>
          <a:lstStyle/>
          <a:p>
            <a:r>
              <a:rPr lang="en-US" dirty="0"/>
              <a:t>Role of HCI</a:t>
            </a:r>
          </a:p>
        </p:txBody>
      </p:sp>
    </p:spTree>
    <p:extLst>
      <p:ext uri="{BB962C8B-B14F-4D97-AF65-F5344CB8AC3E}">
        <p14:creationId xmlns:p14="http://schemas.microsoft.com/office/powerpoint/2010/main" val="32009437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Human Computer Interaction </a:t>
            </a:r>
          </a:p>
        </p:txBody>
      </p:sp>
      <p:sp>
        <p:nvSpPr>
          <p:cNvPr id="3" name="Content Placeholder 2"/>
          <p:cNvSpPr>
            <a:spLocks noGrp="1"/>
          </p:cNvSpPr>
          <p:nvPr>
            <p:ph sz="quarter" idx="1"/>
          </p:nvPr>
        </p:nvSpPr>
        <p:spPr/>
        <p:txBody>
          <a:bodyPr/>
          <a:lstStyle/>
          <a:p>
            <a:r>
              <a:rPr lang="en-US" dirty="0"/>
              <a:t>The Humans </a:t>
            </a:r>
          </a:p>
          <a:p>
            <a:r>
              <a:rPr lang="en-US" dirty="0"/>
              <a:t>The Computers </a:t>
            </a:r>
          </a:p>
          <a:p>
            <a:r>
              <a:rPr lang="en-US" dirty="0"/>
              <a:t>The Interaction </a:t>
            </a:r>
          </a:p>
        </p:txBody>
      </p:sp>
      <p:pic>
        <p:nvPicPr>
          <p:cNvPr id="4" name="Picture 5" descr="j029298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3432175"/>
            <a:ext cx="1843088" cy="18192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5" name="Group 13"/>
          <p:cNvGrpSpPr>
            <a:grpSpLocks/>
          </p:cNvGrpSpPr>
          <p:nvPr/>
        </p:nvGrpSpPr>
        <p:grpSpPr bwMode="auto">
          <a:xfrm>
            <a:off x="6324600" y="2819400"/>
            <a:ext cx="1371600" cy="2514600"/>
            <a:chOff x="3552" y="1248"/>
            <a:chExt cx="864" cy="1584"/>
          </a:xfrm>
        </p:grpSpPr>
        <p:sp>
          <p:nvSpPr>
            <p:cNvPr id="6" name="Oval 7"/>
            <p:cNvSpPr>
              <a:spLocks noChangeArrowheads="1"/>
            </p:cNvSpPr>
            <p:nvPr/>
          </p:nvSpPr>
          <p:spPr bwMode="blackWhite">
            <a:xfrm>
              <a:off x="3696" y="1248"/>
              <a:ext cx="576" cy="57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8"/>
            <p:cNvSpPr>
              <a:spLocks noChangeShapeType="1"/>
            </p:cNvSpPr>
            <p:nvPr/>
          </p:nvSpPr>
          <p:spPr bwMode="blackWhite">
            <a:xfrm>
              <a:off x="3984" y="1824"/>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9"/>
            <p:cNvSpPr>
              <a:spLocks noChangeShapeType="1"/>
            </p:cNvSpPr>
            <p:nvPr/>
          </p:nvSpPr>
          <p:spPr bwMode="blackWhite">
            <a:xfrm flipH="1">
              <a:off x="3552" y="240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Line 10"/>
            <p:cNvSpPr>
              <a:spLocks noChangeShapeType="1"/>
            </p:cNvSpPr>
            <p:nvPr/>
          </p:nvSpPr>
          <p:spPr bwMode="blackWhite">
            <a:xfrm>
              <a:off x="3984" y="240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11"/>
            <p:cNvSpPr>
              <a:spLocks noChangeShapeType="1"/>
            </p:cNvSpPr>
            <p:nvPr/>
          </p:nvSpPr>
          <p:spPr bwMode="blackWhite">
            <a:xfrm>
              <a:off x="3552" y="206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1" name="Line 12"/>
          <p:cNvSpPr>
            <a:spLocks noChangeShapeType="1"/>
          </p:cNvSpPr>
          <p:nvPr/>
        </p:nvSpPr>
        <p:spPr bwMode="blackWhite">
          <a:xfrm>
            <a:off x="3505200" y="4114800"/>
            <a:ext cx="243840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Text Box 14"/>
          <p:cNvSpPr txBox="1">
            <a:spLocks noChangeArrowheads="1"/>
          </p:cNvSpPr>
          <p:nvPr/>
        </p:nvSpPr>
        <p:spPr bwMode="blackWhite">
          <a:xfrm>
            <a:off x="6553200" y="5522913"/>
            <a:ext cx="920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b="0"/>
              <a:t>Human</a:t>
            </a:r>
          </a:p>
        </p:txBody>
      </p:sp>
      <p:sp>
        <p:nvSpPr>
          <p:cNvPr id="13" name="Text Box 15"/>
          <p:cNvSpPr txBox="1">
            <a:spLocks noChangeArrowheads="1"/>
          </p:cNvSpPr>
          <p:nvPr/>
        </p:nvSpPr>
        <p:spPr bwMode="blackWhite">
          <a:xfrm>
            <a:off x="1600200" y="5486400"/>
            <a:ext cx="1187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b="0"/>
              <a:t>Computer</a:t>
            </a:r>
          </a:p>
        </p:txBody>
      </p:sp>
      <p:sp>
        <p:nvSpPr>
          <p:cNvPr id="14" name="Text Box 16"/>
          <p:cNvSpPr txBox="1">
            <a:spLocks noChangeArrowheads="1"/>
          </p:cNvSpPr>
          <p:nvPr/>
        </p:nvSpPr>
        <p:spPr bwMode="blackWhite">
          <a:xfrm>
            <a:off x="4083050" y="4281488"/>
            <a:ext cx="1250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b="0"/>
              <a:t>Interaction</a:t>
            </a:r>
          </a:p>
        </p:txBody>
      </p:sp>
    </p:spTree>
    <p:extLst>
      <p:ext uri="{BB962C8B-B14F-4D97-AF65-F5344CB8AC3E}">
        <p14:creationId xmlns:p14="http://schemas.microsoft.com/office/powerpoint/2010/main" val="28428206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EEA4F-653F-4B4C-B839-702F40CB19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0D736E-DCDC-49D8-9E05-57504B6684A5}"/>
              </a:ext>
            </a:extLst>
          </p:cNvPr>
          <p:cNvSpPr>
            <a:spLocks noGrp="1"/>
          </p:cNvSpPr>
          <p:nvPr>
            <p:ph sz="quarter" idx="1"/>
          </p:nvPr>
        </p:nvSpPr>
        <p:spPr/>
        <p:txBody>
          <a:bodyPr/>
          <a:lstStyle/>
          <a:p>
            <a:r>
              <a:rPr lang="en-US" dirty="0"/>
              <a:t>GENERAL STEPS OF AN INTERACTION </a:t>
            </a:r>
          </a:p>
          <a:p>
            <a:pPr lvl="1"/>
            <a:r>
              <a:rPr lang="en-US" dirty="0"/>
              <a:t>Articulation </a:t>
            </a:r>
          </a:p>
          <a:p>
            <a:pPr lvl="1"/>
            <a:r>
              <a:rPr lang="en-US" dirty="0"/>
              <a:t>Performance </a:t>
            </a:r>
          </a:p>
          <a:p>
            <a:pPr lvl="1"/>
            <a:endParaRPr lang="en-US" dirty="0"/>
          </a:p>
          <a:p>
            <a:pPr lvl="1"/>
            <a:endParaRPr lang="en-US" dirty="0"/>
          </a:p>
          <a:p>
            <a:pPr lvl="1"/>
            <a:r>
              <a:rPr lang="en-US" dirty="0"/>
              <a:t>Uploading </a:t>
            </a:r>
          </a:p>
        </p:txBody>
      </p:sp>
    </p:spTree>
    <p:extLst>
      <p:ext uri="{BB962C8B-B14F-4D97-AF65-F5344CB8AC3E}">
        <p14:creationId xmlns:p14="http://schemas.microsoft.com/office/powerpoint/2010/main" val="28801605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839200" cy="994172"/>
          </a:xfrm>
        </p:spPr>
        <p:txBody>
          <a:bodyPr>
            <a:normAutofit fontScale="90000"/>
          </a:bodyPr>
          <a:lstStyle/>
          <a:p>
            <a:r>
              <a:rPr lang="en-US" dirty="0"/>
              <a:t>Interaction Model: </a:t>
            </a:r>
            <a:r>
              <a:rPr lang="en-US" dirty="0" err="1"/>
              <a:t>Abowd</a:t>
            </a:r>
            <a:r>
              <a:rPr lang="en-US" dirty="0"/>
              <a:t> and Beale Framework </a:t>
            </a:r>
          </a:p>
        </p:txBody>
      </p:sp>
      <p:pic>
        <p:nvPicPr>
          <p:cNvPr id="4" name="Picture 2"/>
          <p:cNvPicPr>
            <a:picLocks noGrp="1" noChangeAspect="1" noChangeArrowheads="1"/>
          </p:cNvPicPr>
          <p:nvPr>
            <p:ph sz="quarter" idx="1"/>
          </p:nvPr>
        </p:nvPicPr>
        <p:blipFill>
          <a:blip r:embed="rId3" cstate="print"/>
          <a:stretch>
            <a:fillRect/>
          </a:stretch>
        </p:blipFill>
        <p:spPr bwMode="auto">
          <a:xfrm>
            <a:off x="914400" y="1375172"/>
            <a:ext cx="7872728" cy="5078682"/>
          </a:xfrm>
          <a:prstGeom prst="rect">
            <a:avLst/>
          </a:prstGeom>
          <a:noFill/>
          <a:ln w="9525">
            <a:noFill/>
            <a:miter lim="800000"/>
            <a:headEnd/>
            <a:tailEnd/>
          </a:ln>
          <a:effectLst/>
        </p:spPr>
      </p:pic>
      <p:cxnSp>
        <p:nvCxnSpPr>
          <p:cNvPr id="6" name="Straight Connector 5"/>
          <p:cNvCxnSpPr/>
          <p:nvPr/>
        </p:nvCxnSpPr>
        <p:spPr>
          <a:xfrm flipV="1">
            <a:off x="482958" y="4006069"/>
            <a:ext cx="8432442" cy="972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326892" y="1873128"/>
            <a:ext cx="1950344" cy="437043"/>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100" dirty="0">
                <a:solidFill>
                  <a:schemeClr val="accent2"/>
                </a:solidFill>
              </a:rPr>
              <a:t>Evaluation Area</a:t>
            </a:r>
          </a:p>
        </p:txBody>
      </p:sp>
      <p:sp>
        <p:nvSpPr>
          <p:cNvPr id="9" name="Content Placeholder 2"/>
          <p:cNvSpPr txBox="1">
            <a:spLocks/>
          </p:cNvSpPr>
          <p:nvPr/>
        </p:nvSpPr>
        <p:spPr>
          <a:xfrm>
            <a:off x="326892" y="5930213"/>
            <a:ext cx="1950344" cy="419333"/>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100" dirty="0">
                <a:solidFill>
                  <a:schemeClr val="accent2"/>
                </a:solidFill>
              </a:rPr>
              <a:t>Execution Area</a:t>
            </a:r>
          </a:p>
        </p:txBody>
      </p:sp>
    </p:spTree>
    <p:extLst>
      <p:ext uri="{BB962C8B-B14F-4D97-AF65-F5344CB8AC3E}">
        <p14:creationId xmlns:p14="http://schemas.microsoft.com/office/powerpoint/2010/main" val="1926116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81" name="Rectangle 13"/>
          <p:cNvSpPr>
            <a:spLocks noGrp="1" noChangeArrowheads="1"/>
          </p:cNvSpPr>
          <p:nvPr>
            <p:ph type="title"/>
          </p:nvPr>
        </p:nvSpPr>
        <p:spPr/>
        <p:txBody>
          <a:bodyPr>
            <a:normAutofit/>
          </a:bodyPr>
          <a:lstStyle/>
          <a:p>
            <a:r>
              <a:rPr lang="en-US"/>
              <a:t>Human Computer Interaction</a:t>
            </a:r>
          </a:p>
        </p:txBody>
      </p:sp>
      <p:sp>
        <p:nvSpPr>
          <p:cNvPr id="7182" name="Rectangle 14"/>
          <p:cNvSpPr>
            <a:spLocks noGrp="1" noChangeArrowheads="1"/>
          </p:cNvSpPr>
          <p:nvPr>
            <p:ph sz="quarter" idx="1"/>
          </p:nvPr>
        </p:nvSpPr>
        <p:spPr>
          <a:xfrm>
            <a:off x="914400" y="1447800"/>
            <a:ext cx="7772400" cy="4800600"/>
          </a:xfrm>
        </p:spPr>
        <p:txBody>
          <a:bodyPr>
            <a:normAutofit fontScale="77500" lnSpcReduction="20000"/>
          </a:bodyPr>
          <a:lstStyle/>
          <a:p>
            <a:pPr>
              <a:buNone/>
            </a:pPr>
            <a:r>
              <a:rPr lang="en-US" dirty="0"/>
              <a:t>Human computer interaction is a discipline concerned with the </a:t>
            </a:r>
            <a:br>
              <a:rPr lang="en-US" dirty="0"/>
            </a:br>
            <a:br>
              <a:rPr lang="en-US" dirty="0"/>
            </a:br>
            <a:br>
              <a:rPr lang="en-US" dirty="0"/>
            </a:br>
            <a:br>
              <a:rPr lang="en-US" dirty="0"/>
            </a:br>
            <a:r>
              <a:rPr lang="en-US" dirty="0"/>
              <a:t>	</a:t>
            </a:r>
            <a:br>
              <a:rPr lang="en-US" dirty="0"/>
            </a:br>
            <a:br>
              <a:rPr lang="en-US" dirty="0"/>
            </a:br>
            <a:br>
              <a:rPr lang="en-US" dirty="0"/>
            </a:br>
            <a:br>
              <a:rPr lang="en-US" dirty="0"/>
            </a:br>
            <a:br>
              <a:rPr lang="en-US" dirty="0"/>
            </a:br>
            <a:br>
              <a:rPr lang="en-US" dirty="0"/>
            </a:br>
            <a:endParaRPr lang="en-US" dirty="0"/>
          </a:p>
          <a:p>
            <a:pPr>
              <a:buNone/>
            </a:pPr>
            <a:endParaRPr lang="en-US" dirty="0"/>
          </a:p>
          <a:p>
            <a:pPr>
              <a:buNone/>
            </a:pPr>
            <a:endParaRPr lang="en-US" dirty="0"/>
          </a:p>
          <a:p>
            <a:pPr>
              <a:buNone/>
            </a:pPr>
            <a:r>
              <a:rPr lang="en-US" dirty="0"/>
              <a:t>of interactive computing systems for human use and with the study of major phenomena surrounding them.</a:t>
            </a:r>
          </a:p>
          <a:p>
            <a:endParaRPr lang="en-US" dirty="0"/>
          </a:p>
        </p:txBody>
      </p:sp>
      <p:grpSp>
        <p:nvGrpSpPr>
          <p:cNvPr id="2" name="Group 58"/>
          <p:cNvGrpSpPr>
            <a:grpSpLocks/>
          </p:cNvGrpSpPr>
          <p:nvPr/>
        </p:nvGrpSpPr>
        <p:grpSpPr bwMode="auto">
          <a:xfrm>
            <a:off x="975231" y="2109790"/>
            <a:ext cx="7253288" cy="3279775"/>
            <a:chOff x="430" y="1351"/>
            <a:chExt cx="4569" cy="2066"/>
          </a:xfrm>
        </p:grpSpPr>
        <p:sp>
          <p:nvSpPr>
            <p:cNvPr id="7172" name="Oval 4"/>
            <p:cNvSpPr>
              <a:spLocks noChangeArrowheads="1"/>
            </p:cNvSpPr>
            <p:nvPr/>
          </p:nvSpPr>
          <p:spPr bwMode="auto">
            <a:xfrm>
              <a:off x="1069" y="1351"/>
              <a:ext cx="2593" cy="1669"/>
            </a:xfrm>
            <a:prstGeom prst="ellipse">
              <a:avLst/>
            </a:prstGeom>
            <a:solidFill>
              <a:schemeClr val="bg1"/>
            </a:solidFill>
            <a:ln w="12699">
              <a:solidFill>
                <a:schemeClr val="tx1"/>
              </a:solidFill>
              <a:round/>
              <a:headEnd/>
              <a:tailEnd/>
            </a:ln>
            <a:effectLst/>
          </p:spPr>
          <p:txBody>
            <a:bodyPr wrap="none" anchor="ctr"/>
            <a:lstStyle/>
            <a:p>
              <a:endParaRPr lang="en-US"/>
            </a:p>
          </p:txBody>
        </p:sp>
        <p:sp>
          <p:nvSpPr>
            <p:cNvPr id="7173" name="Rectangle 5"/>
            <p:cNvSpPr>
              <a:spLocks noChangeArrowheads="1"/>
            </p:cNvSpPr>
            <p:nvPr/>
          </p:nvSpPr>
          <p:spPr bwMode="auto">
            <a:xfrm>
              <a:off x="430" y="1614"/>
              <a:ext cx="652" cy="214"/>
            </a:xfrm>
            <a:prstGeom prst="rect">
              <a:avLst/>
            </a:prstGeom>
            <a:noFill/>
            <a:ln w="9525">
              <a:noFill/>
              <a:miter lim="800000"/>
              <a:headEnd/>
              <a:tailEnd/>
            </a:ln>
            <a:effectLst/>
          </p:spPr>
          <p:txBody>
            <a:bodyPr wrap="none" lIns="92075" tIns="46038" rIns="92075" bIns="46038">
              <a:spAutoFit/>
            </a:bodyPr>
            <a:lstStyle/>
            <a:p>
              <a:pPr eaLnBrk="0" hangingPunct="0">
                <a:lnSpc>
                  <a:spcPct val="90000"/>
                </a:lnSpc>
                <a:spcBef>
                  <a:spcPct val="30000"/>
                </a:spcBef>
              </a:pPr>
              <a:r>
                <a:rPr lang="en-US" sz="1800" b="1">
                  <a:latin typeface="Verdana" charset="0"/>
                </a:rPr>
                <a:t>design</a:t>
              </a:r>
            </a:p>
          </p:txBody>
        </p:sp>
        <p:sp>
          <p:nvSpPr>
            <p:cNvPr id="7174" name="Rectangle 6"/>
            <p:cNvSpPr>
              <a:spLocks noChangeArrowheads="1"/>
            </p:cNvSpPr>
            <p:nvPr/>
          </p:nvSpPr>
          <p:spPr bwMode="auto">
            <a:xfrm>
              <a:off x="3606" y="1569"/>
              <a:ext cx="1393" cy="214"/>
            </a:xfrm>
            <a:prstGeom prst="rect">
              <a:avLst/>
            </a:prstGeom>
            <a:noFill/>
            <a:ln w="9525">
              <a:noFill/>
              <a:miter lim="800000"/>
              <a:headEnd/>
              <a:tailEnd/>
            </a:ln>
            <a:effectLst/>
          </p:spPr>
          <p:txBody>
            <a:bodyPr wrap="none" lIns="92075" tIns="46038" rIns="92075" bIns="46038">
              <a:spAutoFit/>
            </a:bodyPr>
            <a:lstStyle/>
            <a:p>
              <a:pPr eaLnBrk="0" hangingPunct="0">
                <a:lnSpc>
                  <a:spcPct val="90000"/>
                </a:lnSpc>
                <a:spcBef>
                  <a:spcPct val="30000"/>
                </a:spcBef>
              </a:pPr>
              <a:r>
                <a:rPr lang="en-US" sz="1800" b="1">
                  <a:latin typeface="Verdana" charset="0"/>
                </a:rPr>
                <a:t>implementation</a:t>
              </a:r>
            </a:p>
          </p:txBody>
        </p:sp>
        <p:sp>
          <p:nvSpPr>
            <p:cNvPr id="7175" name="Rectangle 7"/>
            <p:cNvSpPr>
              <a:spLocks noChangeArrowheads="1"/>
            </p:cNvSpPr>
            <p:nvPr/>
          </p:nvSpPr>
          <p:spPr bwMode="auto">
            <a:xfrm>
              <a:off x="1882" y="3203"/>
              <a:ext cx="967" cy="214"/>
            </a:xfrm>
            <a:prstGeom prst="rect">
              <a:avLst/>
            </a:prstGeom>
            <a:noFill/>
            <a:ln w="9525">
              <a:noFill/>
              <a:miter lim="800000"/>
              <a:headEnd/>
              <a:tailEnd/>
            </a:ln>
            <a:effectLst/>
          </p:spPr>
          <p:txBody>
            <a:bodyPr wrap="none" lIns="92075" tIns="46038" rIns="92075" bIns="46038">
              <a:spAutoFit/>
            </a:bodyPr>
            <a:lstStyle/>
            <a:p>
              <a:pPr eaLnBrk="0" hangingPunct="0">
                <a:lnSpc>
                  <a:spcPct val="90000"/>
                </a:lnSpc>
                <a:spcBef>
                  <a:spcPct val="30000"/>
                </a:spcBef>
              </a:pPr>
              <a:r>
                <a:rPr lang="en-US" sz="1800" b="1">
                  <a:latin typeface="Verdana" charset="0"/>
                </a:rPr>
                <a:t>evaluation</a:t>
              </a:r>
            </a:p>
          </p:txBody>
        </p:sp>
        <p:sp>
          <p:nvSpPr>
            <p:cNvPr id="7176" name="AutoShape 8"/>
            <p:cNvSpPr>
              <a:spLocks noChangeArrowheads="1"/>
            </p:cNvSpPr>
            <p:nvPr/>
          </p:nvSpPr>
          <p:spPr bwMode="auto">
            <a:xfrm>
              <a:off x="2192" y="2869"/>
              <a:ext cx="314" cy="336"/>
            </a:xfrm>
            <a:prstGeom prst="leftArrow">
              <a:avLst>
                <a:gd name="adj1" fmla="val 75009"/>
                <a:gd name="adj2" fmla="val 49995"/>
              </a:avLst>
            </a:prstGeom>
            <a:solidFill>
              <a:schemeClr val="bg1"/>
            </a:solidFill>
            <a:ln w="12699">
              <a:solidFill>
                <a:schemeClr val="tx1"/>
              </a:solidFill>
              <a:miter lim="800000"/>
              <a:headEnd/>
              <a:tailEnd/>
            </a:ln>
            <a:effectLst/>
          </p:spPr>
          <p:txBody>
            <a:bodyPr wrap="none" anchor="ctr"/>
            <a:lstStyle/>
            <a:p>
              <a:endParaRPr lang="en-US"/>
            </a:p>
          </p:txBody>
        </p:sp>
        <p:sp>
          <p:nvSpPr>
            <p:cNvPr id="7177" name="AutoShape 9"/>
            <p:cNvSpPr>
              <a:spLocks noChangeArrowheads="1"/>
            </p:cNvSpPr>
            <p:nvPr/>
          </p:nvSpPr>
          <p:spPr bwMode="auto">
            <a:xfrm rot="17520000">
              <a:off x="1023" y="1656"/>
              <a:ext cx="318" cy="438"/>
            </a:xfrm>
            <a:prstGeom prst="rightArrow">
              <a:avLst>
                <a:gd name="adj1" fmla="val 50000"/>
                <a:gd name="adj2" fmla="val 50005"/>
              </a:avLst>
            </a:prstGeom>
            <a:solidFill>
              <a:schemeClr val="bg1"/>
            </a:solidFill>
            <a:ln w="12699">
              <a:solidFill>
                <a:schemeClr val="tx1"/>
              </a:solidFill>
              <a:miter lim="800000"/>
              <a:headEnd/>
              <a:tailEnd/>
            </a:ln>
            <a:effectLst/>
          </p:spPr>
          <p:txBody>
            <a:bodyPr wrap="none" anchor="ctr"/>
            <a:lstStyle/>
            <a:p>
              <a:endParaRPr lang="en-US"/>
            </a:p>
          </p:txBody>
        </p:sp>
        <p:sp>
          <p:nvSpPr>
            <p:cNvPr id="7178" name="AutoShape 10"/>
            <p:cNvSpPr>
              <a:spLocks noChangeArrowheads="1"/>
            </p:cNvSpPr>
            <p:nvPr/>
          </p:nvSpPr>
          <p:spPr bwMode="auto">
            <a:xfrm rot="3540000">
              <a:off x="3358" y="1656"/>
              <a:ext cx="318" cy="437"/>
            </a:xfrm>
            <a:prstGeom prst="rightArrow">
              <a:avLst>
                <a:gd name="adj1" fmla="val 50000"/>
                <a:gd name="adj2" fmla="val 50005"/>
              </a:avLst>
            </a:prstGeom>
            <a:solidFill>
              <a:schemeClr val="bg1"/>
            </a:solidFill>
            <a:ln w="12699">
              <a:solidFill>
                <a:schemeClr val="tx1"/>
              </a:solidFill>
              <a:miter lim="800000"/>
              <a:headEnd/>
              <a:tailEnd/>
            </a:ln>
            <a:effectLst/>
          </p:spPr>
          <p:txBody>
            <a:bodyPr wrap="none" anchor="ctr"/>
            <a:lstStyle/>
            <a:p>
              <a:endParaRPr lang="en-US"/>
            </a:p>
          </p:txBody>
        </p:sp>
        <p:grpSp>
          <p:nvGrpSpPr>
            <p:cNvPr id="3" name="Group 16"/>
            <p:cNvGrpSpPr>
              <a:grpSpLocks noChangeAspect="1"/>
            </p:cNvGrpSpPr>
            <p:nvPr/>
          </p:nvGrpSpPr>
          <p:grpSpPr bwMode="auto">
            <a:xfrm>
              <a:off x="1837" y="1706"/>
              <a:ext cx="998" cy="1068"/>
              <a:chOff x="1565" y="1934"/>
              <a:chExt cx="998" cy="1068"/>
            </a:xfrm>
          </p:grpSpPr>
          <p:sp>
            <p:nvSpPr>
              <p:cNvPr id="7183" name="AutoShape 15"/>
              <p:cNvSpPr>
                <a:spLocks noChangeAspect="1" noChangeArrowheads="1" noTextEdit="1"/>
              </p:cNvSpPr>
              <p:nvPr/>
            </p:nvSpPr>
            <p:spPr bwMode="auto">
              <a:xfrm>
                <a:off x="1565" y="1934"/>
                <a:ext cx="998" cy="1068"/>
              </a:xfrm>
              <a:prstGeom prst="rect">
                <a:avLst/>
              </a:prstGeom>
              <a:noFill/>
              <a:ln w="9525">
                <a:noFill/>
                <a:miter lim="800000"/>
                <a:headEnd/>
                <a:tailEnd/>
              </a:ln>
            </p:spPr>
            <p:txBody>
              <a:bodyPr/>
              <a:lstStyle/>
              <a:p>
                <a:endParaRPr lang="en-US"/>
              </a:p>
            </p:txBody>
          </p:sp>
          <p:grpSp>
            <p:nvGrpSpPr>
              <p:cNvPr id="4" name="Group 27"/>
              <p:cNvGrpSpPr>
                <a:grpSpLocks/>
              </p:cNvGrpSpPr>
              <p:nvPr/>
            </p:nvGrpSpPr>
            <p:grpSpPr bwMode="auto">
              <a:xfrm>
                <a:off x="1568" y="1940"/>
                <a:ext cx="630" cy="1056"/>
                <a:chOff x="1568" y="1940"/>
                <a:chExt cx="630" cy="1056"/>
              </a:xfrm>
            </p:grpSpPr>
            <p:sp>
              <p:nvSpPr>
                <p:cNvPr id="7185" name="Freeform 17"/>
                <p:cNvSpPr>
                  <a:spLocks/>
                </p:cNvSpPr>
                <p:nvPr/>
              </p:nvSpPr>
              <p:spPr bwMode="auto">
                <a:xfrm>
                  <a:off x="1612" y="2406"/>
                  <a:ext cx="305" cy="590"/>
                </a:xfrm>
                <a:custGeom>
                  <a:avLst/>
                  <a:gdLst/>
                  <a:ahLst/>
                  <a:cxnLst>
                    <a:cxn ang="0">
                      <a:pos x="160" y="0"/>
                    </a:cxn>
                    <a:cxn ang="0">
                      <a:pos x="132" y="11"/>
                    </a:cxn>
                    <a:cxn ang="0">
                      <a:pos x="99" y="45"/>
                    </a:cxn>
                    <a:cxn ang="0">
                      <a:pos x="63" y="96"/>
                    </a:cxn>
                    <a:cxn ang="0">
                      <a:pos x="31" y="161"/>
                    </a:cxn>
                    <a:cxn ang="0">
                      <a:pos x="7" y="228"/>
                    </a:cxn>
                    <a:cxn ang="0">
                      <a:pos x="1" y="307"/>
                    </a:cxn>
                    <a:cxn ang="0">
                      <a:pos x="1" y="374"/>
                    </a:cxn>
                    <a:cxn ang="0">
                      <a:pos x="12" y="461"/>
                    </a:cxn>
                    <a:cxn ang="0">
                      <a:pos x="42" y="533"/>
                    </a:cxn>
                    <a:cxn ang="0">
                      <a:pos x="97" y="606"/>
                    </a:cxn>
                    <a:cxn ang="0">
                      <a:pos x="153" y="696"/>
                    </a:cxn>
                    <a:cxn ang="0">
                      <a:pos x="203" y="766"/>
                    </a:cxn>
                    <a:cxn ang="0">
                      <a:pos x="246" y="820"/>
                    </a:cxn>
                    <a:cxn ang="0">
                      <a:pos x="285" y="897"/>
                    </a:cxn>
                    <a:cxn ang="0">
                      <a:pos x="316" y="1004"/>
                    </a:cxn>
                    <a:cxn ang="0">
                      <a:pos x="343" y="1059"/>
                    </a:cxn>
                    <a:cxn ang="0">
                      <a:pos x="370" y="1093"/>
                    </a:cxn>
                    <a:cxn ang="0">
                      <a:pos x="411" y="1110"/>
                    </a:cxn>
                    <a:cxn ang="0">
                      <a:pos x="494" y="1105"/>
                    </a:cxn>
                    <a:cxn ang="0">
                      <a:pos x="667" y="1093"/>
                    </a:cxn>
                    <a:cxn ang="0">
                      <a:pos x="823" y="1184"/>
                    </a:cxn>
                    <a:cxn ang="0">
                      <a:pos x="844" y="1365"/>
                    </a:cxn>
                    <a:cxn ang="0">
                      <a:pos x="825" y="1553"/>
                    </a:cxn>
                    <a:cxn ang="0">
                      <a:pos x="813" y="1664"/>
                    </a:cxn>
                    <a:cxn ang="0">
                      <a:pos x="742" y="1670"/>
                    </a:cxn>
                    <a:cxn ang="0">
                      <a:pos x="309" y="1770"/>
                    </a:cxn>
                    <a:cxn ang="0">
                      <a:pos x="792" y="1737"/>
                    </a:cxn>
                    <a:cxn ang="0">
                      <a:pos x="887" y="1645"/>
                    </a:cxn>
                    <a:cxn ang="0">
                      <a:pos x="897" y="1432"/>
                    </a:cxn>
                    <a:cxn ang="0">
                      <a:pos x="904" y="1168"/>
                    </a:cxn>
                    <a:cxn ang="0">
                      <a:pos x="915" y="867"/>
                    </a:cxn>
                  </a:cxnLst>
                  <a:rect l="0" t="0" r="r" b="b"/>
                  <a:pathLst>
                    <a:path w="915" h="1770">
                      <a:moveTo>
                        <a:pt x="329" y="198"/>
                      </a:moveTo>
                      <a:lnTo>
                        <a:pt x="160" y="0"/>
                      </a:lnTo>
                      <a:lnTo>
                        <a:pt x="145" y="3"/>
                      </a:lnTo>
                      <a:lnTo>
                        <a:pt x="132" y="11"/>
                      </a:lnTo>
                      <a:lnTo>
                        <a:pt x="118" y="24"/>
                      </a:lnTo>
                      <a:lnTo>
                        <a:pt x="99" y="45"/>
                      </a:lnTo>
                      <a:lnTo>
                        <a:pt x="81" y="70"/>
                      </a:lnTo>
                      <a:lnTo>
                        <a:pt x="63" y="96"/>
                      </a:lnTo>
                      <a:lnTo>
                        <a:pt x="48" y="124"/>
                      </a:lnTo>
                      <a:lnTo>
                        <a:pt x="31" y="161"/>
                      </a:lnTo>
                      <a:lnTo>
                        <a:pt x="18" y="195"/>
                      </a:lnTo>
                      <a:lnTo>
                        <a:pt x="7" y="228"/>
                      </a:lnTo>
                      <a:lnTo>
                        <a:pt x="4" y="268"/>
                      </a:lnTo>
                      <a:lnTo>
                        <a:pt x="1" y="307"/>
                      </a:lnTo>
                      <a:lnTo>
                        <a:pt x="0" y="339"/>
                      </a:lnTo>
                      <a:lnTo>
                        <a:pt x="1" y="374"/>
                      </a:lnTo>
                      <a:lnTo>
                        <a:pt x="5" y="418"/>
                      </a:lnTo>
                      <a:lnTo>
                        <a:pt x="12" y="461"/>
                      </a:lnTo>
                      <a:lnTo>
                        <a:pt x="24" y="497"/>
                      </a:lnTo>
                      <a:lnTo>
                        <a:pt x="42" y="533"/>
                      </a:lnTo>
                      <a:lnTo>
                        <a:pt x="70" y="570"/>
                      </a:lnTo>
                      <a:lnTo>
                        <a:pt x="97" y="606"/>
                      </a:lnTo>
                      <a:lnTo>
                        <a:pt x="122" y="646"/>
                      </a:lnTo>
                      <a:lnTo>
                        <a:pt x="153" y="696"/>
                      </a:lnTo>
                      <a:lnTo>
                        <a:pt x="177" y="735"/>
                      </a:lnTo>
                      <a:lnTo>
                        <a:pt x="203" y="766"/>
                      </a:lnTo>
                      <a:lnTo>
                        <a:pt x="223" y="796"/>
                      </a:lnTo>
                      <a:lnTo>
                        <a:pt x="246" y="820"/>
                      </a:lnTo>
                      <a:lnTo>
                        <a:pt x="270" y="846"/>
                      </a:lnTo>
                      <a:lnTo>
                        <a:pt x="285" y="897"/>
                      </a:lnTo>
                      <a:lnTo>
                        <a:pt x="298" y="947"/>
                      </a:lnTo>
                      <a:lnTo>
                        <a:pt x="316" y="1004"/>
                      </a:lnTo>
                      <a:lnTo>
                        <a:pt x="331" y="1034"/>
                      </a:lnTo>
                      <a:lnTo>
                        <a:pt x="343" y="1059"/>
                      </a:lnTo>
                      <a:lnTo>
                        <a:pt x="357" y="1080"/>
                      </a:lnTo>
                      <a:lnTo>
                        <a:pt x="370" y="1093"/>
                      </a:lnTo>
                      <a:lnTo>
                        <a:pt x="390" y="1104"/>
                      </a:lnTo>
                      <a:lnTo>
                        <a:pt x="411" y="1110"/>
                      </a:lnTo>
                      <a:lnTo>
                        <a:pt x="433" y="1111"/>
                      </a:lnTo>
                      <a:lnTo>
                        <a:pt x="494" y="1105"/>
                      </a:lnTo>
                      <a:lnTo>
                        <a:pt x="577" y="1096"/>
                      </a:lnTo>
                      <a:lnTo>
                        <a:pt x="667" y="1093"/>
                      </a:lnTo>
                      <a:lnTo>
                        <a:pt x="816" y="1120"/>
                      </a:lnTo>
                      <a:lnTo>
                        <a:pt x="823" y="1184"/>
                      </a:lnTo>
                      <a:lnTo>
                        <a:pt x="833" y="1266"/>
                      </a:lnTo>
                      <a:lnTo>
                        <a:pt x="844" y="1365"/>
                      </a:lnTo>
                      <a:lnTo>
                        <a:pt x="834" y="1472"/>
                      </a:lnTo>
                      <a:lnTo>
                        <a:pt x="825" y="1553"/>
                      </a:lnTo>
                      <a:lnTo>
                        <a:pt x="817" y="1658"/>
                      </a:lnTo>
                      <a:lnTo>
                        <a:pt x="813" y="1664"/>
                      </a:lnTo>
                      <a:lnTo>
                        <a:pt x="804" y="1669"/>
                      </a:lnTo>
                      <a:lnTo>
                        <a:pt x="742" y="1670"/>
                      </a:lnTo>
                      <a:lnTo>
                        <a:pt x="309" y="1685"/>
                      </a:lnTo>
                      <a:lnTo>
                        <a:pt x="309" y="1770"/>
                      </a:lnTo>
                      <a:lnTo>
                        <a:pt x="537" y="1753"/>
                      </a:lnTo>
                      <a:lnTo>
                        <a:pt x="792" y="1737"/>
                      </a:lnTo>
                      <a:lnTo>
                        <a:pt x="885" y="1731"/>
                      </a:lnTo>
                      <a:lnTo>
                        <a:pt x="887" y="1645"/>
                      </a:lnTo>
                      <a:lnTo>
                        <a:pt x="891" y="1548"/>
                      </a:lnTo>
                      <a:lnTo>
                        <a:pt x="897" y="1432"/>
                      </a:lnTo>
                      <a:lnTo>
                        <a:pt x="900" y="1300"/>
                      </a:lnTo>
                      <a:lnTo>
                        <a:pt x="904" y="1168"/>
                      </a:lnTo>
                      <a:lnTo>
                        <a:pt x="910" y="1043"/>
                      </a:lnTo>
                      <a:lnTo>
                        <a:pt x="915" y="867"/>
                      </a:lnTo>
                      <a:lnTo>
                        <a:pt x="329" y="198"/>
                      </a:lnTo>
                      <a:close/>
                    </a:path>
                  </a:pathLst>
                </a:custGeom>
                <a:solidFill>
                  <a:srgbClr val="000080"/>
                </a:solidFill>
                <a:ln w="3175">
                  <a:solidFill>
                    <a:srgbClr val="000000"/>
                  </a:solidFill>
                  <a:prstDash val="solid"/>
                  <a:round/>
                  <a:headEnd/>
                  <a:tailEnd/>
                </a:ln>
              </p:spPr>
              <p:txBody>
                <a:bodyPr/>
                <a:lstStyle/>
                <a:p>
                  <a:endParaRPr lang="en-US"/>
                </a:p>
              </p:txBody>
            </p:sp>
            <p:grpSp>
              <p:nvGrpSpPr>
                <p:cNvPr id="5" name="Group 26"/>
                <p:cNvGrpSpPr>
                  <a:grpSpLocks/>
                </p:cNvGrpSpPr>
                <p:nvPr/>
              </p:nvGrpSpPr>
              <p:grpSpPr bwMode="auto">
                <a:xfrm>
                  <a:off x="1568" y="1940"/>
                  <a:ext cx="630" cy="1051"/>
                  <a:chOff x="1568" y="1940"/>
                  <a:chExt cx="630" cy="1051"/>
                </a:xfrm>
              </p:grpSpPr>
              <p:sp>
                <p:nvSpPr>
                  <p:cNvPr id="7186" name="Freeform 18"/>
                  <p:cNvSpPr>
                    <a:spLocks/>
                  </p:cNvSpPr>
                  <p:nvPr/>
                </p:nvSpPr>
                <p:spPr bwMode="auto">
                  <a:xfrm>
                    <a:off x="1568" y="1940"/>
                    <a:ext cx="630" cy="1051"/>
                  </a:xfrm>
                  <a:custGeom>
                    <a:avLst/>
                    <a:gdLst/>
                    <a:ahLst/>
                    <a:cxnLst>
                      <a:cxn ang="0">
                        <a:pos x="105" y="577"/>
                      </a:cxn>
                      <a:cxn ang="0">
                        <a:pos x="112" y="528"/>
                      </a:cxn>
                      <a:cxn ang="0">
                        <a:pos x="0" y="391"/>
                      </a:cxn>
                      <a:cxn ang="0">
                        <a:pos x="95" y="428"/>
                      </a:cxn>
                      <a:cxn ang="0">
                        <a:pos x="64" y="282"/>
                      </a:cxn>
                      <a:cxn ang="0">
                        <a:pos x="140" y="284"/>
                      </a:cxn>
                      <a:cxn ang="0">
                        <a:pos x="278" y="401"/>
                      </a:cxn>
                      <a:cxn ang="0">
                        <a:pos x="322" y="376"/>
                      </a:cxn>
                      <a:cxn ang="0">
                        <a:pos x="347" y="349"/>
                      </a:cxn>
                      <a:cxn ang="0">
                        <a:pos x="395" y="342"/>
                      </a:cxn>
                      <a:cxn ang="0">
                        <a:pos x="428" y="321"/>
                      </a:cxn>
                      <a:cxn ang="0">
                        <a:pos x="462" y="262"/>
                      </a:cxn>
                      <a:cxn ang="0">
                        <a:pos x="461" y="120"/>
                      </a:cxn>
                      <a:cxn ang="0">
                        <a:pos x="502" y="238"/>
                      </a:cxn>
                      <a:cxn ang="0">
                        <a:pos x="515" y="140"/>
                      </a:cxn>
                      <a:cxn ang="0">
                        <a:pos x="533" y="302"/>
                      </a:cxn>
                      <a:cxn ang="0">
                        <a:pos x="608" y="398"/>
                      </a:cxn>
                      <a:cxn ang="0">
                        <a:pos x="795" y="495"/>
                      </a:cxn>
                      <a:cxn ang="0">
                        <a:pos x="960" y="603"/>
                      </a:cxn>
                      <a:cxn ang="0">
                        <a:pos x="1025" y="700"/>
                      </a:cxn>
                      <a:cxn ang="0">
                        <a:pos x="924" y="748"/>
                      </a:cxn>
                      <a:cxn ang="0">
                        <a:pos x="901" y="1023"/>
                      </a:cxn>
                      <a:cxn ang="0">
                        <a:pos x="926" y="1212"/>
                      </a:cxn>
                      <a:cxn ang="0">
                        <a:pos x="890" y="1246"/>
                      </a:cxn>
                      <a:cxn ang="0">
                        <a:pos x="797" y="1235"/>
                      </a:cxn>
                      <a:cxn ang="0">
                        <a:pos x="866" y="1439"/>
                      </a:cxn>
                      <a:cxn ang="0">
                        <a:pos x="994" y="1708"/>
                      </a:cxn>
                      <a:cxn ang="0">
                        <a:pos x="1211" y="2028"/>
                      </a:cxn>
                      <a:cxn ang="0">
                        <a:pos x="1264" y="2258"/>
                      </a:cxn>
                      <a:cxn ang="0">
                        <a:pos x="1356" y="2617"/>
                      </a:cxn>
                      <a:cxn ang="0">
                        <a:pos x="1468" y="2829"/>
                      </a:cxn>
                      <a:cxn ang="0">
                        <a:pos x="1554" y="2871"/>
                      </a:cxn>
                      <a:cxn ang="0">
                        <a:pos x="1678" y="2912"/>
                      </a:cxn>
                      <a:cxn ang="0">
                        <a:pos x="1810" y="2997"/>
                      </a:cxn>
                      <a:cxn ang="0">
                        <a:pos x="1880" y="3063"/>
                      </a:cxn>
                      <a:cxn ang="0">
                        <a:pos x="1887" y="3127"/>
                      </a:cxn>
                      <a:cxn ang="0">
                        <a:pos x="1762" y="3152"/>
                      </a:cxn>
                      <a:cxn ang="0">
                        <a:pos x="1272" y="3150"/>
                      </a:cxn>
                      <a:cxn ang="0">
                        <a:pos x="1198" y="3137"/>
                      </a:cxn>
                      <a:cxn ang="0">
                        <a:pos x="1161" y="2652"/>
                      </a:cxn>
                      <a:cxn ang="0">
                        <a:pos x="1117" y="2364"/>
                      </a:cxn>
                      <a:cxn ang="0">
                        <a:pos x="1034" y="2318"/>
                      </a:cxn>
                      <a:cxn ang="0">
                        <a:pos x="875" y="2303"/>
                      </a:cxn>
                      <a:cxn ang="0">
                        <a:pos x="595" y="2321"/>
                      </a:cxn>
                      <a:cxn ang="0">
                        <a:pos x="531" y="2306"/>
                      </a:cxn>
                      <a:cxn ang="0">
                        <a:pos x="494" y="2266"/>
                      </a:cxn>
                      <a:cxn ang="0">
                        <a:pos x="465" y="2187"/>
                      </a:cxn>
                      <a:cxn ang="0">
                        <a:pos x="397" y="1994"/>
                      </a:cxn>
                      <a:cxn ang="0">
                        <a:pos x="319" y="1826"/>
                      </a:cxn>
                      <a:cxn ang="0">
                        <a:pos x="292" y="1738"/>
                      </a:cxn>
                      <a:cxn ang="0">
                        <a:pos x="264" y="1290"/>
                      </a:cxn>
                      <a:cxn ang="0">
                        <a:pos x="227" y="939"/>
                      </a:cxn>
                      <a:cxn ang="0">
                        <a:pos x="176" y="739"/>
                      </a:cxn>
                    </a:cxnLst>
                    <a:rect l="0" t="0" r="r" b="b"/>
                    <a:pathLst>
                      <a:path w="1888" h="3152">
                        <a:moveTo>
                          <a:pt x="149" y="684"/>
                        </a:moveTo>
                        <a:lnTo>
                          <a:pt x="128" y="642"/>
                        </a:lnTo>
                        <a:lnTo>
                          <a:pt x="105" y="577"/>
                        </a:lnTo>
                        <a:lnTo>
                          <a:pt x="73" y="520"/>
                        </a:lnTo>
                        <a:lnTo>
                          <a:pt x="0" y="449"/>
                        </a:lnTo>
                        <a:lnTo>
                          <a:pt x="112" y="528"/>
                        </a:lnTo>
                        <a:lnTo>
                          <a:pt x="118" y="514"/>
                        </a:lnTo>
                        <a:lnTo>
                          <a:pt x="124" y="505"/>
                        </a:lnTo>
                        <a:lnTo>
                          <a:pt x="0" y="391"/>
                        </a:lnTo>
                        <a:lnTo>
                          <a:pt x="61" y="425"/>
                        </a:lnTo>
                        <a:lnTo>
                          <a:pt x="31" y="330"/>
                        </a:lnTo>
                        <a:lnTo>
                          <a:pt x="95" y="428"/>
                        </a:lnTo>
                        <a:lnTo>
                          <a:pt x="164" y="470"/>
                        </a:lnTo>
                        <a:lnTo>
                          <a:pt x="179" y="464"/>
                        </a:lnTo>
                        <a:lnTo>
                          <a:pt x="64" y="282"/>
                        </a:lnTo>
                        <a:lnTo>
                          <a:pt x="136" y="337"/>
                        </a:lnTo>
                        <a:lnTo>
                          <a:pt x="214" y="461"/>
                        </a:lnTo>
                        <a:lnTo>
                          <a:pt x="140" y="284"/>
                        </a:lnTo>
                        <a:lnTo>
                          <a:pt x="258" y="403"/>
                        </a:lnTo>
                        <a:lnTo>
                          <a:pt x="185" y="269"/>
                        </a:lnTo>
                        <a:lnTo>
                          <a:pt x="278" y="401"/>
                        </a:lnTo>
                        <a:lnTo>
                          <a:pt x="297" y="382"/>
                        </a:lnTo>
                        <a:lnTo>
                          <a:pt x="195" y="211"/>
                        </a:lnTo>
                        <a:lnTo>
                          <a:pt x="322" y="376"/>
                        </a:lnTo>
                        <a:lnTo>
                          <a:pt x="340" y="376"/>
                        </a:lnTo>
                        <a:lnTo>
                          <a:pt x="253" y="229"/>
                        </a:lnTo>
                        <a:lnTo>
                          <a:pt x="347" y="349"/>
                        </a:lnTo>
                        <a:lnTo>
                          <a:pt x="290" y="204"/>
                        </a:lnTo>
                        <a:lnTo>
                          <a:pt x="351" y="302"/>
                        </a:lnTo>
                        <a:lnTo>
                          <a:pt x="395" y="342"/>
                        </a:lnTo>
                        <a:lnTo>
                          <a:pt x="336" y="157"/>
                        </a:lnTo>
                        <a:lnTo>
                          <a:pt x="383" y="272"/>
                        </a:lnTo>
                        <a:lnTo>
                          <a:pt x="428" y="321"/>
                        </a:lnTo>
                        <a:lnTo>
                          <a:pt x="363" y="21"/>
                        </a:lnTo>
                        <a:lnTo>
                          <a:pt x="427" y="184"/>
                        </a:lnTo>
                        <a:lnTo>
                          <a:pt x="462" y="262"/>
                        </a:lnTo>
                        <a:lnTo>
                          <a:pt x="434" y="147"/>
                        </a:lnTo>
                        <a:lnTo>
                          <a:pt x="490" y="311"/>
                        </a:lnTo>
                        <a:lnTo>
                          <a:pt x="461" y="120"/>
                        </a:lnTo>
                        <a:lnTo>
                          <a:pt x="494" y="0"/>
                        </a:lnTo>
                        <a:lnTo>
                          <a:pt x="474" y="134"/>
                        </a:lnTo>
                        <a:lnTo>
                          <a:pt x="502" y="238"/>
                        </a:lnTo>
                        <a:lnTo>
                          <a:pt x="505" y="119"/>
                        </a:lnTo>
                        <a:lnTo>
                          <a:pt x="548" y="80"/>
                        </a:lnTo>
                        <a:lnTo>
                          <a:pt x="515" y="140"/>
                        </a:lnTo>
                        <a:lnTo>
                          <a:pt x="521" y="275"/>
                        </a:lnTo>
                        <a:lnTo>
                          <a:pt x="545" y="211"/>
                        </a:lnTo>
                        <a:lnTo>
                          <a:pt x="533" y="302"/>
                        </a:lnTo>
                        <a:lnTo>
                          <a:pt x="557" y="336"/>
                        </a:lnTo>
                        <a:lnTo>
                          <a:pt x="586" y="380"/>
                        </a:lnTo>
                        <a:lnTo>
                          <a:pt x="608" y="398"/>
                        </a:lnTo>
                        <a:lnTo>
                          <a:pt x="660" y="425"/>
                        </a:lnTo>
                        <a:lnTo>
                          <a:pt x="745" y="468"/>
                        </a:lnTo>
                        <a:lnTo>
                          <a:pt x="795" y="495"/>
                        </a:lnTo>
                        <a:lnTo>
                          <a:pt x="852" y="523"/>
                        </a:lnTo>
                        <a:lnTo>
                          <a:pt x="905" y="559"/>
                        </a:lnTo>
                        <a:lnTo>
                          <a:pt x="960" y="603"/>
                        </a:lnTo>
                        <a:lnTo>
                          <a:pt x="1004" y="650"/>
                        </a:lnTo>
                        <a:lnTo>
                          <a:pt x="1019" y="681"/>
                        </a:lnTo>
                        <a:lnTo>
                          <a:pt x="1025" y="700"/>
                        </a:lnTo>
                        <a:lnTo>
                          <a:pt x="1019" y="712"/>
                        </a:lnTo>
                        <a:lnTo>
                          <a:pt x="993" y="727"/>
                        </a:lnTo>
                        <a:lnTo>
                          <a:pt x="924" y="748"/>
                        </a:lnTo>
                        <a:lnTo>
                          <a:pt x="858" y="766"/>
                        </a:lnTo>
                        <a:lnTo>
                          <a:pt x="858" y="850"/>
                        </a:lnTo>
                        <a:lnTo>
                          <a:pt x="901" y="1023"/>
                        </a:lnTo>
                        <a:lnTo>
                          <a:pt x="917" y="1094"/>
                        </a:lnTo>
                        <a:lnTo>
                          <a:pt x="928" y="1194"/>
                        </a:lnTo>
                        <a:lnTo>
                          <a:pt x="926" y="1212"/>
                        </a:lnTo>
                        <a:lnTo>
                          <a:pt x="919" y="1228"/>
                        </a:lnTo>
                        <a:lnTo>
                          <a:pt x="905" y="1238"/>
                        </a:lnTo>
                        <a:lnTo>
                          <a:pt x="890" y="1246"/>
                        </a:lnTo>
                        <a:lnTo>
                          <a:pt x="876" y="1247"/>
                        </a:lnTo>
                        <a:lnTo>
                          <a:pt x="831" y="1240"/>
                        </a:lnTo>
                        <a:lnTo>
                          <a:pt x="797" y="1235"/>
                        </a:lnTo>
                        <a:lnTo>
                          <a:pt x="793" y="1281"/>
                        </a:lnTo>
                        <a:lnTo>
                          <a:pt x="808" y="1325"/>
                        </a:lnTo>
                        <a:lnTo>
                          <a:pt x="866" y="1439"/>
                        </a:lnTo>
                        <a:lnTo>
                          <a:pt x="896" y="1506"/>
                        </a:lnTo>
                        <a:lnTo>
                          <a:pt x="934" y="1589"/>
                        </a:lnTo>
                        <a:lnTo>
                          <a:pt x="994" y="1708"/>
                        </a:lnTo>
                        <a:lnTo>
                          <a:pt x="1013" y="1806"/>
                        </a:lnTo>
                        <a:lnTo>
                          <a:pt x="1122" y="1934"/>
                        </a:lnTo>
                        <a:lnTo>
                          <a:pt x="1211" y="2028"/>
                        </a:lnTo>
                        <a:lnTo>
                          <a:pt x="1223" y="2075"/>
                        </a:lnTo>
                        <a:lnTo>
                          <a:pt x="1249" y="2172"/>
                        </a:lnTo>
                        <a:lnTo>
                          <a:pt x="1264" y="2258"/>
                        </a:lnTo>
                        <a:lnTo>
                          <a:pt x="1284" y="2346"/>
                        </a:lnTo>
                        <a:lnTo>
                          <a:pt x="1321" y="2508"/>
                        </a:lnTo>
                        <a:lnTo>
                          <a:pt x="1356" y="2617"/>
                        </a:lnTo>
                        <a:lnTo>
                          <a:pt x="1421" y="2777"/>
                        </a:lnTo>
                        <a:lnTo>
                          <a:pt x="1444" y="2805"/>
                        </a:lnTo>
                        <a:lnTo>
                          <a:pt x="1468" y="2829"/>
                        </a:lnTo>
                        <a:lnTo>
                          <a:pt x="1491" y="2849"/>
                        </a:lnTo>
                        <a:lnTo>
                          <a:pt x="1509" y="2862"/>
                        </a:lnTo>
                        <a:lnTo>
                          <a:pt x="1554" y="2871"/>
                        </a:lnTo>
                        <a:lnTo>
                          <a:pt x="1577" y="2874"/>
                        </a:lnTo>
                        <a:lnTo>
                          <a:pt x="1624" y="2892"/>
                        </a:lnTo>
                        <a:lnTo>
                          <a:pt x="1678" y="2912"/>
                        </a:lnTo>
                        <a:lnTo>
                          <a:pt x="1724" y="2935"/>
                        </a:lnTo>
                        <a:lnTo>
                          <a:pt x="1765" y="2963"/>
                        </a:lnTo>
                        <a:lnTo>
                          <a:pt x="1810" y="2997"/>
                        </a:lnTo>
                        <a:lnTo>
                          <a:pt x="1839" y="3019"/>
                        </a:lnTo>
                        <a:lnTo>
                          <a:pt x="1868" y="3046"/>
                        </a:lnTo>
                        <a:lnTo>
                          <a:pt x="1880" y="3063"/>
                        </a:lnTo>
                        <a:lnTo>
                          <a:pt x="1888" y="3089"/>
                        </a:lnTo>
                        <a:lnTo>
                          <a:pt x="1887" y="3104"/>
                        </a:lnTo>
                        <a:lnTo>
                          <a:pt x="1887" y="3127"/>
                        </a:lnTo>
                        <a:lnTo>
                          <a:pt x="1873" y="3130"/>
                        </a:lnTo>
                        <a:lnTo>
                          <a:pt x="1842" y="3134"/>
                        </a:lnTo>
                        <a:lnTo>
                          <a:pt x="1762" y="3152"/>
                        </a:lnTo>
                        <a:lnTo>
                          <a:pt x="1646" y="3137"/>
                        </a:lnTo>
                        <a:lnTo>
                          <a:pt x="1449" y="3150"/>
                        </a:lnTo>
                        <a:lnTo>
                          <a:pt x="1272" y="3150"/>
                        </a:lnTo>
                        <a:lnTo>
                          <a:pt x="1227" y="3146"/>
                        </a:lnTo>
                        <a:lnTo>
                          <a:pt x="1210" y="3143"/>
                        </a:lnTo>
                        <a:lnTo>
                          <a:pt x="1198" y="3137"/>
                        </a:lnTo>
                        <a:lnTo>
                          <a:pt x="1192" y="3094"/>
                        </a:lnTo>
                        <a:lnTo>
                          <a:pt x="1182" y="2951"/>
                        </a:lnTo>
                        <a:lnTo>
                          <a:pt x="1161" y="2652"/>
                        </a:lnTo>
                        <a:lnTo>
                          <a:pt x="1152" y="2521"/>
                        </a:lnTo>
                        <a:lnTo>
                          <a:pt x="1133" y="2410"/>
                        </a:lnTo>
                        <a:lnTo>
                          <a:pt x="1117" y="2364"/>
                        </a:lnTo>
                        <a:lnTo>
                          <a:pt x="1098" y="2342"/>
                        </a:lnTo>
                        <a:lnTo>
                          <a:pt x="1072" y="2331"/>
                        </a:lnTo>
                        <a:lnTo>
                          <a:pt x="1034" y="2318"/>
                        </a:lnTo>
                        <a:lnTo>
                          <a:pt x="998" y="2309"/>
                        </a:lnTo>
                        <a:lnTo>
                          <a:pt x="945" y="2306"/>
                        </a:lnTo>
                        <a:lnTo>
                          <a:pt x="875" y="2303"/>
                        </a:lnTo>
                        <a:lnTo>
                          <a:pt x="743" y="2312"/>
                        </a:lnTo>
                        <a:lnTo>
                          <a:pt x="626" y="2319"/>
                        </a:lnTo>
                        <a:lnTo>
                          <a:pt x="595" y="2321"/>
                        </a:lnTo>
                        <a:lnTo>
                          <a:pt x="572" y="2319"/>
                        </a:lnTo>
                        <a:lnTo>
                          <a:pt x="548" y="2313"/>
                        </a:lnTo>
                        <a:lnTo>
                          <a:pt x="531" y="2306"/>
                        </a:lnTo>
                        <a:lnTo>
                          <a:pt x="516" y="2297"/>
                        </a:lnTo>
                        <a:lnTo>
                          <a:pt x="505" y="2284"/>
                        </a:lnTo>
                        <a:lnTo>
                          <a:pt x="494" y="2266"/>
                        </a:lnTo>
                        <a:lnTo>
                          <a:pt x="486" y="2245"/>
                        </a:lnTo>
                        <a:lnTo>
                          <a:pt x="475" y="2218"/>
                        </a:lnTo>
                        <a:lnTo>
                          <a:pt x="465" y="2187"/>
                        </a:lnTo>
                        <a:lnTo>
                          <a:pt x="440" y="2121"/>
                        </a:lnTo>
                        <a:lnTo>
                          <a:pt x="420" y="2058"/>
                        </a:lnTo>
                        <a:lnTo>
                          <a:pt x="397" y="1994"/>
                        </a:lnTo>
                        <a:lnTo>
                          <a:pt x="373" y="1936"/>
                        </a:lnTo>
                        <a:lnTo>
                          <a:pt x="341" y="1867"/>
                        </a:lnTo>
                        <a:lnTo>
                          <a:pt x="319" y="1826"/>
                        </a:lnTo>
                        <a:lnTo>
                          <a:pt x="303" y="1791"/>
                        </a:lnTo>
                        <a:lnTo>
                          <a:pt x="295" y="1771"/>
                        </a:lnTo>
                        <a:lnTo>
                          <a:pt x="292" y="1738"/>
                        </a:lnTo>
                        <a:lnTo>
                          <a:pt x="286" y="1640"/>
                        </a:lnTo>
                        <a:lnTo>
                          <a:pt x="272" y="1400"/>
                        </a:lnTo>
                        <a:lnTo>
                          <a:pt x="264" y="1290"/>
                        </a:lnTo>
                        <a:lnTo>
                          <a:pt x="278" y="1191"/>
                        </a:lnTo>
                        <a:lnTo>
                          <a:pt x="286" y="1093"/>
                        </a:lnTo>
                        <a:lnTo>
                          <a:pt x="227" y="939"/>
                        </a:lnTo>
                        <a:lnTo>
                          <a:pt x="207" y="864"/>
                        </a:lnTo>
                        <a:lnTo>
                          <a:pt x="190" y="797"/>
                        </a:lnTo>
                        <a:lnTo>
                          <a:pt x="176" y="739"/>
                        </a:lnTo>
                        <a:lnTo>
                          <a:pt x="149" y="684"/>
                        </a:lnTo>
                        <a:close/>
                      </a:path>
                    </a:pathLst>
                  </a:custGeom>
                  <a:solidFill>
                    <a:srgbClr val="DFDFFF"/>
                  </a:solidFill>
                  <a:ln w="3175">
                    <a:solidFill>
                      <a:srgbClr val="000000"/>
                    </a:solidFill>
                    <a:prstDash val="solid"/>
                    <a:round/>
                    <a:headEnd/>
                    <a:tailEnd/>
                  </a:ln>
                </p:spPr>
                <p:txBody>
                  <a:bodyPr/>
                  <a:lstStyle/>
                  <a:p>
                    <a:endParaRPr lang="en-US"/>
                  </a:p>
                </p:txBody>
              </p:sp>
              <p:grpSp>
                <p:nvGrpSpPr>
                  <p:cNvPr id="6" name="Group 25"/>
                  <p:cNvGrpSpPr>
                    <a:grpSpLocks/>
                  </p:cNvGrpSpPr>
                  <p:nvPr/>
                </p:nvGrpSpPr>
                <p:grpSpPr bwMode="auto">
                  <a:xfrm>
                    <a:off x="1700" y="2077"/>
                    <a:ext cx="184" cy="502"/>
                    <a:chOff x="1700" y="2077"/>
                    <a:chExt cx="184" cy="502"/>
                  </a:xfrm>
                </p:grpSpPr>
                <p:grpSp>
                  <p:nvGrpSpPr>
                    <p:cNvPr id="7" name="Group 21"/>
                    <p:cNvGrpSpPr>
                      <a:grpSpLocks/>
                    </p:cNvGrpSpPr>
                    <p:nvPr/>
                  </p:nvGrpSpPr>
                  <p:grpSpPr bwMode="auto">
                    <a:xfrm>
                      <a:off x="1736" y="2077"/>
                      <a:ext cx="44" cy="102"/>
                      <a:chOff x="1736" y="2077"/>
                      <a:chExt cx="44" cy="102"/>
                    </a:xfrm>
                  </p:grpSpPr>
                  <p:sp>
                    <p:nvSpPr>
                      <p:cNvPr id="7187" name="Oval 19"/>
                      <p:cNvSpPr>
                        <a:spLocks noChangeArrowheads="1"/>
                      </p:cNvSpPr>
                      <p:nvPr/>
                    </p:nvSpPr>
                    <p:spPr bwMode="auto">
                      <a:xfrm>
                        <a:off x="1766" y="2104"/>
                        <a:ext cx="14" cy="75"/>
                      </a:xfrm>
                      <a:prstGeom prst="ellipse">
                        <a:avLst/>
                      </a:prstGeom>
                      <a:solidFill>
                        <a:srgbClr val="DFDFFF"/>
                      </a:solidFill>
                      <a:ln w="3175">
                        <a:solidFill>
                          <a:srgbClr val="000000"/>
                        </a:solidFill>
                        <a:round/>
                        <a:headEnd/>
                        <a:tailEnd/>
                      </a:ln>
                    </p:spPr>
                    <p:txBody>
                      <a:bodyPr/>
                      <a:lstStyle/>
                      <a:p>
                        <a:endParaRPr lang="en-US"/>
                      </a:p>
                    </p:txBody>
                  </p:sp>
                  <p:sp>
                    <p:nvSpPr>
                      <p:cNvPr id="7188" name="Freeform 20"/>
                      <p:cNvSpPr>
                        <a:spLocks/>
                      </p:cNvSpPr>
                      <p:nvPr/>
                    </p:nvSpPr>
                    <p:spPr bwMode="auto">
                      <a:xfrm>
                        <a:off x="1736" y="2077"/>
                        <a:ext cx="21" cy="44"/>
                      </a:xfrm>
                      <a:custGeom>
                        <a:avLst/>
                        <a:gdLst/>
                        <a:ahLst/>
                        <a:cxnLst>
                          <a:cxn ang="0">
                            <a:pos x="65" y="0"/>
                          </a:cxn>
                          <a:cxn ang="0">
                            <a:pos x="47" y="3"/>
                          </a:cxn>
                          <a:cxn ang="0">
                            <a:pos x="32" y="9"/>
                          </a:cxn>
                          <a:cxn ang="0">
                            <a:pos x="21" y="20"/>
                          </a:cxn>
                          <a:cxn ang="0">
                            <a:pos x="12" y="34"/>
                          </a:cxn>
                          <a:cxn ang="0">
                            <a:pos x="6" y="58"/>
                          </a:cxn>
                          <a:cxn ang="0">
                            <a:pos x="1" y="86"/>
                          </a:cxn>
                          <a:cxn ang="0">
                            <a:pos x="0" y="107"/>
                          </a:cxn>
                          <a:cxn ang="0">
                            <a:pos x="2" y="133"/>
                          </a:cxn>
                        </a:cxnLst>
                        <a:rect l="0" t="0" r="r" b="b"/>
                        <a:pathLst>
                          <a:path w="65" h="133">
                            <a:moveTo>
                              <a:pt x="65" y="0"/>
                            </a:moveTo>
                            <a:lnTo>
                              <a:pt x="47" y="3"/>
                            </a:lnTo>
                            <a:lnTo>
                              <a:pt x="32" y="9"/>
                            </a:lnTo>
                            <a:lnTo>
                              <a:pt x="21" y="20"/>
                            </a:lnTo>
                            <a:lnTo>
                              <a:pt x="12" y="34"/>
                            </a:lnTo>
                            <a:lnTo>
                              <a:pt x="6" y="58"/>
                            </a:lnTo>
                            <a:lnTo>
                              <a:pt x="1" y="86"/>
                            </a:lnTo>
                            <a:lnTo>
                              <a:pt x="0" y="107"/>
                            </a:lnTo>
                            <a:lnTo>
                              <a:pt x="2" y="133"/>
                            </a:lnTo>
                          </a:path>
                        </a:pathLst>
                      </a:custGeom>
                      <a:noFill/>
                      <a:ln w="3175">
                        <a:solidFill>
                          <a:srgbClr val="000000"/>
                        </a:solidFill>
                        <a:prstDash val="solid"/>
                        <a:round/>
                        <a:headEnd/>
                        <a:tailEnd/>
                      </a:ln>
                    </p:spPr>
                    <p:txBody>
                      <a:bodyPr/>
                      <a:lstStyle/>
                      <a:p>
                        <a:endParaRPr lang="en-US"/>
                      </a:p>
                    </p:txBody>
                  </p:sp>
                </p:grpSp>
                <p:grpSp>
                  <p:nvGrpSpPr>
                    <p:cNvPr id="8" name="Group 24"/>
                    <p:cNvGrpSpPr>
                      <a:grpSpLocks/>
                    </p:cNvGrpSpPr>
                    <p:nvPr/>
                  </p:nvGrpSpPr>
                  <p:grpSpPr bwMode="auto">
                    <a:xfrm>
                      <a:off x="1700" y="2285"/>
                      <a:ext cx="184" cy="294"/>
                      <a:chOff x="1700" y="2285"/>
                      <a:chExt cx="184" cy="294"/>
                    </a:xfrm>
                  </p:grpSpPr>
                  <p:sp>
                    <p:nvSpPr>
                      <p:cNvPr id="7190" name="Freeform 22"/>
                      <p:cNvSpPr>
                        <a:spLocks/>
                      </p:cNvSpPr>
                      <p:nvPr/>
                    </p:nvSpPr>
                    <p:spPr bwMode="auto">
                      <a:xfrm>
                        <a:off x="1700" y="2452"/>
                        <a:ext cx="184" cy="127"/>
                      </a:xfrm>
                      <a:custGeom>
                        <a:avLst/>
                        <a:gdLst/>
                        <a:ahLst/>
                        <a:cxnLst>
                          <a:cxn ang="0">
                            <a:pos x="0" y="0"/>
                          </a:cxn>
                          <a:cxn ang="0">
                            <a:pos x="27" y="40"/>
                          </a:cxn>
                          <a:cxn ang="0">
                            <a:pos x="74" y="107"/>
                          </a:cxn>
                          <a:cxn ang="0">
                            <a:pos x="126" y="176"/>
                          </a:cxn>
                          <a:cxn ang="0">
                            <a:pos x="174" y="240"/>
                          </a:cxn>
                          <a:cxn ang="0">
                            <a:pos x="215" y="287"/>
                          </a:cxn>
                          <a:cxn ang="0">
                            <a:pos x="249" y="320"/>
                          </a:cxn>
                          <a:cxn ang="0">
                            <a:pos x="270" y="339"/>
                          </a:cxn>
                          <a:cxn ang="0">
                            <a:pos x="295" y="354"/>
                          </a:cxn>
                          <a:cxn ang="0">
                            <a:pos x="328" y="364"/>
                          </a:cxn>
                          <a:cxn ang="0">
                            <a:pos x="367" y="375"/>
                          </a:cxn>
                          <a:cxn ang="0">
                            <a:pos x="402" y="381"/>
                          </a:cxn>
                          <a:cxn ang="0">
                            <a:pos x="426" y="379"/>
                          </a:cxn>
                          <a:cxn ang="0">
                            <a:pos x="453" y="366"/>
                          </a:cxn>
                          <a:cxn ang="0">
                            <a:pos x="476" y="354"/>
                          </a:cxn>
                          <a:cxn ang="0">
                            <a:pos x="499" y="345"/>
                          </a:cxn>
                          <a:cxn ang="0">
                            <a:pos x="524" y="338"/>
                          </a:cxn>
                          <a:cxn ang="0">
                            <a:pos x="553" y="335"/>
                          </a:cxn>
                        </a:cxnLst>
                        <a:rect l="0" t="0" r="r" b="b"/>
                        <a:pathLst>
                          <a:path w="553" h="381">
                            <a:moveTo>
                              <a:pt x="0" y="0"/>
                            </a:moveTo>
                            <a:lnTo>
                              <a:pt x="27" y="40"/>
                            </a:lnTo>
                            <a:lnTo>
                              <a:pt x="74" y="107"/>
                            </a:lnTo>
                            <a:lnTo>
                              <a:pt x="126" y="176"/>
                            </a:lnTo>
                            <a:lnTo>
                              <a:pt x="174" y="240"/>
                            </a:lnTo>
                            <a:lnTo>
                              <a:pt x="215" y="287"/>
                            </a:lnTo>
                            <a:lnTo>
                              <a:pt x="249" y="320"/>
                            </a:lnTo>
                            <a:lnTo>
                              <a:pt x="270" y="339"/>
                            </a:lnTo>
                            <a:lnTo>
                              <a:pt x="295" y="354"/>
                            </a:lnTo>
                            <a:lnTo>
                              <a:pt x="328" y="364"/>
                            </a:lnTo>
                            <a:lnTo>
                              <a:pt x="367" y="375"/>
                            </a:lnTo>
                            <a:lnTo>
                              <a:pt x="402" y="381"/>
                            </a:lnTo>
                            <a:lnTo>
                              <a:pt x="426" y="379"/>
                            </a:lnTo>
                            <a:lnTo>
                              <a:pt x="453" y="366"/>
                            </a:lnTo>
                            <a:lnTo>
                              <a:pt x="476" y="354"/>
                            </a:lnTo>
                            <a:lnTo>
                              <a:pt x="499" y="345"/>
                            </a:lnTo>
                            <a:lnTo>
                              <a:pt x="524" y="338"/>
                            </a:lnTo>
                            <a:lnTo>
                              <a:pt x="553" y="335"/>
                            </a:lnTo>
                          </a:path>
                        </a:pathLst>
                      </a:custGeom>
                      <a:noFill/>
                      <a:ln w="3175">
                        <a:solidFill>
                          <a:srgbClr val="000000"/>
                        </a:solidFill>
                        <a:prstDash val="solid"/>
                        <a:round/>
                        <a:headEnd/>
                        <a:tailEnd/>
                      </a:ln>
                    </p:spPr>
                    <p:txBody>
                      <a:bodyPr/>
                      <a:lstStyle/>
                      <a:p>
                        <a:endParaRPr lang="en-US"/>
                      </a:p>
                    </p:txBody>
                  </p:sp>
                  <p:sp>
                    <p:nvSpPr>
                      <p:cNvPr id="7191" name="Freeform 23"/>
                      <p:cNvSpPr>
                        <a:spLocks/>
                      </p:cNvSpPr>
                      <p:nvPr/>
                    </p:nvSpPr>
                    <p:spPr bwMode="auto">
                      <a:xfrm>
                        <a:off x="1726" y="2285"/>
                        <a:ext cx="107" cy="217"/>
                      </a:xfrm>
                      <a:custGeom>
                        <a:avLst/>
                        <a:gdLst/>
                        <a:ahLst/>
                        <a:cxnLst>
                          <a:cxn ang="0">
                            <a:pos x="320" y="244"/>
                          </a:cxn>
                          <a:cxn ang="0">
                            <a:pos x="309" y="199"/>
                          </a:cxn>
                          <a:cxn ang="0">
                            <a:pos x="304" y="161"/>
                          </a:cxn>
                          <a:cxn ang="0">
                            <a:pos x="302" y="113"/>
                          </a:cxn>
                          <a:cxn ang="0">
                            <a:pos x="305" y="85"/>
                          </a:cxn>
                          <a:cxn ang="0">
                            <a:pos x="310" y="61"/>
                          </a:cxn>
                          <a:cxn ang="0">
                            <a:pos x="308" y="30"/>
                          </a:cxn>
                          <a:cxn ang="0">
                            <a:pos x="302" y="6"/>
                          </a:cxn>
                          <a:cxn ang="0">
                            <a:pos x="296" y="3"/>
                          </a:cxn>
                          <a:cxn ang="0">
                            <a:pos x="290" y="6"/>
                          </a:cxn>
                          <a:cxn ang="0">
                            <a:pos x="275" y="30"/>
                          </a:cxn>
                          <a:cxn ang="0">
                            <a:pos x="257" y="51"/>
                          </a:cxn>
                          <a:cxn ang="0">
                            <a:pos x="232" y="51"/>
                          </a:cxn>
                          <a:cxn ang="0">
                            <a:pos x="221" y="24"/>
                          </a:cxn>
                          <a:cxn ang="0">
                            <a:pos x="211" y="8"/>
                          </a:cxn>
                          <a:cxn ang="0">
                            <a:pos x="191" y="5"/>
                          </a:cxn>
                          <a:cxn ang="0">
                            <a:pos x="171" y="0"/>
                          </a:cxn>
                          <a:cxn ang="0">
                            <a:pos x="160" y="24"/>
                          </a:cxn>
                          <a:cxn ang="0">
                            <a:pos x="153" y="49"/>
                          </a:cxn>
                          <a:cxn ang="0">
                            <a:pos x="122" y="49"/>
                          </a:cxn>
                          <a:cxn ang="0">
                            <a:pos x="115" y="39"/>
                          </a:cxn>
                          <a:cxn ang="0">
                            <a:pos x="104" y="24"/>
                          </a:cxn>
                          <a:cxn ang="0">
                            <a:pos x="93" y="18"/>
                          </a:cxn>
                          <a:cxn ang="0">
                            <a:pos x="83" y="19"/>
                          </a:cxn>
                          <a:cxn ang="0">
                            <a:pos x="72" y="27"/>
                          </a:cxn>
                          <a:cxn ang="0">
                            <a:pos x="66" y="39"/>
                          </a:cxn>
                          <a:cxn ang="0">
                            <a:pos x="66" y="112"/>
                          </a:cxn>
                          <a:cxn ang="0">
                            <a:pos x="49" y="106"/>
                          </a:cxn>
                          <a:cxn ang="0">
                            <a:pos x="26" y="98"/>
                          </a:cxn>
                          <a:cxn ang="0">
                            <a:pos x="8" y="101"/>
                          </a:cxn>
                          <a:cxn ang="0">
                            <a:pos x="6" y="109"/>
                          </a:cxn>
                          <a:cxn ang="0">
                            <a:pos x="6" y="122"/>
                          </a:cxn>
                          <a:cxn ang="0">
                            <a:pos x="13" y="156"/>
                          </a:cxn>
                          <a:cxn ang="0">
                            <a:pos x="23" y="193"/>
                          </a:cxn>
                          <a:cxn ang="0">
                            <a:pos x="28" y="214"/>
                          </a:cxn>
                          <a:cxn ang="0">
                            <a:pos x="0" y="354"/>
                          </a:cxn>
                          <a:cxn ang="0">
                            <a:pos x="13" y="369"/>
                          </a:cxn>
                          <a:cxn ang="0">
                            <a:pos x="40" y="390"/>
                          </a:cxn>
                          <a:cxn ang="0">
                            <a:pos x="121" y="449"/>
                          </a:cxn>
                          <a:cxn ang="0">
                            <a:pos x="151" y="449"/>
                          </a:cxn>
                          <a:cxn ang="0">
                            <a:pos x="193" y="497"/>
                          </a:cxn>
                          <a:cxn ang="0">
                            <a:pos x="303" y="650"/>
                          </a:cxn>
                        </a:cxnLst>
                        <a:rect l="0" t="0" r="r" b="b"/>
                        <a:pathLst>
                          <a:path w="320" h="650">
                            <a:moveTo>
                              <a:pt x="320" y="244"/>
                            </a:moveTo>
                            <a:lnTo>
                              <a:pt x="309" y="199"/>
                            </a:lnTo>
                            <a:lnTo>
                              <a:pt x="304" y="161"/>
                            </a:lnTo>
                            <a:lnTo>
                              <a:pt x="302" y="113"/>
                            </a:lnTo>
                            <a:lnTo>
                              <a:pt x="305" y="85"/>
                            </a:lnTo>
                            <a:lnTo>
                              <a:pt x="310" y="61"/>
                            </a:lnTo>
                            <a:lnTo>
                              <a:pt x="308" y="30"/>
                            </a:lnTo>
                            <a:lnTo>
                              <a:pt x="302" y="6"/>
                            </a:lnTo>
                            <a:lnTo>
                              <a:pt x="296" y="3"/>
                            </a:lnTo>
                            <a:lnTo>
                              <a:pt x="290" y="6"/>
                            </a:lnTo>
                            <a:lnTo>
                              <a:pt x="275" y="30"/>
                            </a:lnTo>
                            <a:lnTo>
                              <a:pt x="257" y="51"/>
                            </a:lnTo>
                            <a:lnTo>
                              <a:pt x="232" y="51"/>
                            </a:lnTo>
                            <a:lnTo>
                              <a:pt x="221" y="24"/>
                            </a:lnTo>
                            <a:lnTo>
                              <a:pt x="211" y="8"/>
                            </a:lnTo>
                            <a:lnTo>
                              <a:pt x="191" y="5"/>
                            </a:lnTo>
                            <a:lnTo>
                              <a:pt x="171" y="0"/>
                            </a:lnTo>
                            <a:lnTo>
                              <a:pt x="160" y="24"/>
                            </a:lnTo>
                            <a:lnTo>
                              <a:pt x="153" y="49"/>
                            </a:lnTo>
                            <a:lnTo>
                              <a:pt x="122" y="49"/>
                            </a:lnTo>
                            <a:lnTo>
                              <a:pt x="115" y="39"/>
                            </a:lnTo>
                            <a:lnTo>
                              <a:pt x="104" y="24"/>
                            </a:lnTo>
                            <a:lnTo>
                              <a:pt x="93" y="18"/>
                            </a:lnTo>
                            <a:lnTo>
                              <a:pt x="83" y="19"/>
                            </a:lnTo>
                            <a:lnTo>
                              <a:pt x="72" y="27"/>
                            </a:lnTo>
                            <a:lnTo>
                              <a:pt x="66" y="39"/>
                            </a:lnTo>
                            <a:lnTo>
                              <a:pt x="66" y="112"/>
                            </a:lnTo>
                            <a:lnTo>
                              <a:pt x="49" y="106"/>
                            </a:lnTo>
                            <a:lnTo>
                              <a:pt x="26" y="98"/>
                            </a:lnTo>
                            <a:lnTo>
                              <a:pt x="8" y="101"/>
                            </a:lnTo>
                            <a:lnTo>
                              <a:pt x="6" y="109"/>
                            </a:lnTo>
                            <a:lnTo>
                              <a:pt x="6" y="122"/>
                            </a:lnTo>
                            <a:lnTo>
                              <a:pt x="13" y="156"/>
                            </a:lnTo>
                            <a:lnTo>
                              <a:pt x="23" y="193"/>
                            </a:lnTo>
                            <a:lnTo>
                              <a:pt x="28" y="214"/>
                            </a:lnTo>
                            <a:lnTo>
                              <a:pt x="0" y="354"/>
                            </a:lnTo>
                            <a:lnTo>
                              <a:pt x="13" y="369"/>
                            </a:lnTo>
                            <a:lnTo>
                              <a:pt x="40" y="390"/>
                            </a:lnTo>
                            <a:lnTo>
                              <a:pt x="121" y="449"/>
                            </a:lnTo>
                            <a:lnTo>
                              <a:pt x="151" y="449"/>
                            </a:lnTo>
                            <a:lnTo>
                              <a:pt x="193" y="497"/>
                            </a:lnTo>
                            <a:lnTo>
                              <a:pt x="303" y="650"/>
                            </a:lnTo>
                          </a:path>
                        </a:pathLst>
                      </a:custGeom>
                      <a:noFill/>
                      <a:ln w="3175">
                        <a:solidFill>
                          <a:srgbClr val="000000"/>
                        </a:solidFill>
                        <a:prstDash val="solid"/>
                        <a:round/>
                        <a:headEnd/>
                        <a:tailEnd/>
                      </a:ln>
                    </p:spPr>
                    <p:txBody>
                      <a:bodyPr/>
                      <a:lstStyle/>
                      <a:p>
                        <a:endParaRPr lang="en-US"/>
                      </a:p>
                    </p:txBody>
                  </p:sp>
                </p:grpSp>
              </p:grpSp>
            </p:grpSp>
          </p:grpSp>
          <p:grpSp>
            <p:nvGrpSpPr>
              <p:cNvPr id="9" name="Group 56"/>
              <p:cNvGrpSpPr>
                <a:grpSpLocks/>
              </p:cNvGrpSpPr>
              <p:nvPr/>
            </p:nvGrpSpPr>
            <p:grpSpPr bwMode="auto">
              <a:xfrm>
                <a:off x="1898" y="2007"/>
                <a:ext cx="661" cy="990"/>
                <a:chOff x="1898" y="2007"/>
                <a:chExt cx="661" cy="990"/>
              </a:xfrm>
            </p:grpSpPr>
            <p:sp>
              <p:nvSpPr>
                <p:cNvPr id="7196" name="Freeform 28"/>
                <p:cNvSpPr>
                  <a:spLocks/>
                </p:cNvSpPr>
                <p:nvPr/>
              </p:nvSpPr>
              <p:spPr bwMode="auto">
                <a:xfrm>
                  <a:off x="1898" y="2478"/>
                  <a:ext cx="503" cy="519"/>
                </a:xfrm>
                <a:custGeom>
                  <a:avLst/>
                  <a:gdLst/>
                  <a:ahLst/>
                  <a:cxnLst>
                    <a:cxn ang="0">
                      <a:pos x="1510" y="1552"/>
                    </a:cxn>
                    <a:cxn ang="0">
                      <a:pos x="1510" y="752"/>
                    </a:cxn>
                    <a:cxn ang="0">
                      <a:pos x="1488" y="114"/>
                    </a:cxn>
                    <a:cxn ang="0">
                      <a:pos x="749" y="0"/>
                    </a:cxn>
                    <a:cxn ang="0">
                      <a:pos x="25" y="131"/>
                    </a:cxn>
                    <a:cxn ang="0">
                      <a:pos x="0" y="752"/>
                    </a:cxn>
                    <a:cxn ang="0">
                      <a:pos x="0" y="1540"/>
                    </a:cxn>
                    <a:cxn ang="0">
                      <a:pos x="127" y="1540"/>
                    </a:cxn>
                    <a:cxn ang="0">
                      <a:pos x="140" y="418"/>
                    </a:cxn>
                    <a:cxn ang="0">
                      <a:pos x="1370" y="418"/>
                    </a:cxn>
                    <a:cxn ang="0">
                      <a:pos x="1383" y="1557"/>
                    </a:cxn>
                    <a:cxn ang="0">
                      <a:pos x="1510" y="1552"/>
                    </a:cxn>
                  </a:cxnLst>
                  <a:rect l="0" t="0" r="r" b="b"/>
                  <a:pathLst>
                    <a:path w="1510" h="1557">
                      <a:moveTo>
                        <a:pt x="1510" y="1552"/>
                      </a:moveTo>
                      <a:lnTo>
                        <a:pt x="1510" y="752"/>
                      </a:lnTo>
                      <a:lnTo>
                        <a:pt x="1488" y="114"/>
                      </a:lnTo>
                      <a:lnTo>
                        <a:pt x="749" y="0"/>
                      </a:lnTo>
                      <a:lnTo>
                        <a:pt x="25" y="131"/>
                      </a:lnTo>
                      <a:lnTo>
                        <a:pt x="0" y="752"/>
                      </a:lnTo>
                      <a:lnTo>
                        <a:pt x="0" y="1540"/>
                      </a:lnTo>
                      <a:lnTo>
                        <a:pt x="127" y="1540"/>
                      </a:lnTo>
                      <a:lnTo>
                        <a:pt x="140" y="418"/>
                      </a:lnTo>
                      <a:lnTo>
                        <a:pt x="1370" y="418"/>
                      </a:lnTo>
                      <a:lnTo>
                        <a:pt x="1383" y="1557"/>
                      </a:lnTo>
                      <a:lnTo>
                        <a:pt x="1510" y="1552"/>
                      </a:lnTo>
                      <a:close/>
                    </a:path>
                  </a:pathLst>
                </a:custGeom>
                <a:solidFill>
                  <a:srgbClr val="000080"/>
                </a:solidFill>
                <a:ln w="3175">
                  <a:solidFill>
                    <a:srgbClr val="000000"/>
                  </a:solidFill>
                  <a:prstDash val="solid"/>
                  <a:round/>
                  <a:headEnd/>
                  <a:tailEnd/>
                </a:ln>
              </p:spPr>
              <p:txBody>
                <a:bodyPr/>
                <a:lstStyle/>
                <a:p>
                  <a:endParaRPr lang="en-US"/>
                </a:p>
              </p:txBody>
            </p:sp>
            <p:grpSp>
              <p:nvGrpSpPr>
                <p:cNvPr id="10" name="Group 55"/>
                <p:cNvGrpSpPr>
                  <a:grpSpLocks/>
                </p:cNvGrpSpPr>
                <p:nvPr/>
              </p:nvGrpSpPr>
              <p:grpSpPr bwMode="auto">
                <a:xfrm>
                  <a:off x="1958" y="2007"/>
                  <a:ext cx="601" cy="774"/>
                  <a:chOff x="1958" y="2007"/>
                  <a:chExt cx="601" cy="774"/>
                </a:xfrm>
              </p:grpSpPr>
              <p:grpSp>
                <p:nvGrpSpPr>
                  <p:cNvPr id="11" name="Group 45"/>
                  <p:cNvGrpSpPr>
                    <a:grpSpLocks/>
                  </p:cNvGrpSpPr>
                  <p:nvPr/>
                </p:nvGrpSpPr>
                <p:grpSpPr bwMode="auto">
                  <a:xfrm>
                    <a:off x="1958" y="2466"/>
                    <a:ext cx="212" cy="166"/>
                    <a:chOff x="1958" y="2466"/>
                    <a:chExt cx="212" cy="166"/>
                  </a:xfrm>
                </p:grpSpPr>
                <p:grpSp>
                  <p:nvGrpSpPr>
                    <p:cNvPr id="12" name="Group 32"/>
                    <p:cNvGrpSpPr>
                      <a:grpSpLocks/>
                    </p:cNvGrpSpPr>
                    <p:nvPr/>
                  </p:nvGrpSpPr>
                  <p:grpSpPr bwMode="auto">
                    <a:xfrm>
                      <a:off x="1958" y="2466"/>
                      <a:ext cx="212" cy="166"/>
                      <a:chOff x="1958" y="2466"/>
                      <a:chExt cx="212" cy="166"/>
                    </a:xfrm>
                  </p:grpSpPr>
                  <p:sp>
                    <p:nvSpPr>
                      <p:cNvPr id="7197" name="Freeform 29"/>
                      <p:cNvSpPr>
                        <a:spLocks/>
                      </p:cNvSpPr>
                      <p:nvPr/>
                    </p:nvSpPr>
                    <p:spPr bwMode="auto">
                      <a:xfrm>
                        <a:off x="1961" y="2466"/>
                        <a:ext cx="209" cy="138"/>
                      </a:xfrm>
                      <a:custGeom>
                        <a:avLst/>
                        <a:gdLst/>
                        <a:ahLst/>
                        <a:cxnLst>
                          <a:cxn ang="0">
                            <a:pos x="0" y="91"/>
                          </a:cxn>
                          <a:cxn ang="0">
                            <a:pos x="288" y="0"/>
                          </a:cxn>
                          <a:cxn ang="0">
                            <a:pos x="627" y="298"/>
                          </a:cxn>
                          <a:cxn ang="0">
                            <a:pos x="332" y="415"/>
                          </a:cxn>
                          <a:cxn ang="0">
                            <a:pos x="172" y="246"/>
                          </a:cxn>
                          <a:cxn ang="0">
                            <a:pos x="123" y="195"/>
                          </a:cxn>
                          <a:cxn ang="0">
                            <a:pos x="0" y="91"/>
                          </a:cxn>
                        </a:cxnLst>
                        <a:rect l="0" t="0" r="r" b="b"/>
                        <a:pathLst>
                          <a:path w="627" h="415">
                            <a:moveTo>
                              <a:pt x="0" y="91"/>
                            </a:moveTo>
                            <a:lnTo>
                              <a:pt x="288" y="0"/>
                            </a:lnTo>
                            <a:lnTo>
                              <a:pt x="627" y="298"/>
                            </a:lnTo>
                            <a:lnTo>
                              <a:pt x="332" y="415"/>
                            </a:lnTo>
                            <a:lnTo>
                              <a:pt x="172" y="246"/>
                            </a:lnTo>
                            <a:lnTo>
                              <a:pt x="123" y="195"/>
                            </a:lnTo>
                            <a:lnTo>
                              <a:pt x="0" y="91"/>
                            </a:lnTo>
                            <a:close/>
                          </a:path>
                        </a:pathLst>
                      </a:custGeom>
                      <a:solidFill>
                        <a:srgbClr val="C0C0C0"/>
                      </a:solidFill>
                      <a:ln w="3175">
                        <a:solidFill>
                          <a:srgbClr val="000000"/>
                        </a:solidFill>
                        <a:prstDash val="solid"/>
                        <a:round/>
                        <a:headEnd/>
                        <a:tailEnd/>
                      </a:ln>
                    </p:spPr>
                    <p:txBody>
                      <a:bodyPr/>
                      <a:lstStyle/>
                      <a:p>
                        <a:endParaRPr lang="en-US"/>
                      </a:p>
                    </p:txBody>
                  </p:sp>
                  <p:sp>
                    <p:nvSpPr>
                      <p:cNvPr id="7198" name="Freeform 30"/>
                      <p:cNvSpPr>
                        <a:spLocks/>
                      </p:cNvSpPr>
                      <p:nvPr/>
                    </p:nvSpPr>
                    <p:spPr bwMode="auto">
                      <a:xfrm>
                        <a:off x="2067" y="2565"/>
                        <a:ext cx="103" cy="67"/>
                      </a:xfrm>
                      <a:custGeom>
                        <a:avLst/>
                        <a:gdLst/>
                        <a:ahLst/>
                        <a:cxnLst>
                          <a:cxn ang="0">
                            <a:pos x="14" y="117"/>
                          </a:cxn>
                          <a:cxn ang="0">
                            <a:pos x="310" y="0"/>
                          </a:cxn>
                          <a:cxn ang="0">
                            <a:pos x="310" y="53"/>
                          </a:cxn>
                          <a:cxn ang="0">
                            <a:pos x="0" y="200"/>
                          </a:cxn>
                          <a:cxn ang="0">
                            <a:pos x="14" y="117"/>
                          </a:cxn>
                        </a:cxnLst>
                        <a:rect l="0" t="0" r="r" b="b"/>
                        <a:pathLst>
                          <a:path w="310" h="200">
                            <a:moveTo>
                              <a:pt x="14" y="117"/>
                            </a:moveTo>
                            <a:lnTo>
                              <a:pt x="310" y="0"/>
                            </a:lnTo>
                            <a:lnTo>
                              <a:pt x="310" y="53"/>
                            </a:lnTo>
                            <a:lnTo>
                              <a:pt x="0" y="200"/>
                            </a:lnTo>
                            <a:lnTo>
                              <a:pt x="14" y="117"/>
                            </a:lnTo>
                            <a:close/>
                          </a:path>
                        </a:pathLst>
                      </a:custGeom>
                      <a:solidFill>
                        <a:srgbClr val="C0C0C0"/>
                      </a:solidFill>
                      <a:ln w="3175">
                        <a:solidFill>
                          <a:srgbClr val="000000"/>
                        </a:solidFill>
                        <a:prstDash val="solid"/>
                        <a:round/>
                        <a:headEnd/>
                        <a:tailEnd/>
                      </a:ln>
                    </p:spPr>
                    <p:txBody>
                      <a:bodyPr/>
                      <a:lstStyle/>
                      <a:p>
                        <a:endParaRPr lang="en-US"/>
                      </a:p>
                    </p:txBody>
                  </p:sp>
                  <p:sp>
                    <p:nvSpPr>
                      <p:cNvPr id="7199" name="Freeform 31"/>
                      <p:cNvSpPr>
                        <a:spLocks/>
                      </p:cNvSpPr>
                      <p:nvPr/>
                    </p:nvSpPr>
                    <p:spPr bwMode="auto">
                      <a:xfrm>
                        <a:off x="1958" y="2495"/>
                        <a:ext cx="113" cy="137"/>
                      </a:xfrm>
                      <a:custGeom>
                        <a:avLst/>
                        <a:gdLst/>
                        <a:ahLst/>
                        <a:cxnLst>
                          <a:cxn ang="0">
                            <a:pos x="144" y="117"/>
                          </a:cxn>
                          <a:cxn ang="0">
                            <a:pos x="254" y="232"/>
                          </a:cxn>
                          <a:cxn ang="0">
                            <a:pos x="339" y="326"/>
                          </a:cxn>
                          <a:cxn ang="0">
                            <a:pos x="325" y="410"/>
                          </a:cxn>
                          <a:cxn ang="0">
                            <a:pos x="207" y="293"/>
                          </a:cxn>
                          <a:cxn ang="0">
                            <a:pos x="100" y="186"/>
                          </a:cxn>
                          <a:cxn ang="0">
                            <a:pos x="0" y="88"/>
                          </a:cxn>
                          <a:cxn ang="0">
                            <a:pos x="9" y="0"/>
                          </a:cxn>
                          <a:cxn ang="0">
                            <a:pos x="69" y="54"/>
                          </a:cxn>
                          <a:cxn ang="0">
                            <a:pos x="144" y="117"/>
                          </a:cxn>
                        </a:cxnLst>
                        <a:rect l="0" t="0" r="r" b="b"/>
                        <a:pathLst>
                          <a:path w="339" h="410">
                            <a:moveTo>
                              <a:pt x="144" y="117"/>
                            </a:moveTo>
                            <a:lnTo>
                              <a:pt x="254" y="232"/>
                            </a:lnTo>
                            <a:lnTo>
                              <a:pt x="339" y="326"/>
                            </a:lnTo>
                            <a:lnTo>
                              <a:pt x="325" y="410"/>
                            </a:lnTo>
                            <a:lnTo>
                              <a:pt x="207" y="293"/>
                            </a:lnTo>
                            <a:lnTo>
                              <a:pt x="100" y="186"/>
                            </a:lnTo>
                            <a:lnTo>
                              <a:pt x="0" y="88"/>
                            </a:lnTo>
                            <a:lnTo>
                              <a:pt x="9" y="0"/>
                            </a:lnTo>
                            <a:lnTo>
                              <a:pt x="69" y="54"/>
                            </a:lnTo>
                            <a:lnTo>
                              <a:pt x="144" y="117"/>
                            </a:lnTo>
                            <a:close/>
                          </a:path>
                        </a:pathLst>
                      </a:custGeom>
                      <a:solidFill>
                        <a:srgbClr val="C0C0C0"/>
                      </a:solidFill>
                      <a:ln w="3175">
                        <a:solidFill>
                          <a:srgbClr val="000000"/>
                        </a:solidFill>
                        <a:prstDash val="solid"/>
                        <a:round/>
                        <a:headEnd/>
                        <a:tailEnd/>
                      </a:ln>
                    </p:spPr>
                    <p:txBody>
                      <a:bodyPr/>
                      <a:lstStyle/>
                      <a:p>
                        <a:endParaRPr lang="en-US"/>
                      </a:p>
                    </p:txBody>
                  </p:sp>
                </p:grpSp>
                <p:grpSp>
                  <p:nvGrpSpPr>
                    <p:cNvPr id="13" name="Group 44"/>
                    <p:cNvGrpSpPr>
                      <a:grpSpLocks/>
                    </p:cNvGrpSpPr>
                    <p:nvPr/>
                  </p:nvGrpSpPr>
                  <p:grpSpPr bwMode="auto">
                    <a:xfrm>
                      <a:off x="1991" y="2488"/>
                      <a:ext cx="138" cy="95"/>
                      <a:chOff x="1991" y="2488"/>
                      <a:chExt cx="138" cy="95"/>
                    </a:xfrm>
                  </p:grpSpPr>
                  <p:grpSp>
                    <p:nvGrpSpPr>
                      <p:cNvPr id="14" name="Group 36"/>
                      <p:cNvGrpSpPr>
                        <a:grpSpLocks/>
                      </p:cNvGrpSpPr>
                      <p:nvPr/>
                    </p:nvGrpSpPr>
                    <p:grpSpPr bwMode="auto">
                      <a:xfrm>
                        <a:off x="2001" y="2494"/>
                        <a:ext cx="125" cy="88"/>
                        <a:chOff x="2001" y="2494"/>
                        <a:chExt cx="125" cy="88"/>
                      </a:xfrm>
                    </p:grpSpPr>
                    <p:sp>
                      <p:nvSpPr>
                        <p:cNvPr id="7201" name="Freeform 33"/>
                        <p:cNvSpPr>
                          <a:spLocks/>
                        </p:cNvSpPr>
                        <p:nvPr/>
                      </p:nvSpPr>
                      <p:spPr bwMode="auto">
                        <a:xfrm>
                          <a:off x="2052" y="2494"/>
                          <a:ext cx="74" cy="73"/>
                        </a:xfrm>
                        <a:custGeom>
                          <a:avLst/>
                          <a:gdLst/>
                          <a:ahLst/>
                          <a:cxnLst>
                            <a:cxn ang="0">
                              <a:pos x="0" y="0"/>
                            </a:cxn>
                            <a:cxn ang="0">
                              <a:pos x="86" y="92"/>
                            </a:cxn>
                            <a:cxn ang="0">
                              <a:pos x="222" y="220"/>
                            </a:cxn>
                          </a:cxnLst>
                          <a:rect l="0" t="0" r="r" b="b"/>
                          <a:pathLst>
                            <a:path w="222" h="220">
                              <a:moveTo>
                                <a:pt x="0" y="0"/>
                              </a:moveTo>
                              <a:lnTo>
                                <a:pt x="86" y="92"/>
                              </a:lnTo>
                              <a:lnTo>
                                <a:pt x="222" y="220"/>
                              </a:lnTo>
                            </a:path>
                          </a:pathLst>
                        </a:custGeom>
                        <a:noFill/>
                        <a:ln w="3175">
                          <a:solidFill>
                            <a:srgbClr val="000000"/>
                          </a:solidFill>
                          <a:prstDash val="solid"/>
                          <a:round/>
                          <a:headEnd/>
                          <a:tailEnd/>
                        </a:ln>
                      </p:spPr>
                      <p:txBody>
                        <a:bodyPr/>
                        <a:lstStyle/>
                        <a:p>
                          <a:endParaRPr lang="en-US"/>
                        </a:p>
                      </p:txBody>
                    </p:sp>
                    <p:sp>
                      <p:nvSpPr>
                        <p:cNvPr id="7202" name="Freeform 34"/>
                        <p:cNvSpPr>
                          <a:spLocks/>
                        </p:cNvSpPr>
                        <p:nvPr/>
                      </p:nvSpPr>
                      <p:spPr bwMode="auto">
                        <a:xfrm>
                          <a:off x="2029" y="2499"/>
                          <a:ext cx="71" cy="73"/>
                        </a:xfrm>
                        <a:custGeom>
                          <a:avLst/>
                          <a:gdLst/>
                          <a:ahLst/>
                          <a:cxnLst>
                            <a:cxn ang="0">
                              <a:pos x="0" y="0"/>
                            </a:cxn>
                            <a:cxn ang="0">
                              <a:pos x="115" y="118"/>
                            </a:cxn>
                            <a:cxn ang="0">
                              <a:pos x="212" y="219"/>
                            </a:cxn>
                          </a:cxnLst>
                          <a:rect l="0" t="0" r="r" b="b"/>
                          <a:pathLst>
                            <a:path w="212" h="219">
                              <a:moveTo>
                                <a:pt x="0" y="0"/>
                              </a:moveTo>
                              <a:lnTo>
                                <a:pt x="115" y="118"/>
                              </a:lnTo>
                              <a:lnTo>
                                <a:pt x="212" y="219"/>
                              </a:lnTo>
                            </a:path>
                          </a:pathLst>
                        </a:custGeom>
                        <a:noFill/>
                        <a:ln w="3175">
                          <a:solidFill>
                            <a:srgbClr val="000000"/>
                          </a:solidFill>
                          <a:prstDash val="solid"/>
                          <a:round/>
                          <a:headEnd/>
                          <a:tailEnd/>
                        </a:ln>
                      </p:spPr>
                      <p:txBody>
                        <a:bodyPr/>
                        <a:lstStyle/>
                        <a:p>
                          <a:endParaRPr lang="en-US"/>
                        </a:p>
                      </p:txBody>
                    </p:sp>
                    <p:sp>
                      <p:nvSpPr>
                        <p:cNvPr id="7203" name="Freeform 35"/>
                        <p:cNvSpPr>
                          <a:spLocks/>
                        </p:cNvSpPr>
                        <p:nvPr/>
                      </p:nvSpPr>
                      <p:spPr bwMode="auto">
                        <a:xfrm>
                          <a:off x="2001" y="2509"/>
                          <a:ext cx="86" cy="73"/>
                        </a:xfrm>
                        <a:custGeom>
                          <a:avLst/>
                          <a:gdLst/>
                          <a:ahLst/>
                          <a:cxnLst>
                            <a:cxn ang="0">
                              <a:pos x="0" y="0"/>
                            </a:cxn>
                            <a:cxn ang="0">
                              <a:pos x="117" y="83"/>
                            </a:cxn>
                            <a:cxn ang="0">
                              <a:pos x="190" y="153"/>
                            </a:cxn>
                            <a:cxn ang="0">
                              <a:pos x="257" y="220"/>
                            </a:cxn>
                          </a:cxnLst>
                          <a:rect l="0" t="0" r="r" b="b"/>
                          <a:pathLst>
                            <a:path w="257" h="220">
                              <a:moveTo>
                                <a:pt x="0" y="0"/>
                              </a:moveTo>
                              <a:lnTo>
                                <a:pt x="117" y="83"/>
                              </a:lnTo>
                              <a:lnTo>
                                <a:pt x="190" y="153"/>
                              </a:lnTo>
                              <a:lnTo>
                                <a:pt x="257" y="220"/>
                              </a:lnTo>
                            </a:path>
                          </a:pathLst>
                        </a:custGeom>
                        <a:noFill/>
                        <a:ln w="3175">
                          <a:solidFill>
                            <a:srgbClr val="000000"/>
                          </a:solidFill>
                          <a:prstDash val="solid"/>
                          <a:round/>
                          <a:headEnd/>
                          <a:tailEnd/>
                        </a:ln>
                      </p:spPr>
                      <p:txBody>
                        <a:bodyPr/>
                        <a:lstStyle/>
                        <a:p>
                          <a:endParaRPr lang="en-US"/>
                        </a:p>
                      </p:txBody>
                    </p:sp>
                  </p:grpSp>
                  <p:grpSp>
                    <p:nvGrpSpPr>
                      <p:cNvPr id="15" name="Group 43"/>
                      <p:cNvGrpSpPr>
                        <a:grpSpLocks/>
                      </p:cNvGrpSpPr>
                      <p:nvPr/>
                    </p:nvGrpSpPr>
                    <p:grpSpPr bwMode="auto">
                      <a:xfrm>
                        <a:off x="1991" y="2488"/>
                        <a:ext cx="138" cy="95"/>
                        <a:chOff x="1991" y="2488"/>
                        <a:chExt cx="138" cy="95"/>
                      </a:xfrm>
                    </p:grpSpPr>
                    <p:sp>
                      <p:nvSpPr>
                        <p:cNvPr id="7205" name="Line 37"/>
                        <p:cNvSpPr>
                          <a:spLocks noChangeShapeType="1"/>
                        </p:cNvSpPr>
                        <p:nvPr/>
                      </p:nvSpPr>
                      <p:spPr bwMode="auto">
                        <a:xfrm flipV="1">
                          <a:off x="1991" y="2488"/>
                          <a:ext cx="64" cy="21"/>
                        </a:xfrm>
                        <a:prstGeom prst="line">
                          <a:avLst/>
                        </a:prstGeom>
                        <a:noFill/>
                        <a:ln w="3175">
                          <a:solidFill>
                            <a:srgbClr val="000000"/>
                          </a:solidFill>
                          <a:round/>
                          <a:headEnd/>
                          <a:tailEnd/>
                        </a:ln>
                      </p:spPr>
                      <p:txBody>
                        <a:bodyPr/>
                        <a:lstStyle/>
                        <a:p>
                          <a:endParaRPr lang="en-US"/>
                        </a:p>
                      </p:txBody>
                    </p:sp>
                    <p:sp>
                      <p:nvSpPr>
                        <p:cNvPr id="7206" name="Line 38"/>
                        <p:cNvSpPr>
                          <a:spLocks noChangeShapeType="1"/>
                        </p:cNvSpPr>
                        <p:nvPr/>
                      </p:nvSpPr>
                      <p:spPr bwMode="auto">
                        <a:xfrm flipV="1">
                          <a:off x="2015" y="2506"/>
                          <a:ext cx="58" cy="19"/>
                        </a:xfrm>
                        <a:prstGeom prst="line">
                          <a:avLst/>
                        </a:prstGeom>
                        <a:noFill/>
                        <a:ln w="3175">
                          <a:solidFill>
                            <a:srgbClr val="000000"/>
                          </a:solidFill>
                          <a:round/>
                          <a:headEnd/>
                          <a:tailEnd/>
                        </a:ln>
                      </p:spPr>
                      <p:txBody>
                        <a:bodyPr/>
                        <a:lstStyle/>
                        <a:p>
                          <a:endParaRPr lang="en-US"/>
                        </a:p>
                      </p:txBody>
                    </p:sp>
                    <p:sp>
                      <p:nvSpPr>
                        <p:cNvPr id="7207" name="Line 39"/>
                        <p:cNvSpPr>
                          <a:spLocks noChangeShapeType="1"/>
                        </p:cNvSpPr>
                        <p:nvPr/>
                      </p:nvSpPr>
                      <p:spPr bwMode="auto">
                        <a:xfrm flipV="1">
                          <a:off x="2034" y="2517"/>
                          <a:ext cx="56" cy="23"/>
                        </a:xfrm>
                        <a:prstGeom prst="line">
                          <a:avLst/>
                        </a:prstGeom>
                        <a:noFill/>
                        <a:ln w="3175">
                          <a:solidFill>
                            <a:srgbClr val="000000"/>
                          </a:solidFill>
                          <a:round/>
                          <a:headEnd/>
                          <a:tailEnd/>
                        </a:ln>
                      </p:spPr>
                      <p:txBody>
                        <a:bodyPr/>
                        <a:lstStyle/>
                        <a:p>
                          <a:endParaRPr lang="en-US"/>
                        </a:p>
                      </p:txBody>
                    </p:sp>
                    <p:sp>
                      <p:nvSpPr>
                        <p:cNvPr id="7208" name="Line 40"/>
                        <p:cNvSpPr>
                          <a:spLocks noChangeShapeType="1"/>
                        </p:cNvSpPr>
                        <p:nvPr/>
                      </p:nvSpPr>
                      <p:spPr bwMode="auto">
                        <a:xfrm flipV="1">
                          <a:off x="2049" y="2534"/>
                          <a:ext cx="53" cy="21"/>
                        </a:xfrm>
                        <a:prstGeom prst="line">
                          <a:avLst/>
                        </a:prstGeom>
                        <a:noFill/>
                        <a:ln w="3175">
                          <a:solidFill>
                            <a:srgbClr val="000000"/>
                          </a:solidFill>
                          <a:round/>
                          <a:headEnd/>
                          <a:tailEnd/>
                        </a:ln>
                      </p:spPr>
                      <p:txBody>
                        <a:bodyPr/>
                        <a:lstStyle/>
                        <a:p>
                          <a:endParaRPr lang="en-US"/>
                        </a:p>
                      </p:txBody>
                    </p:sp>
                    <p:sp>
                      <p:nvSpPr>
                        <p:cNvPr id="7209" name="Line 41"/>
                        <p:cNvSpPr>
                          <a:spLocks noChangeShapeType="1"/>
                        </p:cNvSpPr>
                        <p:nvPr/>
                      </p:nvSpPr>
                      <p:spPr bwMode="auto">
                        <a:xfrm flipV="1">
                          <a:off x="2067" y="2542"/>
                          <a:ext cx="53" cy="26"/>
                        </a:xfrm>
                        <a:prstGeom prst="line">
                          <a:avLst/>
                        </a:prstGeom>
                        <a:noFill/>
                        <a:ln w="3175">
                          <a:solidFill>
                            <a:srgbClr val="000000"/>
                          </a:solidFill>
                          <a:round/>
                          <a:headEnd/>
                          <a:tailEnd/>
                        </a:ln>
                      </p:spPr>
                      <p:txBody>
                        <a:bodyPr/>
                        <a:lstStyle/>
                        <a:p>
                          <a:endParaRPr lang="en-US"/>
                        </a:p>
                      </p:txBody>
                    </p:sp>
                    <p:sp>
                      <p:nvSpPr>
                        <p:cNvPr id="7210" name="Line 42"/>
                        <p:cNvSpPr>
                          <a:spLocks noChangeShapeType="1"/>
                        </p:cNvSpPr>
                        <p:nvPr/>
                      </p:nvSpPr>
                      <p:spPr bwMode="auto">
                        <a:xfrm flipV="1">
                          <a:off x="2074" y="2561"/>
                          <a:ext cx="55" cy="22"/>
                        </a:xfrm>
                        <a:prstGeom prst="line">
                          <a:avLst/>
                        </a:prstGeom>
                        <a:noFill/>
                        <a:ln w="3175">
                          <a:solidFill>
                            <a:srgbClr val="000000"/>
                          </a:solidFill>
                          <a:round/>
                          <a:headEnd/>
                          <a:tailEnd/>
                        </a:ln>
                      </p:spPr>
                      <p:txBody>
                        <a:bodyPr/>
                        <a:lstStyle/>
                        <a:p>
                          <a:endParaRPr lang="en-US"/>
                        </a:p>
                      </p:txBody>
                    </p:sp>
                  </p:grpSp>
                </p:grpSp>
              </p:grpSp>
              <p:grpSp>
                <p:nvGrpSpPr>
                  <p:cNvPr id="16" name="Group 54"/>
                  <p:cNvGrpSpPr>
                    <a:grpSpLocks/>
                  </p:cNvGrpSpPr>
                  <p:nvPr/>
                </p:nvGrpSpPr>
                <p:grpSpPr bwMode="auto">
                  <a:xfrm>
                    <a:off x="2089" y="2007"/>
                    <a:ext cx="470" cy="774"/>
                    <a:chOff x="2089" y="2007"/>
                    <a:chExt cx="470" cy="774"/>
                  </a:xfrm>
                </p:grpSpPr>
                <p:sp>
                  <p:nvSpPr>
                    <p:cNvPr id="7214" name="Freeform 46"/>
                    <p:cNvSpPr>
                      <a:spLocks/>
                    </p:cNvSpPr>
                    <p:nvPr/>
                  </p:nvSpPr>
                  <p:spPr bwMode="auto">
                    <a:xfrm>
                      <a:off x="2124" y="2571"/>
                      <a:ext cx="108" cy="81"/>
                    </a:xfrm>
                    <a:custGeom>
                      <a:avLst/>
                      <a:gdLst/>
                      <a:ahLst/>
                      <a:cxnLst>
                        <a:cxn ang="0">
                          <a:pos x="0" y="68"/>
                        </a:cxn>
                        <a:cxn ang="0">
                          <a:pos x="5" y="114"/>
                        </a:cxn>
                        <a:cxn ang="0">
                          <a:pos x="17" y="161"/>
                        </a:cxn>
                        <a:cxn ang="0">
                          <a:pos x="35" y="193"/>
                        </a:cxn>
                        <a:cxn ang="0">
                          <a:pos x="64" y="220"/>
                        </a:cxn>
                        <a:cxn ang="0">
                          <a:pos x="102" y="236"/>
                        </a:cxn>
                        <a:cxn ang="0">
                          <a:pos x="138" y="241"/>
                        </a:cxn>
                        <a:cxn ang="0">
                          <a:pos x="180" y="232"/>
                        </a:cxn>
                        <a:cxn ang="0">
                          <a:pos x="215" y="204"/>
                        </a:cxn>
                        <a:cxn ang="0">
                          <a:pos x="242" y="158"/>
                        </a:cxn>
                        <a:cxn ang="0">
                          <a:pos x="250" y="109"/>
                        </a:cxn>
                        <a:cxn ang="0">
                          <a:pos x="268" y="68"/>
                        </a:cxn>
                        <a:cxn ang="0">
                          <a:pos x="292" y="30"/>
                        </a:cxn>
                        <a:cxn ang="0">
                          <a:pos x="324" y="0"/>
                        </a:cxn>
                      </a:cxnLst>
                      <a:rect l="0" t="0" r="r" b="b"/>
                      <a:pathLst>
                        <a:path w="324" h="241">
                          <a:moveTo>
                            <a:pt x="0" y="68"/>
                          </a:moveTo>
                          <a:lnTo>
                            <a:pt x="5" y="114"/>
                          </a:lnTo>
                          <a:lnTo>
                            <a:pt x="17" y="161"/>
                          </a:lnTo>
                          <a:lnTo>
                            <a:pt x="35" y="193"/>
                          </a:lnTo>
                          <a:lnTo>
                            <a:pt x="64" y="220"/>
                          </a:lnTo>
                          <a:lnTo>
                            <a:pt x="102" y="236"/>
                          </a:lnTo>
                          <a:lnTo>
                            <a:pt x="138" y="241"/>
                          </a:lnTo>
                          <a:lnTo>
                            <a:pt x="180" y="232"/>
                          </a:lnTo>
                          <a:lnTo>
                            <a:pt x="215" y="204"/>
                          </a:lnTo>
                          <a:lnTo>
                            <a:pt x="242" y="158"/>
                          </a:lnTo>
                          <a:lnTo>
                            <a:pt x="250" y="109"/>
                          </a:lnTo>
                          <a:lnTo>
                            <a:pt x="268" y="68"/>
                          </a:lnTo>
                          <a:lnTo>
                            <a:pt x="292" y="30"/>
                          </a:lnTo>
                          <a:lnTo>
                            <a:pt x="324" y="0"/>
                          </a:lnTo>
                        </a:path>
                      </a:pathLst>
                    </a:custGeom>
                    <a:noFill/>
                    <a:ln w="3175">
                      <a:solidFill>
                        <a:srgbClr val="000000"/>
                      </a:solidFill>
                      <a:prstDash val="solid"/>
                      <a:round/>
                      <a:headEnd/>
                      <a:tailEnd/>
                    </a:ln>
                  </p:spPr>
                  <p:txBody>
                    <a:bodyPr/>
                    <a:lstStyle/>
                    <a:p>
                      <a:endParaRPr lang="en-US"/>
                    </a:p>
                  </p:txBody>
                </p:sp>
                <p:grpSp>
                  <p:nvGrpSpPr>
                    <p:cNvPr id="17" name="Group 53"/>
                    <p:cNvGrpSpPr>
                      <a:grpSpLocks/>
                    </p:cNvGrpSpPr>
                    <p:nvPr/>
                  </p:nvGrpSpPr>
                  <p:grpSpPr bwMode="auto">
                    <a:xfrm>
                      <a:off x="2089" y="2007"/>
                      <a:ext cx="470" cy="774"/>
                      <a:chOff x="2089" y="2007"/>
                      <a:chExt cx="470" cy="774"/>
                    </a:xfrm>
                  </p:grpSpPr>
                  <p:grpSp>
                    <p:nvGrpSpPr>
                      <p:cNvPr id="18" name="Group 49"/>
                      <p:cNvGrpSpPr>
                        <a:grpSpLocks/>
                      </p:cNvGrpSpPr>
                      <p:nvPr/>
                    </p:nvGrpSpPr>
                    <p:grpSpPr bwMode="auto">
                      <a:xfrm>
                        <a:off x="2089" y="2007"/>
                        <a:ext cx="470" cy="591"/>
                        <a:chOff x="2089" y="2007"/>
                        <a:chExt cx="470" cy="591"/>
                      </a:xfrm>
                    </p:grpSpPr>
                    <p:sp>
                      <p:nvSpPr>
                        <p:cNvPr id="7215" name="Freeform 47"/>
                        <p:cNvSpPr>
                          <a:spLocks/>
                        </p:cNvSpPr>
                        <p:nvPr/>
                      </p:nvSpPr>
                      <p:spPr bwMode="auto">
                        <a:xfrm>
                          <a:off x="2089" y="2007"/>
                          <a:ext cx="470" cy="591"/>
                        </a:xfrm>
                        <a:custGeom>
                          <a:avLst/>
                          <a:gdLst/>
                          <a:ahLst/>
                          <a:cxnLst>
                            <a:cxn ang="0">
                              <a:pos x="264" y="358"/>
                            </a:cxn>
                            <a:cxn ang="0">
                              <a:pos x="298" y="236"/>
                            </a:cxn>
                            <a:cxn ang="0">
                              <a:pos x="320" y="159"/>
                            </a:cxn>
                            <a:cxn ang="0">
                              <a:pos x="328" y="135"/>
                            </a:cxn>
                            <a:cxn ang="0">
                              <a:pos x="341" y="116"/>
                            </a:cxn>
                            <a:cxn ang="0">
                              <a:pos x="349" y="107"/>
                            </a:cxn>
                            <a:cxn ang="0">
                              <a:pos x="363" y="101"/>
                            </a:cxn>
                            <a:cxn ang="0">
                              <a:pos x="542" y="58"/>
                            </a:cxn>
                            <a:cxn ang="0">
                              <a:pos x="734" y="16"/>
                            </a:cxn>
                            <a:cxn ang="0">
                              <a:pos x="908" y="0"/>
                            </a:cxn>
                            <a:cxn ang="0">
                              <a:pos x="1007" y="0"/>
                            </a:cxn>
                            <a:cxn ang="0">
                              <a:pos x="1212" y="13"/>
                            </a:cxn>
                            <a:cxn ang="0">
                              <a:pos x="1361" y="22"/>
                            </a:cxn>
                            <a:cxn ang="0">
                              <a:pos x="1383" y="25"/>
                            </a:cxn>
                            <a:cxn ang="0">
                              <a:pos x="1396" y="33"/>
                            </a:cxn>
                            <a:cxn ang="0">
                              <a:pos x="1405" y="42"/>
                            </a:cxn>
                            <a:cxn ang="0">
                              <a:pos x="1411" y="54"/>
                            </a:cxn>
                            <a:cxn ang="0">
                              <a:pos x="1412" y="70"/>
                            </a:cxn>
                            <a:cxn ang="0">
                              <a:pos x="1404" y="119"/>
                            </a:cxn>
                            <a:cxn ang="0">
                              <a:pos x="1376" y="278"/>
                            </a:cxn>
                            <a:cxn ang="0">
                              <a:pos x="1355" y="397"/>
                            </a:cxn>
                            <a:cxn ang="0">
                              <a:pos x="1307" y="665"/>
                            </a:cxn>
                            <a:cxn ang="0">
                              <a:pos x="1276" y="830"/>
                            </a:cxn>
                            <a:cxn ang="0">
                              <a:pos x="1191" y="1216"/>
                            </a:cxn>
                            <a:cxn ang="0">
                              <a:pos x="1110" y="1525"/>
                            </a:cxn>
                            <a:cxn ang="0">
                              <a:pos x="1095" y="1585"/>
                            </a:cxn>
                            <a:cxn ang="0">
                              <a:pos x="1086" y="1619"/>
                            </a:cxn>
                            <a:cxn ang="0">
                              <a:pos x="1078" y="1652"/>
                            </a:cxn>
                            <a:cxn ang="0">
                              <a:pos x="1068" y="1670"/>
                            </a:cxn>
                            <a:cxn ang="0">
                              <a:pos x="1055" y="1691"/>
                            </a:cxn>
                            <a:cxn ang="0">
                              <a:pos x="1040" y="1699"/>
                            </a:cxn>
                            <a:cxn ang="0">
                              <a:pos x="1014" y="1707"/>
                            </a:cxn>
                            <a:cxn ang="0">
                              <a:pos x="966" y="1713"/>
                            </a:cxn>
                            <a:cxn ang="0">
                              <a:pos x="885" y="1713"/>
                            </a:cxn>
                            <a:cxn ang="0">
                              <a:pos x="817" y="1722"/>
                            </a:cxn>
                            <a:cxn ang="0">
                              <a:pos x="728" y="1740"/>
                            </a:cxn>
                            <a:cxn ang="0">
                              <a:pos x="635" y="1759"/>
                            </a:cxn>
                            <a:cxn ang="0">
                              <a:pos x="572" y="1771"/>
                            </a:cxn>
                            <a:cxn ang="0">
                              <a:pos x="495" y="1771"/>
                            </a:cxn>
                            <a:cxn ang="0">
                              <a:pos x="479" y="1759"/>
                            </a:cxn>
                            <a:cxn ang="0">
                              <a:pos x="42" y="1407"/>
                            </a:cxn>
                            <a:cxn ang="0">
                              <a:pos x="22" y="1383"/>
                            </a:cxn>
                            <a:cxn ang="0">
                              <a:pos x="6" y="1359"/>
                            </a:cxn>
                            <a:cxn ang="0">
                              <a:pos x="0" y="1332"/>
                            </a:cxn>
                            <a:cxn ang="0">
                              <a:pos x="0" y="1299"/>
                            </a:cxn>
                            <a:cxn ang="0">
                              <a:pos x="6" y="1271"/>
                            </a:cxn>
                            <a:cxn ang="0">
                              <a:pos x="131" y="836"/>
                            </a:cxn>
                            <a:cxn ang="0">
                              <a:pos x="209" y="558"/>
                            </a:cxn>
                            <a:cxn ang="0">
                              <a:pos x="264" y="358"/>
                            </a:cxn>
                          </a:cxnLst>
                          <a:rect l="0" t="0" r="r" b="b"/>
                          <a:pathLst>
                            <a:path w="1412" h="1771">
                              <a:moveTo>
                                <a:pt x="264" y="358"/>
                              </a:moveTo>
                              <a:lnTo>
                                <a:pt x="298" y="236"/>
                              </a:lnTo>
                              <a:lnTo>
                                <a:pt x="320" y="159"/>
                              </a:lnTo>
                              <a:lnTo>
                                <a:pt x="328" y="135"/>
                              </a:lnTo>
                              <a:lnTo>
                                <a:pt x="341" y="116"/>
                              </a:lnTo>
                              <a:lnTo>
                                <a:pt x="349" y="107"/>
                              </a:lnTo>
                              <a:lnTo>
                                <a:pt x="363" y="101"/>
                              </a:lnTo>
                              <a:lnTo>
                                <a:pt x="542" y="58"/>
                              </a:lnTo>
                              <a:lnTo>
                                <a:pt x="734" y="16"/>
                              </a:lnTo>
                              <a:lnTo>
                                <a:pt x="908" y="0"/>
                              </a:lnTo>
                              <a:lnTo>
                                <a:pt x="1007" y="0"/>
                              </a:lnTo>
                              <a:lnTo>
                                <a:pt x="1212" y="13"/>
                              </a:lnTo>
                              <a:lnTo>
                                <a:pt x="1361" y="22"/>
                              </a:lnTo>
                              <a:lnTo>
                                <a:pt x="1383" y="25"/>
                              </a:lnTo>
                              <a:lnTo>
                                <a:pt x="1396" y="33"/>
                              </a:lnTo>
                              <a:lnTo>
                                <a:pt x="1405" y="42"/>
                              </a:lnTo>
                              <a:lnTo>
                                <a:pt x="1411" y="54"/>
                              </a:lnTo>
                              <a:lnTo>
                                <a:pt x="1412" y="70"/>
                              </a:lnTo>
                              <a:lnTo>
                                <a:pt x="1404" y="119"/>
                              </a:lnTo>
                              <a:lnTo>
                                <a:pt x="1376" y="278"/>
                              </a:lnTo>
                              <a:lnTo>
                                <a:pt x="1355" y="397"/>
                              </a:lnTo>
                              <a:lnTo>
                                <a:pt x="1307" y="665"/>
                              </a:lnTo>
                              <a:lnTo>
                                <a:pt x="1276" y="830"/>
                              </a:lnTo>
                              <a:lnTo>
                                <a:pt x="1191" y="1216"/>
                              </a:lnTo>
                              <a:lnTo>
                                <a:pt x="1110" y="1525"/>
                              </a:lnTo>
                              <a:lnTo>
                                <a:pt x="1095" y="1585"/>
                              </a:lnTo>
                              <a:lnTo>
                                <a:pt x="1086" y="1619"/>
                              </a:lnTo>
                              <a:lnTo>
                                <a:pt x="1078" y="1652"/>
                              </a:lnTo>
                              <a:lnTo>
                                <a:pt x="1068" y="1670"/>
                              </a:lnTo>
                              <a:lnTo>
                                <a:pt x="1055" y="1691"/>
                              </a:lnTo>
                              <a:lnTo>
                                <a:pt x="1040" y="1699"/>
                              </a:lnTo>
                              <a:lnTo>
                                <a:pt x="1014" y="1707"/>
                              </a:lnTo>
                              <a:lnTo>
                                <a:pt x="966" y="1713"/>
                              </a:lnTo>
                              <a:lnTo>
                                <a:pt x="885" y="1713"/>
                              </a:lnTo>
                              <a:lnTo>
                                <a:pt x="817" y="1722"/>
                              </a:lnTo>
                              <a:lnTo>
                                <a:pt x="728" y="1740"/>
                              </a:lnTo>
                              <a:lnTo>
                                <a:pt x="635" y="1759"/>
                              </a:lnTo>
                              <a:lnTo>
                                <a:pt x="572" y="1771"/>
                              </a:lnTo>
                              <a:lnTo>
                                <a:pt x="495" y="1771"/>
                              </a:lnTo>
                              <a:lnTo>
                                <a:pt x="479" y="1759"/>
                              </a:lnTo>
                              <a:lnTo>
                                <a:pt x="42" y="1407"/>
                              </a:lnTo>
                              <a:lnTo>
                                <a:pt x="22" y="1383"/>
                              </a:lnTo>
                              <a:lnTo>
                                <a:pt x="6" y="1359"/>
                              </a:lnTo>
                              <a:lnTo>
                                <a:pt x="0" y="1332"/>
                              </a:lnTo>
                              <a:lnTo>
                                <a:pt x="0" y="1299"/>
                              </a:lnTo>
                              <a:lnTo>
                                <a:pt x="6" y="1271"/>
                              </a:lnTo>
                              <a:lnTo>
                                <a:pt x="131" y="836"/>
                              </a:lnTo>
                              <a:lnTo>
                                <a:pt x="209" y="558"/>
                              </a:lnTo>
                              <a:lnTo>
                                <a:pt x="264" y="358"/>
                              </a:lnTo>
                              <a:close/>
                            </a:path>
                          </a:pathLst>
                        </a:custGeom>
                        <a:solidFill>
                          <a:srgbClr val="C0C0C0"/>
                        </a:solidFill>
                        <a:ln w="3175">
                          <a:solidFill>
                            <a:srgbClr val="000000"/>
                          </a:solidFill>
                          <a:prstDash val="solid"/>
                          <a:round/>
                          <a:headEnd/>
                          <a:tailEnd/>
                        </a:ln>
                      </p:spPr>
                      <p:txBody>
                        <a:bodyPr/>
                        <a:lstStyle/>
                        <a:p>
                          <a:endParaRPr lang="en-US"/>
                        </a:p>
                      </p:txBody>
                    </p:sp>
                    <p:sp>
                      <p:nvSpPr>
                        <p:cNvPr id="7216" name="Freeform 48"/>
                        <p:cNvSpPr>
                          <a:spLocks/>
                        </p:cNvSpPr>
                        <p:nvPr/>
                      </p:nvSpPr>
                      <p:spPr bwMode="auto">
                        <a:xfrm>
                          <a:off x="2113" y="2066"/>
                          <a:ext cx="280" cy="448"/>
                        </a:xfrm>
                        <a:custGeom>
                          <a:avLst/>
                          <a:gdLst/>
                          <a:ahLst/>
                          <a:cxnLst>
                            <a:cxn ang="0">
                              <a:pos x="192" y="402"/>
                            </a:cxn>
                            <a:cxn ang="0">
                              <a:pos x="252" y="209"/>
                            </a:cxn>
                            <a:cxn ang="0">
                              <a:pos x="306" y="36"/>
                            </a:cxn>
                            <a:cxn ang="0">
                              <a:pos x="314" y="29"/>
                            </a:cxn>
                            <a:cxn ang="0">
                              <a:pos x="323" y="26"/>
                            </a:cxn>
                            <a:cxn ang="0">
                              <a:pos x="341" y="23"/>
                            </a:cxn>
                            <a:cxn ang="0">
                              <a:pos x="581" y="2"/>
                            </a:cxn>
                            <a:cxn ang="0">
                              <a:pos x="816" y="0"/>
                            </a:cxn>
                            <a:cxn ang="0">
                              <a:pos x="829" y="3"/>
                            </a:cxn>
                            <a:cxn ang="0">
                              <a:pos x="835" y="9"/>
                            </a:cxn>
                            <a:cxn ang="0">
                              <a:pos x="840" y="26"/>
                            </a:cxn>
                            <a:cxn ang="0">
                              <a:pos x="822" y="148"/>
                            </a:cxn>
                            <a:cxn ang="0">
                              <a:pos x="785" y="252"/>
                            </a:cxn>
                            <a:cxn ang="0">
                              <a:pos x="723" y="447"/>
                            </a:cxn>
                            <a:cxn ang="0">
                              <a:pos x="604" y="778"/>
                            </a:cxn>
                            <a:cxn ang="0">
                              <a:pos x="499" y="1068"/>
                            </a:cxn>
                            <a:cxn ang="0">
                              <a:pos x="473" y="1177"/>
                            </a:cxn>
                            <a:cxn ang="0">
                              <a:pos x="457" y="1249"/>
                            </a:cxn>
                            <a:cxn ang="0">
                              <a:pos x="440" y="1292"/>
                            </a:cxn>
                            <a:cxn ang="0">
                              <a:pos x="425" y="1322"/>
                            </a:cxn>
                            <a:cxn ang="0">
                              <a:pos x="414" y="1337"/>
                            </a:cxn>
                            <a:cxn ang="0">
                              <a:pos x="405" y="1345"/>
                            </a:cxn>
                            <a:cxn ang="0">
                              <a:pos x="391" y="1346"/>
                            </a:cxn>
                            <a:cxn ang="0">
                              <a:pos x="376" y="1342"/>
                            </a:cxn>
                            <a:cxn ang="0">
                              <a:pos x="353" y="1325"/>
                            </a:cxn>
                            <a:cxn ang="0">
                              <a:pos x="327" y="1303"/>
                            </a:cxn>
                            <a:cxn ang="0">
                              <a:pos x="303" y="1276"/>
                            </a:cxn>
                            <a:cxn ang="0">
                              <a:pos x="275" y="1249"/>
                            </a:cxn>
                            <a:cxn ang="0">
                              <a:pos x="248" y="1226"/>
                            </a:cxn>
                            <a:cxn ang="0">
                              <a:pos x="12" y="1107"/>
                            </a:cxn>
                            <a:cxn ang="0">
                              <a:pos x="3" y="1099"/>
                            </a:cxn>
                            <a:cxn ang="0">
                              <a:pos x="0" y="1087"/>
                            </a:cxn>
                            <a:cxn ang="0">
                              <a:pos x="2" y="1072"/>
                            </a:cxn>
                            <a:cxn ang="0">
                              <a:pos x="6" y="1058"/>
                            </a:cxn>
                            <a:cxn ang="0">
                              <a:pos x="192" y="402"/>
                            </a:cxn>
                          </a:cxnLst>
                          <a:rect l="0" t="0" r="r" b="b"/>
                          <a:pathLst>
                            <a:path w="840" h="1346">
                              <a:moveTo>
                                <a:pt x="192" y="402"/>
                              </a:moveTo>
                              <a:lnTo>
                                <a:pt x="252" y="209"/>
                              </a:lnTo>
                              <a:lnTo>
                                <a:pt x="306" y="36"/>
                              </a:lnTo>
                              <a:lnTo>
                                <a:pt x="314" y="29"/>
                              </a:lnTo>
                              <a:lnTo>
                                <a:pt x="323" y="26"/>
                              </a:lnTo>
                              <a:lnTo>
                                <a:pt x="341" y="23"/>
                              </a:lnTo>
                              <a:lnTo>
                                <a:pt x="581" y="2"/>
                              </a:lnTo>
                              <a:lnTo>
                                <a:pt x="816" y="0"/>
                              </a:lnTo>
                              <a:lnTo>
                                <a:pt x="829" y="3"/>
                              </a:lnTo>
                              <a:lnTo>
                                <a:pt x="835" y="9"/>
                              </a:lnTo>
                              <a:lnTo>
                                <a:pt x="840" y="26"/>
                              </a:lnTo>
                              <a:lnTo>
                                <a:pt x="822" y="148"/>
                              </a:lnTo>
                              <a:lnTo>
                                <a:pt x="785" y="252"/>
                              </a:lnTo>
                              <a:lnTo>
                                <a:pt x="723" y="447"/>
                              </a:lnTo>
                              <a:lnTo>
                                <a:pt x="604" y="778"/>
                              </a:lnTo>
                              <a:lnTo>
                                <a:pt x="499" y="1068"/>
                              </a:lnTo>
                              <a:lnTo>
                                <a:pt x="473" y="1177"/>
                              </a:lnTo>
                              <a:lnTo>
                                <a:pt x="457" y="1249"/>
                              </a:lnTo>
                              <a:lnTo>
                                <a:pt x="440" y="1292"/>
                              </a:lnTo>
                              <a:lnTo>
                                <a:pt x="425" y="1322"/>
                              </a:lnTo>
                              <a:lnTo>
                                <a:pt x="414" y="1337"/>
                              </a:lnTo>
                              <a:lnTo>
                                <a:pt x="405" y="1345"/>
                              </a:lnTo>
                              <a:lnTo>
                                <a:pt x="391" y="1346"/>
                              </a:lnTo>
                              <a:lnTo>
                                <a:pt x="376" y="1342"/>
                              </a:lnTo>
                              <a:lnTo>
                                <a:pt x="353" y="1325"/>
                              </a:lnTo>
                              <a:lnTo>
                                <a:pt x="327" y="1303"/>
                              </a:lnTo>
                              <a:lnTo>
                                <a:pt x="303" y="1276"/>
                              </a:lnTo>
                              <a:lnTo>
                                <a:pt x="275" y="1249"/>
                              </a:lnTo>
                              <a:lnTo>
                                <a:pt x="248" y="1226"/>
                              </a:lnTo>
                              <a:lnTo>
                                <a:pt x="12" y="1107"/>
                              </a:lnTo>
                              <a:lnTo>
                                <a:pt x="3" y="1099"/>
                              </a:lnTo>
                              <a:lnTo>
                                <a:pt x="0" y="1087"/>
                              </a:lnTo>
                              <a:lnTo>
                                <a:pt x="2" y="1072"/>
                              </a:lnTo>
                              <a:lnTo>
                                <a:pt x="6" y="1058"/>
                              </a:lnTo>
                              <a:lnTo>
                                <a:pt x="192" y="402"/>
                              </a:lnTo>
                              <a:close/>
                            </a:path>
                          </a:pathLst>
                        </a:custGeom>
                        <a:solidFill>
                          <a:srgbClr val="005F5F"/>
                        </a:solidFill>
                        <a:ln w="3175">
                          <a:solidFill>
                            <a:srgbClr val="000000"/>
                          </a:solidFill>
                          <a:prstDash val="solid"/>
                          <a:round/>
                          <a:headEnd/>
                          <a:tailEnd/>
                        </a:ln>
                      </p:spPr>
                      <p:txBody>
                        <a:bodyPr/>
                        <a:lstStyle/>
                        <a:p>
                          <a:endParaRPr lang="en-US"/>
                        </a:p>
                      </p:txBody>
                    </p:sp>
                  </p:grpSp>
                  <p:grpSp>
                    <p:nvGrpSpPr>
                      <p:cNvPr id="19" name="Group 52"/>
                      <p:cNvGrpSpPr>
                        <a:grpSpLocks/>
                      </p:cNvGrpSpPr>
                      <p:nvPr/>
                    </p:nvGrpSpPr>
                    <p:grpSpPr bwMode="auto">
                      <a:xfrm>
                        <a:off x="2427" y="2527"/>
                        <a:ext cx="75" cy="254"/>
                        <a:chOff x="2427" y="2527"/>
                        <a:chExt cx="75" cy="254"/>
                      </a:xfrm>
                    </p:grpSpPr>
                    <p:sp>
                      <p:nvSpPr>
                        <p:cNvPr id="7218" name="Freeform 50"/>
                        <p:cNvSpPr>
                          <a:spLocks/>
                        </p:cNvSpPr>
                        <p:nvPr/>
                      </p:nvSpPr>
                      <p:spPr bwMode="auto">
                        <a:xfrm>
                          <a:off x="2433" y="2536"/>
                          <a:ext cx="69" cy="245"/>
                        </a:xfrm>
                        <a:custGeom>
                          <a:avLst/>
                          <a:gdLst/>
                          <a:ahLst/>
                          <a:cxnLst>
                            <a:cxn ang="0">
                              <a:pos x="0" y="0"/>
                            </a:cxn>
                            <a:cxn ang="0">
                              <a:pos x="7" y="49"/>
                            </a:cxn>
                            <a:cxn ang="0">
                              <a:pos x="17" y="87"/>
                            </a:cxn>
                            <a:cxn ang="0">
                              <a:pos x="34" y="119"/>
                            </a:cxn>
                            <a:cxn ang="0">
                              <a:pos x="62" y="140"/>
                            </a:cxn>
                            <a:cxn ang="0">
                              <a:pos x="96" y="157"/>
                            </a:cxn>
                            <a:cxn ang="0">
                              <a:pos x="122" y="185"/>
                            </a:cxn>
                            <a:cxn ang="0">
                              <a:pos x="144" y="220"/>
                            </a:cxn>
                            <a:cxn ang="0">
                              <a:pos x="166" y="280"/>
                            </a:cxn>
                            <a:cxn ang="0">
                              <a:pos x="174" y="329"/>
                            </a:cxn>
                            <a:cxn ang="0">
                              <a:pos x="167" y="368"/>
                            </a:cxn>
                            <a:cxn ang="0">
                              <a:pos x="144" y="403"/>
                            </a:cxn>
                            <a:cxn ang="0">
                              <a:pos x="123" y="436"/>
                            </a:cxn>
                            <a:cxn ang="0">
                              <a:pos x="109" y="469"/>
                            </a:cxn>
                            <a:cxn ang="0">
                              <a:pos x="98" y="512"/>
                            </a:cxn>
                            <a:cxn ang="0">
                              <a:pos x="93" y="561"/>
                            </a:cxn>
                            <a:cxn ang="0">
                              <a:pos x="104" y="607"/>
                            </a:cxn>
                            <a:cxn ang="0">
                              <a:pos x="118" y="638"/>
                            </a:cxn>
                            <a:cxn ang="0">
                              <a:pos x="149" y="678"/>
                            </a:cxn>
                            <a:cxn ang="0">
                              <a:pos x="174" y="705"/>
                            </a:cxn>
                            <a:cxn ang="0">
                              <a:pos x="207" y="735"/>
                            </a:cxn>
                          </a:cxnLst>
                          <a:rect l="0" t="0" r="r" b="b"/>
                          <a:pathLst>
                            <a:path w="207" h="735">
                              <a:moveTo>
                                <a:pt x="0" y="0"/>
                              </a:moveTo>
                              <a:lnTo>
                                <a:pt x="7" y="49"/>
                              </a:lnTo>
                              <a:lnTo>
                                <a:pt x="17" y="87"/>
                              </a:lnTo>
                              <a:lnTo>
                                <a:pt x="34" y="119"/>
                              </a:lnTo>
                              <a:lnTo>
                                <a:pt x="62" y="140"/>
                              </a:lnTo>
                              <a:lnTo>
                                <a:pt x="96" y="157"/>
                              </a:lnTo>
                              <a:lnTo>
                                <a:pt x="122" y="185"/>
                              </a:lnTo>
                              <a:lnTo>
                                <a:pt x="144" y="220"/>
                              </a:lnTo>
                              <a:lnTo>
                                <a:pt x="166" y="280"/>
                              </a:lnTo>
                              <a:lnTo>
                                <a:pt x="174" y="329"/>
                              </a:lnTo>
                              <a:lnTo>
                                <a:pt x="167" y="368"/>
                              </a:lnTo>
                              <a:lnTo>
                                <a:pt x="144" y="403"/>
                              </a:lnTo>
                              <a:lnTo>
                                <a:pt x="123" y="436"/>
                              </a:lnTo>
                              <a:lnTo>
                                <a:pt x="109" y="469"/>
                              </a:lnTo>
                              <a:lnTo>
                                <a:pt x="98" y="512"/>
                              </a:lnTo>
                              <a:lnTo>
                                <a:pt x="93" y="561"/>
                              </a:lnTo>
                              <a:lnTo>
                                <a:pt x="104" y="607"/>
                              </a:lnTo>
                              <a:lnTo>
                                <a:pt x="118" y="638"/>
                              </a:lnTo>
                              <a:lnTo>
                                <a:pt x="149" y="678"/>
                              </a:lnTo>
                              <a:lnTo>
                                <a:pt x="174" y="705"/>
                              </a:lnTo>
                              <a:lnTo>
                                <a:pt x="207" y="735"/>
                              </a:lnTo>
                            </a:path>
                          </a:pathLst>
                        </a:custGeom>
                        <a:noFill/>
                        <a:ln w="3175">
                          <a:solidFill>
                            <a:srgbClr val="000000"/>
                          </a:solidFill>
                          <a:prstDash val="solid"/>
                          <a:round/>
                          <a:headEnd/>
                          <a:tailEnd/>
                        </a:ln>
                      </p:spPr>
                      <p:txBody>
                        <a:bodyPr/>
                        <a:lstStyle/>
                        <a:p>
                          <a:endParaRPr lang="en-US"/>
                        </a:p>
                      </p:txBody>
                    </p:sp>
                    <p:sp>
                      <p:nvSpPr>
                        <p:cNvPr id="7219" name="Oval 51"/>
                        <p:cNvSpPr>
                          <a:spLocks noChangeArrowheads="1"/>
                        </p:cNvSpPr>
                        <p:nvPr/>
                      </p:nvSpPr>
                      <p:spPr bwMode="auto">
                        <a:xfrm>
                          <a:off x="2427" y="2527"/>
                          <a:ext cx="12" cy="15"/>
                        </a:xfrm>
                        <a:prstGeom prst="ellipse">
                          <a:avLst/>
                        </a:prstGeom>
                        <a:solidFill>
                          <a:srgbClr val="000000"/>
                        </a:solidFill>
                        <a:ln w="3175">
                          <a:solidFill>
                            <a:srgbClr val="000000"/>
                          </a:solidFill>
                          <a:round/>
                          <a:headEnd/>
                          <a:tailEnd/>
                        </a:ln>
                      </p:spPr>
                      <p:txBody>
                        <a:bodyPr/>
                        <a:lstStyle/>
                        <a:p>
                          <a:endParaRPr lang="en-US"/>
                        </a:p>
                      </p:txBody>
                    </p:sp>
                  </p:grpSp>
                </p:grpSp>
              </p:grpSp>
            </p:grpSp>
          </p:grpSp>
        </p:grpSp>
      </p:grpSp>
    </p:spTree>
    <p:extLst>
      <p:ext uri="{BB962C8B-B14F-4D97-AF65-F5344CB8AC3E}">
        <p14:creationId xmlns:p14="http://schemas.microsoft.com/office/powerpoint/2010/main" val="1292446279"/>
      </p:ext>
    </p:extLst>
  </p:cSld>
  <p:clrMapOvr>
    <a:masterClrMapping/>
  </p:clrMapOvr>
  <p:transition>
    <p:dissolve/>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Human-Computer Interaction </a:t>
            </a:r>
          </a:p>
        </p:txBody>
      </p:sp>
      <p:sp>
        <p:nvSpPr>
          <p:cNvPr id="3" name="Content Placeholder 2"/>
          <p:cNvSpPr>
            <a:spLocks noGrp="1"/>
          </p:cNvSpPr>
          <p:nvPr>
            <p:ph sz="quarter" idx="1"/>
          </p:nvPr>
        </p:nvSpPr>
        <p:spPr/>
        <p:txBody>
          <a:bodyPr>
            <a:normAutofit fontScale="77500" lnSpcReduction="20000"/>
          </a:bodyPr>
          <a:lstStyle/>
          <a:p>
            <a:r>
              <a:rPr lang="en-US" dirty="0"/>
              <a:t>What </a:t>
            </a:r>
          </a:p>
          <a:p>
            <a:pPr lvl="1"/>
            <a:r>
              <a:rPr lang="en-US" dirty="0"/>
              <a:t>the study of </a:t>
            </a:r>
            <a:r>
              <a:rPr lang="en-US" i="1" dirty="0"/>
              <a:t>interaction between people and computer-based systems</a:t>
            </a:r>
          </a:p>
          <a:p>
            <a:pPr lvl="1"/>
            <a:r>
              <a:rPr lang="en-US" dirty="0"/>
              <a:t>concern with the </a:t>
            </a:r>
            <a:r>
              <a:rPr lang="en-US" i="1" dirty="0"/>
              <a:t>physical, psychological and theoretical aspects of this process</a:t>
            </a:r>
          </a:p>
          <a:p>
            <a:endParaRPr lang="en-US" i="1" dirty="0"/>
          </a:p>
          <a:p>
            <a:r>
              <a:rPr lang="en-US" dirty="0"/>
              <a:t>Why </a:t>
            </a:r>
          </a:p>
          <a:p>
            <a:pPr lvl="1"/>
            <a:r>
              <a:rPr lang="en-US" i="1" dirty="0"/>
              <a:t>to enable us to design interactive products to support people in their everyday and working lives</a:t>
            </a:r>
          </a:p>
          <a:p>
            <a:endParaRPr lang="en-US" dirty="0"/>
          </a:p>
          <a:p>
            <a:r>
              <a:rPr lang="en-US" dirty="0"/>
              <a:t>Goals </a:t>
            </a:r>
          </a:p>
          <a:p>
            <a:pPr lvl="1"/>
            <a:r>
              <a:rPr lang="en-US" dirty="0"/>
              <a:t>Usability</a:t>
            </a:r>
          </a:p>
          <a:p>
            <a:pPr lvl="1"/>
            <a:r>
              <a:rPr lang="en-US" dirty="0" err="1"/>
              <a:t>Pleasurability</a:t>
            </a:r>
            <a:endParaRPr lang="en-US" dirty="0"/>
          </a:p>
          <a:p>
            <a:pPr lvl="1"/>
            <a:r>
              <a:rPr lang="en-US" dirty="0"/>
              <a:t>User experience and emotions</a:t>
            </a:r>
          </a:p>
        </p:txBody>
      </p:sp>
    </p:spTree>
    <p:extLst>
      <p:ext uri="{BB962C8B-B14F-4D97-AF65-F5344CB8AC3E}">
        <p14:creationId xmlns:p14="http://schemas.microsoft.com/office/powerpoint/2010/main" val="34705613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Human                  Computer</a:t>
            </a:r>
          </a:p>
        </p:txBody>
      </p:sp>
      <p:sp>
        <p:nvSpPr>
          <p:cNvPr id="3" name="Content Placeholder 2"/>
          <p:cNvSpPr>
            <a:spLocks noGrp="1"/>
          </p:cNvSpPr>
          <p:nvPr>
            <p:ph sz="quarter" idx="1"/>
          </p:nvPr>
        </p:nvSpPr>
        <p:spPr>
          <a:xfrm>
            <a:off x="838200" y="1524000"/>
            <a:ext cx="2590800" cy="4572000"/>
          </a:xfrm>
        </p:spPr>
        <p:txBody>
          <a:bodyPr>
            <a:normAutofit fontScale="92500" lnSpcReduction="10000"/>
          </a:bodyPr>
          <a:lstStyle/>
          <a:p>
            <a:r>
              <a:rPr lang="en-US" dirty="0"/>
              <a:t>Complex</a:t>
            </a:r>
          </a:p>
          <a:p>
            <a:endParaRPr lang="en-US" dirty="0"/>
          </a:p>
          <a:p>
            <a:r>
              <a:rPr lang="en-US" dirty="0"/>
              <a:t>Intelligent</a:t>
            </a:r>
          </a:p>
          <a:p>
            <a:endParaRPr lang="en-US" dirty="0"/>
          </a:p>
          <a:p>
            <a:r>
              <a:rPr lang="en-US" dirty="0"/>
              <a:t>Free will</a:t>
            </a:r>
          </a:p>
          <a:p>
            <a:endParaRPr lang="en-US" dirty="0"/>
          </a:p>
          <a:p>
            <a:r>
              <a:rPr lang="en-US" dirty="0"/>
              <a:t>Range of emotions</a:t>
            </a:r>
          </a:p>
          <a:p>
            <a:endParaRPr lang="en-US" dirty="0"/>
          </a:p>
          <a:p>
            <a:r>
              <a:rPr lang="en-US" dirty="0"/>
              <a:t>Make mistakes</a:t>
            </a:r>
          </a:p>
          <a:p>
            <a:endParaRPr lang="en-US" dirty="0"/>
          </a:p>
        </p:txBody>
      </p:sp>
      <p:sp>
        <p:nvSpPr>
          <p:cNvPr id="5" name="Rectangle 3"/>
          <p:cNvSpPr txBox="1">
            <a:spLocks noChangeArrowheads="1"/>
          </p:cNvSpPr>
          <p:nvPr/>
        </p:nvSpPr>
        <p:spPr>
          <a:xfrm>
            <a:off x="4800600" y="1600200"/>
            <a:ext cx="3352800" cy="4525963"/>
          </a:xfrm>
          <a:prstGeom prst="rect">
            <a:avLst/>
          </a:prstGeom>
        </p:spPr>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dirty="0"/>
              <a:t>Dumb</a:t>
            </a:r>
          </a:p>
          <a:p>
            <a:endParaRPr lang="en-US" dirty="0"/>
          </a:p>
          <a:p>
            <a:r>
              <a:rPr lang="en-US" dirty="0"/>
              <a:t>Unintelligent</a:t>
            </a:r>
          </a:p>
          <a:p>
            <a:endParaRPr lang="en-US" dirty="0"/>
          </a:p>
          <a:p>
            <a:r>
              <a:rPr lang="en-US" dirty="0"/>
              <a:t>Only do what they are told to do</a:t>
            </a:r>
          </a:p>
          <a:p>
            <a:r>
              <a:rPr lang="en-US" dirty="0"/>
              <a:t>Emotionless</a:t>
            </a:r>
          </a:p>
          <a:p>
            <a:endParaRPr lang="en-US" dirty="0"/>
          </a:p>
          <a:p>
            <a:r>
              <a:rPr lang="en-US" dirty="0"/>
              <a:t>Don’t make mistakes</a:t>
            </a:r>
          </a:p>
        </p:txBody>
      </p:sp>
    </p:spTree>
    <p:extLst>
      <p:ext uri="{BB962C8B-B14F-4D97-AF65-F5344CB8AC3E}">
        <p14:creationId xmlns:p14="http://schemas.microsoft.com/office/powerpoint/2010/main" val="23043386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547938"/>
            <a:ext cx="7772400" cy="2252662"/>
          </a:xfrm>
        </p:spPr>
        <p:txBody>
          <a:bodyPr>
            <a:normAutofit fontScale="92500" lnSpcReduction="20000"/>
          </a:bodyPr>
          <a:lstStyle/>
          <a:p>
            <a:pPr marL="457200" indent="-457200">
              <a:buFont typeface="+mj-lt"/>
              <a:buAutoNum type="arabicPeriod"/>
            </a:pPr>
            <a:r>
              <a:rPr lang="en-US" dirty="0"/>
              <a:t>Is all computer aided equipment inherently hard to use?</a:t>
            </a:r>
          </a:p>
          <a:p>
            <a:pPr marL="457200" indent="-457200">
              <a:buFont typeface="+mj-lt"/>
              <a:buAutoNum type="arabicPeriod"/>
            </a:pPr>
            <a:r>
              <a:rPr lang="en-US" dirty="0"/>
              <a:t>Paradox</a:t>
            </a:r>
          </a:p>
          <a:p>
            <a:pPr marL="1005840" lvl="1" indent="-457200">
              <a:buFont typeface="+mj-lt"/>
              <a:buAutoNum type="arabicPeriod"/>
            </a:pPr>
            <a:r>
              <a:rPr lang="en-US" dirty="0"/>
              <a:t>Computerized tools hard to use</a:t>
            </a:r>
          </a:p>
          <a:p>
            <a:pPr marL="1005840" lvl="1" indent="-457200">
              <a:buFont typeface="+mj-lt"/>
              <a:buAutoNum type="arabicPeriod"/>
            </a:pPr>
            <a:r>
              <a:rPr lang="en-US" dirty="0"/>
              <a:t>Computers were invented to make life easy, convenient and efficient</a:t>
            </a:r>
          </a:p>
          <a:p>
            <a:pPr algn="ctr"/>
            <a:r>
              <a:rPr lang="en-US" dirty="0"/>
              <a:t>So who is to be blamed?</a:t>
            </a:r>
          </a:p>
          <a:p>
            <a:endParaRPr lang="en-US" dirty="0"/>
          </a:p>
          <a:p>
            <a:endParaRPr lang="en-US" sz="4600" b="1" dirty="0"/>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3792982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122238"/>
            <a:ext cx="7543800" cy="858837"/>
          </a:xfrm>
        </p:spPr>
        <p:txBody>
          <a:bodyPr>
            <a:normAutofit/>
          </a:bodyPr>
          <a:lstStyle/>
          <a:p>
            <a:pPr eaLnBrk="1" hangingPunct="1"/>
            <a:r>
              <a:rPr lang="en-GB" sz="2600" dirty="0"/>
              <a:t>How do we design good interfaces?</a:t>
            </a:r>
          </a:p>
        </p:txBody>
      </p:sp>
      <p:sp>
        <p:nvSpPr>
          <p:cNvPr id="13315" name="Rectangle 3"/>
          <p:cNvSpPr>
            <a:spLocks noChangeArrowheads="1"/>
          </p:cNvSpPr>
          <p:nvPr/>
        </p:nvSpPr>
        <p:spPr bwMode="auto">
          <a:xfrm>
            <a:off x="477838" y="2076450"/>
            <a:ext cx="1684337" cy="798513"/>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GB" b="1"/>
              <a:t>Requirements</a:t>
            </a:r>
          </a:p>
        </p:txBody>
      </p:sp>
      <p:sp>
        <p:nvSpPr>
          <p:cNvPr id="13316" name="Rectangle 4"/>
          <p:cNvSpPr>
            <a:spLocks noChangeArrowheads="1"/>
          </p:cNvSpPr>
          <p:nvPr/>
        </p:nvSpPr>
        <p:spPr bwMode="auto">
          <a:xfrm>
            <a:off x="2173288" y="2886075"/>
            <a:ext cx="1684337" cy="7683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GB" b="1"/>
              <a:t>Design</a:t>
            </a:r>
          </a:p>
        </p:txBody>
      </p:sp>
      <p:sp>
        <p:nvSpPr>
          <p:cNvPr id="13317" name="Rectangle 5"/>
          <p:cNvSpPr>
            <a:spLocks noChangeArrowheads="1"/>
          </p:cNvSpPr>
          <p:nvPr/>
        </p:nvSpPr>
        <p:spPr bwMode="auto">
          <a:xfrm>
            <a:off x="3868738" y="3668713"/>
            <a:ext cx="1684337" cy="7683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GB" b="1"/>
              <a:t>Implement</a:t>
            </a:r>
          </a:p>
        </p:txBody>
      </p:sp>
      <p:sp>
        <p:nvSpPr>
          <p:cNvPr id="13318" name="Rectangle 6"/>
          <p:cNvSpPr>
            <a:spLocks noChangeArrowheads="1"/>
          </p:cNvSpPr>
          <p:nvPr/>
        </p:nvSpPr>
        <p:spPr bwMode="auto">
          <a:xfrm>
            <a:off x="5583238" y="4437063"/>
            <a:ext cx="1684337" cy="7683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GB" b="1"/>
              <a:t>Test</a:t>
            </a:r>
          </a:p>
        </p:txBody>
      </p:sp>
      <p:sp>
        <p:nvSpPr>
          <p:cNvPr id="13319" name="Rectangle 7"/>
          <p:cNvSpPr>
            <a:spLocks noChangeArrowheads="1"/>
          </p:cNvSpPr>
          <p:nvPr/>
        </p:nvSpPr>
        <p:spPr bwMode="auto">
          <a:xfrm>
            <a:off x="7281863" y="5205413"/>
            <a:ext cx="1684337" cy="7683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GB" b="1"/>
              <a:t>Maintain</a:t>
            </a:r>
          </a:p>
        </p:txBody>
      </p:sp>
      <p:sp>
        <p:nvSpPr>
          <p:cNvPr id="13320" name="AutoShape 8"/>
          <p:cNvSpPr>
            <a:spLocks noChangeArrowheads="1"/>
          </p:cNvSpPr>
          <p:nvPr/>
        </p:nvSpPr>
        <p:spPr bwMode="auto">
          <a:xfrm rot="5400000">
            <a:off x="2163763" y="2103438"/>
            <a:ext cx="766762" cy="766762"/>
          </a:xfrm>
          <a:custGeom>
            <a:avLst/>
            <a:gdLst>
              <a:gd name="T0" fmla="*/ 19060640 w 21600"/>
              <a:gd name="T1" fmla="*/ 0 h 21600"/>
              <a:gd name="T2" fmla="*/ 19060640 w 21600"/>
              <a:gd name="T3" fmla="*/ 15320614 h 21600"/>
              <a:gd name="T4" fmla="*/ 4079031 w 21600"/>
              <a:gd name="T5" fmla="*/ 27218701 h 21600"/>
              <a:gd name="T6" fmla="*/ 27218701 w 21600"/>
              <a:gd name="T7" fmla="*/ 766030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en-US"/>
          </a:p>
        </p:txBody>
      </p:sp>
      <p:sp>
        <p:nvSpPr>
          <p:cNvPr id="13321" name="AutoShape 9"/>
          <p:cNvSpPr>
            <a:spLocks noChangeArrowheads="1"/>
          </p:cNvSpPr>
          <p:nvPr/>
        </p:nvSpPr>
        <p:spPr bwMode="auto">
          <a:xfrm rot="5400000">
            <a:off x="3846513" y="2884488"/>
            <a:ext cx="766762" cy="766762"/>
          </a:xfrm>
          <a:custGeom>
            <a:avLst/>
            <a:gdLst>
              <a:gd name="T0" fmla="*/ 19060640 w 21600"/>
              <a:gd name="T1" fmla="*/ 0 h 21600"/>
              <a:gd name="T2" fmla="*/ 19060640 w 21600"/>
              <a:gd name="T3" fmla="*/ 15320614 h 21600"/>
              <a:gd name="T4" fmla="*/ 4079031 w 21600"/>
              <a:gd name="T5" fmla="*/ 27218701 h 21600"/>
              <a:gd name="T6" fmla="*/ 27218701 w 21600"/>
              <a:gd name="T7" fmla="*/ 766030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en-US"/>
          </a:p>
        </p:txBody>
      </p:sp>
      <p:sp>
        <p:nvSpPr>
          <p:cNvPr id="13322" name="AutoShape 10"/>
          <p:cNvSpPr>
            <a:spLocks noChangeArrowheads="1"/>
          </p:cNvSpPr>
          <p:nvPr/>
        </p:nvSpPr>
        <p:spPr bwMode="auto">
          <a:xfrm rot="5400000">
            <a:off x="5557838" y="3668713"/>
            <a:ext cx="766762" cy="766762"/>
          </a:xfrm>
          <a:custGeom>
            <a:avLst/>
            <a:gdLst>
              <a:gd name="T0" fmla="*/ 19060640 w 21600"/>
              <a:gd name="T1" fmla="*/ 0 h 21600"/>
              <a:gd name="T2" fmla="*/ 19060640 w 21600"/>
              <a:gd name="T3" fmla="*/ 15320614 h 21600"/>
              <a:gd name="T4" fmla="*/ 4079031 w 21600"/>
              <a:gd name="T5" fmla="*/ 27218701 h 21600"/>
              <a:gd name="T6" fmla="*/ 27218701 w 21600"/>
              <a:gd name="T7" fmla="*/ 766030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en-US"/>
          </a:p>
        </p:txBody>
      </p:sp>
      <p:sp>
        <p:nvSpPr>
          <p:cNvPr id="13323" name="AutoShape 11"/>
          <p:cNvSpPr>
            <a:spLocks noChangeArrowheads="1"/>
          </p:cNvSpPr>
          <p:nvPr/>
        </p:nvSpPr>
        <p:spPr bwMode="auto">
          <a:xfrm rot="5400000">
            <a:off x="7270750" y="4438650"/>
            <a:ext cx="766763" cy="766763"/>
          </a:xfrm>
          <a:custGeom>
            <a:avLst/>
            <a:gdLst>
              <a:gd name="T0" fmla="*/ 19060701 w 21600"/>
              <a:gd name="T1" fmla="*/ 0 h 21600"/>
              <a:gd name="T2" fmla="*/ 19060701 w 21600"/>
              <a:gd name="T3" fmla="*/ 15320634 h 21600"/>
              <a:gd name="T4" fmla="*/ 4079037 w 21600"/>
              <a:gd name="T5" fmla="*/ 27218772 h 21600"/>
              <a:gd name="T6" fmla="*/ 27218772 w 21600"/>
              <a:gd name="T7" fmla="*/ 766031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en-US"/>
          </a:p>
        </p:txBody>
      </p:sp>
      <p:sp>
        <p:nvSpPr>
          <p:cNvPr id="13324" name="Text Box 12"/>
          <p:cNvSpPr txBox="1">
            <a:spLocks noChangeArrowheads="1"/>
          </p:cNvSpPr>
          <p:nvPr/>
        </p:nvSpPr>
        <p:spPr bwMode="auto">
          <a:xfrm>
            <a:off x="395288" y="5454650"/>
            <a:ext cx="2122487" cy="519113"/>
          </a:xfrm>
          <a:prstGeom prst="rect">
            <a:avLst/>
          </a:prstGeom>
          <a:noFill/>
          <a:ln w="12700">
            <a:noFill/>
            <a:miter lim="800000"/>
            <a:headEnd type="none" w="sm" len="sm"/>
            <a:tailEnd type="none" w="sm" len="sm"/>
          </a:ln>
        </p:spPr>
        <p:txBody>
          <a:bodyPr wrap="none">
            <a:spAutoFit/>
          </a:bodyPr>
          <a:lstStyle/>
          <a:p>
            <a:r>
              <a:rPr lang="en-GB" sz="2800" dirty="0"/>
              <a:t>Not like this!</a:t>
            </a:r>
          </a:p>
        </p:txBody>
      </p:sp>
    </p:spTree>
    <p:extLst>
      <p:ext uri="{BB962C8B-B14F-4D97-AF65-F5344CB8AC3E}">
        <p14:creationId xmlns:p14="http://schemas.microsoft.com/office/powerpoint/2010/main" val="174382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Centered Design </a:t>
            </a:r>
          </a:p>
        </p:txBody>
      </p:sp>
      <p:pic>
        <p:nvPicPr>
          <p:cNvPr id="1030" name="Picture 6" descr="User-Centered Desig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676400"/>
            <a:ext cx="6956775"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1944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p:txBody>
          <a:bodyPr>
            <a:normAutofit/>
          </a:bodyPr>
          <a:lstStyle/>
          <a:p>
            <a:r>
              <a:rPr lang="en-US" dirty="0"/>
              <a:t>HCI and Software Engineering</a:t>
            </a:r>
          </a:p>
        </p:txBody>
      </p:sp>
      <p:sp>
        <p:nvSpPr>
          <p:cNvPr id="5" name="Rectangle 3"/>
          <p:cNvSpPr txBox="1">
            <a:spLocks noChangeArrowheads="1"/>
          </p:cNvSpPr>
          <p:nvPr/>
        </p:nvSpPr>
        <p:spPr>
          <a:xfrm>
            <a:off x="457200" y="1600200"/>
            <a:ext cx="8229600" cy="4525963"/>
          </a:xfrm>
          <a:prstGeom prst="rect">
            <a:avLst/>
          </a:prstGeom>
        </p:spPr>
        <p:txBody>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dirty="0"/>
              <a:t>Software engineers focus on internal workings of software</a:t>
            </a:r>
          </a:p>
          <a:p>
            <a:pPr lvl="1"/>
            <a:r>
              <a:rPr lang="en-US" dirty="0"/>
              <a:t>Engineers believe that since they made it, can use it, everyone can use it</a:t>
            </a:r>
          </a:p>
          <a:p>
            <a:pPr lvl="1"/>
            <a:r>
              <a:rPr lang="en-US" dirty="0"/>
              <a:t>“If WE can use it, YOU can use it. If you can’t, YOU must be STUPID”</a:t>
            </a:r>
          </a:p>
          <a:p>
            <a:pPr lvl="1"/>
            <a:r>
              <a:rPr lang="en-US" dirty="0"/>
              <a:t>“Users are stupid” – anonymous</a:t>
            </a:r>
          </a:p>
          <a:p>
            <a:pPr lvl="1"/>
            <a:r>
              <a:rPr lang="en-US" dirty="0"/>
              <a:t>“Users are dummies” – anonymous</a:t>
            </a:r>
          </a:p>
          <a:p>
            <a:r>
              <a:rPr lang="en-US" dirty="0"/>
              <a:t>In HCI we are concerned with external workings of software</a:t>
            </a:r>
          </a:p>
        </p:txBody>
      </p:sp>
    </p:spTree>
    <p:extLst>
      <p:ext uri="{BB962C8B-B14F-4D97-AF65-F5344CB8AC3E}">
        <p14:creationId xmlns:p14="http://schemas.microsoft.com/office/powerpoint/2010/main" val="30918584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Centered Design </a:t>
            </a:r>
          </a:p>
        </p:txBody>
      </p:sp>
      <p:sp>
        <p:nvSpPr>
          <p:cNvPr id="3" name="Content Placeholder 2"/>
          <p:cNvSpPr>
            <a:spLocks noGrp="1"/>
          </p:cNvSpPr>
          <p:nvPr>
            <p:ph sz="quarter" idx="1"/>
          </p:nvPr>
        </p:nvSpPr>
        <p:spPr/>
        <p:txBody>
          <a:bodyPr/>
          <a:lstStyle/>
          <a:p>
            <a:r>
              <a:rPr lang="en-US" dirty="0"/>
              <a:t>Usability is about communicating with users </a:t>
            </a:r>
          </a:p>
          <a:p>
            <a:pPr lvl="1"/>
            <a:r>
              <a:rPr lang="en-US" dirty="0"/>
              <a:t>Which you (designer) are not</a:t>
            </a:r>
          </a:p>
          <a:p>
            <a:pPr lvl="1"/>
            <a:r>
              <a:rPr lang="en-US" dirty="0"/>
              <a:t>Different than other software engineering </a:t>
            </a:r>
          </a:p>
          <a:p>
            <a:pPr lvl="1"/>
            <a:endParaRPr lang="en-US" dirty="0"/>
          </a:p>
          <a:p>
            <a:r>
              <a:rPr lang="en-US" dirty="0"/>
              <a:t>Users can seldom express accurately what they want </a:t>
            </a:r>
          </a:p>
          <a:p>
            <a:pPr lvl="1"/>
            <a:r>
              <a:rPr lang="en-US" dirty="0"/>
              <a:t>Get their needs out of their environment </a:t>
            </a:r>
          </a:p>
          <a:p>
            <a:endParaRPr lang="en-US" dirty="0"/>
          </a:p>
          <a:p>
            <a:r>
              <a:rPr lang="en-US" dirty="0"/>
              <a:t>Users are never wrong </a:t>
            </a:r>
          </a:p>
          <a:p>
            <a:pPr lvl="1"/>
            <a:endParaRPr lang="en-US" dirty="0"/>
          </a:p>
        </p:txBody>
      </p:sp>
    </p:spTree>
    <p:extLst>
      <p:ext uri="{BB962C8B-B14F-4D97-AF65-F5344CB8AC3E}">
        <p14:creationId xmlns:p14="http://schemas.microsoft.com/office/powerpoint/2010/main" val="42732308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is HCI Important? </a:t>
            </a:r>
          </a:p>
        </p:txBody>
      </p:sp>
      <p:sp>
        <p:nvSpPr>
          <p:cNvPr id="3" name="Content Placeholder 2"/>
          <p:cNvSpPr>
            <a:spLocks noGrp="1"/>
          </p:cNvSpPr>
          <p:nvPr>
            <p:ph sz="quarter" idx="1"/>
          </p:nvPr>
        </p:nvSpPr>
        <p:spPr/>
        <p:txBody>
          <a:bodyPr>
            <a:normAutofit fontScale="77500" lnSpcReduction="20000"/>
          </a:bodyPr>
          <a:lstStyle/>
          <a:p>
            <a:r>
              <a:rPr lang="en-US" dirty="0">
                <a:solidFill>
                  <a:srgbClr val="000000"/>
                </a:solidFill>
              </a:rPr>
              <a:t>80% of software lifecycle costs occur after the product is released, in the maintenance phase - of that work, 80 % is due to unmet or unforeseen user requirements; only 20 % is due to bugs or reliability problems (</a:t>
            </a:r>
            <a:r>
              <a:rPr lang="en-US" i="1" dirty="0">
                <a:solidFill>
                  <a:srgbClr val="000000"/>
                </a:solidFill>
              </a:rPr>
              <a:t>IEEE Software</a:t>
            </a:r>
            <a:r>
              <a:rPr lang="en-US" dirty="0">
                <a:solidFill>
                  <a:srgbClr val="000000"/>
                </a:solidFill>
              </a:rPr>
              <a:t>)</a:t>
            </a:r>
          </a:p>
          <a:p>
            <a:r>
              <a:rPr lang="en-US" dirty="0"/>
              <a:t>Business Success   </a:t>
            </a:r>
            <a:r>
              <a:rPr lang="en-US" sz="2800" dirty="0">
                <a:latin typeface="Tahoma" charset="0"/>
                <a:cs typeface="Times New Roman" pitchFamily="18" charset="0"/>
                <a:sym typeface="Symbol" pitchFamily="18" charset="2"/>
              </a:rPr>
              <a:t>  </a:t>
            </a:r>
            <a:r>
              <a:rPr lang="en-US" dirty="0"/>
              <a:t>User Experience</a:t>
            </a:r>
          </a:p>
          <a:p>
            <a:pPr>
              <a:lnSpc>
                <a:spcPct val="80000"/>
              </a:lnSpc>
            </a:pPr>
            <a:r>
              <a:rPr lang="en-US" dirty="0"/>
              <a:t>Effects on </a:t>
            </a:r>
          </a:p>
          <a:p>
            <a:pPr lvl="1">
              <a:lnSpc>
                <a:spcPct val="80000"/>
              </a:lnSpc>
            </a:pPr>
            <a:r>
              <a:rPr lang="en-US" dirty="0"/>
              <a:t>Effectiveness</a:t>
            </a:r>
          </a:p>
          <a:p>
            <a:pPr lvl="1">
              <a:lnSpc>
                <a:spcPct val="80000"/>
              </a:lnSpc>
            </a:pPr>
            <a:r>
              <a:rPr lang="en-US" dirty="0"/>
              <a:t>Productivity</a:t>
            </a:r>
          </a:p>
          <a:p>
            <a:pPr lvl="1">
              <a:lnSpc>
                <a:spcPct val="80000"/>
              </a:lnSpc>
            </a:pPr>
            <a:r>
              <a:rPr lang="en-US" dirty="0"/>
              <a:t>Morale</a:t>
            </a:r>
          </a:p>
          <a:p>
            <a:pPr lvl="1">
              <a:lnSpc>
                <a:spcPct val="80000"/>
              </a:lnSpc>
            </a:pPr>
            <a:r>
              <a:rPr lang="en-US" dirty="0"/>
              <a:t>Safety</a:t>
            </a:r>
          </a:p>
          <a:p>
            <a:pPr lvl="1">
              <a:lnSpc>
                <a:spcPct val="80000"/>
              </a:lnSpc>
            </a:pPr>
            <a:r>
              <a:rPr lang="en-US" dirty="0"/>
              <a:t>Society </a:t>
            </a:r>
          </a:p>
          <a:p>
            <a:pPr lvl="1">
              <a:lnSpc>
                <a:spcPct val="80000"/>
              </a:lnSpc>
            </a:pPr>
            <a:r>
              <a:rPr lang="en-US" dirty="0"/>
              <a:t>Individuals </a:t>
            </a:r>
          </a:p>
          <a:p>
            <a:pPr lvl="1">
              <a:lnSpc>
                <a:spcPct val="80000"/>
              </a:lnSpc>
            </a:pPr>
            <a:r>
              <a:rPr lang="en-US" dirty="0"/>
              <a:t>And a lot more </a:t>
            </a:r>
          </a:p>
          <a:p>
            <a:pPr marL="320040" lvl="1" indent="0">
              <a:lnSpc>
                <a:spcPct val="80000"/>
              </a:lnSpc>
              <a:buNone/>
            </a:pPr>
            <a:endParaRPr lang="en-US" dirty="0"/>
          </a:p>
          <a:p>
            <a:r>
              <a:rPr lang="en-US" dirty="0"/>
              <a:t>IFE Example</a:t>
            </a:r>
          </a:p>
          <a:p>
            <a:endParaRPr lang="en-US" dirty="0"/>
          </a:p>
          <a:p>
            <a:endParaRPr lang="en-US" dirty="0"/>
          </a:p>
        </p:txBody>
      </p:sp>
    </p:spTree>
    <p:extLst>
      <p:ext uri="{BB962C8B-B14F-4D97-AF65-F5344CB8AC3E}">
        <p14:creationId xmlns:p14="http://schemas.microsoft.com/office/powerpoint/2010/main" val="16709165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US"/>
          </a:p>
        </p:txBody>
      </p:sp>
      <p:sp>
        <p:nvSpPr>
          <p:cNvPr id="2" name="Title 1"/>
          <p:cNvSpPr>
            <a:spLocks noGrp="1"/>
          </p:cNvSpPr>
          <p:nvPr>
            <p:ph type="title"/>
          </p:nvPr>
        </p:nvSpPr>
        <p:spPr/>
        <p:txBody>
          <a:bodyPr/>
          <a:lstStyle/>
          <a:p>
            <a:r>
              <a:rPr lang="en-US" dirty="0"/>
              <a:t>5. History of User Interfaces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r>
              <a:rPr lang="en-US"/>
              <a:t>A Brief History of User Interfaces</a:t>
            </a:r>
          </a:p>
        </p:txBody>
      </p:sp>
      <p:sp>
        <p:nvSpPr>
          <p:cNvPr id="34819" name="Rectangle 3"/>
          <p:cNvSpPr>
            <a:spLocks noGrp="1" noChangeArrowheads="1"/>
          </p:cNvSpPr>
          <p:nvPr>
            <p:ph sz="quarter" idx="1"/>
          </p:nvPr>
        </p:nvSpPr>
        <p:spPr/>
        <p:txBody>
          <a:bodyPr/>
          <a:lstStyle/>
          <a:p>
            <a:r>
              <a:rPr lang="en-US" dirty="0"/>
              <a:t>Batch-processing</a:t>
            </a:r>
          </a:p>
          <a:p>
            <a:pPr lvl="1"/>
            <a:r>
              <a:rPr lang="en-US" dirty="0"/>
              <a:t>No interactive capabilities</a:t>
            </a:r>
          </a:p>
          <a:p>
            <a:pPr lvl="1"/>
            <a:r>
              <a:rPr lang="en-US" dirty="0"/>
              <a:t>All user input specified in advance (punch cards, ...)</a:t>
            </a:r>
          </a:p>
          <a:p>
            <a:pPr lvl="1"/>
            <a:r>
              <a:rPr lang="en-US" dirty="0"/>
              <a:t>All system output collected at end of program run (printouts,...)</a:t>
            </a:r>
          </a:p>
          <a:p>
            <a:pPr lvl="1"/>
            <a:r>
              <a:rPr lang="en-US" dirty="0"/>
              <a:t>Applications have no user interface component distinguishable from File I/O</a:t>
            </a:r>
          </a:p>
          <a:p>
            <a:pPr lvl="1"/>
            <a:r>
              <a:rPr lang="en-US" dirty="0"/>
              <a:t>Job Control Languages (example: IBM3090–JCL): specify job and parameters</a:t>
            </a:r>
          </a:p>
          <a:p>
            <a:pPr lvl="1"/>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r>
              <a:rPr lang="en-US"/>
              <a:t>A Brief History of User Interfaces</a:t>
            </a:r>
          </a:p>
        </p:txBody>
      </p:sp>
      <p:sp>
        <p:nvSpPr>
          <p:cNvPr id="35843" name="Rectangle 3"/>
          <p:cNvSpPr>
            <a:spLocks noGrp="1" noChangeArrowheads="1"/>
          </p:cNvSpPr>
          <p:nvPr>
            <p:ph sz="quarter" idx="1"/>
          </p:nvPr>
        </p:nvSpPr>
        <p:spPr>
          <a:xfrm>
            <a:off x="685800" y="1676400"/>
            <a:ext cx="7772400" cy="4114800"/>
          </a:xfrm>
        </p:spPr>
        <p:txBody>
          <a:bodyPr>
            <a:normAutofit fontScale="92500" lnSpcReduction="10000"/>
          </a:bodyPr>
          <a:lstStyle/>
          <a:p>
            <a:r>
              <a:rPr lang="en-US" dirty="0"/>
              <a:t>Time-sharing Systems</a:t>
            </a:r>
          </a:p>
          <a:p>
            <a:pPr lvl="1"/>
            <a:r>
              <a:rPr lang="en-US" dirty="0"/>
              <a:t>Command-line based interaction with simple terminal</a:t>
            </a:r>
          </a:p>
          <a:p>
            <a:pPr lvl="1"/>
            <a:r>
              <a:rPr lang="en-US" dirty="0"/>
              <a:t>Similar program structure</a:t>
            </a:r>
          </a:p>
          <a:p>
            <a:pPr lvl="1"/>
            <a:r>
              <a:rPr lang="en-US" dirty="0"/>
              <a:t>Applications read arguments from the command line, return results</a:t>
            </a:r>
          </a:p>
          <a:p>
            <a:pPr lvl="1"/>
            <a:r>
              <a:rPr lang="en-US" dirty="0"/>
              <a:t>Example: still visible in Unix commands</a:t>
            </a:r>
          </a:p>
          <a:p>
            <a:r>
              <a:rPr lang="en-US" dirty="0"/>
              <a:t>Full-screen textual interfaces</a:t>
            </a:r>
          </a:p>
          <a:p>
            <a:pPr lvl="1"/>
            <a:r>
              <a:rPr lang="en-US" dirty="0"/>
              <a:t>Interaction starts to feel "real-time" (example: vi)</a:t>
            </a:r>
          </a:p>
          <a:p>
            <a:pPr lvl="1"/>
            <a:r>
              <a:rPr lang="en-US" dirty="0"/>
              <a:t>Applications receive UI input and react immediately in main "loop" (threading becomes important)</a:t>
            </a:r>
          </a:p>
          <a:p>
            <a:pPr lvl="1"/>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r>
              <a:rPr lang="en-US"/>
              <a:t>A Brief History of User Interfaces</a:t>
            </a:r>
          </a:p>
        </p:txBody>
      </p:sp>
      <p:sp>
        <p:nvSpPr>
          <p:cNvPr id="36867" name="Rectangle 3"/>
          <p:cNvSpPr>
            <a:spLocks noGrp="1" noChangeArrowheads="1"/>
          </p:cNvSpPr>
          <p:nvPr>
            <p:ph sz="quarter" idx="1"/>
          </p:nvPr>
        </p:nvSpPr>
        <p:spPr/>
        <p:txBody>
          <a:bodyPr/>
          <a:lstStyle/>
          <a:p>
            <a:r>
              <a:rPr lang="en-US" dirty="0"/>
              <a:t>Menu-based systems</a:t>
            </a:r>
          </a:p>
          <a:p>
            <a:pPr lvl="1"/>
            <a:r>
              <a:rPr lang="en-US" dirty="0"/>
              <a:t>Discover "Read &amp; Select" over "Memorize &amp; Type" advantage</a:t>
            </a:r>
          </a:p>
          <a:p>
            <a:pPr lvl="1"/>
            <a:r>
              <a:rPr lang="en-US" dirty="0"/>
              <a:t>Still text-based!</a:t>
            </a:r>
          </a:p>
          <a:p>
            <a:pPr lvl="1"/>
            <a:r>
              <a:rPr lang="en-US" dirty="0"/>
              <a:t>Example: UCSD Pascal Development Environment</a:t>
            </a:r>
          </a:p>
          <a:p>
            <a:pPr lvl="1"/>
            <a:r>
              <a:rPr lang="en-US" dirty="0"/>
              <a:t>Applications have explicit UI component</a:t>
            </a:r>
          </a:p>
          <a:p>
            <a:pPr lvl="1"/>
            <a:r>
              <a:rPr lang="en-US" dirty="0"/>
              <a:t>But: choices are limited to a particular menu item at a time (hierarchical selection)</a:t>
            </a:r>
          </a:p>
          <a:p>
            <a:pPr lvl="1"/>
            <a:r>
              <a:rPr lang="en-US" dirty="0"/>
              <a:t>Application still "in control"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a:bodyPr>
          <a:lstStyle/>
          <a:p>
            <a:r>
              <a:rPr lang="en-US"/>
              <a:t>A Brief History of User Interfaces</a:t>
            </a:r>
          </a:p>
        </p:txBody>
      </p:sp>
      <p:sp>
        <p:nvSpPr>
          <p:cNvPr id="38915" name="Rectangle 3"/>
          <p:cNvSpPr>
            <a:spLocks noGrp="1" noChangeArrowheads="1"/>
          </p:cNvSpPr>
          <p:nvPr>
            <p:ph sz="quarter" idx="1"/>
          </p:nvPr>
        </p:nvSpPr>
        <p:spPr>
          <a:xfrm>
            <a:off x="685800" y="1676400"/>
            <a:ext cx="7772400" cy="4114800"/>
          </a:xfrm>
        </p:spPr>
        <p:txBody>
          <a:bodyPr>
            <a:normAutofit fontScale="92500" lnSpcReduction="20000"/>
          </a:bodyPr>
          <a:lstStyle/>
          <a:p>
            <a:r>
              <a:rPr lang="en-US" dirty="0"/>
              <a:t>Graphical User Interface Systems</a:t>
            </a:r>
          </a:p>
          <a:p>
            <a:pPr lvl="1"/>
            <a:r>
              <a:rPr lang="en-US" dirty="0"/>
              <a:t>From character generator to bitmap display (Alto/Star/Lisa..)</a:t>
            </a:r>
          </a:p>
          <a:p>
            <a:pPr lvl="1"/>
            <a:r>
              <a:rPr lang="en-US" dirty="0"/>
              <a:t>Pointing devices in addition to keyboard</a:t>
            </a:r>
          </a:p>
          <a:p>
            <a:pPr lvl="1">
              <a:buFont typeface="Wingdings" charset="2"/>
              <a:buNone/>
            </a:pPr>
            <a:r>
              <a:rPr lang="en-US" dirty="0"/>
              <a:t>-&gt; Event-based program structure</a:t>
            </a:r>
          </a:p>
          <a:p>
            <a:pPr lvl="2"/>
            <a:r>
              <a:rPr lang="en-US" dirty="0"/>
              <a:t>Most dramatic paradigm shift for application development</a:t>
            </a:r>
          </a:p>
          <a:p>
            <a:pPr lvl="2"/>
            <a:r>
              <a:rPr lang="en-US" dirty="0"/>
              <a:t>User is "in control"</a:t>
            </a:r>
          </a:p>
          <a:p>
            <a:pPr lvl="2"/>
            <a:r>
              <a:rPr lang="en-US" dirty="0"/>
              <a:t>Application only reacts to user (or system) events</a:t>
            </a:r>
          </a:p>
          <a:p>
            <a:pPr lvl="2"/>
            <a:r>
              <a:rPr lang="en-US" dirty="0"/>
              <a:t>Callback paradigm</a:t>
            </a:r>
          </a:p>
          <a:p>
            <a:pPr lvl="1"/>
            <a:r>
              <a:rPr lang="en-US" dirty="0"/>
              <a:t>Event handling</a:t>
            </a:r>
          </a:p>
          <a:p>
            <a:pPr lvl="2"/>
            <a:r>
              <a:rPr lang="en-US" dirty="0"/>
              <a:t>Initially application-explicit</a:t>
            </a:r>
          </a:p>
          <a:p>
            <a:pPr lvl="2"/>
            <a:r>
              <a:rPr lang="en-US" dirty="0"/>
              <a:t>Later system-implicit</a:t>
            </a:r>
          </a:p>
          <a:p>
            <a:pPr lvl="2"/>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547938"/>
            <a:ext cx="7772400" cy="3852862"/>
          </a:xfrm>
        </p:spPr>
        <p:txBody>
          <a:bodyPr>
            <a:normAutofit fontScale="77500" lnSpcReduction="20000"/>
          </a:bodyPr>
          <a:lstStyle/>
          <a:p>
            <a:pPr marL="514350" indent="-514350">
              <a:buFont typeface="+mj-lt"/>
              <a:buAutoNum type="arabicPeriod"/>
            </a:pPr>
            <a:r>
              <a:rPr lang="en-US" dirty="0"/>
              <a:t>Human-Computer Interaction (3rd ed.), by Alan Dix - Janet Finlay - Gregory </a:t>
            </a:r>
            <a:r>
              <a:rPr lang="en-US" dirty="0" err="1"/>
              <a:t>Abowd</a:t>
            </a:r>
            <a:r>
              <a:rPr lang="en-US" dirty="0"/>
              <a:t> - Russell Beale PRENTICE HALL 2004 </a:t>
            </a:r>
          </a:p>
          <a:p>
            <a:pPr marL="514350" indent="-514350">
              <a:buFont typeface="+mj-lt"/>
              <a:buAutoNum type="arabicPeriod"/>
            </a:pPr>
            <a:endParaRPr lang="en-US" dirty="0"/>
          </a:p>
          <a:p>
            <a:pPr marL="514350" indent="-514350">
              <a:buFont typeface="+mj-lt"/>
              <a:buAutoNum type="arabicPeriod"/>
            </a:pPr>
            <a:r>
              <a:rPr lang="en-US" dirty="0"/>
              <a:t>Interaction Design: Beyond Human - Computer Interaction (3rd ed.), by Yvonne Rogers, Helen Sharp, Jenny </a:t>
            </a:r>
            <a:r>
              <a:rPr lang="en-US" dirty="0" err="1"/>
              <a:t>Preece</a:t>
            </a:r>
            <a:r>
              <a:rPr lang="en-US" dirty="0"/>
              <a:t>. Wiley, 2011. </a:t>
            </a:r>
          </a:p>
          <a:p>
            <a:pPr marL="514350" indent="-514350">
              <a:buFont typeface="+mj-lt"/>
              <a:buAutoNum type="arabicPeriod"/>
            </a:pPr>
            <a:r>
              <a:rPr lang="en-US" dirty="0"/>
              <a:t>The Design of Everyday Things, by Donald Norman. Currency/Doubleday, 1990.</a:t>
            </a:r>
          </a:p>
          <a:p>
            <a:pPr marL="514350" indent="-514350">
              <a:buFont typeface="+mj-lt"/>
              <a:buAutoNum type="arabicPeriod"/>
            </a:pPr>
            <a:r>
              <a:rPr lang="en-US" sz="3100" spc="-20" dirty="0">
                <a:effectLst/>
                <a:latin typeface="+mj-lt"/>
                <a:ea typeface="Arial MT"/>
                <a:cs typeface="Arial MT"/>
              </a:rPr>
              <a:t>Understanding Your Users: A Practical Guide To User</a:t>
            </a:r>
            <a:r>
              <a:rPr lang="en-US" sz="3100" spc="200" dirty="0">
                <a:effectLst/>
                <a:latin typeface="+mj-lt"/>
                <a:ea typeface="Arial MT"/>
                <a:cs typeface="Arial MT"/>
              </a:rPr>
              <a:t> </a:t>
            </a:r>
            <a:r>
              <a:rPr lang="en-US" sz="3100" spc="-20" dirty="0">
                <a:effectLst/>
                <a:latin typeface="+mj-lt"/>
                <a:ea typeface="Arial MT"/>
                <a:cs typeface="Arial MT"/>
              </a:rPr>
              <a:t>Requirements</a:t>
            </a:r>
            <a:r>
              <a:rPr lang="en-US" sz="3100" spc="200" dirty="0">
                <a:effectLst/>
                <a:latin typeface="+mj-lt"/>
                <a:ea typeface="Arial MT"/>
                <a:cs typeface="Arial MT"/>
              </a:rPr>
              <a:t> </a:t>
            </a:r>
            <a:r>
              <a:rPr lang="en-US" sz="3100" spc="-20" dirty="0">
                <a:effectLst/>
                <a:latin typeface="+mj-lt"/>
                <a:ea typeface="Arial MT"/>
                <a:cs typeface="Arial MT"/>
              </a:rPr>
              <a:t>Methods, Tools, And Techniques, By </a:t>
            </a:r>
            <a:r>
              <a:rPr lang="en-US" sz="3100" spc="-20" dirty="0">
                <a:effectLst/>
                <a:ea typeface="Arial MT"/>
                <a:cs typeface="Arial MT"/>
              </a:rPr>
              <a:t>Catherine</a:t>
            </a:r>
            <a:r>
              <a:rPr lang="en-US" sz="3100" spc="-20" dirty="0">
                <a:effectLst/>
                <a:latin typeface="+mj-lt"/>
                <a:ea typeface="Arial MT"/>
                <a:cs typeface="Arial MT"/>
              </a:rPr>
              <a:t> Courage And Kathy Baxter. Elsevier, 2005.</a:t>
            </a:r>
          </a:p>
          <a:p>
            <a:pPr marL="514350" indent="-514350">
              <a:buFont typeface="+mj-lt"/>
              <a:buAutoNum type="arabicPeriod"/>
            </a:pPr>
            <a:endParaRPr lang="en-US" sz="3100" dirty="0"/>
          </a:p>
          <a:p>
            <a:endParaRPr lang="en-US" dirty="0"/>
          </a:p>
        </p:txBody>
      </p:sp>
      <p:sp>
        <p:nvSpPr>
          <p:cNvPr id="2" name="Title 1"/>
          <p:cNvSpPr>
            <a:spLocks noGrp="1"/>
          </p:cNvSpPr>
          <p:nvPr>
            <p:ph type="title"/>
          </p:nvPr>
        </p:nvSpPr>
        <p:spPr/>
        <p:txBody>
          <a:bodyPr/>
          <a:lstStyle/>
          <a:p>
            <a:r>
              <a:rPr lang="en-US" dirty="0"/>
              <a:t>6. Course Reference Material </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18483</TotalTime>
  <Words>2094</Words>
  <Application>Microsoft Office PowerPoint</Application>
  <PresentationFormat>On-screen Show (4:3)</PresentationFormat>
  <Paragraphs>298</Paragraphs>
  <Slides>50</Slides>
  <Notes>5</Notes>
  <HiddenSlides>10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Arial</vt:lpstr>
      <vt:lpstr>Arial MT</vt:lpstr>
      <vt:lpstr>Calibri</vt:lpstr>
      <vt:lpstr>Tahoma</vt:lpstr>
      <vt:lpstr>Tw Cen MT</vt:lpstr>
      <vt:lpstr>Verdana</vt:lpstr>
      <vt:lpstr>Wingdings</vt:lpstr>
      <vt:lpstr>Wingdings 2</vt:lpstr>
      <vt:lpstr>Median</vt:lpstr>
      <vt:lpstr>Human Computer Interaction   </vt:lpstr>
      <vt:lpstr>Weightages</vt:lpstr>
      <vt:lpstr>Introduction </vt:lpstr>
      <vt:lpstr>1. Bad Designs are everywhere </vt:lpstr>
      <vt:lpstr>Did You Ever Hate Your Computer? </vt:lpstr>
      <vt:lpstr>Facts</vt:lpstr>
      <vt:lpstr>Good and Bad Interfaces! </vt:lpstr>
      <vt:lpstr>Bad Designs are Everywhere </vt:lpstr>
      <vt:lpstr>Good or Bad?</vt:lpstr>
      <vt:lpstr>PowerPoint Presentation</vt:lpstr>
      <vt:lpstr>PowerPoint Presentation</vt:lpstr>
      <vt:lpstr>Good and bad design</vt:lpstr>
      <vt:lpstr>Case Study: Unix Commands</vt:lpstr>
      <vt:lpstr>Bad Design</vt:lpstr>
      <vt:lpstr>Bad Design</vt:lpstr>
      <vt:lpstr>Useless Error Messages </vt:lpstr>
      <vt:lpstr>Good or Bad?</vt:lpstr>
      <vt:lpstr>Redesign</vt:lpstr>
      <vt:lpstr>Good or Bad?</vt:lpstr>
      <vt:lpstr>Bad Designs are Everywhere </vt:lpstr>
      <vt:lpstr>Bad Designs are Everywhere </vt:lpstr>
      <vt:lpstr>Bad Designs are Everywhere </vt:lpstr>
      <vt:lpstr>Bad Designs are Everywhere </vt:lpstr>
      <vt:lpstr>Bad Designs are Everywhere </vt:lpstr>
      <vt:lpstr>PowerPoint Presentation</vt:lpstr>
      <vt:lpstr>Bad Designs are Everywhere </vt:lpstr>
      <vt:lpstr>Solutions! </vt:lpstr>
      <vt:lpstr>Good Design</vt:lpstr>
      <vt:lpstr>PowerPoint Presentation</vt:lpstr>
      <vt:lpstr>Human Computer Interaction </vt:lpstr>
      <vt:lpstr>Computer is becoming Ubiquitous</vt:lpstr>
      <vt:lpstr>Role of HCI</vt:lpstr>
      <vt:lpstr>Human Computer Interaction </vt:lpstr>
      <vt:lpstr>PowerPoint Presentation</vt:lpstr>
      <vt:lpstr>Interaction Model: Abowd and Beale Framework </vt:lpstr>
      <vt:lpstr>Human Computer Interaction</vt:lpstr>
      <vt:lpstr>Human-Computer Interaction </vt:lpstr>
      <vt:lpstr>Human                  Computer</vt:lpstr>
      <vt:lpstr>PowerPoint Presentation</vt:lpstr>
      <vt:lpstr>How do we design good interfaces?</vt:lpstr>
      <vt:lpstr>User Centered Design </vt:lpstr>
      <vt:lpstr>HCI and Software Engineering</vt:lpstr>
      <vt:lpstr>User Centered Design </vt:lpstr>
      <vt:lpstr>Why is HCI Important? </vt:lpstr>
      <vt:lpstr>5. History of User Interfaces </vt:lpstr>
      <vt:lpstr>A Brief History of User Interfaces</vt:lpstr>
      <vt:lpstr>A Brief History of User Interfaces</vt:lpstr>
      <vt:lpstr>A Brief History of User Interfaces</vt:lpstr>
      <vt:lpstr>A Brief History of User Interfaces</vt:lpstr>
      <vt:lpstr>6. Course Reference Material </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cp:lastModifiedBy>Misbhah Naz</cp:lastModifiedBy>
  <cp:revision>334</cp:revision>
  <dcterms:created xsi:type="dcterms:W3CDTF">2010-02-07T17:56:13Z</dcterms:created>
  <dcterms:modified xsi:type="dcterms:W3CDTF">2025-03-05T05:10:01Z</dcterms:modified>
</cp:coreProperties>
</file>