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90"/>
  </p:notesMasterIdLst>
  <p:sldIdLst>
    <p:sldId id="404" r:id="rId2"/>
    <p:sldId id="790" r:id="rId3"/>
    <p:sldId id="791" r:id="rId4"/>
    <p:sldId id="838" r:id="rId5"/>
    <p:sldId id="798" r:id="rId6"/>
    <p:sldId id="839" r:id="rId7"/>
    <p:sldId id="793" r:id="rId8"/>
    <p:sldId id="794" r:id="rId9"/>
    <p:sldId id="795" r:id="rId10"/>
    <p:sldId id="796" r:id="rId11"/>
    <p:sldId id="761" r:id="rId12"/>
    <p:sldId id="765" r:id="rId13"/>
    <p:sldId id="762" r:id="rId14"/>
    <p:sldId id="763" r:id="rId15"/>
    <p:sldId id="766" r:id="rId16"/>
    <p:sldId id="764" r:id="rId17"/>
    <p:sldId id="767" r:id="rId18"/>
    <p:sldId id="768" r:id="rId19"/>
    <p:sldId id="769" r:id="rId20"/>
    <p:sldId id="774" r:id="rId21"/>
    <p:sldId id="775" r:id="rId22"/>
    <p:sldId id="799" r:id="rId23"/>
    <p:sldId id="770" r:id="rId24"/>
    <p:sldId id="771" r:id="rId25"/>
    <p:sldId id="772" r:id="rId26"/>
    <p:sldId id="773" r:id="rId27"/>
    <p:sldId id="777" r:id="rId28"/>
    <p:sldId id="778" r:id="rId29"/>
    <p:sldId id="776" r:id="rId30"/>
    <p:sldId id="800" r:id="rId31"/>
    <p:sldId id="816" r:id="rId32"/>
    <p:sldId id="801" r:id="rId33"/>
    <p:sldId id="802" r:id="rId34"/>
    <p:sldId id="803" r:id="rId35"/>
    <p:sldId id="804" r:id="rId36"/>
    <p:sldId id="805" r:id="rId37"/>
    <p:sldId id="806" r:id="rId38"/>
    <p:sldId id="807" r:id="rId39"/>
    <p:sldId id="808" r:id="rId40"/>
    <p:sldId id="810" r:id="rId41"/>
    <p:sldId id="817" r:id="rId42"/>
    <p:sldId id="811" r:id="rId43"/>
    <p:sldId id="812" r:id="rId44"/>
    <p:sldId id="813" r:id="rId45"/>
    <p:sldId id="814" r:id="rId46"/>
    <p:sldId id="815" r:id="rId47"/>
    <p:sldId id="818" r:id="rId48"/>
    <p:sldId id="837" r:id="rId49"/>
    <p:sldId id="819" r:id="rId50"/>
    <p:sldId id="820" r:id="rId51"/>
    <p:sldId id="821" r:id="rId52"/>
    <p:sldId id="577" r:id="rId53"/>
    <p:sldId id="822" r:id="rId54"/>
    <p:sldId id="825" r:id="rId55"/>
    <p:sldId id="823" r:id="rId56"/>
    <p:sldId id="824" r:id="rId57"/>
    <p:sldId id="826" r:id="rId58"/>
    <p:sldId id="809" r:id="rId59"/>
    <p:sldId id="827" r:id="rId60"/>
    <p:sldId id="828" r:id="rId61"/>
    <p:sldId id="829" r:id="rId62"/>
    <p:sldId id="830" r:id="rId63"/>
    <p:sldId id="831" r:id="rId64"/>
    <p:sldId id="840" r:id="rId65"/>
    <p:sldId id="653" r:id="rId66"/>
    <p:sldId id="783" r:id="rId67"/>
    <p:sldId id="832" r:id="rId68"/>
    <p:sldId id="784" r:id="rId69"/>
    <p:sldId id="644" r:id="rId70"/>
    <p:sldId id="785" r:id="rId71"/>
    <p:sldId id="646" r:id="rId72"/>
    <p:sldId id="651" r:id="rId73"/>
    <p:sldId id="833" r:id="rId74"/>
    <p:sldId id="836" r:id="rId75"/>
    <p:sldId id="834" r:id="rId76"/>
    <p:sldId id="835" r:id="rId77"/>
    <p:sldId id="671" r:id="rId78"/>
    <p:sldId id="672" r:id="rId79"/>
    <p:sldId id="673" r:id="rId80"/>
    <p:sldId id="674" r:id="rId81"/>
    <p:sldId id="701" r:id="rId82"/>
    <p:sldId id="702" r:id="rId83"/>
    <p:sldId id="703" r:id="rId84"/>
    <p:sldId id="782" r:id="rId85"/>
    <p:sldId id="704" r:id="rId86"/>
    <p:sldId id="705" r:id="rId87"/>
    <p:sldId id="711" r:id="rId88"/>
    <p:sldId id="789"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00ACB-46A5-6533-C554-F1C313CBFEDB}" v="7" dt="2020-01-02T09:44:21.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5637" autoAdjust="0"/>
  </p:normalViewPr>
  <p:slideViewPr>
    <p:cSldViewPr>
      <p:cViewPr varScale="1">
        <p:scale>
          <a:sx n="62" d="100"/>
          <a:sy n="62" d="100"/>
        </p:scale>
        <p:origin x="1626" y="66"/>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bab Javaid" userId="S::rubabjavaid@ucp.edu.pk::f843fb4d-260f-4f2e-a9e2-c9f7ed1ef3b5" providerId="AD" clId="Web-{67900ACB-46A5-6533-C554-F1C313CBFEDB}"/>
    <pc:docChg chg="addSld delSld modSld">
      <pc:chgData name="Rubab Javaid" userId="S::rubabjavaid@ucp.edu.pk::f843fb4d-260f-4f2e-a9e2-c9f7ed1ef3b5" providerId="AD" clId="Web-{67900ACB-46A5-6533-C554-F1C313CBFEDB}" dt="2020-01-02T09:44:21.879" v="6"/>
      <pc:docMkLst>
        <pc:docMk/>
      </pc:docMkLst>
      <pc:sldChg chg="modSp del">
        <pc:chgData name="Rubab Javaid" userId="S::rubabjavaid@ucp.edu.pk::f843fb4d-260f-4f2e-a9e2-c9f7ed1ef3b5" providerId="AD" clId="Web-{67900ACB-46A5-6533-C554-F1C313CBFEDB}" dt="2020-01-02T09:44:21.879" v="6"/>
        <pc:sldMkLst>
          <pc:docMk/>
          <pc:sldMk cId="1346771830" sldId="797"/>
        </pc:sldMkLst>
        <pc:spChg chg="mod">
          <ac:chgData name="Rubab Javaid" userId="S::rubabjavaid@ucp.edu.pk::f843fb4d-260f-4f2e-a9e2-c9f7ed1ef3b5" providerId="AD" clId="Web-{67900ACB-46A5-6533-C554-F1C313CBFEDB}" dt="2020-01-02T09:44:00.161" v="2" actId="20577"/>
          <ac:spMkLst>
            <pc:docMk/>
            <pc:sldMk cId="1346771830" sldId="797"/>
            <ac:spMk id="3" creationId="{00000000-0000-0000-0000-000000000000}"/>
          </ac:spMkLst>
        </pc:spChg>
      </pc:sldChg>
      <pc:sldChg chg="add mod replId modShow">
        <pc:chgData name="Rubab Javaid" userId="S::rubabjavaid@ucp.edu.pk::f843fb4d-260f-4f2e-a9e2-c9f7ed1ef3b5" providerId="AD" clId="Web-{67900ACB-46A5-6533-C554-F1C313CBFEDB}" dt="2020-01-02T09:44:18.489" v="5"/>
        <pc:sldMkLst>
          <pc:docMk/>
          <pc:sldMk cId="2378004339" sldId="83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1/20/2021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scholarpedia.org/article/Gestalt_principles"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Stimulus =</a:t>
            </a:r>
            <a:r>
              <a:rPr lang="en-US" baseline="0" dirty="0"/>
              <a:t> </a:t>
            </a:r>
            <a:r>
              <a:rPr lang="en-US" sz="1200" b="0" i="0" kern="1200" dirty="0">
                <a:solidFill>
                  <a:schemeClr val="tx1"/>
                </a:solidFill>
                <a:effectLst/>
                <a:latin typeface="+mn-lt"/>
                <a:ea typeface="+mn-ea"/>
                <a:cs typeface="+mn-cs"/>
              </a:rPr>
              <a:t>a thing or event that evokes a specific functional reaction in an organ or tissue.</a:t>
            </a:r>
            <a:endParaRPr lang="en-US" dirty="0"/>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a:t>
            </a:fld>
            <a:endParaRPr lang="en-US"/>
          </a:p>
        </p:txBody>
      </p:sp>
    </p:spTree>
    <p:extLst>
      <p:ext uri="{BB962C8B-B14F-4D97-AF65-F5344CB8AC3E}">
        <p14:creationId xmlns:p14="http://schemas.microsoft.com/office/powerpoint/2010/main" val="2208347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Stimulus =</a:t>
            </a:r>
            <a:r>
              <a:rPr lang="en-US" baseline="0" dirty="0"/>
              <a:t> </a:t>
            </a:r>
            <a:r>
              <a:rPr lang="en-US" sz="1200" b="0" i="0" kern="1200" dirty="0">
                <a:solidFill>
                  <a:schemeClr val="tx1"/>
                </a:solidFill>
                <a:effectLst/>
                <a:latin typeface="+mn-lt"/>
                <a:ea typeface="+mn-ea"/>
                <a:cs typeface="+mn-cs"/>
              </a:rPr>
              <a:t>a thing or event that evokes a specific functional reaction in an organ or tissue.</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a:t>
            </a:fld>
            <a:endParaRPr lang="en-US"/>
          </a:p>
        </p:txBody>
      </p:sp>
    </p:spTree>
    <p:extLst>
      <p:ext uri="{BB962C8B-B14F-4D97-AF65-F5344CB8AC3E}">
        <p14:creationId xmlns:p14="http://schemas.microsoft.com/office/powerpoint/2010/main" val="3410483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https://www.csc2.ncsu.edu/faculty/healey/PP/index.html</a:t>
            </a:r>
          </a:p>
        </p:txBody>
      </p:sp>
      <p:sp>
        <p:nvSpPr>
          <p:cNvPr id="4" name="Slide Number Placeholder 3"/>
          <p:cNvSpPr>
            <a:spLocks noGrp="1"/>
          </p:cNvSpPr>
          <p:nvPr>
            <p:ph type="sldNum" sz="quarter" idx="10"/>
          </p:nvPr>
        </p:nvSpPr>
        <p:spPr/>
        <p:txBody>
          <a:bodyPr/>
          <a:lstStyle/>
          <a:p>
            <a:fld id="{A5E35D07-CE9A-41EA-8351-FED4C60B3E9A}" type="slidenum">
              <a:rPr lang="en-US" smtClean="0"/>
              <a:pPr/>
              <a:t>20</a:t>
            </a:fld>
            <a:endParaRPr lang="en-US"/>
          </a:p>
        </p:txBody>
      </p:sp>
    </p:spTree>
    <p:extLst>
      <p:ext uri="{BB962C8B-B14F-4D97-AF65-F5344CB8AC3E}">
        <p14:creationId xmlns:p14="http://schemas.microsoft.com/office/powerpoint/2010/main" val="2149784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6962"/>
          </a:xfrm>
          <a:prstGeom prst="rect">
            <a:avLst/>
          </a:prstGeom>
          <a:noFill/>
          <a:ln w="9525">
            <a:noFill/>
            <a:miter lim="800000"/>
            <a:headEnd/>
            <a:tailEnd/>
          </a:ln>
          <a:effectLst/>
        </p:spPr>
        <p:txBody>
          <a:bodyPr wrap="none" anchor="ctr"/>
          <a:lstStyle/>
          <a:p>
            <a:endParaRPr lang="en-US"/>
          </a:p>
        </p:txBody>
      </p:sp>
      <p:sp>
        <p:nvSpPr>
          <p:cNvPr id="37891" name="Rectangle 3"/>
          <p:cNvSpPr>
            <a:spLocks noChangeArrowheads="1"/>
          </p:cNvSpPr>
          <p:nvPr/>
        </p:nvSpPr>
        <p:spPr bwMode="auto">
          <a:xfrm>
            <a:off x="3886200" y="8687039"/>
            <a:ext cx="2971800" cy="456962"/>
          </a:xfrm>
          <a:prstGeom prst="rect">
            <a:avLst/>
          </a:prstGeom>
          <a:noFill/>
          <a:ln w="9525">
            <a:noFill/>
            <a:miter lim="800000"/>
            <a:headEnd/>
            <a:tailEnd/>
          </a:ln>
          <a:effectLst/>
        </p:spPr>
        <p:txBody>
          <a:bodyPr lIns="19050" tIns="0" rIns="19050" bIns="0" anchor="b"/>
          <a:lstStyle/>
          <a:p>
            <a:pPr algn="r" eaLnBrk="0" hangingPunct="0"/>
            <a:r>
              <a:rPr lang="en-US" sz="1000" i="1">
                <a:latin typeface="Times New Roman" pitchFamily="18" charset="0"/>
              </a:rPr>
              <a:t>2</a:t>
            </a:r>
          </a:p>
        </p:txBody>
      </p:sp>
      <p:sp>
        <p:nvSpPr>
          <p:cNvPr id="37892" name="Rectangle 4"/>
          <p:cNvSpPr>
            <a:spLocks noChangeArrowheads="1"/>
          </p:cNvSpPr>
          <p:nvPr/>
        </p:nvSpPr>
        <p:spPr bwMode="auto">
          <a:xfrm>
            <a:off x="0" y="8687039"/>
            <a:ext cx="2971800" cy="456962"/>
          </a:xfrm>
          <a:prstGeom prst="rect">
            <a:avLst/>
          </a:prstGeom>
          <a:noFill/>
          <a:ln w="9525">
            <a:noFill/>
            <a:miter lim="800000"/>
            <a:headEnd/>
            <a:tailEnd/>
          </a:ln>
          <a:effectLst/>
        </p:spPr>
        <p:txBody>
          <a:bodyPr wrap="none" anchor="ctr"/>
          <a:lstStyle/>
          <a:p>
            <a:endParaRPr lang="en-US"/>
          </a:p>
        </p:txBody>
      </p:sp>
      <p:sp>
        <p:nvSpPr>
          <p:cNvPr id="37893" name="Rectangle 5"/>
          <p:cNvSpPr>
            <a:spLocks noChangeArrowheads="1"/>
          </p:cNvSpPr>
          <p:nvPr/>
        </p:nvSpPr>
        <p:spPr bwMode="auto">
          <a:xfrm>
            <a:off x="0" y="0"/>
            <a:ext cx="2971800" cy="456962"/>
          </a:xfrm>
          <a:prstGeom prst="rect">
            <a:avLst/>
          </a:prstGeom>
          <a:noFill/>
          <a:ln w="9525">
            <a:noFill/>
            <a:miter lim="800000"/>
            <a:headEnd/>
            <a:tailEnd/>
          </a:ln>
          <a:effectLst/>
        </p:spPr>
        <p:txBody>
          <a:bodyPr wrap="none" anchor="ctr"/>
          <a:lstStyle/>
          <a:p>
            <a:endParaRPr lang="en-US"/>
          </a:p>
        </p:txBody>
      </p:sp>
      <p:sp>
        <p:nvSpPr>
          <p:cNvPr id="37894" name="Rectangle 6"/>
          <p:cNvSpPr>
            <a:spLocks noChangeArrowheads="1"/>
          </p:cNvSpPr>
          <p:nvPr/>
        </p:nvSpPr>
        <p:spPr bwMode="auto">
          <a:xfrm>
            <a:off x="3886200" y="0"/>
            <a:ext cx="2971800" cy="456962"/>
          </a:xfrm>
          <a:prstGeom prst="rect">
            <a:avLst/>
          </a:prstGeom>
          <a:noFill/>
          <a:ln w="9525">
            <a:noFill/>
            <a:miter lim="800000"/>
            <a:headEnd/>
            <a:tailEnd/>
          </a:ln>
          <a:effectLst/>
        </p:spPr>
        <p:txBody>
          <a:bodyPr wrap="none" anchor="ctr"/>
          <a:lstStyle/>
          <a:p>
            <a:endParaRPr lang="en-US"/>
          </a:p>
        </p:txBody>
      </p:sp>
      <p:sp>
        <p:nvSpPr>
          <p:cNvPr id="37895" name="Rectangle 7"/>
          <p:cNvSpPr>
            <a:spLocks noChangeArrowheads="1"/>
          </p:cNvSpPr>
          <p:nvPr/>
        </p:nvSpPr>
        <p:spPr bwMode="auto">
          <a:xfrm>
            <a:off x="3886200" y="8687039"/>
            <a:ext cx="2971800" cy="456962"/>
          </a:xfrm>
          <a:prstGeom prst="rect">
            <a:avLst/>
          </a:prstGeom>
          <a:noFill/>
          <a:ln w="9525">
            <a:noFill/>
            <a:miter lim="800000"/>
            <a:headEnd/>
            <a:tailEnd/>
          </a:ln>
          <a:effectLst/>
        </p:spPr>
        <p:txBody>
          <a:bodyPr lIns="19050" tIns="0" rIns="19050" bIns="0" anchor="b"/>
          <a:lstStyle/>
          <a:p>
            <a:pPr algn="r" eaLnBrk="0" hangingPunct="0"/>
            <a:r>
              <a:rPr lang="en-US" sz="1000" i="1">
                <a:latin typeface="Times New Roman" pitchFamily="18" charset="0"/>
              </a:rPr>
              <a:t>2</a:t>
            </a:r>
          </a:p>
        </p:txBody>
      </p:sp>
      <p:sp>
        <p:nvSpPr>
          <p:cNvPr id="37896" name="Rectangle 8"/>
          <p:cNvSpPr>
            <a:spLocks noChangeArrowheads="1"/>
          </p:cNvSpPr>
          <p:nvPr/>
        </p:nvSpPr>
        <p:spPr bwMode="auto">
          <a:xfrm>
            <a:off x="0" y="8687039"/>
            <a:ext cx="2971800" cy="456962"/>
          </a:xfrm>
          <a:prstGeom prst="rect">
            <a:avLst/>
          </a:prstGeom>
          <a:noFill/>
          <a:ln w="9525">
            <a:noFill/>
            <a:miter lim="800000"/>
            <a:headEnd/>
            <a:tailEnd/>
          </a:ln>
          <a:effectLst/>
        </p:spPr>
        <p:txBody>
          <a:bodyPr wrap="none" anchor="ctr"/>
          <a:lstStyle/>
          <a:p>
            <a:endParaRPr lang="en-US"/>
          </a:p>
        </p:txBody>
      </p:sp>
      <p:sp>
        <p:nvSpPr>
          <p:cNvPr id="37897" name="Rectangle 9"/>
          <p:cNvSpPr>
            <a:spLocks noChangeArrowheads="1"/>
          </p:cNvSpPr>
          <p:nvPr/>
        </p:nvSpPr>
        <p:spPr bwMode="auto">
          <a:xfrm>
            <a:off x="0" y="0"/>
            <a:ext cx="2971800" cy="456962"/>
          </a:xfrm>
          <a:prstGeom prst="rect">
            <a:avLst/>
          </a:prstGeom>
          <a:noFill/>
          <a:ln w="9525">
            <a:noFill/>
            <a:miter lim="800000"/>
            <a:headEnd/>
            <a:tailEnd/>
          </a:ln>
          <a:effectLst/>
        </p:spPr>
        <p:txBody>
          <a:bodyPr wrap="none" anchor="ctr"/>
          <a:lstStyle/>
          <a:p>
            <a:endParaRPr lang="en-US"/>
          </a:p>
        </p:txBody>
      </p:sp>
      <p:sp>
        <p:nvSpPr>
          <p:cNvPr id="37898" name="Rectangle 10"/>
          <p:cNvSpPr>
            <a:spLocks noGrp="1" noChangeArrowheads="1"/>
          </p:cNvSpPr>
          <p:nvPr>
            <p:ph type="body" idx="1"/>
          </p:nvPr>
        </p:nvSpPr>
        <p:spPr>
          <a:ln/>
        </p:spPr>
        <p:txBody>
          <a:bodyPr/>
          <a:lstStyle/>
          <a:p>
            <a:endParaRPr lang="en-US"/>
          </a:p>
        </p:txBody>
      </p:sp>
      <p:sp>
        <p:nvSpPr>
          <p:cNvPr id="37899" name="Rectangle 11"/>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61753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31</a:t>
            </a:fld>
            <a:endParaRPr lang="en-US"/>
          </a:p>
        </p:txBody>
      </p:sp>
    </p:spTree>
    <p:extLst>
      <p:ext uri="{BB962C8B-B14F-4D97-AF65-F5344CB8AC3E}">
        <p14:creationId xmlns:p14="http://schemas.microsoft.com/office/powerpoint/2010/main" val="2580187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50317C-855E-45E4-8983-BF54D4535362}" type="slidenum">
              <a:rPr lang="en-US"/>
              <a:pPr/>
              <a:t>35</a:t>
            </a:fld>
            <a:endParaRPr lang="en-US"/>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9462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E4A3A8-939B-4B41-8503-DEB06AACAF07}" type="slidenum">
              <a:rPr lang="en-US"/>
              <a:pPr/>
              <a:t>36</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81159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E14B46-0FA2-4064-83AF-49900DAEB879}" type="slidenum">
              <a:rPr lang="en-US"/>
              <a:pPr/>
              <a:t>52</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E14B46-0FA2-4064-83AF-49900DAEB879}" type="slidenum">
              <a:rPr lang="en-US"/>
              <a:pPr/>
              <a:t>64</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722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http://www.scholarpedia.org/article/Gestalt_principles</a:t>
            </a:r>
            <a:r>
              <a:rPr lang="en-US" dirty="0"/>
              <a:t> </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73</a:t>
            </a:fld>
            <a:endParaRPr lang="en-US"/>
          </a:p>
        </p:txBody>
      </p:sp>
    </p:spTree>
    <p:extLst>
      <p:ext uri="{BB962C8B-B14F-4D97-AF65-F5344CB8AC3E}">
        <p14:creationId xmlns:p14="http://schemas.microsoft.com/office/powerpoint/2010/main" val="4015282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62ED09A-07D1-441F-823F-EE0354B40CE0}" type="slidenum">
              <a:rPr lang="en-US" smtClean="0"/>
              <a:pPr/>
              <a:t>82</a:t>
            </a:fld>
            <a:endParaRPr lang="en-US"/>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extLst>
      <p:ext uri="{BB962C8B-B14F-4D97-AF65-F5344CB8AC3E}">
        <p14:creationId xmlns:p14="http://schemas.microsoft.com/office/powerpoint/2010/main" val="2877640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62ED09A-07D1-441F-823F-EE0354B40CE0}" type="slidenum">
              <a:rPr lang="en-US" smtClean="0"/>
              <a:pPr/>
              <a:t>83</a:t>
            </a:fld>
            <a:endParaRPr lang="en-US"/>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z="1300" dirty="0"/>
              <a:t>(a) This is usually perceived as five circles, not as the nine shapes in (b).</a:t>
            </a:r>
            <a:endParaRPr lang="en-US" sz="1500" dirty="0"/>
          </a:p>
          <a:p>
            <a:pPr eaLnBrk="1" hangingPunct="1"/>
            <a:r>
              <a:rPr lang="en-US" sz="1000" dirty="0"/>
              <a:t>Principles of perceptual organization</a:t>
            </a:r>
          </a:p>
          <a:p>
            <a:pPr lvl="1" eaLnBrk="1" hangingPunct="1"/>
            <a:r>
              <a:rPr lang="en-US" u="sng" dirty="0" err="1"/>
              <a:t>Pragnanz</a:t>
            </a:r>
            <a:r>
              <a:rPr lang="en-US" u="sng" dirty="0"/>
              <a:t> (also called law of simplicity)</a:t>
            </a:r>
            <a:r>
              <a:rPr lang="en-US" dirty="0"/>
              <a:t> - every stimulus is seen as simply as possible</a:t>
            </a:r>
          </a:p>
          <a:p>
            <a:pPr eaLnBrk="1" hangingPunct="1"/>
            <a:endParaRPr lang="en-US" dirty="0"/>
          </a:p>
        </p:txBody>
      </p:sp>
    </p:spTree>
    <p:extLst>
      <p:ext uri="{BB962C8B-B14F-4D97-AF65-F5344CB8AC3E}">
        <p14:creationId xmlns:p14="http://schemas.microsoft.com/office/powerpoint/2010/main" val="2627950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1/20/2021</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1/20/2021</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1/20/2021</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1/20/2021</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1/20/2021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1/20/2021</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1/20/2021</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E8EB1F7E-1460-4293-A018-55C1201B2C1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1/20/2021</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gif"/><Relationship Id="rId5" Type="http://schemas.openxmlformats.org/officeDocument/2006/relationships/image" Target="../media/image23.gif"/><Relationship Id="rId4" Type="http://schemas.openxmlformats.org/officeDocument/2006/relationships/image" Target="../media/image22.gif"/><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0.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jpeg"/><Relationship Id="rId4" Type="http://schemas.openxmlformats.org/officeDocument/2006/relationships/image" Target="../media/image74.png"/></Relationships>
</file>

<file path=ppt/slides/_rels/slide7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80.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8486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dirty="0"/>
              <a:t>Design Perceptual Organization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Perception </a:t>
            </a:r>
          </a:p>
        </p:txBody>
      </p:sp>
      <p:sp>
        <p:nvSpPr>
          <p:cNvPr id="3" name="Content Placeholder 2"/>
          <p:cNvSpPr>
            <a:spLocks noGrp="1"/>
          </p:cNvSpPr>
          <p:nvPr>
            <p:ph sz="quarter" idx="1"/>
          </p:nvPr>
        </p:nvSpPr>
        <p:spPr/>
        <p:txBody>
          <a:bodyPr/>
          <a:lstStyle/>
          <a:p>
            <a:r>
              <a:rPr lang="en-US" dirty="0"/>
              <a:t>It is a process by which individuals organize and interpret their sensory impressions in order to give meaning to their environment.</a:t>
            </a:r>
          </a:p>
          <a:p>
            <a:r>
              <a:rPr lang="en-US" dirty="0"/>
              <a:t>People's behavior is based on their perception of what reality is, not on reality itself.</a:t>
            </a:r>
          </a:p>
          <a:p>
            <a:r>
              <a:rPr lang="en-US" dirty="0"/>
              <a:t>Human mind assembles, organizes and categorizes information</a:t>
            </a:r>
          </a:p>
        </p:txBody>
      </p:sp>
    </p:spTree>
    <p:extLst>
      <p:ext uri="{BB962C8B-B14F-4D97-AF65-F5344CB8AC3E}">
        <p14:creationId xmlns:p14="http://schemas.microsoft.com/office/powerpoint/2010/main" val="3233568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process</a:t>
            </a:r>
          </a:p>
        </p:txBody>
      </p:sp>
      <p:sp>
        <p:nvSpPr>
          <p:cNvPr id="3" name="Content Placeholder 2"/>
          <p:cNvSpPr>
            <a:spLocks noGrp="1"/>
          </p:cNvSpPr>
          <p:nvPr>
            <p:ph sz="quarter" idx="1"/>
          </p:nvPr>
        </p:nvSpPr>
        <p:spPr/>
        <p:txBody>
          <a:bodyPr/>
          <a:lstStyle/>
          <a:p>
            <a:pPr marL="514350" indent="-514350">
              <a:buFont typeface="+mj-lt"/>
              <a:buAutoNum type="arabicPeriod"/>
            </a:pPr>
            <a:r>
              <a:rPr lang="en-US" dirty="0"/>
              <a:t>Stimuli</a:t>
            </a:r>
          </a:p>
          <a:p>
            <a:pPr marL="514350" indent="-514350">
              <a:buFont typeface="+mj-lt"/>
              <a:buAutoNum type="arabicPeriod"/>
            </a:pPr>
            <a:r>
              <a:rPr lang="en-US" dirty="0"/>
              <a:t>Receiving stimuli (or organizing)</a:t>
            </a:r>
          </a:p>
          <a:p>
            <a:pPr marL="514350" indent="-514350">
              <a:buFont typeface="+mj-lt"/>
              <a:buAutoNum type="arabicPeriod"/>
            </a:pPr>
            <a:r>
              <a:rPr lang="en-US" dirty="0"/>
              <a:t>Selective attention (or selecting stimuli)</a:t>
            </a:r>
          </a:p>
          <a:p>
            <a:pPr marL="514350" indent="-514350">
              <a:buFont typeface="+mj-lt"/>
              <a:buAutoNum type="arabicPeriod"/>
            </a:pPr>
            <a:r>
              <a:rPr lang="en-US" dirty="0"/>
              <a:t>Perceptual organization (</a:t>
            </a:r>
            <a:r>
              <a:rPr lang="en-US"/>
              <a:t>group stimuli </a:t>
            </a:r>
            <a:r>
              <a:rPr lang="en-US" dirty="0"/>
              <a:t>into </a:t>
            </a:r>
            <a:r>
              <a:rPr lang="en-US"/>
              <a:t>recognizable patterns)</a:t>
            </a:r>
            <a:endParaRPr lang="en-US" dirty="0"/>
          </a:p>
          <a:p>
            <a:pPr marL="514350" indent="-514350">
              <a:buFont typeface="+mj-lt"/>
              <a:buAutoNum type="arabicPeriod"/>
            </a:pPr>
            <a:r>
              <a:rPr lang="en-US" dirty="0"/>
              <a:t>Interpreting (assigning meaning)</a:t>
            </a:r>
          </a:p>
          <a:p>
            <a:pPr marL="514350" indent="-514350">
              <a:buFont typeface="+mj-lt"/>
              <a:buAutoNum type="arabicPeriod"/>
            </a:pPr>
            <a:r>
              <a:rPr lang="en-US" dirty="0"/>
              <a:t>Response</a:t>
            </a:r>
          </a:p>
        </p:txBody>
      </p:sp>
    </p:spTree>
    <p:extLst>
      <p:ext uri="{BB962C8B-B14F-4D97-AF65-F5344CB8AC3E}">
        <p14:creationId xmlns:p14="http://schemas.microsoft.com/office/powerpoint/2010/main" val="2063541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organization</a:t>
            </a:r>
          </a:p>
        </p:txBody>
      </p:sp>
      <p:sp>
        <p:nvSpPr>
          <p:cNvPr id="3" name="Content Placeholder 2"/>
          <p:cNvSpPr>
            <a:spLocks noGrp="1"/>
          </p:cNvSpPr>
          <p:nvPr>
            <p:ph sz="quarter" idx="1"/>
          </p:nvPr>
        </p:nvSpPr>
        <p:spPr/>
        <p:txBody>
          <a:bodyPr/>
          <a:lstStyle/>
          <a:p>
            <a:r>
              <a:rPr lang="en-US" dirty="0"/>
              <a:t>The process by which people group stimuli into recognizable patterns</a:t>
            </a:r>
          </a:p>
          <a:p>
            <a:pPr lvl="1"/>
            <a:r>
              <a:rPr lang="en-US" dirty="0"/>
              <a:t>What mental picture do you have for a wooden object with 4 legs?</a:t>
            </a:r>
          </a:p>
          <a:p>
            <a:pPr lvl="1"/>
            <a:r>
              <a:rPr lang="en-US" dirty="0"/>
              <a:t>When people actually see the above wooden object having these characteristics, they are able to organize information into meaningful whole and recognize the object to be a chair.</a:t>
            </a:r>
          </a:p>
        </p:txBody>
      </p:sp>
    </p:spTree>
    <p:extLst>
      <p:ext uri="{BB962C8B-B14F-4D97-AF65-F5344CB8AC3E}">
        <p14:creationId xmlns:p14="http://schemas.microsoft.com/office/powerpoint/2010/main" val="2378004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sp>
        <p:nvSpPr>
          <p:cNvPr id="3" name="Content Placeholder 2"/>
          <p:cNvSpPr>
            <a:spLocks noGrp="1"/>
          </p:cNvSpPr>
          <p:nvPr>
            <p:ph sz="quarter" idx="1"/>
          </p:nvPr>
        </p:nvSpPr>
        <p:spPr/>
        <p:txBody>
          <a:bodyPr/>
          <a:lstStyle/>
          <a:p>
            <a:r>
              <a:rPr lang="en-US" dirty="0"/>
              <a:t>They can be understood as reliable perceptual errors</a:t>
            </a:r>
          </a:p>
          <a:p>
            <a:r>
              <a:rPr lang="en-US" dirty="0"/>
              <a:t>People don’t perceive length, area, angle, brightness the way they “should”.</a:t>
            </a:r>
          </a:p>
        </p:txBody>
      </p:sp>
    </p:spTree>
    <p:extLst>
      <p:ext uri="{BB962C8B-B14F-4D97-AF65-F5344CB8AC3E}">
        <p14:creationId xmlns:p14="http://schemas.microsoft.com/office/powerpoint/2010/main" val="18962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813A0-F4FF-4A86-AD77-9428B8407EC8}"/>
              </a:ext>
            </a:extLst>
          </p:cNvPr>
          <p:cNvSpPr>
            <a:spLocks noGrp="1"/>
          </p:cNvSpPr>
          <p:nvPr>
            <p:ph type="title"/>
          </p:nvPr>
        </p:nvSpPr>
        <p:spPr>
          <a:xfrm>
            <a:off x="612648" y="76200"/>
            <a:ext cx="8153400" cy="1143000"/>
          </a:xfrm>
        </p:spPr>
        <p:txBody>
          <a:bodyPr/>
          <a:lstStyle/>
          <a:p>
            <a:r>
              <a:rPr lang="en-US" dirty="0"/>
              <a:t>Cognitive Processing </a:t>
            </a:r>
          </a:p>
        </p:txBody>
      </p:sp>
      <p:pic>
        <p:nvPicPr>
          <p:cNvPr id="5" name="Content Placeholder 4">
            <a:extLst>
              <a:ext uri="{FF2B5EF4-FFF2-40B4-BE49-F238E27FC236}">
                <a16:creationId xmlns:a16="http://schemas.microsoft.com/office/drawing/2014/main" id="{96B7C6B7-E99D-46A6-BACD-515D536E49C3}"/>
              </a:ext>
            </a:extLst>
          </p:cNvPr>
          <p:cNvPicPr>
            <a:picLocks noGrp="1" noChangeAspect="1"/>
          </p:cNvPicPr>
          <p:nvPr>
            <p:ph sz="quarter" idx="1"/>
          </p:nvPr>
        </p:nvPicPr>
        <p:blipFill rotWithShape="1">
          <a:blip r:embed="rId2"/>
          <a:srcRect t="18182" r="18965"/>
          <a:stretch/>
        </p:blipFill>
        <p:spPr>
          <a:xfrm>
            <a:off x="228600" y="864528"/>
            <a:ext cx="8153400" cy="5917272"/>
          </a:xfrm>
        </p:spPr>
      </p:pic>
    </p:spTree>
    <p:extLst>
      <p:ext uri="{BB962C8B-B14F-4D97-AF65-F5344CB8AC3E}">
        <p14:creationId xmlns:p14="http://schemas.microsoft.com/office/powerpoint/2010/main" val="3590179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pic>
        <p:nvPicPr>
          <p:cNvPr id="4" name="Picture 8"/>
          <p:cNvPicPr>
            <a:picLocks noChangeArrowheads="1"/>
          </p:cNvPicPr>
          <p:nvPr/>
        </p:nvPicPr>
        <p:blipFill>
          <a:blip r:embed="rId2" cstate="print"/>
          <a:srcRect/>
          <a:stretch>
            <a:fillRect/>
          </a:stretch>
        </p:blipFill>
        <p:spPr bwMode="auto">
          <a:xfrm>
            <a:off x="2317750" y="1524000"/>
            <a:ext cx="4508500" cy="2208213"/>
          </a:xfrm>
          <a:prstGeom prst="rect">
            <a:avLst/>
          </a:prstGeom>
          <a:noFill/>
          <a:ln w="9525">
            <a:noFill/>
            <a:miter lim="800000"/>
            <a:headEnd/>
            <a:tailEnd/>
          </a:ln>
          <a:effectLst/>
        </p:spPr>
      </p:pic>
    </p:spTree>
    <p:extLst>
      <p:ext uri="{BB962C8B-B14F-4D97-AF65-F5344CB8AC3E}">
        <p14:creationId xmlns:p14="http://schemas.microsoft.com/office/powerpoint/2010/main" val="56026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Perceptual Illusions </a:t>
            </a:r>
          </a:p>
        </p:txBody>
      </p:sp>
      <p:pic>
        <p:nvPicPr>
          <p:cNvPr id="5" name="Picture 10"/>
          <p:cNvPicPr>
            <a:picLocks noChangeArrowheads="1"/>
          </p:cNvPicPr>
          <p:nvPr/>
        </p:nvPicPr>
        <p:blipFill>
          <a:blip r:embed="rId2" cstate="print"/>
          <a:srcRect/>
          <a:stretch>
            <a:fillRect/>
          </a:stretch>
        </p:blipFill>
        <p:spPr bwMode="auto">
          <a:xfrm>
            <a:off x="2279650" y="3962400"/>
            <a:ext cx="4584700" cy="2393950"/>
          </a:xfrm>
          <a:prstGeom prst="rect">
            <a:avLst/>
          </a:prstGeom>
          <a:noFill/>
          <a:ln w="9525">
            <a:noFill/>
            <a:miter lim="800000"/>
            <a:headEnd/>
            <a:tailEnd/>
          </a:ln>
          <a:effectLst/>
        </p:spPr>
      </p:pic>
      <p:pic>
        <p:nvPicPr>
          <p:cNvPr id="6" name="Picture 8"/>
          <p:cNvPicPr>
            <a:picLocks noChangeArrowheads="1"/>
          </p:cNvPicPr>
          <p:nvPr/>
        </p:nvPicPr>
        <p:blipFill>
          <a:blip r:embed="rId3" cstate="print"/>
          <a:srcRect/>
          <a:stretch>
            <a:fillRect/>
          </a:stretch>
        </p:blipFill>
        <p:spPr bwMode="auto">
          <a:xfrm>
            <a:off x="2317750" y="1371600"/>
            <a:ext cx="4508500" cy="2208213"/>
          </a:xfrm>
          <a:prstGeom prst="rect">
            <a:avLst/>
          </a:prstGeom>
          <a:noFill/>
          <a:ln w="9525">
            <a:noFill/>
            <a:miter lim="800000"/>
            <a:headEnd/>
            <a:tailEnd/>
          </a:ln>
          <a:effectLst/>
        </p:spPr>
      </p:pic>
    </p:spTree>
    <p:extLst>
      <p:ext uri="{BB962C8B-B14F-4D97-AF65-F5344CB8AC3E}">
        <p14:creationId xmlns:p14="http://schemas.microsoft.com/office/powerpoint/2010/main" val="256084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10" descr="D:\Art\ch06\jpg\un06-p218-middlebottom.JPG"/>
          <p:cNvPicPr>
            <a:picLocks noChangeAspect="1" noChangeArrowheads="1"/>
          </p:cNvPicPr>
          <p:nvPr/>
        </p:nvPicPr>
        <p:blipFill>
          <a:blip r:embed="rId2" cstate="print"/>
          <a:srcRect/>
          <a:stretch>
            <a:fillRect/>
          </a:stretch>
        </p:blipFill>
        <p:spPr bwMode="auto">
          <a:xfrm>
            <a:off x="2057400" y="1905000"/>
            <a:ext cx="4495800" cy="4484688"/>
          </a:xfrm>
          <a:prstGeom prst="rect">
            <a:avLst/>
          </a:prstGeom>
          <a:noFill/>
        </p:spPr>
      </p:pic>
      <p:sp>
        <p:nvSpPr>
          <p:cNvPr id="2" name="Title 1"/>
          <p:cNvSpPr>
            <a:spLocks noGrp="1"/>
          </p:cNvSpPr>
          <p:nvPr>
            <p:ph type="title"/>
          </p:nvPr>
        </p:nvSpPr>
        <p:spPr/>
        <p:txBody>
          <a:bodyPr/>
          <a:lstStyle/>
          <a:p>
            <a:r>
              <a:rPr lang="en-US" dirty="0"/>
              <a:t>Perceptual Illusions </a:t>
            </a:r>
          </a:p>
        </p:txBody>
      </p:sp>
      <p:sp>
        <p:nvSpPr>
          <p:cNvPr id="3" name="Content Placeholder 2"/>
          <p:cNvSpPr>
            <a:spLocks noGrp="1"/>
          </p:cNvSpPr>
          <p:nvPr>
            <p:ph sz="quarter" idx="1"/>
          </p:nvPr>
        </p:nvSpPr>
        <p:spPr/>
        <p:txBody>
          <a:bodyPr/>
          <a:lstStyle/>
          <a:p>
            <a:pPr marL="0" indent="0">
              <a:buNone/>
            </a:pPr>
            <a:endParaRPr lang="en-US" dirty="0"/>
          </a:p>
          <a:p>
            <a:endParaRPr lang="en-US" dirty="0"/>
          </a:p>
          <a:p>
            <a:endParaRPr lang="en-US" dirty="0"/>
          </a:p>
          <a:p>
            <a:endParaRPr lang="en-US" dirty="0"/>
          </a:p>
          <a:p>
            <a:endParaRPr lang="en-US" dirty="0"/>
          </a:p>
          <a:p>
            <a:endParaRPr lang="en-US" dirty="0"/>
          </a:p>
          <a:p>
            <a:pPr>
              <a:buNone/>
            </a:pPr>
            <a:endParaRPr lang="en-US" dirty="0"/>
          </a:p>
        </p:txBody>
      </p:sp>
      <p:grpSp>
        <p:nvGrpSpPr>
          <p:cNvPr id="4" name="Group 4"/>
          <p:cNvGrpSpPr>
            <a:grpSpLocks/>
          </p:cNvGrpSpPr>
          <p:nvPr/>
        </p:nvGrpSpPr>
        <p:grpSpPr bwMode="auto">
          <a:xfrm>
            <a:off x="1295400" y="2743200"/>
            <a:ext cx="2133600" cy="1066800"/>
            <a:chOff x="2208" y="2880"/>
            <a:chExt cx="1344" cy="672"/>
          </a:xfrm>
        </p:grpSpPr>
        <p:grpSp>
          <p:nvGrpSpPr>
            <p:cNvPr id="5" name="Group 5"/>
            <p:cNvGrpSpPr>
              <a:grpSpLocks/>
            </p:cNvGrpSpPr>
            <p:nvPr/>
          </p:nvGrpSpPr>
          <p:grpSpPr bwMode="auto">
            <a:xfrm>
              <a:off x="2208" y="2880"/>
              <a:ext cx="1344" cy="288"/>
              <a:chOff x="3696" y="2880"/>
              <a:chExt cx="1344" cy="288"/>
            </a:xfrm>
          </p:grpSpPr>
          <p:grpSp>
            <p:nvGrpSpPr>
              <p:cNvPr id="6" name="Group 6"/>
              <p:cNvGrpSpPr>
                <a:grpSpLocks/>
              </p:cNvGrpSpPr>
              <p:nvPr/>
            </p:nvGrpSpPr>
            <p:grpSpPr bwMode="auto">
              <a:xfrm>
                <a:off x="4800" y="2880"/>
                <a:ext cx="240" cy="288"/>
                <a:chOff x="4272" y="2832"/>
                <a:chExt cx="240" cy="288"/>
              </a:xfrm>
            </p:grpSpPr>
            <p:sp>
              <p:nvSpPr>
                <p:cNvPr id="19" name="Line 7"/>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8"/>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 name="Group 9"/>
              <p:cNvGrpSpPr>
                <a:grpSpLocks/>
              </p:cNvGrpSpPr>
              <p:nvPr/>
            </p:nvGrpSpPr>
            <p:grpSpPr bwMode="auto">
              <a:xfrm flipH="1">
                <a:off x="3696" y="2880"/>
                <a:ext cx="240" cy="288"/>
                <a:chOff x="4272" y="2832"/>
                <a:chExt cx="240" cy="288"/>
              </a:xfrm>
            </p:grpSpPr>
            <p:sp>
              <p:nvSpPr>
                <p:cNvPr id="17" name="Line 10"/>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1"/>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 name="Line 12"/>
              <p:cNvSpPr>
                <a:spLocks noChangeShapeType="1"/>
              </p:cNvSpPr>
              <p:nvPr/>
            </p:nvSpPr>
            <p:spPr bwMode="auto">
              <a:xfrm flipH="1">
                <a:off x="3936" y="3024"/>
                <a:ext cx="86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 name="Group 13"/>
            <p:cNvGrpSpPr>
              <a:grpSpLocks/>
            </p:cNvGrpSpPr>
            <p:nvPr/>
          </p:nvGrpSpPr>
          <p:grpSpPr bwMode="auto">
            <a:xfrm>
              <a:off x="2400" y="3264"/>
              <a:ext cx="960" cy="288"/>
              <a:chOff x="3888" y="3264"/>
              <a:chExt cx="960" cy="288"/>
            </a:xfrm>
          </p:grpSpPr>
          <p:grpSp>
            <p:nvGrpSpPr>
              <p:cNvPr id="14" name="Group 14"/>
              <p:cNvGrpSpPr>
                <a:grpSpLocks/>
              </p:cNvGrpSpPr>
              <p:nvPr/>
            </p:nvGrpSpPr>
            <p:grpSpPr bwMode="auto">
              <a:xfrm flipH="1">
                <a:off x="4608" y="3264"/>
                <a:ext cx="240" cy="288"/>
                <a:chOff x="4272" y="2832"/>
                <a:chExt cx="240" cy="288"/>
              </a:xfrm>
            </p:grpSpPr>
            <p:sp>
              <p:nvSpPr>
                <p:cNvPr id="12" name="Line 15"/>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6"/>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 name="Group 17"/>
              <p:cNvGrpSpPr>
                <a:grpSpLocks/>
              </p:cNvGrpSpPr>
              <p:nvPr/>
            </p:nvGrpSpPr>
            <p:grpSpPr bwMode="auto">
              <a:xfrm>
                <a:off x="3888" y="3264"/>
                <a:ext cx="240" cy="288"/>
                <a:chOff x="4272" y="2832"/>
                <a:chExt cx="240" cy="288"/>
              </a:xfrm>
            </p:grpSpPr>
            <p:sp>
              <p:nvSpPr>
                <p:cNvPr id="10" name="Line 18"/>
                <p:cNvSpPr>
                  <a:spLocks noChangeShapeType="1"/>
                </p:cNvSpPr>
                <p:nvPr/>
              </p:nvSpPr>
              <p:spPr bwMode="auto">
                <a:xfrm flipH="1">
                  <a:off x="4272" y="2832"/>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19"/>
                <p:cNvSpPr>
                  <a:spLocks noChangeShapeType="1"/>
                </p:cNvSpPr>
                <p:nvPr/>
              </p:nvSpPr>
              <p:spPr bwMode="auto">
                <a:xfrm>
                  <a:off x="4272" y="2976"/>
                  <a:ext cx="240" cy="144"/>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 name="Line 20"/>
              <p:cNvSpPr>
                <a:spLocks noChangeShapeType="1"/>
              </p:cNvSpPr>
              <p:nvPr/>
            </p:nvSpPr>
            <p:spPr bwMode="auto">
              <a:xfrm flipH="1">
                <a:off x="3936" y="3408"/>
                <a:ext cx="864"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1" name="Group 22"/>
          <p:cNvGrpSpPr>
            <a:grpSpLocks/>
          </p:cNvGrpSpPr>
          <p:nvPr/>
        </p:nvGrpSpPr>
        <p:grpSpPr bwMode="auto">
          <a:xfrm>
            <a:off x="5791200" y="2133600"/>
            <a:ext cx="1447800" cy="2057400"/>
            <a:chOff x="2448" y="1152"/>
            <a:chExt cx="912" cy="1296"/>
          </a:xfrm>
        </p:grpSpPr>
        <p:grpSp>
          <p:nvGrpSpPr>
            <p:cNvPr id="22" name="Group 23"/>
            <p:cNvGrpSpPr>
              <a:grpSpLocks/>
            </p:cNvGrpSpPr>
            <p:nvPr/>
          </p:nvGrpSpPr>
          <p:grpSpPr bwMode="auto">
            <a:xfrm>
              <a:off x="2448" y="1152"/>
              <a:ext cx="912" cy="1296"/>
              <a:chOff x="2448" y="1152"/>
              <a:chExt cx="912" cy="1296"/>
            </a:xfrm>
          </p:grpSpPr>
          <p:sp>
            <p:nvSpPr>
              <p:cNvPr id="25" name="AutoShape 24"/>
              <p:cNvSpPr>
                <a:spLocks noChangeArrowheads="1"/>
              </p:cNvSpPr>
              <p:nvPr/>
            </p:nvSpPr>
            <p:spPr bwMode="auto">
              <a:xfrm>
                <a:off x="2448" y="1152"/>
                <a:ext cx="384" cy="1296"/>
              </a:xfrm>
              <a:prstGeom prst="parallelogram">
                <a:avLst>
                  <a:gd name="adj" fmla="val 83856"/>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AutoShape 25"/>
              <p:cNvSpPr>
                <a:spLocks noChangeArrowheads="1"/>
              </p:cNvSpPr>
              <p:nvPr/>
            </p:nvSpPr>
            <p:spPr bwMode="auto">
              <a:xfrm flipH="1">
                <a:off x="2976" y="1152"/>
                <a:ext cx="384" cy="1296"/>
              </a:xfrm>
              <a:prstGeom prst="parallelogram">
                <a:avLst>
                  <a:gd name="adj" fmla="val 83856"/>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6"/>
              <p:cNvSpPr>
                <a:spLocks noChangeShapeType="1"/>
              </p:cNvSpPr>
              <p:nvPr/>
            </p:nvSpPr>
            <p:spPr bwMode="auto">
              <a:xfrm>
                <a:off x="2496" y="2304"/>
                <a:ext cx="768"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7"/>
              <p:cNvSpPr>
                <a:spLocks noChangeShapeType="1"/>
              </p:cNvSpPr>
              <p:nvPr/>
            </p:nvSpPr>
            <p:spPr bwMode="auto">
              <a:xfrm>
                <a:off x="2544" y="2160"/>
                <a:ext cx="720"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8"/>
              <p:cNvSpPr>
                <a:spLocks noChangeShapeType="1"/>
              </p:cNvSpPr>
              <p:nvPr/>
            </p:nvSpPr>
            <p:spPr bwMode="auto">
              <a:xfrm>
                <a:off x="2592" y="2016"/>
                <a:ext cx="624"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9"/>
              <p:cNvSpPr>
                <a:spLocks noChangeShapeType="1"/>
              </p:cNvSpPr>
              <p:nvPr/>
            </p:nvSpPr>
            <p:spPr bwMode="auto">
              <a:xfrm>
                <a:off x="2640" y="1872"/>
                <a:ext cx="528"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0"/>
              <p:cNvSpPr>
                <a:spLocks noChangeShapeType="1"/>
              </p:cNvSpPr>
              <p:nvPr/>
            </p:nvSpPr>
            <p:spPr bwMode="auto">
              <a:xfrm>
                <a:off x="2688" y="1728"/>
                <a:ext cx="432"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31"/>
              <p:cNvSpPr>
                <a:spLocks noChangeShapeType="1"/>
              </p:cNvSpPr>
              <p:nvPr/>
            </p:nvSpPr>
            <p:spPr bwMode="auto">
              <a:xfrm>
                <a:off x="2688" y="1584"/>
                <a:ext cx="432"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32"/>
              <p:cNvSpPr>
                <a:spLocks noChangeShapeType="1"/>
              </p:cNvSpPr>
              <p:nvPr/>
            </p:nvSpPr>
            <p:spPr bwMode="auto">
              <a:xfrm>
                <a:off x="2736" y="1440"/>
                <a:ext cx="336"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3"/>
              <p:cNvSpPr>
                <a:spLocks noChangeShapeType="1"/>
              </p:cNvSpPr>
              <p:nvPr/>
            </p:nvSpPr>
            <p:spPr bwMode="auto">
              <a:xfrm>
                <a:off x="2784" y="1296"/>
                <a:ext cx="240" cy="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3" name="Rectangle 34"/>
            <p:cNvSpPr>
              <a:spLocks noChangeArrowheads="1"/>
            </p:cNvSpPr>
            <p:nvPr/>
          </p:nvSpPr>
          <p:spPr bwMode="auto">
            <a:xfrm>
              <a:off x="2688" y="2160"/>
              <a:ext cx="432" cy="192"/>
            </a:xfrm>
            <a:prstGeom prst="rect">
              <a:avLst/>
            </a:prstGeom>
            <a:solidFill>
              <a:schemeClr val="accent2"/>
            </a:solidFill>
            <a:ln w="9525">
              <a:solidFill>
                <a:srgbClr val="555A5E"/>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Rectangle 35"/>
            <p:cNvSpPr>
              <a:spLocks noChangeArrowheads="1"/>
            </p:cNvSpPr>
            <p:nvPr/>
          </p:nvSpPr>
          <p:spPr bwMode="auto">
            <a:xfrm>
              <a:off x="2688" y="1296"/>
              <a:ext cx="432" cy="192"/>
            </a:xfrm>
            <a:prstGeom prst="rect">
              <a:avLst/>
            </a:prstGeom>
            <a:solidFill>
              <a:schemeClr val="accent2"/>
            </a:solidFill>
            <a:ln w="9525">
              <a:solidFill>
                <a:srgbClr val="555A5E"/>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08474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Perceptual Illusions: Contextual</a:t>
            </a:r>
          </a:p>
        </p:txBody>
      </p:sp>
      <p:pic>
        <p:nvPicPr>
          <p:cNvPr id="4" name="Picture 5" descr="Page 5"/>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l="43227" t="40407" r="15087" b="48409"/>
          <a:stretch>
            <a:fillRect/>
          </a:stretch>
        </p:blipFill>
        <p:spPr bwMode="auto">
          <a:xfrm>
            <a:off x="304800" y="3048000"/>
            <a:ext cx="4343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Page 3"/>
          <p:cNvPicPr>
            <a:picLocks noChangeAspect="1" noChangeArrowheads="1"/>
          </p:cNvPicPr>
          <p:nvPr/>
        </p:nvPicPr>
        <p:blipFill>
          <a:blip r:embed="rId3" cstate="print">
            <a:extLst>
              <a:ext uri="{28A0092B-C50C-407E-A947-70E740481C1C}">
                <a14:useLocalDpi xmlns:a14="http://schemas.microsoft.com/office/drawing/2010/main" val="0"/>
              </a:ext>
            </a:extLst>
          </a:blip>
          <a:srcRect l="31779" t="65443" r="27172" b="10030"/>
          <a:stretch>
            <a:fillRect/>
          </a:stretch>
        </p:blipFill>
        <p:spPr bwMode="auto">
          <a:xfrm>
            <a:off x="5181600" y="1676400"/>
            <a:ext cx="23622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age 3 001"/>
          <p:cNvPicPr>
            <a:picLocks noChangeAspect="1" noChangeArrowheads="1"/>
          </p:cNvPicPr>
          <p:nvPr/>
        </p:nvPicPr>
        <p:blipFill>
          <a:blip r:embed="rId4" cstate="print">
            <a:extLst>
              <a:ext uri="{28A0092B-C50C-407E-A947-70E740481C1C}">
                <a14:useLocalDpi xmlns:a14="http://schemas.microsoft.com/office/drawing/2010/main" val="0"/>
              </a:ext>
            </a:extLst>
          </a:blip>
          <a:srcRect l="37710" t="5501" r="19192" b="68788"/>
          <a:stretch>
            <a:fillRect/>
          </a:stretch>
        </p:blipFill>
        <p:spPr bwMode="auto">
          <a:xfrm>
            <a:off x="5181600" y="3962400"/>
            <a:ext cx="24384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631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2. Pre-Attention </a:t>
            </a:r>
          </a:p>
        </p:txBody>
      </p:sp>
    </p:spTree>
    <p:extLst>
      <p:ext uri="{BB962C8B-B14F-4D97-AF65-F5344CB8AC3E}">
        <p14:creationId xmlns:p14="http://schemas.microsoft.com/office/powerpoint/2010/main" val="3383654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609600" y="381000"/>
            <a:ext cx="7772400" cy="990600"/>
          </a:xfrm>
        </p:spPr>
        <p:txBody>
          <a:bodyPr/>
          <a:lstStyle/>
          <a:p>
            <a:r>
              <a:rPr lang="en-US" dirty="0">
                <a:solidFill>
                  <a:schemeClr val="tx1"/>
                </a:solidFill>
              </a:rPr>
              <a:t>Pre-attentive Processing</a:t>
            </a:r>
          </a:p>
        </p:txBody>
      </p:sp>
      <p:sp>
        <p:nvSpPr>
          <p:cNvPr id="275459" name="Rectangle 3"/>
          <p:cNvSpPr>
            <a:spLocks noGrp="1" noChangeArrowheads="1"/>
          </p:cNvSpPr>
          <p:nvPr>
            <p:ph sz="quarter" idx="1"/>
          </p:nvPr>
        </p:nvSpPr>
        <p:spPr>
          <a:xfrm>
            <a:off x="685800" y="1676400"/>
            <a:ext cx="7924800" cy="4114800"/>
          </a:xfrm>
        </p:spPr>
        <p:txBody>
          <a:bodyPr>
            <a:normAutofit lnSpcReduction="10000"/>
          </a:bodyPr>
          <a:lstStyle/>
          <a:p>
            <a:r>
              <a:rPr lang="en-US" dirty="0"/>
              <a:t>A limited set of visual properties are processed/detected very rapidly and accurately (pre-attentively i.e. without need for focusing attention) by the low level visual system.</a:t>
            </a:r>
          </a:p>
          <a:p>
            <a:r>
              <a:rPr lang="en-US" dirty="0"/>
              <a:t>This is important for design of graphics visualizations</a:t>
            </a:r>
            <a:endParaRPr lang="en-US" sz="2800" dirty="0"/>
          </a:p>
          <a:p>
            <a:pPr lvl="1"/>
            <a:r>
              <a:rPr lang="en-US" sz="2400" dirty="0"/>
              <a:t>what can be perceived immediately</a:t>
            </a:r>
          </a:p>
          <a:p>
            <a:pPr lvl="1"/>
            <a:r>
              <a:rPr lang="en-US" sz="2400" dirty="0"/>
              <a:t>what properties are good discriminators</a:t>
            </a:r>
          </a:p>
          <a:p>
            <a:pPr lvl="1"/>
            <a:r>
              <a:rPr lang="en-US" sz="2400" dirty="0"/>
              <a:t>what can mislead viewers</a:t>
            </a:r>
          </a:p>
        </p:txBody>
      </p:sp>
    </p:spTree>
    <p:extLst>
      <p:ext uri="{BB962C8B-B14F-4D97-AF65-F5344CB8AC3E}">
        <p14:creationId xmlns:p14="http://schemas.microsoft.com/office/powerpoint/2010/main" val="276783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3’s ?</a:t>
            </a:r>
          </a:p>
        </p:txBody>
      </p:sp>
      <p:pic>
        <p:nvPicPr>
          <p:cNvPr id="1026" name="Picture 2"/>
          <p:cNvPicPr>
            <a:picLocks noChangeAspect="1" noChangeArrowheads="1"/>
          </p:cNvPicPr>
          <p:nvPr/>
        </p:nvPicPr>
        <p:blipFill>
          <a:blip r:embed="rId2" cstate="print"/>
          <a:srcRect/>
          <a:stretch>
            <a:fillRect/>
          </a:stretch>
        </p:blipFill>
        <p:spPr bwMode="auto">
          <a:xfrm>
            <a:off x="87086" y="1600200"/>
            <a:ext cx="8969829" cy="3657600"/>
          </a:xfrm>
          <a:prstGeom prst="rect">
            <a:avLst/>
          </a:prstGeom>
          <a:noFill/>
          <a:ln w="9525">
            <a:noFill/>
            <a:miter lim="800000"/>
            <a:headEnd/>
            <a:tailEnd/>
          </a:ln>
          <a:effectLst/>
        </p:spPr>
      </p:pic>
    </p:spTree>
    <p:extLst>
      <p:ext uri="{BB962C8B-B14F-4D97-AF65-F5344CB8AC3E}">
        <p14:creationId xmlns:p14="http://schemas.microsoft.com/office/powerpoint/2010/main" val="2295997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3’s ?</a:t>
            </a:r>
          </a:p>
        </p:txBody>
      </p:sp>
      <p:pic>
        <p:nvPicPr>
          <p:cNvPr id="2050" name="Picture 2"/>
          <p:cNvPicPr>
            <a:picLocks noChangeAspect="1" noChangeArrowheads="1"/>
          </p:cNvPicPr>
          <p:nvPr/>
        </p:nvPicPr>
        <p:blipFill>
          <a:blip r:embed="rId2" cstate="print"/>
          <a:srcRect/>
          <a:stretch>
            <a:fillRect/>
          </a:stretch>
        </p:blipFill>
        <p:spPr bwMode="auto">
          <a:xfrm>
            <a:off x="102987" y="1600200"/>
            <a:ext cx="8938026" cy="3657600"/>
          </a:xfrm>
          <a:prstGeom prst="rect">
            <a:avLst/>
          </a:prstGeom>
          <a:noFill/>
          <a:ln w="9525">
            <a:noFill/>
            <a:miter lim="800000"/>
            <a:headEnd/>
            <a:tailEnd/>
          </a:ln>
          <a:effectLst/>
        </p:spPr>
      </p:pic>
    </p:spTree>
    <p:extLst>
      <p:ext uri="{BB962C8B-B14F-4D97-AF65-F5344CB8AC3E}">
        <p14:creationId xmlns:p14="http://schemas.microsoft.com/office/powerpoint/2010/main" val="3238087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ln/>
        </p:spPr>
        <p:txBody>
          <a:bodyPr/>
          <a:lstStyle/>
          <a:p>
            <a:r>
              <a:rPr lang="en-US" dirty="0"/>
              <a:t>Pre-attentive Processing</a:t>
            </a:r>
          </a:p>
        </p:txBody>
      </p:sp>
      <p:sp>
        <p:nvSpPr>
          <p:cNvPr id="278531" name="Rectangle 3"/>
          <p:cNvSpPr>
            <a:spLocks noGrp="1" noChangeArrowheads="1"/>
          </p:cNvSpPr>
          <p:nvPr>
            <p:ph sz="quarter" idx="1"/>
          </p:nvPr>
        </p:nvSpPr>
        <p:spPr/>
        <p:txBody>
          <a:bodyPr/>
          <a:lstStyle/>
          <a:p>
            <a:r>
              <a:rPr lang="en-US"/>
              <a:t>&lt; 200 - 250ms qualifies as pre-attentive</a:t>
            </a:r>
          </a:p>
          <a:p>
            <a:pPr lvl="1"/>
            <a:r>
              <a:rPr lang="en-US"/>
              <a:t>eye movements take at least 200ms</a:t>
            </a:r>
          </a:p>
          <a:p>
            <a:pPr lvl="1"/>
            <a:r>
              <a:rPr lang="en-US"/>
              <a:t>yet certain processing can be done very quickly, implying low-level processing in parallel</a:t>
            </a:r>
          </a:p>
          <a:p>
            <a:r>
              <a:rPr lang="en-US"/>
              <a:t>If a decision takes a fixed amount of time regardless of the number of distractors, it is considered to be preattentive.</a:t>
            </a:r>
          </a:p>
        </p:txBody>
      </p:sp>
    </p:spTree>
    <p:extLst>
      <p:ext uri="{BB962C8B-B14F-4D97-AF65-F5344CB8AC3E}">
        <p14:creationId xmlns:p14="http://schemas.microsoft.com/office/powerpoint/2010/main" val="3530646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sz="quarter" idx="1"/>
          </p:nvPr>
        </p:nvSpPr>
        <p:spPr>
          <a:xfrm>
            <a:off x="279978" y="267541"/>
            <a:ext cx="7645977" cy="431426"/>
          </a:xfrm>
          <a:noFill/>
        </p:spPr>
        <p:txBody>
          <a:bodyPr lIns="0" tIns="0" rIns="0" bIns="0"/>
          <a:lstStyle/>
          <a:p>
            <a:pPr marL="0" indent="0" defTabSz="397470">
              <a:spcBef>
                <a:spcPct val="0"/>
              </a:spcBef>
              <a:buClr>
                <a:srgbClr val="000080"/>
              </a:buClr>
              <a:buSzPct val="90000"/>
              <a:buNone/>
            </a:pPr>
            <a:r>
              <a:rPr lang="en-US" sz="2700" b="1" dirty="0">
                <a:solidFill>
                  <a:srgbClr val="000000"/>
                </a:solidFill>
                <a:latin typeface="Arial" pitchFamily="34" charset="0"/>
              </a:rPr>
              <a:t>Pop-Out in Visual Search</a:t>
            </a:r>
            <a:endParaRPr lang="en-US" dirty="0"/>
          </a:p>
        </p:txBody>
      </p:sp>
      <p:grpSp>
        <p:nvGrpSpPr>
          <p:cNvPr id="2" name="Group 81"/>
          <p:cNvGrpSpPr>
            <a:grpSpLocks/>
          </p:cNvGrpSpPr>
          <p:nvPr/>
        </p:nvGrpSpPr>
        <p:grpSpPr bwMode="auto">
          <a:xfrm>
            <a:off x="838200" y="1534365"/>
            <a:ext cx="1610591" cy="1916206"/>
            <a:chOff x="214" y="780"/>
            <a:chExt cx="1116" cy="1368"/>
          </a:xfrm>
        </p:grpSpPr>
        <p:sp>
          <p:nvSpPr>
            <p:cNvPr id="66631" name="AutoShape 4"/>
            <p:cNvSpPr>
              <a:spLocks noChangeArrowheads="1"/>
            </p:cNvSpPr>
            <p:nvPr/>
          </p:nvSpPr>
          <p:spPr bwMode="auto">
            <a:xfrm flipV="1">
              <a:off x="333" y="1043"/>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2" name="AutoShape 5"/>
            <p:cNvSpPr>
              <a:spLocks noChangeArrowheads="1"/>
            </p:cNvSpPr>
            <p:nvPr/>
          </p:nvSpPr>
          <p:spPr bwMode="auto">
            <a:xfrm flipV="1">
              <a:off x="689" y="780"/>
              <a:ext cx="115"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33" name="AutoShape 6"/>
            <p:cNvSpPr>
              <a:spLocks noChangeArrowheads="1"/>
            </p:cNvSpPr>
            <p:nvPr/>
          </p:nvSpPr>
          <p:spPr bwMode="auto">
            <a:xfrm flipV="1">
              <a:off x="972" y="1105"/>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4" name="Text Box 8"/>
            <p:cNvSpPr txBox="1">
              <a:spLocks noChangeArrowheads="1"/>
            </p:cNvSpPr>
            <p:nvPr/>
          </p:nvSpPr>
          <p:spPr bwMode="auto">
            <a:xfrm>
              <a:off x="214" y="1908"/>
              <a:ext cx="1116"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2 </a:t>
              </a:r>
              <a:r>
                <a:rPr lang="en-US" sz="2100" dirty="0" err="1">
                  <a:solidFill>
                    <a:srgbClr val="000000"/>
                  </a:solidFill>
                  <a:latin typeface="Arial" pitchFamily="34" charset="0"/>
                </a:rPr>
                <a:t>distractors</a:t>
              </a:r>
              <a:endParaRPr lang="en-US" sz="2200" dirty="0"/>
            </a:p>
          </p:txBody>
        </p:sp>
      </p:grpSp>
      <p:grpSp>
        <p:nvGrpSpPr>
          <p:cNvPr id="3" name="Group 80"/>
          <p:cNvGrpSpPr>
            <a:grpSpLocks/>
          </p:cNvGrpSpPr>
          <p:nvPr/>
        </p:nvGrpSpPr>
        <p:grpSpPr bwMode="auto">
          <a:xfrm>
            <a:off x="3002973" y="1255619"/>
            <a:ext cx="1741921" cy="2194952"/>
            <a:chOff x="1714" y="581"/>
            <a:chExt cx="1207" cy="1567"/>
          </a:xfrm>
        </p:grpSpPr>
        <p:sp>
          <p:nvSpPr>
            <p:cNvPr id="66624" name="AutoShape 10"/>
            <p:cNvSpPr>
              <a:spLocks noChangeArrowheads="1"/>
            </p:cNvSpPr>
            <p:nvPr/>
          </p:nvSpPr>
          <p:spPr bwMode="auto">
            <a:xfrm flipV="1">
              <a:off x="1714" y="1199"/>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5" name="AutoShape 11"/>
            <p:cNvSpPr>
              <a:spLocks noChangeArrowheads="1"/>
            </p:cNvSpPr>
            <p:nvPr/>
          </p:nvSpPr>
          <p:spPr bwMode="auto">
            <a:xfrm flipV="1">
              <a:off x="2071" y="760"/>
              <a:ext cx="115"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26" name="AutoShape 12"/>
            <p:cNvSpPr>
              <a:spLocks noChangeArrowheads="1"/>
            </p:cNvSpPr>
            <p:nvPr/>
          </p:nvSpPr>
          <p:spPr bwMode="auto">
            <a:xfrm flipV="1">
              <a:off x="1746" y="581"/>
              <a:ext cx="116"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7" name="AutoShape 13"/>
            <p:cNvSpPr>
              <a:spLocks noChangeArrowheads="1"/>
            </p:cNvSpPr>
            <p:nvPr/>
          </p:nvSpPr>
          <p:spPr bwMode="auto">
            <a:xfrm flipV="1">
              <a:off x="2081" y="1366"/>
              <a:ext cx="116"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8" name="AutoShape 14"/>
            <p:cNvSpPr>
              <a:spLocks noChangeArrowheads="1"/>
            </p:cNvSpPr>
            <p:nvPr/>
          </p:nvSpPr>
          <p:spPr bwMode="auto">
            <a:xfrm flipV="1">
              <a:off x="2426" y="706"/>
              <a:ext cx="116"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9" name="AutoShape 15"/>
            <p:cNvSpPr>
              <a:spLocks noChangeArrowheads="1"/>
            </p:cNvSpPr>
            <p:nvPr/>
          </p:nvSpPr>
          <p:spPr bwMode="auto">
            <a:xfrm flipV="1">
              <a:off x="2511" y="1314"/>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30" name="Text Box 17"/>
            <p:cNvSpPr txBox="1">
              <a:spLocks noChangeArrowheads="1"/>
            </p:cNvSpPr>
            <p:nvPr/>
          </p:nvSpPr>
          <p:spPr bwMode="auto">
            <a:xfrm>
              <a:off x="1806" y="1908"/>
              <a:ext cx="1115"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5 </a:t>
              </a:r>
              <a:r>
                <a:rPr lang="en-US" sz="2100" dirty="0" err="1">
                  <a:solidFill>
                    <a:srgbClr val="000000"/>
                  </a:solidFill>
                  <a:latin typeface="Arial" pitchFamily="34" charset="0"/>
                </a:rPr>
                <a:t>distractors</a:t>
              </a:r>
              <a:endParaRPr lang="en-US" sz="2200" dirty="0"/>
            </a:p>
          </p:txBody>
        </p:sp>
      </p:grpSp>
      <p:grpSp>
        <p:nvGrpSpPr>
          <p:cNvPr id="4" name="Group 79"/>
          <p:cNvGrpSpPr>
            <a:grpSpLocks/>
          </p:cNvGrpSpPr>
          <p:nvPr/>
        </p:nvGrpSpPr>
        <p:grpSpPr bwMode="auto">
          <a:xfrm>
            <a:off x="5359689" y="1275230"/>
            <a:ext cx="2554432" cy="2136121"/>
            <a:chOff x="3347" y="623"/>
            <a:chExt cx="1770" cy="1525"/>
          </a:xfrm>
        </p:grpSpPr>
        <p:sp>
          <p:nvSpPr>
            <p:cNvPr id="66612" name="AutoShape 19"/>
            <p:cNvSpPr>
              <a:spLocks noChangeArrowheads="1"/>
            </p:cNvSpPr>
            <p:nvPr/>
          </p:nvSpPr>
          <p:spPr bwMode="auto">
            <a:xfrm flipV="1">
              <a:off x="3347" y="1242"/>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3" name="AutoShape 20"/>
            <p:cNvSpPr>
              <a:spLocks noChangeArrowheads="1"/>
            </p:cNvSpPr>
            <p:nvPr/>
          </p:nvSpPr>
          <p:spPr bwMode="auto">
            <a:xfrm flipV="1">
              <a:off x="3703" y="802"/>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4" name="AutoShape 21"/>
            <p:cNvSpPr>
              <a:spLocks noChangeArrowheads="1"/>
            </p:cNvSpPr>
            <p:nvPr/>
          </p:nvSpPr>
          <p:spPr bwMode="auto">
            <a:xfrm flipV="1">
              <a:off x="3379" y="623"/>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5" name="AutoShape 22"/>
            <p:cNvSpPr>
              <a:spLocks noChangeArrowheads="1"/>
            </p:cNvSpPr>
            <p:nvPr/>
          </p:nvSpPr>
          <p:spPr bwMode="auto">
            <a:xfrm flipV="1">
              <a:off x="3714" y="1409"/>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6" name="AutoShape 23"/>
            <p:cNvSpPr>
              <a:spLocks noChangeArrowheads="1"/>
            </p:cNvSpPr>
            <p:nvPr/>
          </p:nvSpPr>
          <p:spPr bwMode="auto">
            <a:xfrm flipV="1">
              <a:off x="4059" y="748"/>
              <a:ext cx="115" cy="441"/>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7" name="AutoShape 24"/>
            <p:cNvSpPr>
              <a:spLocks noChangeArrowheads="1"/>
            </p:cNvSpPr>
            <p:nvPr/>
          </p:nvSpPr>
          <p:spPr bwMode="auto">
            <a:xfrm flipV="1">
              <a:off x="4143" y="1356"/>
              <a:ext cx="116"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18" name="AutoShape 25"/>
            <p:cNvSpPr>
              <a:spLocks noChangeArrowheads="1"/>
            </p:cNvSpPr>
            <p:nvPr/>
          </p:nvSpPr>
          <p:spPr bwMode="auto">
            <a:xfrm flipV="1">
              <a:off x="4341" y="1242"/>
              <a:ext cx="116" cy="440"/>
            </a:xfrm>
            <a:prstGeom prst="roundRect">
              <a:avLst>
                <a:gd name="adj" fmla="val 0"/>
              </a:avLst>
            </a:prstGeom>
            <a:solidFill>
              <a:srgbClr val="0000FF"/>
            </a:solidFill>
            <a:ln w="18485">
              <a:solidFill>
                <a:srgbClr val="0000FF"/>
              </a:solidFill>
              <a:round/>
              <a:headEnd/>
              <a:tailEnd/>
            </a:ln>
          </p:spPr>
          <p:txBody>
            <a:bodyPr wrap="none" anchor="ctr"/>
            <a:lstStyle/>
            <a:p>
              <a:endParaRPr lang="en-US"/>
            </a:p>
          </p:txBody>
        </p:sp>
        <p:sp>
          <p:nvSpPr>
            <p:cNvPr id="66619" name="AutoShape 26"/>
            <p:cNvSpPr>
              <a:spLocks noChangeArrowheads="1"/>
            </p:cNvSpPr>
            <p:nvPr/>
          </p:nvSpPr>
          <p:spPr bwMode="auto">
            <a:xfrm flipV="1">
              <a:off x="4541" y="707"/>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0" name="AutoShape 27"/>
            <p:cNvSpPr>
              <a:spLocks noChangeArrowheads="1"/>
            </p:cNvSpPr>
            <p:nvPr/>
          </p:nvSpPr>
          <p:spPr bwMode="auto">
            <a:xfrm flipV="1">
              <a:off x="4981" y="634"/>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1" name="AutoShape 28"/>
            <p:cNvSpPr>
              <a:spLocks noChangeArrowheads="1"/>
            </p:cNvSpPr>
            <p:nvPr/>
          </p:nvSpPr>
          <p:spPr bwMode="auto">
            <a:xfrm flipV="1">
              <a:off x="4709" y="1409"/>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2" name="AutoShape 29"/>
            <p:cNvSpPr>
              <a:spLocks noChangeArrowheads="1"/>
            </p:cNvSpPr>
            <p:nvPr/>
          </p:nvSpPr>
          <p:spPr bwMode="auto">
            <a:xfrm flipV="1">
              <a:off x="5002" y="1231"/>
              <a:ext cx="115" cy="440"/>
            </a:xfrm>
            <a:prstGeom prst="roundRect">
              <a:avLst>
                <a:gd name="adj" fmla="val 0"/>
              </a:avLst>
            </a:prstGeom>
            <a:solidFill>
              <a:srgbClr val="FF1313"/>
            </a:solidFill>
            <a:ln w="18485">
              <a:solidFill>
                <a:srgbClr val="000000"/>
              </a:solidFill>
              <a:round/>
              <a:headEnd/>
              <a:tailEnd/>
            </a:ln>
          </p:spPr>
          <p:txBody>
            <a:bodyPr wrap="none" anchor="ctr"/>
            <a:lstStyle/>
            <a:p>
              <a:endParaRPr lang="en-US"/>
            </a:p>
          </p:txBody>
        </p:sp>
        <p:sp>
          <p:nvSpPr>
            <p:cNvPr id="66623" name="Text Box 31"/>
            <p:cNvSpPr txBox="1">
              <a:spLocks noChangeArrowheads="1"/>
            </p:cNvSpPr>
            <p:nvPr/>
          </p:nvSpPr>
          <p:spPr bwMode="auto">
            <a:xfrm>
              <a:off x="3680" y="1908"/>
              <a:ext cx="1228" cy="240"/>
            </a:xfrm>
            <a:prstGeom prst="rect">
              <a:avLst/>
            </a:prstGeom>
            <a:noFill/>
            <a:ln w="9525">
              <a:noFill/>
              <a:miter lim="800000"/>
              <a:headEnd/>
              <a:tailEnd/>
            </a:ln>
          </p:spPr>
          <p:txBody>
            <a:bodyPr lIns="0" tIns="0" rIns="0" bIns="0"/>
            <a:lstStyle/>
            <a:p>
              <a:pPr defTabSz="397470">
                <a:buClr>
                  <a:srgbClr val="000080"/>
                </a:buClr>
                <a:buSzPct val="90000"/>
              </a:pPr>
              <a:r>
                <a:rPr lang="en-US" sz="2100" dirty="0">
                  <a:solidFill>
                    <a:srgbClr val="000000"/>
                  </a:solidFill>
                  <a:latin typeface="Arial" pitchFamily="34" charset="0"/>
                </a:rPr>
                <a:t>10 </a:t>
              </a:r>
              <a:r>
                <a:rPr lang="en-US" sz="2100" dirty="0" err="1">
                  <a:solidFill>
                    <a:srgbClr val="000000"/>
                  </a:solidFill>
                  <a:latin typeface="Arial" pitchFamily="34" charset="0"/>
                </a:rPr>
                <a:t>distractors</a:t>
              </a:r>
              <a:endParaRPr lang="en-US" sz="2200" dirty="0"/>
            </a:p>
          </p:txBody>
        </p:sp>
      </p:grpSp>
      <p:grpSp>
        <p:nvGrpSpPr>
          <p:cNvPr id="5" name="Group 36"/>
          <p:cNvGrpSpPr>
            <a:grpSpLocks/>
          </p:cNvGrpSpPr>
          <p:nvPr/>
        </p:nvGrpSpPr>
        <p:grpSpPr bwMode="auto">
          <a:xfrm>
            <a:off x="884382" y="3958197"/>
            <a:ext cx="1368136" cy="826434"/>
            <a:chOff x="246" y="2244"/>
            <a:chExt cx="948" cy="590"/>
          </a:xfrm>
        </p:grpSpPr>
        <p:sp>
          <p:nvSpPr>
            <p:cNvPr id="66609" name="Text Box 33"/>
            <p:cNvSpPr txBox="1">
              <a:spLocks noChangeArrowheads="1"/>
            </p:cNvSpPr>
            <p:nvPr/>
          </p:nvSpPr>
          <p:spPr bwMode="auto">
            <a:xfrm>
              <a:off x="572" y="248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10" name="Text Box 34"/>
            <p:cNvSpPr txBox="1">
              <a:spLocks noChangeArrowheads="1"/>
            </p:cNvSpPr>
            <p:nvPr/>
          </p:nvSpPr>
          <p:spPr bwMode="auto">
            <a:xfrm>
              <a:off x="246" y="2244"/>
              <a:ext cx="214"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611" name="Text Box 35"/>
            <p:cNvSpPr txBox="1">
              <a:spLocks noChangeArrowheads="1"/>
            </p:cNvSpPr>
            <p:nvPr/>
          </p:nvSpPr>
          <p:spPr bwMode="auto">
            <a:xfrm>
              <a:off x="1011" y="2526"/>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6" name="Group 43"/>
          <p:cNvGrpSpPr>
            <a:grpSpLocks/>
          </p:cNvGrpSpPr>
          <p:nvPr/>
        </p:nvGrpSpPr>
        <p:grpSpPr bwMode="auto">
          <a:xfrm>
            <a:off x="3258417" y="3914775"/>
            <a:ext cx="1409988" cy="1165412"/>
            <a:chOff x="1891" y="2213"/>
            <a:chExt cx="977" cy="832"/>
          </a:xfrm>
        </p:grpSpPr>
        <p:sp>
          <p:nvSpPr>
            <p:cNvPr id="66603" name="Text Box 37"/>
            <p:cNvSpPr txBox="1">
              <a:spLocks noChangeArrowheads="1"/>
            </p:cNvSpPr>
            <p:nvPr/>
          </p:nvSpPr>
          <p:spPr bwMode="auto">
            <a:xfrm>
              <a:off x="1974" y="2213"/>
              <a:ext cx="184"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4" name="Text Box 38"/>
            <p:cNvSpPr txBox="1">
              <a:spLocks noChangeArrowheads="1"/>
            </p:cNvSpPr>
            <p:nvPr/>
          </p:nvSpPr>
          <p:spPr bwMode="auto">
            <a:xfrm>
              <a:off x="2225" y="2401"/>
              <a:ext cx="21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605" name="Text Box 39"/>
            <p:cNvSpPr txBox="1">
              <a:spLocks noChangeArrowheads="1"/>
            </p:cNvSpPr>
            <p:nvPr/>
          </p:nvSpPr>
          <p:spPr bwMode="auto">
            <a:xfrm>
              <a:off x="2487" y="225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6" name="Text Box 40"/>
            <p:cNvSpPr txBox="1">
              <a:spLocks noChangeArrowheads="1"/>
            </p:cNvSpPr>
            <p:nvPr/>
          </p:nvSpPr>
          <p:spPr bwMode="auto">
            <a:xfrm>
              <a:off x="1891" y="2643"/>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7" name="Text Box 41"/>
            <p:cNvSpPr txBox="1">
              <a:spLocks noChangeArrowheads="1"/>
            </p:cNvSpPr>
            <p:nvPr/>
          </p:nvSpPr>
          <p:spPr bwMode="auto">
            <a:xfrm>
              <a:off x="2686" y="2496"/>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8" name="Text Box 42"/>
            <p:cNvSpPr txBox="1">
              <a:spLocks noChangeArrowheads="1"/>
            </p:cNvSpPr>
            <p:nvPr/>
          </p:nvSpPr>
          <p:spPr bwMode="auto">
            <a:xfrm>
              <a:off x="2215" y="2737"/>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7" name="Group 55"/>
          <p:cNvGrpSpPr>
            <a:grpSpLocks/>
          </p:cNvGrpSpPr>
          <p:nvPr/>
        </p:nvGrpSpPr>
        <p:grpSpPr bwMode="auto">
          <a:xfrm>
            <a:off x="5918200" y="3914775"/>
            <a:ext cx="2033444" cy="1516996"/>
            <a:chOff x="3734" y="2213"/>
            <a:chExt cx="1409" cy="1083"/>
          </a:xfrm>
        </p:grpSpPr>
        <p:sp>
          <p:nvSpPr>
            <p:cNvPr id="66592" name="Text Box 44"/>
            <p:cNvSpPr txBox="1">
              <a:spLocks noChangeArrowheads="1"/>
            </p:cNvSpPr>
            <p:nvPr/>
          </p:nvSpPr>
          <p:spPr bwMode="auto">
            <a:xfrm>
              <a:off x="4407" y="2213"/>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3" name="Text Box 45"/>
            <p:cNvSpPr txBox="1">
              <a:spLocks noChangeArrowheads="1"/>
            </p:cNvSpPr>
            <p:nvPr/>
          </p:nvSpPr>
          <p:spPr bwMode="auto">
            <a:xfrm>
              <a:off x="4658" y="2401"/>
              <a:ext cx="212"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O</a:t>
              </a:r>
              <a:endParaRPr lang="en-US" sz="2200" dirty="0"/>
            </a:p>
          </p:txBody>
        </p:sp>
        <p:sp>
          <p:nvSpPr>
            <p:cNvPr id="66594" name="Text Box 46"/>
            <p:cNvSpPr txBox="1">
              <a:spLocks noChangeArrowheads="1"/>
            </p:cNvSpPr>
            <p:nvPr/>
          </p:nvSpPr>
          <p:spPr bwMode="auto">
            <a:xfrm>
              <a:off x="4919" y="2255"/>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5" name="Text Box 47"/>
            <p:cNvSpPr txBox="1">
              <a:spLocks noChangeArrowheads="1"/>
            </p:cNvSpPr>
            <p:nvPr/>
          </p:nvSpPr>
          <p:spPr bwMode="auto">
            <a:xfrm>
              <a:off x="4323" y="2643"/>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6" name="Text Box 48"/>
            <p:cNvSpPr txBox="1">
              <a:spLocks noChangeArrowheads="1"/>
            </p:cNvSpPr>
            <p:nvPr/>
          </p:nvSpPr>
          <p:spPr bwMode="auto">
            <a:xfrm>
              <a:off x="4960" y="2716"/>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7" name="Text Box 49"/>
            <p:cNvSpPr txBox="1">
              <a:spLocks noChangeArrowheads="1"/>
            </p:cNvSpPr>
            <p:nvPr/>
          </p:nvSpPr>
          <p:spPr bwMode="auto">
            <a:xfrm>
              <a:off x="4647" y="2737"/>
              <a:ext cx="183" cy="308"/>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8" name="Text Box 50"/>
            <p:cNvSpPr txBox="1">
              <a:spLocks noChangeArrowheads="1"/>
            </p:cNvSpPr>
            <p:nvPr/>
          </p:nvSpPr>
          <p:spPr bwMode="auto">
            <a:xfrm>
              <a:off x="4081" y="2841"/>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599" name="Text Box 51"/>
            <p:cNvSpPr txBox="1">
              <a:spLocks noChangeArrowheads="1"/>
            </p:cNvSpPr>
            <p:nvPr/>
          </p:nvSpPr>
          <p:spPr bwMode="auto">
            <a:xfrm>
              <a:off x="3881" y="2255"/>
              <a:ext cx="182"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0" name="Text Box 52"/>
            <p:cNvSpPr txBox="1">
              <a:spLocks noChangeArrowheads="1"/>
            </p:cNvSpPr>
            <p:nvPr/>
          </p:nvSpPr>
          <p:spPr bwMode="auto">
            <a:xfrm>
              <a:off x="4405" y="2989"/>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1" name="Text Box 53"/>
            <p:cNvSpPr txBox="1">
              <a:spLocks noChangeArrowheads="1"/>
            </p:cNvSpPr>
            <p:nvPr/>
          </p:nvSpPr>
          <p:spPr bwMode="auto">
            <a:xfrm>
              <a:off x="4079" y="2496"/>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sp>
          <p:nvSpPr>
            <p:cNvPr id="66602" name="Text Box 54"/>
            <p:cNvSpPr txBox="1">
              <a:spLocks noChangeArrowheads="1"/>
            </p:cNvSpPr>
            <p:nvPr/>
          </p:nvSpPr>
          <p:spPr bwMode="auto">
            <a:xfrm>
              <a:off x="3734" y="2528"/>
              <a:ext cx="183"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0000FF"/>
                  </a:solidFill>
                  <a:latin typeface="Arial" pitchFamily="34" charset="0"/>
                </a:rPr>
                <a:t>V</a:t>
              </a:r>
              <a:endParaRPr lang="en-US" sz="2200" dirty="0"/>
            </a:p>
          </p:txBody>
        </p:sp>
      </p:grpSp>
      <p:grpSp>
        <p:nvGrpSpPr>
          <p:cNvPr id="8" name="Group 59"/>
          <p:cNvGrpSpPr>
            <a:grpSpLocks/>
          </p:cNvGrpSpPr>
          <p:nvPr/>
        </p:nvGrpSpPr>
        <p:grpSpPr bwMode="auto">
          <a:xfrm>
            <a:off x="944996" y="5983101"/>
            <a:ext cx="1238250" cy="620526"/>
            <a:chOff x="278" y="3600"/>
            <a:chExt cx="858" cy="443"/>
          </a:xfrm>
        </p:grpSpPr>
        <p:sp>
          <p:nvSpPr>
            <p:cNvPr id="66589" name="Text Box 56"/>
            <p:cNvSpPr txBox="1">
              <a:spLocks noChangeArrowheads="1"/>
            </p:cNvSpPr>
            <p:nvPr/>
          </p:nvSpPr>
          <p:spPr bwMode="auto">
            <a:xfrm>
              <a:off x="581" y="3612"/>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90" name="Text Box 57"/>
            <p:cNvSpPr txBox="1">
              <a:spLocks noChangeArrowheads="1"/>
            </p:cNvSpPr>
            <p:nvPr/>
          </p:nvSpPr>
          <p:spPr bwMode="auto">
            <a:xfrm>
              <a:off x="968" y="3600"/>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91" name="Text Box 58"/>
            <p:cNvSpPr txBox="1">
              <a:spLocks noChangeArrowheads="1"/>
            </p:cNvSpPr>
            <p:nvPr/>
          </p:nvSpPr>
          <p:spPr bwMode="auto">
            <a:xfrm>
              <a:off x="278" y="3737"/>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grpSp>
        <p:nvGrpSpPr>
          <p:cNvPr id="9" name="Group 66"/>
          <p:cNvGrpSpPr>
            <a:grpSpLocks/>
          </p:cNvGrpSpPr>
          <p:nvPr/>
        </p:nvGrpSpPr>
        <p:grpSpPr bwMode="auto">
          <a:xfrm>
            <a:off x="3023178" y="5781395"/>
            <a:ext cx="1464830" cy="972110"/>
            <a:chOff x="1733" y="3496"/>
            <a:chExt cx="1015" cy="694"/>
          </a:xfrm>
        </p:grpSpPr>
        <p:sp>
          <p:nvSpPr>
            <p:cNvPr id="66583" name="Text Box 60"/>
            <p:cNvSpPr txBox="1">
              <a:spLocks noChangeArrowheads="1"/>
            </p:cNvSpPr>
            <p:nvPr/>
          </p:nvSpPr>
          <p:spPr bwMode="auto">
            <a:xfrm>
              <a:off x="2037" y="3496"/>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4" name="Text Box 61"/>
            <p:cNvSpPr txBox="1">
              <a:spLocks noChangeArrowheads="1"/>
            </p:cNvSpPr>
            <p:nvPr/>
          </p:nvSpPr>
          <p:spPr bwMode="auto">
            <a:xfrm>
              <a:off x="1879" y="3883"/>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85" name="Text Box 62"/>
            <p:cNvSpPr txBox="1">
              <a:spLocks noChangeArrowheads="1"/>
            </p:cNvSpPr>
            <p:nvPr/>
          </p:nvSpPr>
          <p:spPr bwMode="auto">
            <a:xfrm>
              <a:off x="1733" y="3622"/>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6" name="Text Box 63"/>
            <p:cNvSpPr txBox="1">
              <a:spLocks noChangeArrowheads="1"/>
            </p:cNvSpPr>
            <p:nvPr/>
          </p:nvSpPr>
          <p:spPr bwMode="auto">
            <a:xfrm>
              <a:off x="2235" y="3842"/>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7" name="Text Box 64"/>
            <p:cNvSpPr txBox="1">
              <a:spLocks noChangeArrowheads="1"/>
            </p:cNvSpPr>
            <p:nvPr/>
          </p:nvSpPr>
          <p:spPr bwMode="auto">
            <a:xfrm>
              <a:off x="2580" y="3810"/>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8" name="Text Box 65"/>
            <p:cNvSpPr txBox="1">
              <a:spLocks noChangeArrowheads="1"/>
            </p:cNvSpPr>
            <p:nvPr/>
          </p:nvSpPr>
          <p:spPr bwMode="auto">
            <a:xfrm>
              <a:off x="2413" y="3548"/>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grpSp>
        <p:nvGrpSpPr>
          <p:cNvPr id="10" name="Group 78"/>
          <p:cNvGrpSpPr>
            <a:grpSpLocks/>
          </p:cNvGrpSpPr>
          <p:nvPr/>
        </p:nvGrpSpPr>
        <p:grpSpPr bwMode="auto">
          <a:xfrm>
            <a:off x="6140450" y="5579689"/>
            <a:ext cx="1812636" cy="1354511"/>
            <a:chOff x="3909" y="3579"/>
            <a:chExt cx="1256" cy="967"/>
          </a:xfrm>
        </p:grpSpPr>
        <p:sp>
          <p:nvSpPr>
            <p:cNvPr id="66572" name="Text Box 67"/>
            <p:cNvSpPr txBox="1">
              <a:spLocks noChangeArrowheads="1"/>
            </p:cNvSpPr>
            <p:nvPr/>
          </p:nvSpPr>
          <p:spPr bwMode="auto">
            <a:xfrm>
              <a:off x="4235" y="3579"/>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3" name="Text Box 68"/>
            <p:cNvSpPr txBox="1">
              <a:spLocks noChangeArrowheads="1"/>
            </p:cNvSpPr>
            <p:nvPr/>
          </p:nvSpPr>
          <p:spPr bwMode="auto">
            <a:xfrm>
              <a:off x="3931" y="3705"/>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4" name="Text Box 69"/>
            <p:cNvSpPr txBox="1">
              <a:spLocks noChangeArrowheads="1"/>
            </p:cNvSpPr>
            <p:nvPr/>
          </p:nvSpPr>
          <p:spPr bwMode="auto">
            <a:xfrm>
              <a:off x="3909" y="4062"/>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5" name="Text Box 70"/>
            <p:cNvSpPr txBox="1">
              <a:spLocks noChangeArrowheads="1"/>
            </p:cNvSpPr>
            <p:nvPr/>
          </p:nvSpPr>
          <p:spPr bwMode="auto">
            <a:xfrm>
              <a:off x="4778" y="3893"/>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6" name="Text Box 71"/>
            <p:cNvSpPr txBox="1">
              <a:spLocks noChangeArrowheads="1"/>
            </p:cNvSpPr>
            <p:nvPr/>
          </p:nvSpPr>
          <p:spPr bwMode="auto">
            <a:xfrm>
              <a:off x="4611" y="3631"/>
              <a:ext cx="167"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7" name="Text Box 72"/>
            <p:cNvSpPr txBox="1">
              <a:spLocks noChangeArrowheads="1"/>
            </p:cNvSpPr>
            <p:nvPr/>
          </p:nvSpPr>
          <p:spPr bwMode="auto">
            <a:xfrm>
              <a:off x="4129" y="4240"/>
              <a:ext cx="168"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78" name="Text Box 73"/>
            <p:cNvSpPr txBox="1">
              <a:spLocks noChangeArrowheads="1"/>
            </p:cNvSpPr>
            <p:nvPr/>
          </p:nvSpPr>
          <p:spPr bwMode="auto">
            <a:xfrm>
              <a:off x="4161" y="3893"/>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L</a:t>
              </a:r>
              <a:endParaRPr lang="en-US" sz="2200" dirty="0"/>
            </a:p>
          </p:txBody>
        </p:sp>
        <p:sp>
          <p:nvSpPr>
            <p:cNvPr id="66579" name="Text Box 74"/>
            <p:cNvSpPr txBox="1">
              <a:spLocks noChangeArrowheads="1"/>
            </p:cNvSpPr>
            <p:nvPr/>
          </p:nvSpPr>
          <p:spPr bwMode="auto">
            <a:xfrm>
              <a:off x="4381" y="3935"/>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0" name="Text Box 75"/>
            <p:cNvSpPr txBox="1">
              <a:spLocks noChangeArrowheads="1"/>
            </p:cNvSpPr>
            <p:nvPr/>
          </p:nvSpPr>
          <p:spPr bwMode="auto">
            <a:xfrm>
              <a:off x="4998" y="3706"/>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1" name="Text Box 76"/>
            <p:cNvSpPr txBox="1">
              <a:spLocks noChangeArrowheads="1"/>
            </p:cNvSpPr>
            <p:nvPr/>
          </p:nvSpPr>
          <p:spPr bwMode="auto">
            <a:xfrm>
              <a:off x="4935" y="4176"/>
              <a:ext cx="167" cy="306"/>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sp>
          <p:nvSpPr>
            <p:cNvPr id="66582" name="Text Box 77"/>
            <p:cNvSpPr txBox="1">
              <a:spLocks noChangeArrowheads="1"/>
            </p:cNvSpPr>
            <p:nvPr/>
          </p:nvSpPr>
          <p:spPr bwMode="auto">
            <a:xfrm>
              <a:off x="4569" y="4176"/>
              <a:ext cx="168" cy="307"/>
            </a:xfrm>
            <a:prstGeom prst="rect">
              <a:avLst/>
            </a:prstGeom>
            <a:noFill/>
            <a:ln w="9525">
              <a:noFill/>
              <a:miter lim="800000"/>
              <a:headEnd/>
              <a:tailEnd/>
            </a:ln>
          </p:spPr>
          <p:txBody>
            <a:bodyPr lIns="0" tIns="0" rIns="0" bIns="0"/>
            <a:lstStyle/>
            <a:p>
              <a:pPr defTabSz="397470">
                <a:buClr>
                  <a:srgbClr val="000080"/>
                </a:buClr>
                <a:buSzPct val="90000"/>
              </a:pPr>
              <a:r>
                <a:rPr lang="en-US" sz="2700" dirty="0">
                  <a:solidFill>
                    <a:srgbClr val="4000A2"/>
                  </a:solidFill>
                  <a:latin typeface="Arial" pitchFamily="34" charset="0"/>
                </a:rPr>
                <a:t>T</a:t>
              </a:r>
              <a:endParaRPr lang="en-US" sz="2200" dirty="0"/>
            </a:p>
          </p:txBody>
        </p:sp>
      </p:grpSp>
    </p:spTree>
    <p:extLst>
      <p:ext uri="{BB962C8B-B14F-4D97-AF65-F5344CB8AC3E}">
        <p14:creationId xmlns:p14="http://schemas.microsoft.com/office/powerpoint/2010/main" val="446623985"/>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r>
              <a:rPr lang="en-US" dirty="0"/>
              <a:t>Example:  Color Selection</a:t>
            </a:r>
          </a:p>
        </p:txBody>
      </p:sp>
      <p:pic>
        <p:nvPicPr>
          <p:cNvPr id="276483" name="Picture 3" descr="G:\is247\admin\images\healy1.gif"/>
          <p:cNvPicPr>
            <a:picLocks noChangeAspect="1" noChangeArrowheads="1"/>
          </p:cNvPicPr>
          <p:nvPr/>
        </p:nvPicPr>
        <p:blipFill>
          <a:blip r:embed="rId2" cstate="print"/>
          <a:srcRect/>
          <a:stretch>
            <a:fillRect/>
          </a:stretch>
        </p:blipFill>
        <p:spPr bwMode="auto">
          <a:xfrm>
            <a:off x="990600" y="2057400"/>
            <a:ext cx="3019425" cy="2325688"/>
          </a:xfrm>
          <a:prstGeom prst="rect">
            <a:avLst/>
          </a:prstGeom>
          <a:noFill/>
        </p:spPr>
      </p:pic>
      <p:pic>
        <p:nvPicPr>
          <p:cNvPr id="276484" name="Picture 4" descr="G:\is247\admin\images\healey2.gif"/>
          <p:cNvPicPr>
            <a:picLocks noChangeAspect="1" noChangeArrowheads="1"/>
          </p:cNvPicPr>
          <p:nvPr/>
        </p:nvPicPr>
        <p:blipFill>
          <a:blip r:embed="rId3" cstate="print"/>
          <a:srcRect/>
          <a:stretch>
            <a:fillRect/>
          </a:stretch>
        </p:blipFill>
        <p:spPr bwMode="auto">
          <a:xfrm>
            <a:off x="5257800" y="2057400"/>
            <a:ext cx="3019425" cy="2325688"/>
          </a:xfrm>
          <a:prstGeom prst="rect">
            <a:avLst/>
          </a:prstGeom>
          <a:noFill/>
        </p:spPr>
      </p:pic>
      <p:sp>
        <p:nvSpPr>
          <p:cNvPr id="276485" name="Text Box 5"/>
          <p:cNvSpPr txBox="1">
            <a:spLocks noChangeArrowheads="1"/>
          </p:cNvSpPr>
          <p:nvPr/>
        </p:nvSpPr>
        <p:spPr bwMode="auto">
          <a:xfrm>
            <a:off x="1371600" y="4648200"/>
            <a:ext cx="6305550" cy="1196975"/>
          </a:xfrm>
          <a:prstGeom prst="rect">
            <a:avLst/>
          </a:prstGeom>
          <a:noFill/>
          <a:ln w="9525">
            <a:solidFill>
              <a:schemeClr val="tx1"/>
            </a:solidFill>
            <a:miter lim="800000"/>
            <a:headEnd/>
            <a:tailEnd/>
          </a:ln>
          <a:effectLst/>
        </p:spPr>
        <p:txBody>
          <a:bodyPr wrap="none">
            <a:spAutoFit/>
          </a:bodyPr>
          <a:lstStyle/>
          <a:p>
            <a:pPr eaLnBrk="0" hangingPunct="0"/>
            <a:r>
              <a:rPr lang="en-US"/>
              <a:t>Viewer can rapidly and accurately determine</a:t>
            </a:r>
          </a:p>
          <a:p>
            <a:pPr eaLnBrk="0" hangingPunct="0"/>
            <a:r>
              <a:rPr lang="en-US"/>
              <a:t>whether the target (red circle) is present or absent.</a:t>
            </a:r>
          </a:p>
          <a:p>
            <a:pPr eaLnBrk="0" hangingPunct="0"/>
            <a:r>
              <a:rPr lang="en-US"/>
              <a:t>Difference detected in color.</a:t>
            </a:r>
          </a:p>
        </p:txBody>
      </p:sp>
    </p:spTree>
    <p:extLst>
      <p:ext uri="{BB962C8B-B14F-4D97-AF65-F5344CB8AC3E}">
        <p14:creationId xmlns:p14="http://schemas.microsoft.com/office/powerpoint/2010/main" val="1720800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533400" y="533400"/>
            <a:ext cx="7772400" cy="990600"/>
          </a:xfrm>
        </p:spPr>
        <p:txBody>
          <a:bodyPr/>
          <a:lstStyle/>
          <a:p>
            <a:r>
              <a:rPr lang="en-US"/>
              <a:t>Example: Shape Selection</a:t>
            </a:r>
          </a:p>
        </p:txBody>
      </p:sp>
      <p:pic>
        <p:nvPicPr>
          <p:cNvPr id="277507" name="Picture 3" descr="G:\is247\admin\images\healey3.gif"/>
          <p:cNvPicPr>
            <a:picLocks noChangeAspect="1" noChangeArrowheads="1"/>
          </p:cNvPicPr>
          <p:nvPr/>
        </p:nvPicPr>
        <p:blipFill>
          <a:blip r:embed="rId2" cstate="print"/>
          <a:srcRect/>
          <a:stretch>
            <a:fillRect/>
          </a:stretch>
        </p:blipFill>
        <p:spPr bwMode="auto">
          <a:xfrm>
            <a:off x="914400" y="1916113"/>
            <a:ext cx="2867025" cy="2208212"/>
          </a:xfrm>
          <a:prstGeom prst="rect">
            <a:avLst/>
          </a:prstGeom>
          <a:noFill/>
        </p:spPr>
      </p:pic>
      <p:pic>
        <p:nvPicPr>
          <p:cNvPr id="277508" name="Picture 4" descr="G:\is247\admin\images\healey4.gif"/>
          <p:cNvPicPr>
            <a:picLocks noChangeAspect="1" noChangeArrowheads="1"/>
          </p:cNvPicPr>
          <p:nvPr/>
        </p:nvPicPr>
        <p:blipFill>
          <a:blip r:embed="rId3" cstate="print"/>
          <a:srcRect/>
          <a:stretch>
            <a:fillRect/>
          </a:stretch>
        </p:blipFill>
        <p:spPr bwMode="auto">
          <a:xfrm>
            <a:off x="5029200" y="1905000"/>
            <a:ext cx="2867025" cy="2208213"/>
          </a:xfrm>
          <a:prstGeom prst="rect">
            <a:avLst/>
          </a:prstGeom>
          <a:noFill/>
        </p:spPr>
      </p:pic>
      <p:sp>
        <p:nvSpPr>
          <p:cNvPr id="277509" name="Text Box 5"/>
          <p:cNvSpPr txBox="1">
            <a:spLocks noChangeArrowheads="1"/>
          </p:cNvSpPr>
          <p:nvPr/>
        </p:nvSpPr>
        <p:spPr bwMode="auto">
          <a:xfrm>
            <a:off x="1371600" y="5181600"/>
            <a:ext cx="6305550" cy="1196975"/>
          </a:xfrm>
          <a:prstGeom prst="rect">
            <a:avLst/>
          </a:prstGeom>
          <a:noFill/>
          <a:ln w="9525">
            <a:solidFill>
              <a:schemeClr val="tx1"/>
            </a:solidFill>
            <a:miter lim="800000"/>
            <a:headEnd/>
            <a:tailEnd/>
          </a:ln>
          <a:effectLst/>
        </p:spPr>
        <p:txBody>
          <a:bodyPr wrap="none">
            <a:spAutoFit/>
          </a:bodyPr>
          <a:lstStyle/>
          <a:p>
            <a:pPr eaLnBrk="0" hangingPunct="0"/>
            <a:r>
              <a:rPr lang="en-US"/>
              <a:t>Viewer can rapidly and accurately determine</a:t>
            </a:r>
          </a:p>
          <a:p>
            <a:pPr eaLnBrk="0" hangingPunct="0"/>
            <a:r>
              <a:rPr lang="en-US"/>
              <a:t>whether the target (red circle) is present or absent.</a:t>
            </a:r>
          </a:p>
          <a:p>
            <a:pPr eaLnBrk="0" hangingPunct="0"/>
            <a:r>
              <a:rPr lang="en-US"/>
              <a:t>Difference detected in form (curvature)</a:t>
            </a:r>
          </a:p>
        </p:txBody>
      </p:sp>
    </p:spTree>
    <p:extLst>
      <p:ext uri="{BB962C8B-B14F-4D97-AF65-F5344CB8AC3E}">
        <p14:creationId xmlns:p14="http://schemas.microsoft.com/office/powerpoint/2010/main" val="2272230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533400" y="533400"/>
            <a:ext cx="7772400" cy="990600"/>
          </a:xfrm>
        </p:spPr>
        <p:txBody>
          <a:bodyPr>
            <a:normAutofit/>
          </a:bodyPr>
          <a:lstStyle/>
          <a:p>
            <a:r>
              <a:rPr lang="en-US"/>
              <a:t>Example: Conjunction of Features</a:t>
            </a:r>
          </a:p>
        </p:txBody>
      </p:sp>
      <p:sp>
        <p:nvSpPr>
          <p:cNvPr id="279555" name="Text Box 3"/>
          <p:cNvSpPr txBox="1">
            <a:spLocks noChangeArrowheads="1"/>
          </p:cNvSpPr>
          <p:nvPr/>
        </p:nvSpPr>
        <p:spPr bwMode="auto">
          <a:xfrm>
            <a:off x="838200" y="4267200"/>
            <a:ext cx="7448550" cy="1562100"/>
          </a:xfrm>
          <a:prstGeom prst="rect">
            <a:avLst/>
          </a:prstGeom>
          <a:noFill/>
          <a:ln w="9525">
            <a:solidFill>
              <a:schemeClr val="tx1"/>
            </a:solidFill>
            <a:miter lim="800000"/>
            <a:headEnd/>
            <a:tailEnd/>
          </a:ln>
          <a:effectLst/>
        </p:spPr>
        <p:txBody>
          <a:bodyPr wrap="none">
            <a:spAutoFit/>
          </a:bodyPr>
          <a:lstStyle/>
          <a:p>
            <a:pPr eaLnBrk="0" hangingPunct="0"/>
            <a:r>
              <a:rPr lang="en-US"/>
              <a:t>Viewer </a:t>
            </a:r>
            <a:r>
              <a:rPr lang="en-US" i="1">
                <a:solidFill>
                  <a:schemeClr val="tx2"/>
                </a:solidFill>
              </a:rPr>
              <a:t>cannot</a:t>
            </a:r>
            <a:r>
              <a:rPr lang="en-US">
                <a:solidFill>
                  <a:srgbClr val="FF0066"/>
                </a:solidFill>
              </a:rPr>
              <a:t> </a:t>
            </a:r>
            <a:r>
              <a:rPr lang="en-US"/>
              <a:t>rapidly and accurately determine</a:t>
            </a:r>
          </a:p>
          <a:p>
            <a:pPr eaLnBrk="0" hangingPunct="0"/>
            <a:r>
              <a:rPr lang="en-US"/>
              <a:t>whether the target (red circle) is present or absent when </a:t>
            </a:r>
          </a:p>
          <a:p>
            <a:pPr eaLnBrk="0" hangingPunct="0"/>
            <a:r>
              <a:rPr lang="en-US"/>
              <a:t>target has two or more features, each of which are</a:t>
            </a:r>
          </a:p>
          <a:p>
            <a:pPr eaLnBrk="0" hangingPunct="0"/>
            <a:r>
              <a:rPr lang="en-US"/>
              <a:t>present in the distractors.  Viewer must search sequentially.</a:t>
            </a:r>
          </a:p>
        </p:txBody>
      </p:sp>
      <p:pic>
        <p:nvPicPr>
          <p:cNvPr id="279556" name="Picture 4" descr="G:\is247\admin\images\healey5.gif"/>
          <p:cNvPicPr>
            <a:picLocks noChangeAspect="1" noChangeArrowheads="1"/>
          </p:cNvPicPr>
          <p:nvPr/>
        </p:nvPicPr>
        <p:blipFill>
          <a:blip r:embed="rId2" cstate="print"/>
          <a:srcRect/>
          <a:stretch>
            <a:fillRect/>
          </a:stretch>
        </p:blipFill>
        <p:spPr bwMode="auto">
          <a:xfrm>
            <a:off x="4953000" y="1905000"/>
            <a:ext cx="2867025" cy="2208213"/>
          </a:xfrm>
          <a:prstGeom prst="rect">
            <a:avLst/>
          </a:prstGeom>
          <a:noFill/>
        </p:spPr>
      </p:pic>
      <p:pic>
        <p:nvPicPr>
          <p:cNvPr id="279557" name="Picture 5" descr="G:\is247\admin\images\healey6.gif"/>
          <p:cNvPicPr>
            <a:picLocks noChangeAspect="1" noChangeArrowheads="1"/>
          </p:cNvPicPr>
          <p:nvPr/>
        </p:nvPicPr>
        <p:blipFill>
          <a:blip r:embed="rId3" cstate="print"/>
          <a:srcRect/>
          <a:stretch>
            <a:fillRect/>
          </a:stretch>
        </p:blipFill>
        <p:spPr bwMode="auto">
          <a:xfrm>
            <a:off x="1143000" y="1916113"/>
            <a:ext cx="2867025" cy="2208212"/>
          </a:xfrm>
          <a:prstGeom prst="rect">
            <a:avLst/>
          </a:prstGeom>
          <a:noFill/>
        </p:spPr>
      </p:pic>
    </p:spTree>
    <p:extLst>
      <p:ext uri="{BB962C8B-B14F-4D97-AF65-F5344CB8AC3E}">
        <p14:creationId xmlns:p14="http://schemas.microsoft.com/office/powerpoint/2010/main" val="751814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Pre-attentive features</a:t>
            </a:r>
          </a:p>
        </p:txBody>
      </p:sp>
      <p:pic>
        <p:nvPicPr>
          <p:cNvPr id="3074" name="Picture 2"/>
          <p:cNvPicPr>
            <a:picLocks noChangeAspect="1" noChangeArrowheads="1"/>
          </p:cNvPicPr>
          <p:nvPr/>
        </p:nvPicPr>
        <p:blipFill>
          <a:blip r:embed="rId3" cstate="print"/>
          <a:srcRect/>
          <a:stretch>
            <a:fillRect/>
          </a:stretch>
        </p:blipFill>
        <p:spPr bwMode="auto">
          <a:xfrm>
            <a:off x="0" y="1524000"/>
            <a:ext cx="9144000" cy="2300450"/>
          </a:xfrm>
          <a:prstGeom prst="rect">
            <a:avLst/>
          </a:prstGeom>
          <a:noFill/>
          <a:ln w="9525">
            <a:noFill/>
            <a:miter lim="800000"/>
            <a:headEnd/>
            <a:tailEnd/>
          </a:ln>
          <a:effectLst/>
        </p:spPr>
      </p:pic>
      <p:pic>
        <p:nvPicPr>
          <p:cNvPr id="4" name="Picture 3"/>
          <p:cNvPicPr>
            <a:picLocks noChangeAspect="1" noChangeArrowheads="1"/>
          </p:cNvPicPr>
          <p:nvPr/>
        </p:nvPicPr>
        <p:blipFill>
          <a:blip r:embed="rId4" cstate="print"/>
          <a:srcRect/>
          <a:stretch>
            <a:fillRect/>
          </a:stretch>
        </p:blipFill>
        <p:spPr bwMode="auto">
          <a:xfrm>
            <a:off x="0" y="4419600"/>
            <a:ext cx="9144000" cy="2291787"/>
          </a:xfrm>
          <a:prstGeom prst="rect">
            <a:avLst/>
          </a:prstGeom>
          <a:noFill/>
          <a:ln w="9525">
            <a:noFill/>
            <a:miter lim="800000"/>
            <a:headEnd/>
            <a:tailEnd/>
          </a:ln>
          <a:effectLst/>
        </p:spPr>
      </p:pic>
    </p:spTree>
    <p:extLst>
      <p:ext uri="{BB962C8B-B14F-4D97-AF65-F5344CB8AC3E}">
        <p14:creationId xmlns:p14="http://schemas.microsoft.com/office/powerpoint/2010/main" val="3195205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Pre-attentive features</a:t>
            </a:r>
          </a:p>
        </p:txBody>
      </p:sp>
      <p:pic>
        <p:nvPicPr>
          <p:cNvPr id="3" name="Picture 2"/>
          <p:cNvPicPr>
            <a:picLocks noChangeAspect="1"/>
          </p:cNvPicPr>
          <p:nvPr/>
        </p:nvPicPr>
        <p:blipFill>
          <a:blip r:embed="rId2"/>
          <a:stretch>
            <a:fillRect/>
          </a:stretch>
        </p:blipFill>
        <p:spPr>
          <a:xfrm>
            <a:off x="0" y="1524000"/>
            <a:ext cx="9144000" cy="2258054"/>
          </a:xfrm>
          <a:prstGeom prst="rect">
            <a:avLst/>
          </a:prstGeom>
        </p:spPr>
      </p:pic>
      <p:pic>
        <p:nvPicPr>
          <p:cNvPr id="5" name="Picture 4"/>
          <p:cNvPicPr>
            <a:picLocks noChangeAspect="1"/>
          </p:cNvPicPr>
          <p:nvPr/>
        </p:nvPicPr>
        <p:blipFill>
          <a:blip r:embed="rId3"/>
          <a:stretch>
            <a:fillRect/>
          </a:stretch>
        </p:blipFill>
        <p:spPr>
          <a:xfrm>
            <a:off x="7086601" y="4086853"/>
            <a:ext cx="2057400" cy="22485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7925" y="4086851"/>
            <a:ext cx="2057398" cy="2069155"/>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086852"/>
            <a:ext cx="2057398" cy="206915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33925" y="4086850"/>
            <a:ext cx="2124075" cy="2136213"/>
          </a:xfrm>
          <a:prstGeom prst="rect">
            <a:avLst/>
          </a:prstGeom>
        </p:spPr>
      </p:pic>
      <p:pic>
        <p:nvPicPr>
          <p:cNvPr id="10" name="Picture 9"/>
          <p:cNvPicPr>
            <a:picLocks noChangeAspect="1"/>
          </p:cNvPicPr>
          <p:nvPr/>
        </p:nvPicPr>
        <p:blipFill>
          <a:blip r:embed="rId7"/>
          <a:stretch>
            <a:fillRect/>
          </a:stretch>
        </p:blipFill>
        <p:spPr>
          <a:xfrm>
            <a:off x="612648" y="6144524"/>
            <a:ext cx="665202" cy="279385"/>
          </a:xfrm>
          <a:prstGeom prst="rect">
            <a:avLst/>
          </a:prstGeom>
        </p:spPr>
      </p:pic>
      <p:pic>
        <p:nvPicPr>
          <p:cNvPr id="11" name="Picture 10"/>
          <p:cNvPicPr>
            <a:picLocks noChangeAspect="1"/>
          </p:cNvPicPr>
          <p:nvPr/>
        </p:nvPicPr>
        <p:blipFill>
          <a:blip r:embed="rId8"/>
          <a:stretch>
            <a:fillRect/>
          </a:stretch>
        </p:blipFill>
        <p:spPr>
          <a:xfrm>
            <a:off x="2511946" y="6168084"/>
            <a:ext cx="1833413" cy="255825"/>
          </a:xfrm>
          <a:prstGeom prst="rect">
            <a:avLst/>
          </a:prstGeom>
        </p:spPr>
      </p:pic>
      <p:pic>
        <p:nvPicPr>
          <p:cNvPr id="12" name="Picture 11"/>
          <p:cNvPicPr>
            <a:picLocks noChangeAspect="1"/>
          </p:cNvPicPr>
          <p:nvPr/>
        </p:nvPicPr>
        <p:blipFill>
          <a:blip r:embed="rId9"/>
          <a:stretch>
            <a:fillRect/>
          </a:stretch>
        </p:blipFill>
        <p:spPr>
          <a:xfrm>
            <a:off x="4945294" y="6178330"/>
            <a:ext cx="1701336" cy="258603"/>
          </a:xfrm>
          <a:prstGeom prst="rect">
            <a:avLst/>
          </a:prstGeom>
        </p:spPr>
      </p:pic>
    </p:spTree>
    <p:extLst>
      <p:ext uri="{BB962C8B-B14F-4D97-AF65-F5344CB8AC3E}">
        <p14:creationId xmlns:p14="http://schemas.microsoft.com/office/powerpoint/2010/main" val="4136088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Pre-attentive features</a:t>
            </a:r>
          </a:p>
        </p:txBody>
      </p:sp>
      <p:pic>
        <p:nvPicPr>
          <p:cNvPr id="4" name="Picture 3"/>
          <p:cNvPicPr>
            <a:picLocks noChangeAspect="1"/>
          </p:cNvPicPr>
          <p:nvPr/>
        </p:nvPicPr>
        <p:blipFill>
          <a:blip r:embed="rId2"/>
          <a:stretch>
            <a:fillRect/>
          </a:stretch>
        </p:blipFill>
        <p:spPr>
          <a:xfrm>
            <a:off x="612648" y="1828800"/>
            <a:ext cx="5475099" cy="2786063"/>
          </a:xfrm>
          <a:prstGeom prst="rect">
            <a:avLst/>
          </a:prstGeom>
        </p:spPr>
      </p:pic>
    </p:spTree>
    <p:extLst>
      <p:ext uri="{BB962C8B-B14F-4D97-AF65-F5344CB8AC3E}">
        <p14:creationId xmlns:p14="http://schemas.microsoft.com/office/powerpoint/2010/main" val="759785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42454" y="152400"/>
            <a:ext cx="8520545" cy="950679"/>
          </a:xfrm>
        </p:spPr>
        <p:txBody>
          <a:bodyPr lIns="82058" tIns="41029" rIns="82058">
            <a:normAutofit/>
          </a:bodyPr>
          <a:lstStyle/>
          <a:p>
            <a:r>
              <a:rPr lang="en-US" dirty="0"/>
              <a:t>Influences on Perception</a:t>
            </a:r>
          </a:p>
        </p:txBody>
      </p:sp>
      <p:sp>
        <p:nvSpPr>
          <p:cNvPr id="35844" name="Oval 5"/>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5" name="Oval 6"/>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6" name="Oval 7"/>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7" name="Oval 8"/>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8" name="Oval 9"/>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49" name="Oval 10"/>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50" name="Line 11"/>
          <p:cNvSpPr>
            <a:spLocks noChangeShapeType="1"/>
          </p:cNvSpPr>
          <p:nvPr/>
        </p:nvSpPr>
        <p:spPr bwMode="auto">
          <a:xfrm>
            <a:off x="2909455"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1" name="Line 13"/>
          <p:cNvSpPr>
            <a:spLocks noChangeShapeType="1"/>
          </p:cNvSpPr>
          <p:nvPr/>
        </p:nvSpPr>
        <p:spPr bwMode="auto">
          <a:xfrm>
            <a:off x="1593273"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2" name="Line 14"/>
          <p:cNvSpPr>
            <a:spLocks noChangeShapeType="1"/>
          </p:cNvSpPr>
          <p:nvPr/>
        </p:nvSpPr>
        <p:spPr bwMode="auto">
          <a:xfrm>
            <a:off x="2978727" y="1882588"/>
            <a:ext cx="0" cy="470647"/>
          </a:xfrm>
          <a:prstGeom prst="line">
            <a:avLst/>
          </a:prstGeom>
          <a:noFill/>
          <a:ln w="9525">
            <a:solidFill>
              <a:schemeClr val="tx1"/>
            </a:solidFill>
            <a:round/>
            <a:headEnd/>
            <a:tailEnd/>
          </a:ln>
        </p:spPr>
        <p:txBody>
          <a:bodyPr lIns="82058" tIns="41029" rIns="82058" bIns="41029"/>
          <a:lstStyle/>
          <a:p>
            <a:endParaRPr lang="en-US"/>
          </a:p>
        </p:txBody>
      </p:sp>
      <p:sp>
        <p:nvSpPr>
          <p:cNvPr id="35853" name="Line 15"/>
          <p:cNvSpPr>
            <a:spLocks noChangeShapeType="1"/>
          </p:cNvSpPr>
          <p:nvPr/>
        </p:nvSpPr>
        <p:spPr bwMode="auto">
          <a:xfrm>
            <a:off x="1593273" y="2286000"/>
            <a:ext cx="1316182" cy="0"/>
          </a:xfrm>
          <a:prstGeom prst="line">
            <a:avLst/>
          </a:prstGeom>
          <a:noFill/>
          <a:ln w="9525">
            <a:solidFill>
              <a:schemeClr val="tx1"/>
            </a:solidFill>
            <a:round/>
            <a:headEnd/>
            <a:tailEnd/>
          </a:ln>
        </p:spPr>
        <p:txBody>
          <a:bodyPr lIns="82058" tIns="41029" rIns="82058" bIns="41029"/>
          <a:lstStyle/>
          <a:p>
            <a:endParaRPr lang="en-US"/>
          </a:p>
        </p:txBody>
      </p:sp>
      <p:sp>
        <p:nvSpPr>
          <p:cNvPr id="35854" name="Line 16"/>
          <p:cNvSpPr>
            <a:spLocks noChangeShapeType="1"/>
          </p:cNvSpPr>
          <p:nvPr/>
        </p:nvSpPr>
        <p:spPr bwMode="auto">
          <a:xfrm>
            <a:off x="1593273" y="1882588"/>
            <a:ext cx="1316182" cy="0"/>
          </a:xfrm>
          <a:prstGeom prst="line">
            <a:avLst/>
          </a:prstGeom>
          <a:noFill/>
          <a:ln w="9525">
            <a:solidFill>
              <a:schemeClr val="tx1"/>
            </a:solidFill>
            <a:round/>
            <a:headEnd/>
            <a:tailEnd/>
          </a:ln>
        </p:spPr>
        <p:txBody>
          <a:bodyPr lIns="82058" tIns="41029" rIns="82058" bIns="41029"/>
          <a:lstStyle/>
          <a:p>
            <a:endParaRPr lang="en-US"/>
          </a:p>
        </p:txBody>
      </p:sp>
      <p:sp>
        <p:nvSpPr>
          <p:cNvPr id="35855" name="Line 18"/>
          <p:cNvSpPr>
            <a:spLocks noChangeShapeType="1"/>
          </p:cNvSpPr>
          <p:nvPr/>
        </p:nvSpPr>
        <p:spPr bwMode="auto">
          <a:xfrm>
            <a:off x="4156364" y="1882588"/>
            <a:ext cx="0" cy="470647"/>
          </a:xfrm>
          <a:prstGeom prst="line">
            <a:avLst/>
          </a:prstGeom>
          <a:noFill/>
          <a:ln w="9525">
            <a:solidFill>
              <a:schemeClr val="tx1"/>
            </a:solidFill>
            <a:round/>
            <a:headEnd/>
            <a:tailEnd/>
          </a:ln>
        </p:spPr>
        <p:txBody>
          <a:bodyPr lIns="82058" tIns="41029" rIns="82058" bIns="41029"/>
          <a:lstStyle/>
          <a:p>
            <a:endParaRPr lang="en-US"/>
          </a:p>
        </p:txBody>
      </p:sp>
      <p:sp>
        <p:nvSpPr>
          <p:cNvPr id="35856" name="Line 19"/>
          <p:cNvSpPr>
            <a:spLocks noChangeShapeType="1"/>
          </p:cNvSpPr>
          <p:nvPr/>
        </p:nvSpPr>
        <p:spPr bwMode="auto">
          <a:xfrm>
            <a:off x="2978727" y="2353235"/>
            <a:ext cx="1177636" cy="0"/>
          </a:xfrm>
          <a:prstGeom prst="line">
            <a:avLst/>
          </a:prstGeom>
          <a:noFill/>
          <a:ln w="9525">
            <a:solidFill>
              <a:schemeClr val="tx1"/>
            </a:solidFill>
            <a:round/>
            <a:headEnd/>
            <a:tailEnd/>
          </a:ln>
        </p:spPr>
        <p:txBody>
          <a:bodyPr lIns="82058" tIns="41029" rIns="82058" bIns="41029"/>
          <a:lstStyle/>
          <a:p>
            <a:endParaRPr lang="en-US"/>
          </a:p>
        </p:txBody>
      </p:sp>
      <p:sp>
        <p:nvSpPr>
          <p:cNvPr id="35857" name="Line 20"/>
          <p:cNvSpPr>
            <a:spLocks noChangeShapeType="1"/>
          </p:cNvSpPr>
          <p:nvPr/>
        </p:nvSpPr>
        <p:spPr bwMode="auto">
          <a:xfrm>
            <a:off x="2978727" y="1882588"/>
            <a:ext cx="1177636" cy="0"/>
          </a:xfrm>
          <a:prstGeom prst="line">
            <a:avLst/>
          </a:prstGeom>
          <a:noFill/>
          <a:ln w="9525">
            <a:solidFill>
              <a:schemeClr val="tx1"/>
            </a:solidFill>
            <a:round/>
            <a:headEnd/>
            <a:tailEnd/>
          </a:ln>
        </p:spPr>
        <p:txBody>
          <a:bodyPr lIns="82058" tIns="41029" rIns="82058" bIns="41029"/>
          <a:lstStyle/>
          <a:p>
            <a:endParaRPr lang="en-US"/>
          </a:p>
        </p:txBody>
      </p:sp>
      <p:sp>
        <p:nvSpPr>
          <p:cNvPr id="35858" name="Line 21"/>
          <p:cNvSpPr>
            <a:spLocks noChangeShapeType="1"/>
          </p:cNvSpPr>
          <p:nvPr/>
        </p:nvSpPr>
        <p:spPr bwMode="auto">
          <a:xfrm>
            <a:off x="4294909"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59" name="Line 22"/>
          <p:cNvSpPr>
            <a:spLocks noChangeShapeType="1"/>
          </p:cNvSpPr>
          <p:nvPr/>
        </p:nvSpPr>
        <p:spPr bwMode="auto">
          <a:xfrm>
            <a:off x="5680364" y="1882588"/>
            <a:ext cx="0" cy="403412"/>
          </a:xfrm>
          <a:prstGeom prst="line">
            <a:avLst/>
          </a:prstGeom>
          <a:noFill/>
          <a:ln w="9525">
            <a:solidFill>
              <a:schemeClr val="tx1"/>
            </a:solidFill>
            <a:round/>
            <a:headEnd/>
            <a:tailEnd/>
          </a:ln>
        </p:spPr>
        <p:txBody>
          <a:bodyPr lIns="82058" tIns="41029" rIns="82058" bIns="41029"/>
          <a:lstStyle/>
          <a:p>
            <a:endParaRPr lang="en-US"/>
          </a:p>
        </p:txBody>
      </p:sp>
      <p:sp>
        <p:nvSpPr>
          <p:cNvPr id="35860" name="Line 24"/>
          <p:cNvSpPr>
            <a:spLocks noChangeShapeType="1"/>
          </p:cNvSpPr>
          <p:nvPr/>
        </p:nvSpPr>
        <p:spPr bwMode="auto">
          <a:xfrm>
            <a:off x="4294909" y="2286000"/>
            <a:ext cx="1385455" cy="0"/>
          </a:xfrm>
          <a:prstGeom prst="line">
            <a:avLst/>
          </a:prstGeom>
          <a:noFill/>
          <a:ln w="9525">
            <a:solidFill>
              <a:schemeClr val="tx1"/>
            </a:solidFill>
            <a:round/>
            <a:headEnd/>
            <a:tailEnd/>
          </a:ln>
        </p:spPr>
        <p:txBody>
          <a:bodyPr lIns="82058" tIns="41029" rIns="82058" bIns="41029"/>
          <a:lstStyle/>
          <a:p>
            <a:endParaRPr lang="en-US"/>
          </a:p>
        </p:txBody>
      </p:sp>
      <p:sp>
        <p:nvSpPr>
          <p:cNvPr id="35861" name="Line 25"/>
          <p:cNvSpPr>
            <a:spLocks noChangeShapeType="1"/>
          </p:cNvSpPr>
          <p:nvPr/>
        </p:nvSpPr>
        <p:spPr bwMode="auto">
          <a:xfrm>
            <a:off x="4294909" y="1882588"/>
            <a:ext cx="1385455" cy="0"/>
          </a:xfrm>
          <a:prstGeom prst="line">
            <a:avLst/>
          </a:prstGeom>
          <a:noFill/>
          <a:ln w="9525">
            <a:solidFill>
              <a:schemeClr val="tx1"/>
            </a:solidFill>
            <a:round/>
            <a:headEnd/>
            <a:tailEnd/>
          </a:ln>
        </p:spPr>
        <p:txBody>
          <a:bodyPr lIns="82058" tIns="41029" rIns="82058" bIns="41029"/>
          <a:lstStyle/>
          <a:p>
            <a:endParaRPr lang="en-US"/>
          </a:p>
        </p:txBody>
      </p:sp>
      <p:sp>
        <p:nvSpPr>
          <p:cNvPr id="35862" name="Oval 26"/>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3" name="Oval 27"/>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4" name="Oval 28"/>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5" name="Oval 29"/>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6" name="Oval 30"/>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7" name="Oval 31"/>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68" name="Line 32"/>
          <p:cNvSpPr>
            <a:spLocks noChangeShapeType="1"/>
          </p:cNvSpPr>
          <p:nvPr/>
        </p:nvSpPr>
        <p:spPr bwMode="auto">
          <a:xfrm>
            <a:off x="2078182" y="3697941"/>
            <a:ext cx="969818" cy="67235"/>
          </a:xfrm>
          <a:prstGeom prst="line">
            <a:avLst/>
          </a:prstGeom>
          <a:noFill/>
          <a:ln w="9525">
            <a:solidFill>
              <a:schemeClr val="tx1"/>
            </a:solidFill>
            <a:round/>
            <a:headEnd/>
            <a:tailEnd/>
          </a:ln>
        </p:spPr>
        <p:txBody>
          <a:bodyPr lIns="82058" tIns="41029" rIns="82058" bIns="41029"/>
          <a:lstStyle/>
          <a:p>
            <a:endParaRPr lang="en-US"/>
          </a:p>
        </p:txBody>
      </p:sp>
      <p:sp>
        <p:nvSpPr>
          <p:cNvPr id="35869" name="Line 34"/>
          <p:cNvSpPr>
            <a:spLocks noChangeShapeType="1"/>
          </p:cNvSpPr>
          <p:nvPr/>
        </p:nvSpPr>
        <p:spPr bwMode="auto">
          <a:xfrm flipV="1">
            <a:off x="4087091" y="3496235"/>
            <a:ext cx="1316182" cy="134471"/>
          </a:xfrm>
          <a:prstGeom prst="line">
            <a:avLst/>
          </a:prstGeom>
          <a:noFill/>
          <a:ln w="9525">
            <a:solidFill>
              <a:schemeClr val="tx1"/>
            </a:solidFill>
            <a:round/>
            <a:headEnd/>
            <a:tailEnd/>
          </a:ln>
        </p:spPr>
        <p:txBody>
          <a:bodyPr lIns="82058" tIns="41029" rIns="82058" bIns="41029"/>
          <a:lstStyle/>
          <a:p>
            <a:endParaRPr lang="en-US"/>
          </a:p>
        </p:txBody>
      </p:sp>
      <p:sp>
        <p:nvSpPr>
          <p:cNvPr id="35870" name="Oval 35"/>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1" name="Oval 36"/>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2" name="Oval 37"/>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5873" name="Oval 38"/>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2287475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42454" y="0"/>
            <a:ext cx="8520545" cy="1277471"/>
          </a:xfrm>
        </p:spPr>
        <p:txBody>
          <a:bodyPr lIns="82058" tIns="41029" rIns="82058">
            <a:normAutofit/>
          </a:bodyPr>
          <a:lstStyle/>
          <a:p>
            <a:r>
              <a:rPr lang="en-US" dirty="0"/>
              <a:t>Influences on Perception</a:t>
            </a:r>
          </a:p>
        </p:txBody>
      </p:sp>
      <p:sp>
        <p:nvSpPr>
          <p:cNvPr id="36868"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69"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0"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1"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2"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3"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4" name="Oval 22"/>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5" name="Oval 23"/>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6" name="Oval 24"/>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7" name="Oval 25"/>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8" name="Oval 26"/>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79" name="Oval 27"/>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0" name="Line 28"/>
          <p:cNvSpPr>
            <a:spLocks noChangeShapeType="1"/>
          </p:cNvSpPr>
          <p:nvPr/>
        </p:nvSpPr>
        <p:spPr bwMode="auto">
          <a:xfrm>
            <a:off x="2078182" y="3697941"/>
            <a:ext cx="969818" cy="67235"/>
          </a:xfrm>
          <a:prstGeom prst="line">
            <a:avLst/>
          </a:prstGeom>
          <a:noFill/>
          <a:ln w="9525">
            <a:solidFill>
              <a:schemeClr val="tx1"/>
            </a:solidFill>
            <a:round/>
            <a:headEnd/>
            <a:tailEnd/>
          </a:ln>
        </p:spPr>
        <p:txBody>
          <a:bodyPr lIns="82058" tIns="41029" rIns="82058" bIns="41029"/>
          <a:lstStyle/>
          <a:p>
            <a:endParaRPr lang="en-US"/>
          </a:p>
        </p:txBody>
      </p:sp>
      <p:sp>
        <p:nvSpPr>
          <p:cNvPr id="36881" name="Line 29"/>
          <p:cNvSpPr>
            <a:spLocks noChangeShapeType="1"/>
          </p:cNvSpPr>
          <p:nvPr/>
        </p:nvSpPr>
        <p:spPr bwMode="auto">
          <a:xfrm flipV="1">
            <a:off x="4087091" y="3496235"/>
            <a:ext cx="1316182" cy="134471"/>
          </a:xfrm>
          <a:prstGeom prst="line">
            <a:avLst/>
          </a:prstGeom>
          <a:noFill/>
          <a:ln w="9525">
            <a:solidFill>
              <a:schemeClr val="tx1"/>
            </a:solidFill>
            <a:round/>
            <a:headEnd/>
            <a:tailEnd/>
          </a:ln>
        </p:spPr>
        <p:txBody>
          <a:bodyPr lIns="82058" tIns="41029" rIns="82058" bIns="41029"/>
          <a:lstStyle/>
          <a:p>
            <a:endParaRPr lang="en-US"/>
          </a:p>
        </p:txBody>
      </p:sp>
      <p:sp>
        <p:nvSpPr>
          <p:cNvPr id="36882" name="Oval 30"/>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3" name="Oval 31"/>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4" name="Oval 32"/>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6885" name="Oval 33"/>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314075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3"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4"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5"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6"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7"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8" name="Oval 10"/>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899" name="Oval 11"/>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0" name="Oval 12"/>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1" name="Oval 13"/>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2" name="Oval 14"/>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3" name="Oval 15"/>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4" name="Oval 18"/>
          <p:cNvSpPr>
            <a:spLocks noChangeArrowheads="1"/>
          </p:cNvSpPr>
          <p:nvPr/>
        </p:nvSpPr>
        <p:spPr bwMode="auto">
          <a:xfrm>
            <a:off x="1454727" y="4975412"/>
            <a:ext cx="415636"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5" name="Oval 19"/>
          <p:cNvSpPr>
            <a:spLocks noChangeArrowheads="1"/>
          </p:cNvSpPr>
          <p:nvPr/>
        </p:nvSpPr>
        <p:spPr bwMode="auto">
          <a:xfrm>
            <a:off x="2701636" y="5042647"/>
            <a:ext cx="346364"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6" name="Oval 20"/>
          <p:cNvSpPr>
            <a:spLocks noChangeArrowheads="1"/>
          </p:cNvSpPr>
          <p:nvPr/>
        </p:nvSpPr>
        <p:spPr bwMode="auto">
          <a:xfrm>
            <a:off x="4017818" y="5109882"/>
            <a:ext cx="484909" cy="470647"/>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7907" name="Oval 21"/>
          <p:cNvSpPr>
            <a:spLocks noChangeArrowheads="1"/>
          </p:cNvSpPr>
          <p:nvPr/>
        </p:nvSpPr>
        <p:spPr bwMode="auto">
          <a:xfrm>
            <a:off x="5680364" y="4706471"/>
            <a:ext cx="969818" cy="53788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20" name="Rectangle 2"/>
          <p:cNvSpPr txBox="1">
            <a:spLocks noChangeArrowheads="1"/>
          </p:cNvSpPr>
          <p:nvPr/>
        </p:nvSpPr>
        <p:spPr>
          <a:xfrm>
            <a:off x="450273" y="-67236"/>
            <a:ext cx="8520545" cy="1277471"/>
          </a:xfrm>
          <a:prstGeom prst="rect">
            <a:avLst/>
          </a:prstGeom>
        </p:spPr>
        <p:txBody>
          <a:bodyPr vert="horz" lIns="82058" tIns="41029" rIns="82058"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US"/>
              <a:t>Influences on Perception</a:t>
            </a:r>
            <a:endParaRPr lang="en-US" dirty="0"/>
          </a:p>
        </p:txBody>
      </p:sp>
    </p:spTree>
    <p:extLst>
      <p:ext uri="{BB962C8B-B14F-4D97-AF65-F5344CB8AC3E}">
        <p14:creationId xmlns:p14="http://schemas.microsoft.com/office/powerpoint/2010/main" val="120884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07818" y="390806"/>
            <a:ext cx="8520545" cy="550489"/>
          </a:xfrm>
        </p:spPr>
        <p:txBody>
          <a:bodyPr lIns="82058" tIns="41029" rIns="82058">
            <a:normAutofit fontScale="90000"/>
          </a:bodyPr>
          <a:lstStyle/>
          <a:p>
            <a:r>
              <a:rPr lang="en-US" sz="3600" dirty="0"/>
              <a:t>Influences on Perception</a:t>
            </a:r>
          </a:p>
        </p:txBody>
      </p:sp>
      <p:sp>
        <p:nvSpPr>
          <p:cNvPr id="38916" name="Oval 4"/>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7" name="Oval 5"/>
          <p:cNvSpPr>
            <a:spLocks noChangeArrowheads="1"/>
          </p:cNvSpPr>
          <p:nvPr/>
        </p:nvSpPr>
        <p:spPr bwMode="auto">
          <a:xfrm>
            <a:off x="2493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8" name="Oval 6"/>
          <p:cNvSpPr>
            <a:spLocks noChangeArrowheads="1"/>
          </p:cNvSpPr>
          <p:nvPr/>
        </p:nvSpPr>
        <p:spPr bwMode="auto">
          <a:xfrm>
            <a:off x="3048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19" name="Oval 7"/>
          <p:cNvSpPr>
            <a:spLocks noChangeArrowheads="1"/>
          </p:cNvSpPr>
          <p:nvPr/>
        </p:nvSpPr>
        <p:spPr bwMode="auto">
          <a:xfrm>
            <a:off x="3810000"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0" name="Oval 8"/>
          <p:cNvSpPr>
            <a:spLocks noChangeArrowheads="1"/>
          </p:cNvSpPr>
          <p:nvPr/>
        </p:nvSpPr>
        <p:spPr bwMode="auto">
          <a:xfrm>
            <a:off x="4364182"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1" name="Oval 9"/>
          <p:cNvSpPr>
            <a:spLocks noChangeArrowheads="1"/>
          </p:cNvSpPr>
          <p:nvPr/>
        </p:nvSpPr>
        <p:spPr bwMode="auto">
          <a:xfrm>
            <a:off x="5264727"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2" name="Oval 22"/>
          <p:cNvSpPr>
            <a:spLocks noChangeArrowheads="1"/>
          </p:cNvSpPr>
          <p:nvPr/>
        </p:nvSpPr>
        <p:spPr bwMode="auto">
          <a:xfrm>
            <a:off x="1731818" y="1949824"/>
            <a:ext cx="346364" cy="268941"/>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3" name="Oval 23"/>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4" name="Oval 24"/>
          <p:cNvSpPr>
            <a:spLocks noChangeArrowheads="1"/>
          </p:cNvSpPr>
          <p:nvPr/>
        </p:nvSpPr>
        <p:spPr bwMode="auto">
          <a:xfrm>
            <a:off x="1662546" y="3496236"/>
            <a:ext cx="415636"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5" name="Oval 25"/>
          <p:cNvSpPr>
            <a:spLocks noChangeArrowheads="1"/>
          </p:cNvSpPr>
          <p:nvPr/>
        </p:nvSpPr>
        <p:spPr bwMode="auto">
          <a:xfrm>
            <a:off x="3048000" y="363070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6" name="Oval 26"/>
          <p:cNvSpPr>
            <a:spLocks noChangeArrowheads="1"/>
          </p:cNvSpPr>
          <p:nvPr/>
        </p:nvSpPr>
        <p:spPr bwMode="auto">
          <a:xfrm>
            <a:off x="3740727" y="3496236"/>
            <a:ext cx="346364" cy="336176"/>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7" name="Oval 27"/>
          <p:cNvSpPr>
            <a:spLocks noChangeArrowheads="1"/>
          </p:cNvSpPr>
          <p:nvPr/>
        </p:nvSpPr>
        <p:spPr bwMode="auto">
          <a:xfrm>
            <a:off x="5403273" y="3294529"/>
            <a:ext cx="623455" cy="403412"/>
          </a:xfrm>
          <a:prstGeom prst="ellipse">
            <a:avLst/>
          </a:prstGeom>
          <a:solidFill>
            <a:schemeClr val="accent1"/>
          </a:solidFill>
          <a:ln w="9525">
            <a:solidFill>
              <a:schemeClr val="tx1"/>
            </a:solidFill>
            <a:round/>
            <a:headEnd/>
            <a:tailEnd/>
          </a:ln>
        </p:spPr>
        <p:txBody>
          <a:bodyPr wrap="none" lIns="82058" tIns="41029" rIns="82058" bIns="41029" anchor="ctr"/>
          <a:lstStyle/>
          <a:p>
            <a:endParaRPr lang="en-US"/>
          </a:p>
        </p:txBody>
      </p:sp>
      <p:sp>
        <p:nvSpPr>
          <p:cNvPr id="38928" name="Oval 30"/>
          <p:cNvSpPr>
            <a:spLocks noChangeArrowheads="1"/>
          </p:cNvSpPr>
          <p:nvPr/>
        </p:nvSpPr>
        <p:spPr bwMode="auto">
          <a:xfrm>
            <a:off x="1454727" y="4975412"/>
            <a:ext cx="415636" cy="403412"/>
          </a:xfrm>
          <a:prstGeom prst="ellipse">
            <a:avLst/>
          </a:prstGeom>
          <a:solidFill>
            <a:srgbClr val="FF0000"/>
          </a:solidFill>
          <a:ln w="9525">
            <a:solidFill>
              <a:srgbClr val="FF0000"/>
            </a:solidFill>
            <a:round/>
            <a:headEnd/>
            <a:tailEnd/>
          </a:ln>
        </p:spPr>
        <p:txBody>
          <a:bodyPr wrap="none" lIns="82058" tIns="41029" rIns="82058" bIns="41029" anchor="ctr"/>
          <a:lstStyle/>
          <a:p>
            <a:pPr algn="ctr"/>
            <a:endParaRPr lang="en-US">
              <a:solidFill>
                <a:srgbClr val="FF1313"/>
              </a:solidFill>
            </a:endParaRPr>
          </a:p>
        </p:txBody>
      </p:sp>
      <p:sp>
        <p:nvSpPr>
          <p:cNvPr id="38929" name="Oval 31"/>
          <p:cNvSpPr>
            <a:spLocks noChangeArrowheads="1"/>
          </p:cNvSpPr>
          <p:nvPr/>
        </p:nvSpPr>
        <p:spPr bwMode="auto">
          <a:xfrm>
            <a:off x="2701636" y="5042647"/>
            <a:ext cx="346364" cy="403412"/>
          </a:xfrm>
          <a:prstGeom prst="ellipse">
            <a:avLst/>
          </a:prstGeom>
          <a:solidFill>
            <a:srgbClr val="00FF00"/>
          </a:solidFill>
          <a:ln w="9525">
            <a:solidFill>
              <a:schemeClr val="tx1"/>
            </a:solidFill>
            <a:round/>
            <a:headEnd/>
            <a:tailEnd/>
          </a:ln>
        </p:spPr>
        <p:txBody>
          <a:bodyPr wrap="none" lIns="82058" tIns="41029" rIns="82058" bIns="41029" anchor="ctr"/>
          <a:lstStyle/>
          <a:p>
            <a:endParaRPr lang="en-US"/>
          </a:p>
        </p:txBody>
      </p:sp>
      <p:sp>
        <p:nvSpPr>
          <p:cNvPr id="38930" name="Oval 32"/>
          <p:cNvSpPr>
            <a:spLocks noChangeArrowheads="1"/>
          </p:cNvSpPr>
          <p:nvPr/>
        </p:nvSpPr>
        <p:spPr bwMode="auto">
          <a:xfrm>
            <a:off x="4017818" y="5109882"/>
            <a:ext cx="484909" cy="470647"/>
          </a:xfrm>
          <a:prstGeom prst="ellipse">
            <a:avLst/>
          </a:prstGeom>
          <a:solidFill>
            <a:srgbClr val="FF0000"/>
          </a:solidFill>
          <a:ln w="9525">
            <a:solidFill>
              <a:srgbClr val="FF0000"/>
            </a:solidFill>
            <a:round/>
            <a:headEnd/>
            <a:tailEnd/>
          </a:ln>
        </p:spPr>
        <p:txBody>
          <a:bodyPr wrap="none" lIns="82058" tIns="41029" rIns="82058" bIns="41029" anchor="ctr"/>
          <a:lstStyle/>
          <a:p>
            <a:endParaRPr lang="en-US"/>
          </a:p>
        </p:txBody>
      </p:sp>
      <p:sp>
        <p:nvSpPr>
          <p:cNvPr id="38931" name="Oval 33"/>
          <p:cNvSpPr>
            <a:spLocks noChangeArrowheads="1"/>
          </p:cNvSpPr>
          <p:nvPr/>
        </p:nvSpPr>
        <p:spPr bwMode="auto">
          <a:xfrm>
            <a:off x="5680364" y="4706471"/>
            <a:ext cx="969818" cy="537882"/>
          </a:xfrm>
          <a:prstGeom prst="ellipse">
            <a:avLst/>
          </a:prstGeom>
          <a:solidFill>
            <a:srgbClr val="00FF00"/>
          </a:solidFill>
          <a:ln w="9525">
            <a:solidFill>
              <a:schemeClr val="tx1"/>
            </a:solidFill>
            <a:round/>
            <a:headEnd/>
            <a:tailEnd/>
          </a:ln>
        </p:spPr>
        <p:txBody>
          <a:bodyPr wrap="none" lIns="82058" tIns="41029" rIns="82058" bIns="41029" anchor="ctr"/>
          <a:lstStyle/>
          <a:p>
            <a:endParaRPr lang="en-US"/>
          </a:p>
        </p:txBody>
      </p:sp>
    </p:spTree>
    <p:extLst>
      <p:ext uri="{BB962C8B-B14F-4D97-AF65-F5344CB8AC3E}">
        <p14:creationId xmlns:p14="http://schemas.microsoft.com/office/powerpoint/2010/main" val="848970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normAutofit fontScale="92500"/>
          </a:bodyPr>
          <a:lstStyle/>
          <a:p>
            <a:r>
              <a:rPr lang="en-US" dirty="0"/>
              <a:t>Gestalt refers to </a:t>
            </a:r>
            <a:r>
              <a:rPr lang="en-US" i="1" dirty="0"/>
              <a:t>shape</a:t>
            </a:r>
            <a:r>
              <a:rPr lang="en-US" dirty="0"/>
              <a:t> or </a:t>
            </a:r>
            <a:r>
              <a:rPr lang="en-US" i="1" dirty="0"/>
              <a:t>form</a:t>
            </a:r>
            <a:r>
              <a:rPr lang="en-US" dirty="0"/>
              <a:t> in German.</a:t>
            </a:r>
          </a:p>
          <a:p>
            <a:r>
              <a:rPr lang="en-US" dirty="0"/>
              <a:t>They describe how the human eye perceives visual elements</a:t>
            </a:r>
          </a:p>
          <a:p>
            <a:r>
              <a:rPr lang="en-US" dirty="0"/>
              <a:t>In particular they tell us that complex images tend to be reduced to simpler shapes</a:t>
            </a:r>
          </a:p>
          <a:p>
            <a:r>
              <a:rPr lang="en-US" dirty="0"/>
              <a:t>The </a:t>
            </a:r>
            <a:r>
              <a:rPr lang="en-US" i="1" dirty="0"/>
              <a:t>whole</a:t>
            </a:r>
            <a:r>
              <a:rPr lang="en-US" dirty="0"/>
              <a:t> is other than the sum of </a:t>
            </a:r>
            <a:r>
              <a:rPr lang="en-US" i="1" dirty="0"/>
              <a:t>parts</a:t>
            </a:r>
          </a:p>
          <a:p>
            <a:pPr lvl="1"/>
            <a:r>
              <a:rPr lang="en-US" dirty="0"/>
              <a:t>The human eye and brain perceive a unified shape in a different way to the way they perceive the individual parts of those shapes. This global whole is a separate entity that is not necessarily formed by the sum of its parts</a:t>
            </a:r>
            <a:r>
              <a:rPr lang="en-US" i="1" dirty="0"/>
              <a:t>.</a:t>
            </a:r>
          </a:p>
          <a:p>
            <a:endParaRPr lang="en-US" dirty="0"/>
          </a:p>
        </p:txBody>
      </p:sp>
    </p:spTree>
    <p:extLst>
      <p:ext uri="{BB962C8B-B14F-4D97-AF65-F5344CB8AC3E}">
        <p14:creationId xmlns:p14="http://schemas.microsoft.com/office/powerpoint/2010/main" val="3608124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Gestalt principles (laws)</a:t>
            </a:r>
          </a:p>
        </p:txBody>
      </p:sp>
      <p:sp>
        <p:nvSpPr>
          <p:cNvPr id="3" name="Content Placeholder 2"/>
          <p:cNvSpPr>
            <a:spLocks noGrp="1"/>
          </p:cNvSpPr>
          <p:nvPr>
            <p:ph sz="quarter" idx="1"/>
          </p:nvPr>
        </p:nvSpPr>
        <p:spPr/>
        <p:txBody>
          <a:bodyPr/>
          <a:lstStyle/>
          <a:p>
            <a:r>
              <a:rPr lang="en-US" dirty="0"/>
              <a:t>When we fully understand Gestalt design principles, we can utilize them to create more interesting and engaging visual experiences for website and app users. </a:t>
            </a:r>
          </a:p>
          <a:p>
            <a:r>
              <a:rPr lang="en-US" dirty="0"/>
              <a:t>You can take advantage of these laws to design more thoughtfully and effectively, knowing exactly how your work can impact your users.</a:t>
            </a:r>
          </a:p>
        </p:txBody>
      </p:sp>
    </p:spTree>
    <p:extLst>
      <p:ext uri="{BB962C8B-B14F-4D97-AF65-F5344CB8AC3E}">
        <p14:creationId xmlns:p14="http://schemas.microsoft.com/office/powerpoint/2010/main" val="2543561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36867" name="Rectangle 3"/>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
        <p:nvSpPr>
          <p:cNvPr id="36868" name="Rectangle 4"/>
          <p:cNvSpPr>
            <a:spLocks noChangeArrowheads="1"/>
          </p:cNvSpPr>
          <p:nvPr/>
        </p:nvSpPr>
        <p:spPr bwMode="auto">
          <a:xfrm>
            <a:off x="685800" y="6248400"/>
            <a:ext cx="1905000" cy="457200"/>
          </a:xfrm>
          <a:prstGeom prst="rect">
            <a:avLst/>
          </a:prstGeom>
          <a:noFill/>
          <a:ln w="9525">
            <a:noFill/>
            <a:miter lim="800000"/>
            <a:headEnd/>
            <a:tailEnd/>
          </a:ln>
          <a:effectLst/>
        </p:spPr>
        <p:txBody>
          <a:bodyPr wrap="none" anchor="ctr"/>
          <a:lstStyle/>
          <a:p>
            <a:endParaRPr lang="en-US"/>
          </a:p>
        </p:txBody>
      </p:sp>
      <p:sp>
        <p:nvSpPr>
          <p:cNvPr id="36869" name="Rectangle 5"/>
          <p:cNvSpPr>
            <a:spLocks noChangeArrowheads="1"/>
          </p:cNvSpPr>
          <p:nvPr/>
        </p:nvSpPr>
        <p:spPr bwMode="auto">
          <a:xfrm>
            <a:off x="3124200" y="6248400"/>
            <a:ext cx="2895600" cy="457200"/>
          </a:xfrm>
          <a:prstGeom prst="rect">
            <a:avLst/>
          </a:prstGeom>
          <a:noFill/>
          <a:ln w="9525">
            <a:noFill/>
            <a:miter lim="800000"/>
            <a:headEnd/>
            <a:tailEnd/>
          </a:ln>
          <a:effectLst/>
        </p:spPr>
        <p:txBody>
          <a:bodyPr wrap="none" anchor="ctr"/>
          <a:lstStyle/>
          <a:p>
            <a:endParaRPr lang="en-US"/>
          </a:p>
        </p:txBody>
      </p:sp>
      <p:sp>
        <p:nvSpPr>
          <p:cNvPr id="36870" name="Rectangle 6"/>
          <p:cNvSpPr>
            <a:spLocks noGrp="1" noChangeArrowheads="1"/>
          </p:cNvSpPr>
          <p:nvPr>
            <p:ph type="title"/>
          </p:nvPr>
        </p:nvSpPr>
        <p:spPr>
          <a:xfrm>
            <a:off x="533400" y="457200"/>
            <a:ext cx="8229600" cy="762000"/>
          </a:xfrm>
          <a:noFill/>
          <a:ln/>
        </p:spPr>
        <p:txBody>
          <a:bodyPr lIns="90488" tIns="44450" rIns="90488" bIns="44450"/>
          <a:lstStyle/>
          <a:p>
            <a:pPr>
              <a:lnSpc>
                <a:spcPct val="90000"/>
              </a:lnSpc>
            </a:pPr>
            <a:r>
              <a:rPr lang="en-US" dirty="0"/>
              <a:t>Gestalt principles (laws)</a:t>
            </a:r>
          </a:p>
        </p:txBody>
      </p:sp>
      <p:sp>
        <p:nvSpPr>
          <p:cNvPr id="36871" name="Rectangle 7"/>
          <p:cNvSpPr>
            <a:spLocks noGrp="1" noChangeArrowheads="1"/>
          </p:cNvSpPr>
          <p:nvPr>
            <p:ph sz="quarter" idx="1"/>
          </p:nvPr>
        </p:nvSpPr>
        <p:spPr>
          <a:xfrm>
            <a:off x="495300" y="1600200"/>
            <a:ext cx="8153400" cy="4876800"/>
          </a:xfrm>
          <a:noFill/>
          <a:ln/>
        </p:spPr>
        <p:txBody>
          <a:bodyPr lIns="92075" tIns="46038" rIns="92075" bIns="46038">
            <a:normAutofit/>
          </a:bodyPr>
          <a:lstStyle/>
          <a:p>
            <a:pPr marL="685800" indent="-457200">
              <a:buFont typeface="+mj-lt"/>
              <a:buAutoNum type="arabicPeriod"/>
            </a:pPr>
            <a:r>
              <a:rPr lang="en-US" sz="2400" dirty="0"/>
              <a:t>Proximity</a:t>
            </a:r>
          </a:p>
          <a:p>
            <a:pPr marL="685800" indent="-457200">
              <a:buFont typeface="+mj-lt"/>
              <a:buAutoNum type="arabicPeriod"/>
            </a:pPr>
            <a:r>
              <a:rPr lang="en-US" sz="2400" dirty="0"/>
              <a:t>Symmetry</a:t>
            </a:r>
          </a:p>
          <a:p>
            <a:pPr marL="685800" indent="-457200">
              <a:buFont typeface="+mj-lt"/>
              <a:buAutoNum type="arabicPeriod"/>
            </a:pPr>
            <a:r>
              <a:rPr lang="en-US" sz="2400" dirty="0"/>
              <a:t>Closure</a:t>
            </a:r>
          </a:p>
          <a:p>
            <a:pPr marL="685800" indent="-457200">
              <a:buFont typeface="+mj-lt"/>
              <a:buAutoNum type="arabicPeriod"/>
            </a:pPr>
            <a:r>
              <a:rPr lang="en-US" sz="2400" dirty="0"/>
              <a:t>Similarity</a:t>
            </a:r>
          </a:p>
          <a:p>
            <a:pPr marL="685800" indent="-457200">
              <a:buFont typeface="+mj-lt"/>
              <a:buAutoNum type="arabicPeriod"/>
            </a:pPr>
            <a:r>
              <a:rPr lang="en-US" sz="2400" dirty="0"/>
              <a:t>Common fate</a:t>
            </a:r>
          </a:p>
          <a:p>
            <a:pPr marL="685800" indent="-457200">
              <a:buFont typeface="+mj-lt"/>
              <a:buAutoNum type="arabicPeriod"/>
            </a:pPr>
            <a:r>
              <a:rPr lang="en-US" sz="2400" dirty="0"/>
              <a:t>Continuity</a:t>
            </a:r>
          </a:p>
          <a:p>
            <a:pPr marL="685800" indent="-457200">
              <a:buFont typeface="+mj-lt"/>
              <a:buAutoNum type="arabicPeriod"/>
            </a:pPr>
            <a:r>
              <a:rPr lang="en-US" sz="2400" dirty="0"/>
              <a:t>Figure-ground</a:t>
            </a:r>
            <a:endParaRPr lang="en-US" sz="2200" dirty="0"/>
          </a:p>
          <a:p>
            <a:pPr marL="640080" indent="-457200">
              <a:buFont typeface="+mj-lt"/>
              <a:buAutoNum type="arabicPeriod"/>
            </a:pPr>
            <a:r>
              <a:rPr lang="en-US" sz="2500" dirty="0"/>
              <a:t>Connectedness </a:t>
            </a:r>
          </a:p>
          <a:p>
            <a:pPr marL="640080" indent="-457200">
              <a:buFont typeface="+mj-lt"/>
              <a:buAutoNum type="arabicPeriod"/>
            </a:pPr>
            <a:r>
              <a:rPr lang="en-US" sz="2500" dirty="0"/>
              <a:t>Simplicity </a:t>
            </a:r>
          </a:p>
          <a:p>
            <a:pPr marL="640080" indent="-457200">
              <a:buFont typeface="+mj-lt"/>
              <a:buAutoNum type="arabicPeriod"/>
            </a:pPr>
            <a:r>
              <a:rPr lang="en-US" sz="2500" dirty="0"/>
              <a:t>Past Experience </a:t>
            </a:r>
          </a:p>
        </p:txBody>
      </p:sp>
    </p:spTree>
    <p:extLst>
      <p:ext uri="{BB962C8B-B14F-4D97-AF65-F5344CB8AC3E}">
        <p14:creationId xmlns:p14="http://schemas.microsoft.com/office/powerpoint/2010/main" val="31271847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6871">
                                            <p:txEl>
                                              <p:pRg st="0" end="0"/>
                                            </p:txEl>
                                          </p:spTgt>
                                        </p:tgtEl>
                                        <p:attrNameLst>
                                          <p:attrName>style.visibility</p:attrName>
                                        </p:attrNameLst>
                                      </p:cBhvr>
                                      <p:to>
                                        <p:strVal val="visible"/>
                                      </p:to>
                                    </p:set>
                                    <p:animEffect transition="in" filter="strips(downRight)">
                                      <p:cBhvr>
                                        <p:cTn id="7" dur="500"/>
                                        <p:tgtEl>
                                          <p:spTgt spid="368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871">
                                            <p:txEl>
                                              <p:pRg st="1" end="1"/>
                                            </p:txEl>
                                          </p:spTgt>
                                        </p:tgtEl>
                                        <p:attrNameLst>
                                          <p:attrName>style.visibility</p:attrName>
                                        </p:attrNameLst>
                                      </p:cBhvr>
                                      <p:to>
                                        <p:strVal val="visible"/>
                                      </p:to>
                                    </p:set>
                                    <p:animEffect transition="in" filter="strips(downRight)">
                                      <p:cBhvr>
                                        <p:cTn id="12" dur="500"/>
                                        <p:tgtEl>
                                          <p:spTgt spid="368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6871">
                                            <p:txEl>
                                              <p:pRg st="2" end="2"/>
                                            </p:txEl>
                                          </p:spTgt>
                                        </p:tgtEl>
                                        <p:attrNameLst>
                                          <p:attrName>style.visibility</p:attrName>
                                        </p:attrNameLst>
                                      </p:cBhvr>
                                      <p:to>
                                        <p:strVal val="visible"/>
                                      </p:to>
                                    </p:set>
                                    <p:animEffect transition="in" filter="strips(downRight)">
                                      <p:cBhvr>
                                        <p:cTn id="17" dur="500"/>
                                        <p:tgtEl>
                                          <p:spTgt spid="368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6871">
                                            <p:txEl>
                                              <p:pRg st="3" end="3"/>
                                            </p:txEl>
                                          </p:spTgt>
                                        </p:tgtEl>
                                        <p:attrNameLst>
                                          <p:attrName>style.visibility</p:attrName>
                                        </p:attrNameLst>
                                      </p:cBhvr>
                                      <p:to>
                                        <p:strVal val="visible"/>
                                      </p:to>
                                    </p:set>
                                    <p:animEffect transition="in" filter="strips(downRight)">
                                      <p:cBhvr>
                                        <p:cTn id="22" dur="500"/>
                                        <p:tgtEl>
                                          <p:spTgt spid="368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36871">
                                            <p:txEl>
                                              <p:pRg st="4" end="4"/>
                                            </p:txEl>
                                          </p:spTgt>
                                        </p:tgtEl>
                                        <p:attrNameLst>
                                          <p:attrName>style.visibility</p:attrName>
                                        </p:attrNameLst>
                                      </p:cBhvr>
                                      <p:to>
                                        <p:strVal val="visible"/>
                                      </p:to>
                                    </p:set>
                                    <p:animEffect transition="in" filter="strips(downRight)">
                                      <p:cBhvr>
                                        <p:cTn id="27" dur="500"/>
                                        <p:tgtEl>
                                          <p:spTgt spid="368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36871">
                                            <p:txEl>
                                              <p:pRg st="5" end="5"/>
                                            </p:txEl>
                                          </p:spTgt>
                                        </p:tgtEl>
                                        <p:attrNameLst>
                                          <p:attrName>style.visibility</p:attrName>
                                        </p:attrNameLst>
                                      </p:cBhvr>
                                      <p:to>
                                        <p:strVal val="visible"/>
                                      </p:to>
                                    </p:set>
                                    <p:animEffect transition="in" filter="strips(downRight)">
                                      <p:cBhvr>
                                        <p:cTn id="32" dur="500"/>
                                        <p:tgtEl>
                                          <p:spTgt spid="368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36871">
                                            <p:txEl>
                                              <p:pRg st="6" end="6"/>
                                            </p:txEl>
                                          </p:spTgt>
                                        </p:tgtEl>
                                        <p:attrNameLst>
                                          <p:attrName>style.visibility</p:attrName>
                                        </p:attrNameLst>
                                      </p:cBhvr>
                                      <p:to>
                                        <p:strVal val="visible"/>
                                      </p:to>
                                    </p:set>
                                    <p:animEffect transition="in" filter="strips(downRight)">
                                      <p:cBhvr>
                                        <p:cTn id="37" dur="500"/>
                                        <p:tgtEl>
                                          <p:spTgt spid="368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36871">
                                            <p:txEl>
                                              <p:pRg st="7" end="7"/>
                                            </p:txEl>
                                          </p:spTgt>
                                        </p:tgtEl>
                                        <p:attrNameLst>
                                          <p:attrName>style.visibility</p:attrName>
                                        </p:attrNameLst>
                                      </p:cBhvr>
                                      <p:to>
                                        <p:strVal val="visible"/>
                                      </p:to>
                                    </p:set>
                                    <p:animEffect transition="in" filter="strips(downRight)">
                                      <p:cBhvr>
                                        <p:cTn id="42" dur="500"/>
                                        <p:tgtEl>
                                          <p:spTgt spid="368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36871">
                                            <p:txEl>
                                              <p:pRg st="8" end="8"/>
                                            </p:txEl>
                                          </p:spTgt>
                                        </p:tgtEl>
                                        <p:attrNameLst>
                                          <p:attrName>style.visibility</p:attrName>
                                        </p:attrNameLst>
                                      </p:cBhvr>
                                      <p:to>
                                        <p:strVal val="visible"/>
                                      </p:to>
                                    </p:set>
                                    <p:animEffect transition="in" filter="strips(downRight)">
                                      <p:cBhvr>
                                        <p:cTn id="47" dur="500"/>
                                        <p:tgtEl>
                                          <p:spTgt spid="368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36871">
                                            <p:txEl>
                                              <p:pRg st="9" end="9"/>
                                            </p:txEl>
                                          </p:spTgt>
                                        </p:tgtEl>
                                        <p:attrNameLst>
                                          <p:attrName>style.visibility</p:attrName>
                                        </p:attrNameLst>
                                      </p:cBhvr>
                                      <p:to>
                                        <p:strVal val="visible"/>
                                      </p:to>
                                    </p:set>
                                    <p:animEffect transition="in" filter="strips(downRight)">
                                      <p:cBhvr>
                                        <p:cTn id="52" dur="500"/>
                                        <p:tgtEl>
                                          <p:spTgt spid="368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743200"/>
            <a:ext cx="7808913" cy="3886200"/>
          </a:xfrm>
        </p:spPr>
        <p:txBody>
          <a:bodyPr/>
          <a:lstStyle/>
          <a:p>
            <a:r>
              <a:rPr lang="en-US" dirty="0"/>
              <a:t>Objects that are near to each other are seen as being more related than objects that are father apart.</a:t>
            </a:r>
          </a:p>
          <a:p>
            <a:endParaRPr lang="en-US" dirty="0"/>
          </a:p>
          <a:p>
            <a:endParaRPr lang="en-US" dirty="0"/>
          </a:p>
        </p:txBody>
      </p:sp>
      <p:sp>
        <p:nvSpPr>
          <p:cNvPr id="2" name="Title 1"/>
          <p:cNvSpPr>
            <a:spLocks noGrp="1"/>
          </p:cNvSpPr>
          <p:nvPr>
            <p:ph type="title"/>
          </p:nvPr>
        </p:nvSpPr>
        <p:spPr/>
        <p:txBody>
          <a:bodyPr/>
          <a:lstStyle/>
          <a:p>
            <a:r>
              <a:rPr lang="en-US" dirty="0"/>
              <a:t>Principle of Proximity </a:t>
            </a:r>
          </a:p>
        </p:txBody>
      </p:sp>
    </p:spTree>
    <p:extLst>
      <p:ext uri="{BB962C8B-B14F-4D97-AF65-F5344CB8AC3E}">
        <p14:creationId xmlns:p14="http://schemas.microsoft.com/office/powerpoint/2010/main" val="3911461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sp>
        <p:nvSpPr>
          <p:cNvPr id="3" name="Content Placeholder 2"/>
          <p:cNvSpPr>
            <a:spLocks noGrp="1"/>
          </p:cNvSpPr>
          <p:nvPr>
            <p:ph sz="quarter" idx="1"/>
          </p:nvPr>
        </p:nvSpPr>
        <p:spPr/>
        <p:txBody>
          <a:bodyPr>
            <a:normAutofit fontScale="92500" lnSpcReduction="20000"/>
          </a:bodyPr>
          <a:lstStyle/>
          <a:p>
            <a:r>
              <a:rPr lang="en-US" dirty="0"/>
              <a:t>The distance between objects effects our perception of the objects.</a:t>
            </a:r>
          </a:p>
          <a:p>
            <a:r>
              <a:rPr lang="en-US" dirty="0"/>
              <a:t>Are the objects grouped, or not?</a:t>
            </a:r>
          </a:p>
          <a:p>
            <a:r>
              <a:rPr lang="en-US" dirty="0"/>
              <a:t>Objects that are close together are perceived as being grouped.</a:t>
            </a:r>
          </a:p>
          <a:p>
            <a:r>
              <a:rPr lang="en-US" dirty="0"/>
              <a:t>If your intent is that items in a user interface are to be “read” by the user as being grouped, place them in close proximity.</a:t>
            </a:r>
          </a:p>
          <a:p>
            <a:r>
              <a:rPr lang="en-US" dirty="0"/>
              <a:t>If items in the user interface are not intended to be “read” as being grouped, be careful to allow  enough space between them.</a:t>
            </a:r>
          </a:p>
        </p:txBody>
      </p:sp>
    </p:spTree>
    <p:extLst>
      <p:ext uri="{BB962C8B-B14F-4D97-AF65-F5344CB8AC3E}">
        <p14:creationId xmlns:p14="http://schemas.microsoft.com/office/powerpoint/2010/main" val="2788328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pic>
        <p:nvPicPr>
          <p:cNvPr id="4" name="Picture 3"/>
          <p:cNvPicPr>
            <a:picLocks noChangeAspect="1"/>
          </p:cNvPicPr>
          <p:nvPr/>
        </p:nvPicPr>
        <p:blipFill>
          <a:blip r:embed="rId2"/>
          <a:stretch>
            <a:fillRect/>
          </a:stretch>
        </p:blipFill>
        <p:spPr>
          <a:xfrm>
            <a:off x="0" y="2125878"/>
            <a:ext cx="9144000" cy="3939172"/>
          </a:xfrm>
          <a:prstGeom prst="rect">
            <a:avLst/>
          </a:prstGeom>
        </p:spPr>
      </p:pic>
    </p:spTree>
    <p:extLst>
      <p:ext uri="{BB962C8B-B14F-4D97-AF65-F5344CB8AC3E}">
        <p14:creationId xmlns:p14="http://schemas.microsoft.com/office/powerpoint/2010/main" val="1656045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pic>
        <p:nvPicPr>
          <p:cNvPr id="4" name="Picture 3"/>
          <p:cNvPicPr>
            <a:picLocks noChangeAspect="1"/>
          </p:cNvPicPr>
          <p:nvPr/>
        </p:nvPicPr>
        <p:blipFill>
          <a:blip r:embed="rId2"/>
          <a:stretch>
            <a:fillRect/>
          </a:stretch>
        </p:blipFill>
        <p:spPr>
          <a:xfrm>
            <a:off x="0" y="2438400"/>
            <a:ext cx="9105057" cy="3874195"/>
          </a:xfrm>
          <a:prstGeom prst="rect">
            <a:avLst/>
          </a:prstGeom>
        </p:spPr>
      </p:pic>
    </p:spTree>
    <p:extLst>
      <p:ext uri="{BB962C8B-B14F-4D97-AF65-F5344CB8AC3E}">
        <p14:creationId xmlns:p14="http://schemas.microsoft.com/office/powerpoint/2010/main" val="667455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a:t>
            </a:r>
          </a:p>
        </p:txBody>
      </p:sp>
      <p:pic>
        <p:nvPicPr>
          <p:cNvPr id="4" name="Picture 3"/>
          <p:cNvPicPr>
            <a:picLocks noChangeAspect="1"/>
          </p:cNvPicPr>
          <p:nvPr/>
        </p:nvPicPr>
        <p:blipFill>
          <a:blip r:embed="rId2"/>
          <a:stretch>
            <a:fillRect/>
          </a:stretch>
        </p:blipFill>
        <p:spPr>
          <a:xfrm>
            <a:off x="587710" y="1600200"/>
            <a:ext cx="4271554" cy="3200400"/>
          </a:xfrm>
          <a:prstGeom prst="rect">
            <a:avLst/>
          </a:prstGeom>
        </p:spPr>
      </p:pic>
      <p:pic>
        <p:nvPicPr>
          <p:cNvPr id="5" name="Picture 4"/>
          <p:cNvPicPr>
            <a:picLocks noChangeAspect="1"/>
          </p:cNvPicPr>
          <p:nvPr/>
        </p:nvPicPr>
        <p:blipFill>
          <a:blip r:embed="rId3"/>
          <a:stretch>
            <a:fillRect/>
          </a:stretch>
        </p:blipFill>
        <p:spPr>
          <a:xfrm>
            <a:off x="5615482" y="1600200"/>
            <a:ext cx="3340308" cy="3200400"/>
          </a:xfrm>
          <a:prstGeom prst="rect">
            <a:avLst/>
          </a:prstGeom>
        </p:spPr>
      </p:pic>
    </p:spTree>
    <p:extLst>
      <p:ext uri="{BB962C8B-B14F-4D97-AF65-F5344CB8AC3E}">
        <p14:creationId xmlns:p14="http://schemas.microsoft.com/office/powerpoint/2010/main" val="2011909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before"/>
          <p:cNvPicPr>
            <a:picLocks noGrp="1" noChangeAspect="1" noChangeArrowheads="1"/>
          </p:cNvPicPr>
          <p:nvPr>
            <p:ph idx="4294967295"/>
          </p:nvPr>
        </p:nvPicPr>
        <p:blipFill>
          <a:blip r:embed="rId3" cstate="print"/>
          <a:srcRect/>
          <a:stretch>
            <a:fillRect/>
          </a:stretch>
        </p:blipFill>
        <p:spPr>
          <a:xfrm>
            <a:off x="0" y="0"/>
            <a:ext cx="8880475" cy="6858000"/>
          </a:xfrm>
          <a:noFill/>
          <a:ln/>
        </p:spPr>
      </p:pic>
    </p:spTree>
    <p:extLst>
      <p:ext uri="{BB962C8B-B14F-4D97-AF65-F5344CB8AC3E}">
        <p14:creationId xmlns:p14="http://schemas.microsoft.com/office/powerpoint/2010/main" val="83690168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BetterProximity"/>
          <p:cNvPicPr>
            <a:picLocks noGrp="1" noChangeAspect="1" noChangeArrowheads="1"/>
          </p:cNvPicPr>
          <p:nvPr>
            <p:ph idx="4294967295"/>
          </p:nvPr>
        </p:nvPicPr>
        <p:blipFill>
          <a:blip r:embed="rId3" cstate="print"/>
          <a:stretch>
            <a:fillRect/>
          </a:stretch>
        </p:blipFill>
        <p:spPr>
          <a:xfrm>
            <a:off x="-1" y="9698"/>
            <a:ext cx="8966073" cy="6848302"/>
          </a:xfrm>
          <a:noFill/>
          <a:ln/>
        </p:spPr>
      </p:pic>
    </p:spTree>
    <p:extLst>
      <p:ext uri="{BB962C8B-B14F-4D97-AF65-F5344CB8AC3E}">
        <p14:creationId xmlns:p14="http://schemas.microsoft.com/office/powerpoint/2010/main" val="365323096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descr="http://images.sixrevisions.com/2010/08/18-07_yahoo_web_form.png"/>
          <p:cNvPicPr>
            <a:picLocks noChangeAspect="1" noChangeArrowheads="1"/>
          </p:cNvPicPr>
          <p:nvPr/>
        </p:nvPicPr>
        <p:blipFill rotWithShape="1">
          <a:blip r:embed="rId2" cstate="print"/>
          <a:srcRect l="8748" t="3333" r="7277" b="1111"/>
          <a:stretch/>
        </p:blipFill>
        <p:spPr bwMode="auto">
          <a:xfrm>
            <a:off x="33251" y="0"/>
            <a:ext cx="7655443" cy="6858000"/>
          </a:xfrm>
          <a:prstGeom prst="rect">
            <a:avLst/>
          </a:prstGeom>
          <a:noFill/>
        </p:spPr>
      </p:pic>
    </p:spTree>
    <p:extLst>
      <p:ext uri="{BB962C8B-B14F-4D97-AF65-F5344CB8AC3E}">
        <p14:creationId xmlns:p14="http://schemas.microsoft.com/office/powerpoint/2010/main" val="12393291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 </a:t>
            </a:r>
          </a:p>
        </p:txBody>
      </p:sp>
      <p:pic>
        <p:nvPicPr>
          <p:cNvPr id="4" name="Picture 8" descr="ebay"/>
          <p:cNvPicPr>
            <a:picLocks noChangeAspect="1" noChangeArrowheads="1"/>
          </p:cNvPicPr>
          <p:nvPr/>
        </p:nvPicPr>
        <p:blipFill>
          <a:blip r:embed="rId2" cstate="print"/>
          <a:srcRect/>
          <a:stretch>
            <a:fillRect/>
          </a:stretch>
        </p:blipFill>
        <p:spPr bwMode="auto">
          <a:xfrm>
            <a:off x="685800" y="4240213"/>
            <a:ext cx="8077200" cy="2008187"/>
          </a:xfrm>
          <a:prstGeom prst="rect">
            <a:avLst/>
          </a:prstGeom>
          <a:noFill/>
        </p:spPr>
      </p:pic>
      <p:pic>
        <p:nvPicPr>
          <p:cNvPr id="5" name="Picture 9" descr="coastalliving"/>
          <p:cNvPicPr>
            <a:picLocks noChangeAspect="1" noChangeArrowheads="1"/>
          </p:cNvPicPr>
          <p:nvPr/>
        </p:nvPicPr>
        <p:blipFill>
          <a:blip r:embed="rId3" cstate="print"/>
          <a:srcRect b="37254"/>
          <a:stretch>
            <a:fillRect/>
          </a:stretch>
        </p:blipFill>
        <p:spPr bwMode="auto">
          <a:xfrm>
            <a:off x="838200" y="1600200"/>
            <a:ext cx="3124200" cy="2382838"/>
          </a:xfrm>
          <a:prstGeom prst="rect">
            <a:avLst/>
          </a:prstGeom>
          <a:noFill/>
        </p:spPr>
      </p:pic>
      <p:pic>
        <p:nvPicPr>
          <p:cNvPr id="6" name="Picture 10" descr="lowes"/>
          <p:cNvPicPr>
            <a:picLocks noChangeAspect="1" noChangeArrowheads="1"/>
          </p:cNvPicPr>
          <p:nvPr/>
        </p:nvPicPr>
        <p:blipFill>
          <a:blip r:embed="rId4" cstate="print"/>
          <a:srcRect r="33080"/>
          <a:stretch>
            <a:fillRect/>
          </a:stretch>
        </p:blipFill>
        <p:spPr bwMode="auto">
          <a:xfrm>
            <a:off x="5029200" y="1905000"/>
            <a:ext cx="3352800" cy="1981200"/>
          </a:xfrm>
          <a:prstGeom prst="rect">
            <a:avLst/>
          </a:prstGeom>
          <a:noFill/>
        </p:spPr>
      </p:pic>
    </p:spTree>
    <p:extLst>
      <p:ext uri="{BB962C8B-B14F-4D97-AF65-F5344CB8AC3E}">
        <p14:creationId xmlns:p14="http://schemas.microsoft.com/office/powerpoint/2010/main" val="111801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Proximity </a:t>
            </a:r>
          </a:p>
        </p:txBody>
      </p:sp>
      <p:pic>
        <p:nvPicPr>
          <p:cNvPr id="239618" name="Picture 2"/>
          <p:cNvPicPr>
            <a:picLocks noChangeAspect="1" noChangeArrowheads="1"/>
          </p:cNvPicPr>
          <p:nvPr/>
        </p:nvPicPr>
        <p:blipFill>
          <a:blip r:embed="rId2" cstate="print"/>
          <a:srcRect/>
          <a:stretch>
            <a:fillRect/>
          </a:stretch>
        </p:blipFill>
        <p:spPr bwMode="auto">
          <a:xfrm>
            <a:off x="13114" y="2451480"/>
            <a:ext cx="4330286" cy="2536815"/>
          </a:xfrm>
          <a:prstGeom prst="rect">
            <a:avLst/>
          </a:prstGeom>
          <a:noFill/>
          <a:ln w="9525">
            <a:noFill/>
            <a:miter lim="800000"/>
            <a:headEnd/>
            <a:tailEnd/>
          </a:ln>
          <a:effectLst/>
        </p:spPr>
      </p:pic>
      <p:pic>
        <p:nvPicPr>
          <p:cNvPr id="239619" name="Picture 3"/>
          <p:cNvPicPr>
            <a:picLocks noChangeAspect="1" noChangeArrowheads="1"/>
          </p:cNvPicPr>
          <p:nvPr/>
        </p:nvPicPr>
        <p:blipFill>
          <a:blip r:embed="rId3" cstate="print"/>
          <a:srcRect/>
          <a:stretch>
            <a:fillRect/>
          </a:stretch>
        </p:blipFill>
        <p:spPr bwMode="auto">
          <a:xfrm>
            <a:off x="4648200" y="2495806"/>
            <a:ext cx="4495800" cy="2492490"/>
          </a:xfrm>
          <a:prstGeom prst="rect">
            <a:avLst/>
          </a:prstGeom>
          <a:noFill/>
          <a:ln w="9525">
            <a:noFill/>
            <a:miter lim="800000"/>
            <a:headEnd/>
            <a:tailEnd/>
          </a:ln>
          <a:effectLst/>
        </p:spPr>
      </p:pic>
    </p:spTree>
    <p:extLst>
      <p:ext uri="{BB962C8B-B14F-4D97-AF65-F5344CB8AC3E}">
        <p14:creationId xmlns:p14="http://schemas.microsoft.com/office/powerpoint/2010/main" val="2785577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2000" y="2743200"/>
            <a:ext cx="7732713" cy="1673225"/>
          </a:xfrm>
        </p:spPr>
        <p:txBody>
          <a:bodyPr>
            <a:normAutofit fontScale="92500" lnSpcReduction="10000"/>
          </a:bodyPr>
          <a:lstStyle/>
          <a:p>
            <a:r>
              <a:rPr lang="en-US" dirty="0"/>
              <a:t>The human eye tends to build a relationship between similar elements within a design. Similarity can be achieved using basic elements such as shapes, colors, and size.</a:t>
            </a:r>
          </a:p>
        </p:txBody>
      </p:sp>
      <p:sp>
        <p:nvSpPr>
          <p:cNvPr id="2" name="Title 1"/>
          <p:cNvSpPr>
            <a:spLocks noGrp="1"/>
          </p:cNvSpPr>
          <p:nvPr>
            <p:ph type="title"/>
          </p:nvPr>
        </p:nvSpPr>
        <p:spPr/>
        <p:txBody>
          <a:bodyPr>
            <a:normAutofit/>
          </a:bodyPr>
          <a:lstStyle/>
          <a:p>
            <a:r>
              <a:rPr lang="en-US" dirty="0"/>
              <a:t>Principle of Similarity </a:t>
            </a:r>
          </a:p>
        </p:txBody>
      </p:sp>
    </p:spTree>
    <p:extLst>
      <p:ext uri="{BB962C8B-B14F-4D97-AF65-F5344CB8AC3E}">
        <p14:creationId xmlns:p14="http://schemas.microsoft.com/office/powerpoint/2010/main" val="713067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Similarity </a:t>
            </a:r>
          </a:p>
        </p:txBody>
      </p:sp>
      <p:sp>
        <p:nvSpPr>
          <p:cNvPr id="3" name="Content Placeholder 2"/>
          <p:cNvSpPr>
            <a:spLocks noGrp="1"/>
          </p:cNvSpPr>
          <p:nvPr>
            <p:ph sz="quarter" idx="1"/>
          </p:nvPr>
        </p:nvSpPr>
        <p:spPr/>
        <p:txBody>
          <a:bodyPr/>
          <a:lstStyle/>
          <a:p>
            <a:r>
              <a:rPr lang="en-US" dirty="0"/>
              <a:t>Objects that look similar appear to be grouped</a:t>
            </a:r>
          </a:p>
          <a:p>
            <a:r>
              <a:rPr lang="en-US" dirty="0"/>
              <a:t>This is a good thing, when it is done intentionally</a:t>
            </a:r>
          </a:p>
          <a:p>
            <a:r>
              <a:rPr lang="en-US" dirty="0"/>
              <a:t>Often, objects in an interface are similar enough that they are misinterpreted as being related. This can be overcome by using the law of Proximity.</a:t>
            </a:r>
          </a:p>
        </p:txBody>
      </p:sp>
    </p:spTree>
    <p:extLst>
      <p:ext uri="{BB962C8B-B14F-4D97-AF65-F5344CB8AC3E}">
        <p14:creationId xmlns:p14="http://schemas.microsoft.com/office/powerpoint/2010/main" val="2128892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4400" y="0"/>
            <a:ext cx="6048375" cy="1845127"/>
          </a:xfrm>
          <a:prstGeom prst="rect">
            <a:avLst/>
          </a:prstGeom>
        </p:spPr>
      </p:pic>
      <p:pic>
        <p:nvPicPr>
          <p:cNvPr id="5" name="Picture 4"/>
          <p:cNvPicPr>
            <a:picLocks noChangeAspect="1"/>
          </p:cNvPicPr>
          <p:nvPr/>
        </p:nvPicPr>
        <p:blipFill>
          <a:blip r:embed="rId3"/>
          <a:stretch>
            <a:fillRect/>
          </a:stretch>
        </p:blipFill>
        <p:spPr>
          <a:xfrm>
            <a:off x="1733843" y="1947203"/>
            <a:ext cx="5210175" cy="2417982"/>
          </a:xfrm>
          <a:prstGeom prst="rect">
            <a:avLst/>
          </a:prstGeom>
        </p:spPr>
      </p:pic>
      <p:pic>
        <p:nvPicPr>
          <p:cNvPr id="6" name="Picture 5"/>
          <p:cNvPicPr>
            <a:picLocks noChangeAspect="1"/>
          </p:cNvPicPr>
          <p:nvPr/>
        </p:nvPicPr>
        <p:blipFill>
          <a:blip r:embed="rId4"/>
          <a:stretch>
            <a:fillRect/>
          </a:stretch>
        </p:blipFill>
        <p:spPr>
          <a:xfrm>
            <a:off x="1818494" y="4467261"/>
            <a:ext cx="5146626" cy="2094145"/>
          </a:xfrm>
          <a:prstGeom prst="rect">
            <a:avLst/>
          </a:prstGeom>
        </p:spPr>
      </p:pic>
    </p:spTree>
    <p:extLst>
      <p:ext uri="{BB962C8B-B14F-4D97-AF65-F5344CB8AC3E}">
        <p14:creationId xmlns:p14="http://schemas.microsoft.com/office/powerpoint/2010/main" val="657671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Similarity </a:t>
            </a:r>
          </a:p>
        </p:txBody>
      </p:sp>
      <p:pic>
        <p:nvPicPr>
          <p:cNvPr id="261123" name="Picture 3"/>
          <p:cNvPicPr>
            <a:picLocks noChangeAspect="1" noChangeArrowheads="1"/>
          </p:cNvPicPr>
          <p:nvPr/>
        </p:nvPicPr>
        <p:blipFill>
          <a:blip r:embed="rId2" cstate="print"/>
          <a:srcRect/>
          <a:stretch>
            <a:fillRect/>
          </a:stretch>
        </p:blipFill>
        <p:spPr bwMode="auto">
          <a:xfrm>
            <a:off x="685800" y="1714500"/>
            <a:ext cx="7931362" cy="3848100"/>
          </a:xfrm>
          <a:prstGeom prst="rect">
            <a:avLst/>
          </a:prstGeom>
          <a:noFill/>
          <a:ln w="9525">
            <a:noFill/>
            <a:miter lim="800000"/>
            <a:headEnd/>
            <a:tailEnd/>
          </a:ln>
          <a:effectLst/>
        </p:spPr>
      </p:pic>
    </p:spTree>
    <p:extLst>
      <p:ext uri="{BB962C8B-B14F-4D97-AF65-F5344CB8AC3E}">
        <p14:creationId xmlns:p14="http://schemas.microsoft.com/office/powerpoint/2010/main" val="2452174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Similarity </a:t>
            </a:r>
          </a:p>
        </p:txBody>
      </p:sp>
      <p:pic>
        <p:nvPicPr>
          <p:cNvPr id="179202" name="Picture 2" descr="Source: Mads Soegaard"/>
          <p:cNvPicPr>
            <a:picLocks noChangeAspect="1" noChangeArrowheads="1"/>
          </p:cNvPicPr>
          <p:nvPr/>
        </p:nvPicPr>
        <p:blipFill>
          <a:blip r:embed="rId2" cstate="print"/>
          <a:srcRect/>
          <a:stretch>
            <a:fillRect/>
          </a:stretch>
        </p:blipFill>
        <p:spPr bwMode="auto">
          <a:xfrm>
            <a:off x="1967552" y="1371600"/>
            <a:ext cx="5633144" cy="5334000"/>
          </a:xfrm>
          <a:prstGeom prst="rect">
            <a:avLst/>
          </a:prstGeom>
          <a:noFill/>
        </p:spPr>
      </p:pic>
    </p:spTree>
    <p:extLst>
      <p:ext uri="{BB962C8B-B14F-4D97-AF65-F5344CB8AC3E}">
        <p14:creationId xmlns:p14="http://schemas.microsoft.com/office/powerpoint/2010/main" val="1574582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4648200" cy="914401"/>
          </a:xfrm>
        </p:spPr>
        <p:txBody>
          <a:bodyPr>
            <a:normAutofit fontScale="90000"/>
          </a:bodyPr>
          <a:lstStyle/>
          <a:p>
            <a:r>
              <a:rPr lang="en-US" dirty="0"/>
              <a:t>Principle of Similarity </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62113"/>
            <a:ext cx="7572375" cy="511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1462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5988" t="10417" r="27159" b="8333"/>
          <a:stretch/>
        </p:blipFill>
        <p:spPr>
          <a:xfrm>
            <a:off x="2110154" y="0"/>
            <a:ext cx="7033846" cy="6858000"/>
          </a:xfrm>
          <a:prstGeom prst="rect">
            <a:avLst/>
          </a:prstGeom>
        </p:spPr>
      </p:pic>
      <p:cxnSp>
        <p:nvCxnSpPr>
          <p:cNvPr id="6" name="Straight Arrow Connector 5"/>
          <p:cNvCxnSpPr/>
          <p:nvPr/>
        </p:nvCxnSpPr>
        <p:spPr>
          <a:xfrm flipH="1">
            <a:off x="1447800" y="2438400"/>
            <a:ext cx="6623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1447800" y="5486400"/>
            <a:ext cx="6623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1447800" y="2743200"/>
            <a:ext cx="34817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447800" y="3429000"/>
            <a:ext cx="34817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1447800" y="1371600"/>
            <a:ext cx="6623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1447800" y="914400"/>
            <a:ext cx="662354"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3" name="Left Brace 12"/>
          <p:cNvSpPr/>
          <p:nvPr/>
        </p:nvSpPr>
        <p:spPr>
          <a:xfrm>
            <a:off x="869266" y="2438400"/>
            <a:ext cx="457200" cy="3048000"/>
          </a:xfrm>
          <a:prstGeom prst="lef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2773" y="3777734"/>
            <a:ext cx="949299" cy="369332"/>
          </a:xfrm>
          <a:prstGeom prst="rect">
            <a:avLst/>
          </a:prstGeom>
          <a:noFill/>
        </p:spPr>
        <p:txBody>
          <a:bodyPr wrap="none" rtlCol="0">
            <a:spAutoFit/>
          </a:bodyPr>
          <a:lstStyle/>
          <a:p>
            <a:r>
              <a:rPr lang="en-US" b="1" dirty="0"/>
              <a:t>Header</a:t>
            </a:r>
            <a:r>
              <a:rPr lang="en-US" dirty="0"/>
              <a:t> </a:t>
            </a:r>
          </a:p>
        </p:txBody>
      </p:sp>
      <p:sp>
        <p:nvSpPr>
          <p:cNvPr id="15" name="TextBox 14"/>
          <p:cNvSpPr txBox="1"/>
          <p:nvPr/>
        </p:nvSpPr>
        <p:spPr>
          <a:xfrm>
            <a:off x="477422" y="1186934"/>
            <a:ext cx="914033" cy="369332"/>
          </a:xfrm>
          <a:prstGeom prst="rect">
            <a:avLst/>
          </a:prstGeom>
          <a:noFill/>
        </p:spPr>
        <p:txBody>
          <a:bodyPr wrap="none" rtlCol="0">
            <a:spAutoFit/>
          </a:bodyPr>
          <a:lstStyle/>
          <a:p>
            <a:r>
              <a:rPr lang="en-US" b="1" dirty="0"/>
              <a:t>Content</a:t>
            </a:r>
            <a:endParaRPr lang="en-US" dirty="0"/>
          </a:p>
        </p:txBody>
      </p:sp>
      <p:sp>
        <p:nvSpPr>
          <p:cNvPr id="16" name="TextBox 15"/>
          <p:cNvSpPr txBox="1"/>
          <p:nvPr/>
        </p:nvSpPr>
        <p:spPr>
          <a:xfrm>
            <a:off x="498501" y="697468"/>
            <a:ext cx="574196" cy="369332"/>
          </a:xfrm>
          <a:prstGeom prst="rect">
            <a:avLst/>
          </a:prstGeom>
          <a:noFill/>
        </p:spPr>
        <p:txBody>
          <a:bodyPr wrap="none" rtlCol="0">
            <a:spAutoFit/>
          </a:bodyPr>
          <a:lstStyle/>
          <a:p>
            <a:r>
              <a:rPr lang="en-US" b="1" dirty="0"/>
              <a:t>Link</a:t>
            </a:r>
            <a:endParaRPr lang="en-US" dirty="0"/>
          </a:p>
        </p:txBody>
      </p:sp>
    </p:spTree>
    <p:extLst>
      <p:ext uri="{BB962C8B-B14F-4D97-AF65-F5344CB8AC3E}">
        <p14:creationId xmlns:p14="http://schemas.microsoft.com/office/powerpoint/2010/main" val="2051822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819400"/>
            <a:ext cx="7123113" cy="3733800"/>
          </a:xfrm>
        </p:spPr>
        <p:txBody>
          <a:bodyPr/>
          <a:lstStyle/>
          <a:p>
            <a:r>
              <a:rPr lang="en-US" dirty="0"/>
              <a:t>We tend to perceive figures or objects as belonging together if they appear to form a continuous pattern.</a:t>
            </a:r>
          </a:p>
          <a:p>
            <a:endParaRPr lang="en-US" dirty="0"/>
          </a:p>
          <a:p>
            <a:r>
              <a:rPr lang="en-US" dirty="0"/>
              <a:t>The human eye follows the paths, lines, and curves of a design, and prefers to see a continuous flow of visual elements rather than separated objects.</a:t>
            </a:r>
          </a:p>
        </p:txBody>
      </p:sp>
      <p:sp>
        <p:nvSpPr>
          <p:cNvPr id="2" name="Title 1"/>
          <p:cNvSpPr>
            <a:spLocks noGrp="1"/>
          </p:cNvSpPr>
          <p:nvPr>
            <p:ph type="title"/>
          </p:nvPr>
        </p:nvSpPr>
        <p:spPr/>
        <p:txBody>
          <a:bodyPr/>
          <a:lstStyle/>
          <a:p>
            <a:r>
              <a:rPr lang="en-US" dirty="0"/>
              <a:t>Principle of Continuity </a:t>
            </a:r>
          </a:p>
        </p:txBody>
      </p:sp>
    </p:spTree>
    <p:extLst>
      <p:ext uri="{BB962C8B-B14F-4D97-AF65-F5344CB8AC3E}">
        <p14:creationId xmlns:p14="http://schemas.microsoft.com/office/powerpoint/2010/main" val="2849317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sp>
        <p:nvSpPr>
          <p:cNvPr id="3" name="Content Placeholder 2"/>
          <p:cNvSpPr>
            <a:spLocks noGrp="1"/>
          </p:cNvSpPr>
          <p:nvPr>
            <p:ph sz="quarter" idx="1"/>
          </p:nvPr>
        </p:nvSpPr>
        <p:spPr/>
        <p:txBody>
          <a:bodyPr/>
          <a:lstStyle/>
          <a:p>
            <a:r>
              <a:rPr lang="en-US" dirty="0"/>
              <a:t>Visual perception is based on continuous forms, not disconnected segments</a:t>
            </a:r>
          </a:p>
          <a:p>
            <a:r>
              <a:rPr lang="en-US" dirty="0"/>
              <a:t>Our minds fills in missing segments automatically, completing an incomplete form.</a:t>
            </a:r>
          </a:p>
        </p:txBody>
      </p:sp>
      <p:pic>
        <p:nvPicPr>
          <p:cNvPr id="4" name="Picture 3"/>
          <p:cNvPicPr>
            <a:picLocks noChangeAspect="1"/>
          </p:cNvPicPr>
          <p:nvPr/>
        </p:nvPicPr>
        <p:blipFill>
          <a:blip r:embed="rId2"/>
          <a:stretch>
            <a:fillRect/>
          </a:stretch>
        </p:blipFill>
        <p:spPr>
          <a:xfrm>
            <a:off x="990600" y="3848100"/>
            <a:ext cx="2390775" cy="2371725"/>
          </a:xfrm>
          <a:prstGeom prst="rect">
            <a:avLst/>
          </a:prstGeom>
        </p:spPr>
      </p:pic>
      <p:pic>
        <p:nvPicPr>
          <p:cNvPr id="5" name="Picture 4"/>
          <p:cNvPicPr>
            <a:picLocks noChangeAspect="1"/>
          </p:cNvPicPr>
          <p:nvPr/>
        </p:nvPicPr>
        <p:blipFill>
          <a:blip r:embed="rId3"/>
          <a:stretch>
            <a:fillRect/>
          </a:stretch>
        </p:blipFill>
        <p:spPr>
          <a:xfrm>
            <a:off x="3823386" y="4410074"/>
            <a:ext cx="4533900" cy="1247775"/>
          </a:xfrm>
          <a:prstGeom prst="rect">
            <a:avLst/>
          </a:prstGeom>
        </p:spPr>
      </p:pic>
    </p:spTree>
    <p:extLst>
      <p:ext uri="{BB962C8B-B14F-4D97-AF65-F5344CB8AC3E}">
        <p14:creationId xmlns:p14="http://schemas.microsoft.com/office/powerpoint/2010/main" val="2944704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Principle of Continuity </a:t>
            </a:r>
          </a:p>
        </p:txBody>
      </p:sp>
      <p:pic>
        <p:nvPicPr>
          <p:cNvPr id="4" name="Picture 7"/>
          <p:cNvPicPr>
            <a:picLocks noChangeAspect="1" noChangeArrowheads="1"/>
          </p:cNvPicPr>
          <p:nvPr/>
        </p:nvPicPr>
        <p:blipFill>
          <a:blip r:embed="rId2" cstate="print"/>
          <a:srcRect t="11594" b="18841"/>
          <a:stretch>
            <a:fillRect/>
          </a:stretch>
        </p:blipFill>
        <p:spPr bwMode="auto">
          <a:xfrm>
            <a:off x="990600" y="2438400"/>
            <a:ext cx="7162800" cy="3737113"/>
          </a:xfrm>
          <a:prstGeom prst="rect">
            <a:avLst/>
          </a:prstGeom>
          <a:noFill/>
          <a:ln w="22225" algn="ctr">
            <a:noFill/>
            <a:miter lim="800000"/>
            <a:headEnd/>
            <a:tailEnd type="none" w="lg" len="lg"/>
          </a:ln>
        </p:spPr>
      </p:pic>
    </p:spTree>
    <p:extLst>
      <p:ext uri="{BB962C8B-B14F-4D97-AF65-F5344CB8AC3E}">
        <p14:creationId xmlns:p14="http://schemas.microsoft.com/office/powerpoint/2010/main" val="12196041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pic>
        <p:nvPicPr>
          <p:cNvPr id="275458" name="Picture 2" descr="a graph"/>
          <p:cNvPicPr>
            <a:picLocks noChangeAspect="1" noChangeArrowheads="1"/>
          </p:cNvPicPr>
          <p:nvPr/>
        </p:nvPicPr>
        <p:blipFill rotWithShape="1">
          <a:blip r:embed="rId2" cstate="print"/>
          <a:srcRect l="4673" t="9812" r="4673" b="13085"/>
          <a:stretch/>
        </p:blipFill>
        <p:spPr bwMode="auto">
          <a:xfrm>
            <a:off x="5543" y="1524000"/>
            <a:ext cx="9138458" cy="5181600"/>
          </a:xfrm>
          <a:prstGeom prst="rect">
            <a:avLst/>
          </a:prstGeom>
          <a:noFill/>
        </p:spPr>
      </p:pic>
    </p:spTree>
    <p:extLst>
      <p:ext uri="{BB962C8B-B14F-4D97-AF65-F5344CB8AC3E}">
        <p14:creationId xmlns:p14="http://schemas.microsoft.com/office/powerpoint/2010/main" val="37990335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Continuity </a:t>
            </a:r>
          </a:p>
        </p:txBody>
      </p:sp>
      <p:pic>
        <p:nvPicPr>
          <p:cNvPr id="274434" name="Picture 2" descr="linear presentation"/>
          <p:cNvPicPr>
            <a:picLocks noChangeAspect="1" noChangeArrowheads="1"/>
          </p:cNvPicPr>
          <p:nvPr/>
        </p:nvPicPr>
        <p:blipFill rotWithShape="1">
          <a:blip r:embed="rId2" cstate="print"/>
          <a:srcRect l="1464" t="13659" r="1951" b="13171"/>
          <a:stretch/>
        </p:blipFill>
        <p:spPr bwMode="auto">
          <a:xfrm>
            <a:off x="0" y="1828800"/>
            <a:ext cx="9131105" cy="4611669"/>
          </a:xfrm>
          <a:prstGeom prst="rect">
            <a:avLst/>
          </a:prstGeom>
          <a:noFill/>
        </p:spPr>
      </p:pic>
      <p:cxnSp>
        <p:nvCxnSpPr>
          <p:cNvPr id="8" name="Straight Connector 7"/>
          <p:cNvCxnSpPr/>
          <p:nvPr/>
        </p:nvCxnSpPr>
        <p:spPr>
          <a:xfrm>
            <a:off x="5257800" y="3429000"/>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6096000" y="2057400"/>
            <a:ext cx="0" cy="13716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248400" y="2362200"/>
            <a:ext cx="0" cy="1905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248400" y="2362200"/>
            <a:ext cx="762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86400" y="1673999"/>
            <a:ext cx="1904752" cy="369332"/>
          </a:xfrm>
          <a:prstGeom prst="rect">
            <a:avLst/>
          </a:prstGeom>
          <a:noFill/>
        </p:spPr>
        <p:txBody>
          <a:bodyPr wrap="none" rtlCol="0">
            <a:spAutoFit/>
          </a:bodyPr>
          <a:lstStyle/>
          <a:p>
            <a:r>
              <a:rPr lang="en-US" b="1" dirty="0"/>
              <a:t>Use of numbering</a:t>
            </a:r>
          </a:p>
        </p:txBody>
      </p:sp>
      <p:sp>
        <p:nvSpPr>
          <p:cNvPr id="20" name="TextBox 19"/>
          <p:cNvSpPr txBox="1"/>
          <p:nvPr/>
        </p:nvSpPr>
        <p:spPr>
          <a:xfrm>
            <a:off x="7010400" y="2177534"/>
            <a:ext cx="1539268" cy="369332"/>
          </a:xfrm>
          <a:prstGeom prst="rect">
            <a:avLst/>
          </a:prstGeom>
          <a:noFill/>
        </p:spPr>
        <p:txBody>
          <a:bodyPr wrap="none" rtlCol="0">
            <a:spAutoFit/>
          </a:bodyPr>
          <a:lstStyle/>
          <a:p>
            <a:r>
              <a:rPr lang="en-US" b="1" dirty="0"/>
              <a:t>Use of arrows</a:t>
            </a:r>
          </a:p>
        </p:txBody>
      </p:sp>
    </p:spTree>
    <p:extLst>
      <p:ext uri="{BB962C8B-B14F-4D97-AF65-F5344CB8AC3E}">
        <p14:creationId xmlns:p14="http://schemas.microsoft.com/office/powerpoint/2010/main" val="3249879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Law of Continuity </a:t>
            </a:r>
          </a:p>
        </p:txBody>
      </p:sp>
      <p:pic>
        <p:nvPicPr>
          <p:cNvPr id="28675" name="Picture 3" descr="BadAlignmentAnalyzed"/>
          <p:cNvPicPr>
            <a:picLocks noGrp="1" noChangeAspect="1" noChangeArrowheads="1"/>
          </p:cNvPicPr>
          <p:nvPr>
            <p:ph sz="quarter" idx="1"/>
          </p:nvPr>
        </p:nvPicPr>
        <p:blipFill>
          <a:blip r:embed="rId3" cstate="print"/>
          <a:srcRect/>
          <a:stretch>
            <a:fillRect/>
          </a:stretch>
        </p:blipFill>
        <p:spPr>
          <a:xfrm>
            <a:off x="0" y="1600201"/>
            <a:ext cx="4856166" cy="3733800"/>
          </a:xfrm>
          <a:noFill/>
          <a:ln/>
        </p:spPr>
      </p:pic>
      <p:pic>
        <p:nvPicPr>
          <p:cNvPr id="5" name="Picture 3" descr="BetterAlignmentMacro"/>
          <p:cNvPicPr>
            <a:picLocks noChangeAspect="1" noChangeArrowheads="1"/>
          </p:cNvPicPr>
          <p:nvPr/>
        </p:nvPicPr>
        <p:blipFill>
          <a:blip r:embed="rId4" cstate="print"/>
          <a:srcRect/>
          <a:stretch>
            <a:fillRect/>
          </a:stretch>
        </p:blipFill>
        <p:spPr>
          <a:xfrm>
            <a:off x="4364034" y="1600200"/>
            <a:ext cx="4856166" cy="3733800"/>
          </a:xfrm>
          <a:prstGeom prst="rect">
            <a:avLst/>
          </a:prstGeom>
          <a:no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886200"/>
          </a:xfrm>
        </p:spPr>
        <p:txBody>
          <a:bodyPr>
            <a:normAutofit/>
          </a:bodyPr>
          <a:lstStyle/>
          <a:p>
            <a:pPr algn="just"/>
            <a:r>
              <a:rPr lang="en-US" dirty="0"/>
              <a:t>The law of Closure explains how we perceive incomplete shapes. When there is missing information in an image, the eye ignores the missing information and fills in the gaps with lines, color or patterns from the surrounding area to complete the image.</a:t>
            </a:r>
          </a:p>
          <a:p>
            <a:pPr algn="just"/>
            <a:endParaRPr lang="en-US" dirty="0"/>
          </a:p>
          <a:p>
            <a:pPr algn="just"/>
            <a:r>
              <a:rPr lang="en-US" dirty="0"/>
              <a:t>We can use this law to achieve visual effects.</a:t>
            </a:r>
          </a:p>
        </p:txBody>
      </p:sp>
      <p:sp>
        <p:nvSpPr>
          <p:cNvPr id="2" name="Title 1"/>
          <p:cNvSpPr>
            <a:spLocks noGrp="1"/>
          </p:cNvSpPr>
          <p:nvPr>
            <p:ph type="title"/>
          </p:nvPr>
        </p:nvSpPr>
        <p:spPr/>
        <p:txBody>
          <a:bodyPr/>
          <a:lstStyle/>
          <a:p>
            <a:r>
              <a:rPr lang="en-US" dirty="0"/>
              <a:t>Principle of Closure </a:t>
            </a:r>
          </a:p>
        </p:txBody>
      </p:sp>
    </p:spTree>
    <p:extLst>
      <p:ext uri="{BB962C8B-B14F-4D97-AF65-F5344CB8AC3E}">
        <p14:creationId xmlns:p14="http://schemas.microsoft.com/office/powerpoint/2010/main" val="7370300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sp>
        <p:nvSpPr>
          <p:cNvPr id="3" name="Content Placeholder 2"/>
          <p:cNvSpPr>
            <a:spLocks noGrp="1"/>
          </p:cNvSpPr>
          <p:nvPr>
            <p:ph sz="quarter" idx="1"/>
          </p:nvPr>
        </p:nvSpPr>
        <p:spPr/>
        <p:txBody>
          <a:bodyPr/>
          <a:lstStyle/>
          <a:p>
            <a:r>
              <a:rPr lang="en-US" dirty="0"/>
              <a:t>We automatically attempt to complete “open” objects so that we perceive them as whole.</a:t>
            </a:r>
          </a:p>
          <a:p>
            <a:r>
              <a:rPr lang="en-US" dirty="0"/>
              <a:t>Our visual system can interpret totally blank areas as objects.</a:t>
            </a:r>
          </a:p>
          <a:p>
            <a:r>
              <a:rPr lang="en-US" dirty="0"/>
              <a:t>This is what graphic designers refer to as “white space”</a:t>
            </a:r>
          </a:p>
        </p:txBody>
      </p:sp>
    </p:spTree>
    <p:extLst>
      <p:ext uri="{BB962C8B-B14F-4D97-AF65-F5344CB8AC3E}">
        <p14:creationId xmlns:p14="http://schemas.microsoft.com/office/powerpoint/2010/main" val="154307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pic>
        <p:nvPicPr>
          <p:cNvPr id="4" name="Picture 4"/>
          <p:cNvPicPr>
            <a:picLocks noChangeAspect="1" noChangeArrowheads="1"/>
          </p:cNvPicPr>
          <p:nvPr/>
        </p:nvPicPr>
        <p:blipFill>
          <a:blip r:embed="rId2" cstate="print"/>
          <a:srcRect/>
          <a:stretch>
            <a:fillRect/>
          </a:stretch>
        </p:blipFill>
        <p:spPr bwMode="auto">
          <a:xfrm>
            <a:off x="604335" y="5105400"/>
            <a:ext cx="7982001" cy="1676400"/>
          </a:xfrm>
          <a:prstGeom prst="rect">
            <a:avLst/>
          </a:prstGeom>
          <a:noFill/>
          <a:ln w="22225" algn="ctr">
            <a:noFill/>
            <a:miter lim="800000"/>
            <a:headEnd/>
            <a:tailEnd type="none" w="lg" len="lg"/>
          </a:ln>
        </p:spPr>
      </p:pic>
      <p:pic>
        <p:nvPicPr>
          <p:cNvPr id="231426" name="Picture 2" descr="http://replicatorinc.com/blog/wp-content/uploads/2009/10/law-of-closure.jpg"/>
          <p:cNvPicPr>
            <a:picLocks noChangeAspect="1" noChangeArrowheads="1"/>
          </p:cNvPicPr>
          <p:nvPr/>
        </p:nvPicPr>
        <p:blipFill rotWithShape="1">
          <a:blip r:embed="rId3" cstate="print"/>
          <a:srcRect l="24310" t="3867" r="25967" b="3315"/>
          <a:stretch/>
        </p:blipFill>
        <p:spPr bwMode="auto">
          <a:xfrm>
            <a:off x="5375069" y="1511530"/>
            <a:ext cx="3768931" cy="3517670"/>
          </a:xfrm>
          <a:prstGeom prst="rect">
            <a:avLst/>
          </a:prstGeom>
          <a:noFill/>
        </p:spPr>
      </p:pic>
      <p:pic>
        <p:nvPicPr>
          <p:cNvPr id="7" name="Picture 6"/>
          <p:cNvPicPr>
            <a:picLocks noChangeAspect="1"/>
          </p:cNvPicPr>
          <p:nvPr/>
        </p:nvPicPr>
        <p:blipFill rotWithShape="1">
          <a:blip r:embed="rId4"/>
          <a:srcRect l="5498" t="9566" r="14776" b="6679"/>
          <a:stretch/>
        </p:blipFill>
        <p:spPr>
          <a:xfrm>
            <a:off x="0" y="1523999"/>
            <a:ext cx="3505202" cy="3505201"/>
          </a:xfrm>
          <a:prstGeom prst="rect">
            <a:avLst/>
          </a:prstGeom>
        </p:spPr>
      </p:pic>
    </p:spTree>
    <p:extLst>
      <p:ext uri="{BB962C8B-B14F-4D97-AF65-F5344CB8AC3E}">
        <p14:creationId xmlns:p14="http://schemas.microsoft.com/office/powerpoint/2010/main" val="966517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1815" r="20247" b="35446"/>
          <a:stretch/>
        </p:blipFill>
        <p:spPr>
          <a:xfrm>
            <a:off x="31547" y="3771900"/>
            <a:ext cx="3047367" cy="1447800"/>
          </a:xfrm>
          <a:prstGeom prst="rect">
            <a:avLst/>
          </a:prstGeom>
        </p:spPr>
      </p:pic>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4474513" y="3581400"/>
            <a:ext cx="4669487" cy="3276600"/>
          </a:xfrm>
          <a:prstGeom prst="rect">
            <a:avLst/>
          </a:prstGeom>
        </p:spPr>
      </p:pic>
      <p:pic>
        <p:nvPicPr>
          <p:cNvPr id="6" name="Picture 5"/>
          <p:cNvPicPr>
            <a:picLocks noChangeAspect="1"/>
          </p:cNvPicPr>
          <p:nvPr/>
        </p:nvPicPr>
        <p:blipFill>
          <a:blip r:embed="rId5"/>
          <a:stretch>
            <a:fillRect/>
          </a:stretch>
        </p:blipFill>
        <p:spPr>
          <a:xfrm>
            <a:off x="612648" y="5198918"/>
            <a:ext cx="1600200" cy="1621536"/>
          </a:xfrm>
          <a:prstGeom prst="rect">
            <a:avLst/>
          </a:prstGeom>
        </p:spPr>
      </p:pic>
      <p:sp>
        <p:nvSpPr>
          <p:cNvPr id="7" name="Title 6"/>
          <p:cNvSpPr>
            <a:spLocks noGrp="1"/>
          </p:cNvSpPr>
          <p:nvPr>
            <p:ph type="title"/>
          </p:nvPr>
        </p:nvSpPr>
        <p:spPr/>
        <p:txBody>
          <a:bodyPr/>
          <a:lstStyle/>
          <a:p>
            <a:r>
              <a:rPr lang="en-US" dirty="0"/>
              <a:t>Principle of Closure </a:t>
            </a:r>
          </a:p>
        </p:txBody>
      </p:sp>
      <p:pic>
        <p:nvPicPr>
          <p:cNvPr id="9" name="Picture 8"/>
          <p:cNvPicPr>
            <a:picLocks noChangeAspect="1"/>
          </p:cNvPicPr>
          <p:nvPr/>
        </p:nvPicPr>
        <p:blipFill>
          <a:blip r:embed="rId6"/>
          <a:stretch>
            <a:fillRect/>
          </a:stretch>
        </p:blipFill>
        <p:spPr>
          <a:xfrm>
            <a:off x="4267200" y="359281"/>
            <a:ext cx="2334743" cy="2778774"/>
          </a:xfrm>
          <a:prstGeom prst="rect">
            <a:avLst/>
          </a:prstGeom>
        </p:spPr>
      </p:pic>
      <p:pic>
        <p:nvPicPr>
          <p:cNvPr id="10" name="Picture 9"/>
          <p:cNvPicPr>
            <a:picLocks noChangeAspect="1"/>
          </p:cNvPicPr>
          <p:nvPr/>
        </p:nvPicPr>
        <p:blipFill>
          <a:blip r:embed="rId7"/>
          <a:stretch>
            <a:fillRect/>
          </a:stretch>
        </p:blipFill>
        <p:spPr>
          <a:xfrm>
            <a:off x="7010400" y="359281"/>
            <a:ext cx="2133600" cy="2656935"/>
          </a:xfrm>
          <a:prstGeom prst="rect">
            <a:avLst/>
          </a:prstGeom>
        </p:spPr>
      </p:pic>
    </p:spTree>
    <p:extLst>
      <p:ext uri="{BB962C8B-B14F-4D97-AF65-F5344CB8AC3E}">
        <p14:creationId xmlns:p14="http://schemas.microsoft.com/office/powerpoint/2010/main" val="17005211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Closure </a:t>
            </a:r>
          </a:p>
        </p:txBody>
      </p:sp>
      <p:pic>
        <p:nvPicPr>
          <p:cNvPr id="4" name="Picture 3"/>
          <p:cNvPicPr>
            <a:picLocks noChangeAspect="1"/>
          </p:cNvPicPr>
          <p:nvPr/>
        </p:nvPicPr>
        <p:blipFill>
          <a:blip r:embed="rId2"/>
          <a:stretch>
            <a:fillRect/>
          </a:stretch>
        </p:blipFill>
        <p:spPr>
          <a:xfrm>
            <a:off x="612648" y="2590800"/>
            <a:ext cx="7912024" cy="2590800"/>
          </a:xfrm>
          <a:prstGeom prst="rect">
            <a:avLst/>
          </a:prstGeom>
        </p:spPr>
      </p:pic>
    </p:spTree>
    <p:extLst>
      <p:ext uri="{BB962C8B-B14F-4D97-AF65-F5344CB8AC3E}">
        <p14:creationId xmlns:p14="http://schemas.microsoft.com/office/powerpoint/2010/main" val="3074398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371600" y="2743200"/>
            <a:ext cx="7123113" cy="4114800"/>
          </a:xfrm>
        </p:spPr>
        <p:txBody>
          <a:bodyPr>
            <a:normAutofit/>
          </a:bodyPr>
          <a:lstStyle/>
          <a:p>
            <a:r>
              <a:rPr lang="en-US" dirty="0"/>
              <a:t>When we look at certain objects, we see them as symmetrical shapes that form around their center.</a:t>
            </a:r>
          </a:p>
          <a:p>
            <a:endParaRPr lang="en-US" dirty="0"/>
          </a:p>
          <a:p>
            <a:r>
              <a:rPr lang="en-US" dirty="0"/>
              <a:t>Humans like symmetry, and find it aesthetically appealing.</a:t>
            </a:r>
          </a:p>
          <a:p>
            <a:endParaRPr lang="en-US" dirty="0"/>
          </a:p>
          <a:p>
            <a:endParaRPr lang="en-US" dirty="0"/>
          </a:p>
        </p:txBody>
      </p:sp>
      <p:sp>
        <p:nvSpPr>
          <p:cNvPr id="3" name="Title 2"/>
          <p:cNvSpPr>
            <a:spLocks noGrp="1"/>
          </p:cNvSpPr>
          <p:nvPr>
            <p:ph type="title"/>
          </p:nvPr>
        </p:nvSpPr>
        <p:spPr/>
        <p:txBody>
          <a:bodyPr/>
          <a:lstStyle/>
          <a:p>
            <a:r>
              <a:rPr lang="en-US" dirty="0"/>
              <a:t>Principle of Symmetry</a:t>
            </a:r>
          </a:p>
        </p:txBody>
      </p:sp>
    </p:spTree>
    <p:extLst>
      <p:ext uri="{BB962C8B-B14F-4D97-AF65-F5344CB8AC3E}">
        <p14:creationId xmlns:p14="http://schemas.microsoft.com/office/powerpoint/2010/main" val="22212032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sp>
        <p:nvSpPr>
          <p:cNvPr id="3" name="Content Placeholder 2"/>
          <p:cNvSpPr>
            <a:spLocks noGrp="1"/>
          </p:cNvSpPr>
          <p:nvPr>
            <p:ph sz="quarter" idx="1"/>
          </p:nvPr>
        </p:nvSpPr>
        <p:spPr/>
        <p:txBody>
          <a:bodyPr>
            <a:normAutofit/>
          </a:bodyPr>
          <a:lstStyle/>
          <a:p>
            <a:r>
              <a:rPr lang="en-US" dirty="0"/>
              <a:t>The goal of our visual system: </a:t>
            </a:r>
            <a:r>
              <a:rPr lang="en-US" i="1" dirty="0"/>
              <a:t>reduce complexity</a:t>
            </a:r>
          </a:p>
          <a:p>
            <a:r>
              <a:rPr lang="en-US"/>
              <a:t>We interpret </a:t>
            </a:r>
            <a:r>
              <a:rPr lang="en-US" dirty="0"/>
              <a:t>data in our visual field in more than one way, but always with the goal of simplification</a:t>
            </a:r>
          </a:p>
          <a:p>
            <a:r>
              <a:rPr lang="en-US" dirty="0"/>
              <a:t>Organizing objects into symmetrical shapes allows for easier understanding</a:t>
            </a:r>
          </a:p>
          <a:p>
            <a:r>
              <a:rPr lang="en-US" dirty="0"/>
              <a:t>It’s automatic</a:t>
            </a:r>
          </a:p>
          <a:p>
            <a:r>
              <a:rPr lang="en-US" dirty="0"/>
              <a:t>Symmetry is the primary principle used to interpret three dimensional renderings on a two dimensional display.</a:t>
            </a:r>
          </a:p>
          <a:p>
            <a:endParaRPr lang="en-US" dirty="0"/>
          </a:p>
        </p:txBody>
      </p:sp>
    </p:spTree>
    <p:extLst>
      <p:ext uri="{BB962C8B-B14F-4D97-AF65-F5344CB8AC3E}">
        <p14:creationId xmlns:p14="http://schemas.microsoft.com/office/powerpoint/2010/main" val="39271870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pic>
        <p:nvPicPr>
          <p:cNvPr id="4" name="Picture 3"/>
          <p:cNvPicPr>
            <a:picLocks noChangeAspect="1"/>
          </p:cNvPicPr>
          <p:nvPr/>
        </p:nvPicPr>
        <p:blipFill>
          <a:blip r:embed="rId2"/>
          <a:stretch>
            <a:fillRect/>
          </a:stretch>
        </p:blipFill>
        <p:spPr>
          <a:xfrm>
            <a:off x="3346184" y="1838324"/>
            <a:ext cx="2173554" cy="3648075"/>
          </a:xfrm>
          <a:prstGeom prst="rect">
            <a:avLst/>
          </a:prstGeom>
        </p:spPr>
      </p:pic>
    </p:spTree>
    <p:extLst>
      <p:ext uri="{BB962C8B-B14F-4D97-AF65-F5344CB8AC3E}">
        <p14:creationId xmlns:p14="http://schemas.microsoft.com/office/powerpoint/2010/main" val="1133028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pic>
        <p:nvPicPr>
          <p:cNvPr id="4" name="Picture 3"/>
          <p:cNvPicPr>
            <a:picLocks noChangeAspect="1"/>
          </p:cNvPicPr>
          <p:nvPr/>
        </p:nvPicPr>
        <p:blipFill>
          <a:blip r:embed="rId2"/>
          <a:stretch>
            <a:fillRect/>
          </a:stretch>
        </p:blipFill>
        <p:spPr>
          <a:xfrm>
            <a:off x="2358321" y="1838324"/>
            <a:ext cx="3704341" cy="3952875"/>
          </a:xfrm>
          <a:prstGeom prst="rect">
            <a:avLst/>
          </a:prstGeom>
        </p:spPr>
      </p:pic>
    </p:spTree>
    <p:extLst>
      <p:ext uri="{BB962C8B-B14F-4D97-AF65-F5344CB8AC3E}">
        <p14:creationId xmlns:p14="http://schemas.microsoft.com/office/powerpoint/2010/main" val="1421861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pic>
        <p:nvPicPr>
          <p:cNvPr id="4" name="Picture 3"/>
          <p:cNvPicPr>
            <a:picLocks noChangeAspect="1"/>
          </p:cNvPicPr>
          <p:nvPr/>
        </p:nvPicPr>
        <p:blipFill>
          <a:blip r:embed="rId2"/>
          <a:stretch>
            <a:fillRect/>
          </a:stretch>
        </p:blipFill>
        <p:spPr>
          <a:xfrm>
            <a:off x="2495722" y="1852612"/>
            <a:ext cx="3557415" cy="3786188"/>
          </a:xfrm>
          <a:prstGeom prst="rect">
            <a:avLst/>
          </a:prstGeom>
        </p:spPr>
      </p:pic>
    </p:spTree>
    <p:extLst>
      <p:ext uri="{BB962C8B-B14F-4D97-AF65-F5344CB8AC3E}">
        <p14:creationId xmlns:p14="http://schemas.microsoft.com/office/powerpoint/2010/main" val="1372318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Symmetry</a:t>
            </a:r>
          </a:p>
        </p:txBody>
      </p:sp>
      <p:pic>
        <p:nvPicPr>
          <p:cNvPr id="4" name="Picture 3"/>
          <p:cNvPicPr>
            <a:picLocks noChangeAspect="1"/>
          </p:cNvPicPr>
          <p:nvPr/>
        </p:nvPicPr>
        <p:blipFill>
          <a:blip r:embed="rId2"/>
          <a:stretch>
            <a:fillRect/>
          </a:stretch>
        </p:blipFill>
        <p:spPr>
          <a:xfrm>
            <a:off x="2428874" y="1828800"/>
            <a:ext cx="3643313" cy="3886200"/>
          </a:xfrm>
          <a:prstGeom prst="rect">
            <a:avLst/>
          </a:prstGeom>
        </p:spPr>
      </p:pic>
    </p:spTree>
    <p:extLst>
      <p:ext uri="{BB962C8B-B14F-4D97-AF65-F5344CB8AC3E}">
        <p14:creationId xmlns:p14="http://schemas.microsoft.com/office/powerpoint/2010/main" val="3246663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Law of symmetry  </a:t>
            </a:r>
          </a:p>
        </p:txBody>
      </p:sp>
      <p:pic>
        <p:nvPicPr>
          <p:cNvPr id="28675" name="Picture 3" descr="BadAlignmentAnalyzed"/>
          <p:cNvPicPr>
            <a:picLocks noGrp="1" noChangeAspect="1" noChangeArrowheads="1"/>
          </p:cNvPicPr>
          <p:nvPr>
            <p:ph sz="quarter" idx="1"/>
          </p:nvPr>
        </p:nvPicPr>
        <p:blipFill>
          <a:blip r:embed="rId3" cstate="print"/>
          <a:srcRect/>
          <a:stretch>
            <a:fillRect/>
          </a:stretch>
        </p:blipFill>
        <p:spPr>
          <a:xfrm>
            <a:off x="0" y="1600201"/>
            <a:ext cx="4856166" cy="3733800"/>
          </a:xfrm>
          <a:noFill/>
          <a:ln/>
        </p:spPr>
      </p:pic>
      <p:pic>
        <p:nvPicPr>
          <p:cNvPr id="5" name="Picture 3" descr="BetterAlignmentMacro"/>
          <p:cNvPicPr>
            <a:picLocks noChangeAspect="1" noChangeArrowheads="1"/>
          </p:cNvPicPr>
          <p:nvPr/>
        </p:nvPicPr>
        <p:blipFill>
          <a:blip r:embed="rId4" cstate="print"/>
          <a:srcRect/>
          <a:stretch>
            <a:fillRect/>
          </a:stretch>
        </p:blipFill>
        <p:spPr>
          <a:xfrm>
            <a:off x="4364034" y="1600200"/>
            <a:ext cx="4856166" cy="3733800"/>
          </a:xfrm>
          <a:prstGeom prst="rect">
            <a:avLst/>
          </a:prstGeom>
          <a:noFill/>
          <a:ln/>
        </p:spPr>
      </p:pic>
      <p:cxnSp>
        <p:nvCxnSpPr>
          <p:cNvPr id="3" name="Straight Connector 2">
            <a:extLst>
              <a:ext uri="{FF2B5EF4-FFF2-40B4-BE49-F238E27FC236}">
                <a16:creationId xmlns:a16="http://schemas.microsoft.com/office/drawing/2014/main" id="{6B1DD4A1-0676-4A4C-B788-C78315675EAC}"/>
              </a:ext>
            </a:extLst>
          </p:cNvPr>
          <p:cNvCxnSpPr>
            <a:cxnSpLocks/>
          </p:cNvCxnSpPr>
          <p:nvPr/>
        </p:nvCxnSpPr>
        <p:spPr>
          <a:xfrm>
            <a:off x="817566" y="5010149"/>
            <a:ext cx="4038600" cy="16383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4E455F83-8F0C-47EC-9458-C1F094ABE462}"/>
              </a:ext>
            </a:extLst>
          </p:cNvPr>
          <p:cNvSpPr/>
          <p:nvPr/>
        </p:nvSpPr>
        <p:spPr>
          <a:xfrm>
            <a:off x="4373540" y="5181600"/>
            <a:ext cx="3879277" cy="1447800"/>
          </a:xfrm>
          <a:prstGeom prst="arc">
            <a:avLst>
              <a:gd name="adj1" fmla="val 16200000"/>
              <a:gd name="adj2" fmla="val 974546"/>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9751939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2743200"/>
            <a:ext cx="8113713" cy="3886200"/>
          </a:xfrm>
        </p:spPr>
        <p:txBody>
          <a:bodyPr>
            <a:normAutofit/>
          </a:bodyPr>
          <a:lstStyle/>
          <a:p>
            <a:r>
              <a:rPr lang="en-US" dirty="0"/>
              <a:t>How the human eye separates shapes from the background in a design.</a:t>
            </a:r>
          </a:p>
          <a:p>
            <a:endParaRPr lang="en-US" dirty="0"/>
          </a:p>
          <a:p>
            <a:r>
              <a:rPr lang="en-US" dirty="0"/>
              <a:t>Elements are perceived as either figures (distinct elements of focus) or ground (the background or landscape on which the figures rest).</a:t>
            </a:r>
          </a:p>
        </p:txBody>
      </p:sp>
      <p:sp>
        <p:nvSpPr>
          <p:cNvPr id="2" name="Title 1"/>
          <p:cNvSpPr>
            <a:spLocks noGrp="1"/>
          </p:cNvSpPr>
          <p:nvPr>
            <p:ph type="title"/>
          </p:nvPr>
        </p:nvSpPr>
        <p:spPr/>
        <p:txBody>
          <a:bodyPr/>
          <a:lstStyle/>
          <a:p>
            <a:r>
              <a:rPr lang="en-US" dirty="0"/>
              <a:t>Principle of Figure-Ground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p:txBody>
          <a:bodyPr/>
          <a:lstStyle/>
          <a:p>
            <a:r>
              <a:rPr lang="en-US" dirty="0"/>
              <a:t>There are two main factors that affect the way we perceive the figure and the ground in any given design.</a:t>
            </a:r>
          </a:p>
          <a:p>
            <a:pPr marL="514350" indent="-514350">
              <a:buFont typeface="+mj-lt"/>
              <a:buAutoNum type="arabicPeriod"/>
            </a:pPr>
            <a:r>
              <a:rPr lang="en-US" dirty="0"/>
              <a:t>Size of the figure when compared to the background</a:t>
            </a:r>
          </a:p>
          <a:p>
            <a:pPr marL="834390" lvl="1" indent="-514350"/>
            <a:r>
              <a:rPr lang="en-US" dirty="0"/>
              <a:t>Header text is figure and body text is ground</a:t>
            </a:r>
          </a:p>
          <a:p>
            <a:pPr marL="514350" indent="-514350">
              <a:buFont typeface="+mj-lt"/>
              <a:buAutoNum type="arabicPeriod"/>
            </a:pPr>
            <a:r>
              <a:rPr lang="en-US" dirty="0"/>
              <a:t>Contrast between the figure and the ground</a:t>
            </a:r>
          </a:p>
          <a:p>
            <a:pPr lvl="1"/>
            <a:r>
              <a:rPr lang="en-US" dirty="0"/>
              <a:t>Black color for text (figure) and white color for page (ground)</a:t>
            </a:r>
          </a:p>
        </p:txBody>
      </p:sp>
    </p:spTree>
    <p:extLst>
      <p:ext uri="{BB962C8B-B14F-4D97-AF65-F5344CB8AC3E}">
        <p14:creationId xmlns:p14="http://schemas.microsoft.com/office/powerpoint/2010/main" val="16335556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p:txBody>
          <a:bodyPr/>
          <a:lstStyle/>
          <a:p>
            <a:r>
              <a:rPr lang="en-US" dirty="0"/>
              <a:t>Our mind separates the visual field into figure (the foreground) and ground (the background)</a:t>
            </a:r>
          </a:p>
          <a:p>
            <a:r>
              <a:rPr lang="en-US" dirty="0"/>
              <a:t>When objects overlap, we tend to see the smaller object as existing in the foreground and the larger object as in the background</a:t>
            </a:r>
          </a:p>
          <a:p>
            <a:r>
              <a:rPr lang="en-US" dirty="0"/>
              <a:t>Objects in our primary attention seem to be in the foreground, while everything else seems to fade into the background.</a:t>
            </a:r>
          </a:p>
        </p:txBody>
      </p:sp>
    </p:spTree>
    <p:extLst>
      <p:ext uri="{BB962C8B-B14F-4D97-AF65-F5344CB8AC3E}">
        <p14:creationId xmlns:p14="http://schemas.microsoft.com/office/powerpoint/2010/main" val="6428338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Figure-Ground </a:t>
            </a:r>
          </a:p>
        </p:txBody>
      </p:sp>
      <p:sp>
        <p:nvSpPr>
          <p:cNvPr id="3" name="Content Placeholder 2"/>
          <p:cNvSpPr>
            <a:spLocks noGrp="1"/>
          </p:cNvSpPr>
          <p:nvPr>
            <p:ph sz="quarter" idx="1"/>
          </p:nvPr>
        </p:nvSpPr>
        <p:spPr>
          <a:xfrm>
            <a:off x="612648" y="1600200"/>
            <a:ext cx="8153400" cy="5257800"/>
          </a:xfrm>
        </p:spPr>
        <p:txBody>
          <a:bodyPr>
            <a:normAutofit fontScale="92500"/>
          </a:bodyPr>
          <a:lstStyle/>
          <a:p>
            <a:r>
              <a:rPr lang="en-US" dirty="0"/>
              <a:t>The relationship between figure and ground can be classified into three categories</a:t>
            </a:r>
          </a:p>
          <a:p>
            <a:pPr marL="514350" indent="-514350">
              <a:buFont typeface="+mj-lt"/>
              <a:buAutoNum type="arabicPeriod"/>
            </a:pPr>
            <a:r>
              <a:rPr lang="en-US" dirty="0"/>
              <a:t>Stable</a:t>
            </a:r>
          </a:p>
          <a:p>
            <a:pPr lvl="1"/>
            <a:r>
              <a:rPr lang="en-US" dirty="0"/>
              <a:t>The figure will be clearly identifiable from the background</a:t>
            </a:r>
          </a:p>
          <a:p>
            <a:pPr marL="514350" indent="-514350">
              <a:buFont typeface="+mj-lt"/>
              <a:buAutoNum type="arabicPeriod"/>
            </a:pPr>
            <a:r>
              <a:rPr lang="en-US" dirty="0"/>
              <a:t>Reversible</a:t>
            </a:r>
          </a:p>
          <a:p>
            <a:pPr lvl="1"/>
            <a:r>
              <a:rPr lang="en-US" dirty="0"/>
              <a:t>The figure and background have near-equal density. This enables the eye to flip the figure with the background. This can be used to create visual illusions.</a:t>
            </a:r>
          </a:p>
          <a:p>
            <a:pPr marL="514350" indent="-514350">
              <a:buFont typeface="+mj-lt"/>
              <a:buAutoNum type="arabicPeriod"/>
            </a:pPr>
            <a:r>
              <a:rPr lang="en-US" dirty="0"/>
              <a:t>Ambiguous </a:t>
            </a:r>
          </a:p>
          <a:p>
            <a:pPr lvl="1"/>
            <a:r>
              <a:rPr lang="en-US" dirty="0"/>
              <a:t>There is a little distinction between the ground and the figure. At any point, a single element might be both figure and ground at the same time.</a:t>
            </a:r>
          </a:p>
          <a:p>
            <a:pPr lvl="1"/>
            <a:endParaRPr lang="en-US" dirty="0"/>
          </a:p>
        </p:txBody>
      </p:sp>
    </p:spTree>
    <p:extLst>
      <p:ext uri="{BB962C8B-B14F-4D97-AF65-F5344CB8AC3E}">
        <p14:creationId xmlns:p14="http://schemas.microsoft.com/office/powerpoint/2010/main" val="8017045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Figure-Ground - reversible </a:t>
            </a:r>
          </a:p>
        </p:txBody>
      </p:sp>
      <p:pic>
        <p:nvPicPr>
          <p:cNvPr id="4" name="Picture 9" descr="\\Bfw_1\shares\New_Media\Public\Worth Sites in progress\Myers Psychology 7E\Image and Lecture Gallery\figure-06-04.jpg"/>
          <p:cNvPicPr>
            <a:picLocks noChangeAspect="1" noChangeArrowheads="1"/>
          </p:cNvPicPr>
          <p:nvPr/>
        </p:nvPicPr>
        <p:blipFill>
          <a:blip r:embed="rId2" cstate="print"/>
          <a:srcRect/>
          <a:stretch>
            <a:fillRect/>
          </a:stretch>
        </p:blipFill>
        <p:spPr bwMode="auto">
          <a:xfrm>
            <a:off x="4800600" y="2438400"/>
            <a:ext cx="3932688" cy="3124200"/>
          </a:xfrm>
          <a:prstGeom prst="rect">
            <a:avLst/>
          </a:prstGeom>
          <a:noFill/>
        </p:spPr>
      </p:pic>
      <p:sp>
        <p:nvSpPr>
          <p:cNvPr id="3" name="AutoShape 2" descr="data:image/png;base64,iVBORw0KGgoAAAANSUhEUgAAAQMAAADCCAMAAAB6zFdcAAAAhFBMVEX///8AAACoqKiPj4/q6urMzMx9fX38/PyMjIy7u7vY2Njk5OT29vaioqLd3d35+fnDw8NERESVlZWwsLDw8PBkZGQtLS1ISEicnJx0dHRqamqGhobR0dGAgIBNTU0zMzMjIyMXFxdbW1s3NzcoKCgcHBxvb28QEBBmZmZdXV0TExNFRUV0kKtfAAAMu0lEQVR4nO2d2ZaiMBCGFUF2RMBuF9zQdul5//cbQJZAIAtJAPv4XcwZsQ3kB5JKVSWZTD58+PDhwzthujtN03au48iV44bjDHRFeJy1XSKxl3eZ5nzbZa0X6/iAprAXz5fQ973vw+E4BTl4Mv6XSC5AacfID19HrfTzectaOk/U5+1r2shyz1ayUS3u9EhvfpCrovK4enZCw9k21//FzQiYypcftQLT4vIPw7cKlrxBVT9DonxkzZjqkWulvFV8xC0k5laZbvg3AgViLuRFBrYkJT/xpZjiqGxHYHnb+Mgy/7AZ8FGQdY1Mgen0d0taqAK2gdNV5OnG64vA0ADBn+4k2BUiiKohnuWUAp2wUB365XGTqTBZhPfysD8JTvn/iRXmiwtdK5qLiS8zQZ41/Pg+yyXUveKgO5kUzyFj39MJFb5dOHTSXkyNmh6wk519vZByYexJWDwJ/TeMFmFTWMEnL9+L7mfo9/YkUzEXIe4Wg6Kl5GCRUmF2UGA63dGZM5sd9DgsMzvDXGUHTMCMZLNBaJGRFlE7tFdp6o/trdJNRJqRNiuW+7JKVubEzQ2oXpsEs8UoxmJ1OZvj7yqFfGVtq59+ekzKhtHjWEcMakcF4rvY8YSBdQBkv369TKLXJxcYUHCsJBr5u7MGR4bTmqBJ/kxveXrkK3648t50HR8Md3yqiYS+UyxoM5gVJTzHX98xZwYNh7SmSmIxxQ9C3lFs0odUfLvAIMH07kLFWY6vvd7nnwhrSepSYQ5M91rcwu7j//yaxUVdjLRx2IkePuwZNJhq9dLKIdeByCXkAIUd5axNiI8fXodiFZXsiDhM74dFg1mlsOB2yL94OoR9humV7cLX7tU5hMXLoGcmvNAewmdRoK5B2fOvKXpNFXCobNMuIRk1VjU4h3yrXaFpPNNRg3LMRTvyhUZrej6EXQcTI322PHFGY8gmAahBoeaJ3nJST9ViJevVDCRDiqzJEDd6uE/ZKDRQzWyss7UJh9QV5KrpGNfYzf+TWUyPTjYpAc4vLw30+gFalDNY7katazAV5XOvqc+uAYNNV/WxBkpdA0GeJf8fXw0OTM9rxVjbhXUNBNkIXfwmCA0OjJdzBgr+hd6FqZDYC8NgqUkDG3UuEoyGEwAaCPE1s4wU6hr4PKJDDcYKoMGc/QQQiwN8ys4ayAbqVIT4F+gEUjmkEKFBAJ2QQQNy3JnnzVoemnWDBoWfQchzMIwG8+R3p8ulsYmDWiipNKQFaMChReykQRFQ+4KdDxPo9ZRyo1mIBt3c6ewagCMk2PaDNSjeDwEa0IbWuGkAVjSqvRGQe1cq/1iABjwk6KgB4E1dVb+BNPDLDvxvaaAa5Xv/rH5V9+kAveVYNeg6RgKsoepYCPGGCtCA1XWQQJGMUmNeFlJpGHvVgMmdnNM9xrIow69PsF3sVYN5+8n60AB8F8EQPkIDyI/PzOAaAK5MwFfYrgEuaNWBwTUAaus3Hq3DXGWIwTWYAClwZbOotJ+MucoQw2uwLiNcxcAblQbAXuc6XTQ4nWsHlkyXYMP1Q2jww1xliA4aaFBIZsF0CaW3oKxf+9kF+NapNTjY8NvKFgDTSzMtj9I3uRQzuoRuMNBqkPjNjbojmjEIWI4acpsbkSg7uAZnPzHmoCA1Y/yr9OIcMn9Ku4tzJSDWRqfBy/8HOaIZYz+AJ+vRfIISETFXCg0uWSq91fitqyhdbxGgQRqiQoX+RGhAMlHjRRHbIMhi9Kje2opHU3HaCk24kGbJ00CceZDnTrv2Cf/HaR4NMRRTBRr8rxwgO/cyzEa2pJM77hSuJQlfXA5Fejh3DbLez4rwf5pBExYkLvQpJgNDxp85u6WbPU0+M4UG5FGehxAJgBlULRyTQPJCpnU4CdFAjAT4K9gm89DIu48cmvknxKUL0+BJXT8CDjSdGGGc57dzlhMWDvkHMFSXG5D1DGdRCsQtAocEBAg6zyeZlSKmY3zRcQYPEsrMYqLMOJETmyz6Fg/LaTZZULhWFgS2InOiE5KGFmFXn5LeBcUl9voQ9I8iX4VJrXO6b7Z+GJJbhCiWpIad6uJapYPgOX5ATtJBT8YlrEncBeTuP4Q7PeWJL4KNl293b8tBcuPmF9YE5ow5zfAR3Spt2By3BFhJD51FM5/8+kqqpV0CZOfQw0xPJx0PzRTFQ10IJZQOD/eMKEtMtatQDOIJIV8eIgfxAPazTA6cGMkIffSpXYOtqKkbVSzi9T8G0KC3BQB4NgXTZJ2nR8KTvG9o1UDgVK4aAY+U1QaIM7baNIj6XAKBeVJPI8QpW20a9Dj5PzYP4az5HjUwrs2//xJaZxg+w4RudWjpmQRkHKCxuHeRxNai2RL3ExNXQRFwSeKuQNi3t/TNQ6yQRLdKFj8N2tya/T8GCciopyANgrbWeKgl0xyisCpPDVqjXSLizIRw9bdjNbDaB2x9VLYNxkUh6DRoj/KI9aPiCPk5m9EaKFL7UKlXA7EJ9mnQJBoYiAkUdj8jZhTWho9XDTFLG2mMfPGYNMsBHu3CqSU7ycAUPuBKolV031syW01wD6fKLtZdIXIRHGoW3jrDThuJJbXzce+DUSLD9/Gj9J9h+wQElhEjT5z4X5NuWantKudBlNPT94i5O3yd8e+pQcyaU1DqnTWYqOapxQPEpIHw4BpnZBFvxNCVosYIN3vOnoe+VxXmgslzpBW/DcPvPtCFxWIRSL7v84lebkdiLHdEzgj8+ymmY5s5WjOpE0q3dTrHtCsLM1bH6M3Q180Rt2socxivsggYVlkYJLyAx13SbSG1ZXLFjO9JCLf5oO+w2RI4vnc35gjm8A61GnWn+9WMR9GNtoxsOHZjnWgRmK7ejebAg732TBnA9dY2twy/83roStdwPD43l4pROdVSnPjh13Y7jWmEdNF0iqHm6LbxyzGVzplsupI0IeR/P76+AeQRURuAP9nsdpqFG8c+jLa8I3mc+np18pALwczKgrE1iw04GmEKDzgZnOoBErD0A3+MUJ+jgwZfcwVs4OUj8q/fUYMUxXXb4ui+W3WIuHTdyvtoEKMuVNOPKfuMue8rat1JTBvZfysNctTCaGzwkctlW3D2A1lGT994Ww1QlOvY7rO5oAouTvPHNCjsw2vZ6we4BvIvaRDo2WO/jCSgkcTuB/N3NFhLuU+tuiEwfn2Nv6JBIUC6DRVAiDcV3keD+XT6fbs9aj6V+e12A/pCA6oPganwNhrgx5HbJzwMtggCMILnOrdCP4EG2bId/ml+Q1XCNYnDcZhxo+nTr0nVOkt6aa+ba6GTRWlvgwQeF4n7eEsb+DX1qnfpoWnaTneM5pBZoJNukTZM5vZrTkmHNcRNBQDpFveIve69zmsrebVTGyEbASWYNIOmYTwouUuEeA9vKqwDje/gR9iNQFP0cvzfRJe4FcgQtyoSmkIDnqubm26XZMbBZrKU1g63B3EOBSQixcXPl7kMloZRakC6+5o1u//8/EZJUrMHXLbkrdfJNz/1PJS9nzT2zeuSAgwYYgKsXkITDfSUH/8tM1pSL74t+fV84WIMV4F1xAFo8EWWGEUeLTCN0mzAzJXhv9cCBeDohzQT5LHBRAwOm03N8gzQwZnvQWNsoAZL4itx9HUUQTH3yzOKIk/X9XrrtlDQg2ahOxnjqY6C6X5rSxXaN7fFTRqjWYZSAFUNhEws8rGpagMn4VQ1+OW/F86KwHHC/aR01DxCv1xvieqQbArFtLkHD6CEG16Dp0B2pmTbYg0/jwUa2PFpoBDzesenAZxi/XBRDi1n9Xw+I9/VW4Y4ju5K0YpmCd/hNWiahHuct87BdkrNNvOUwgVo3pKP9AlcAjajoqR9p9vHbLaDuvyA/9q8w/jPKiBnopyOV82qXiT3NbZGoAG08QwMGDSdqLNNc4N/n17XXgLl9jcj0IBs4bDawM6b7yu/eu7nQBtJtfTSgAuhABB5fufQ8FZxSyr3ErvCf4Whoms1yDKTI48sEkPlTR+NBqRukTuJyy+g2zR1hS+xJ0jf4Cc2CkK72JCgHTc6YJyJL9ptd3iEuOWjYbpuFCwCg2JVSU9zTccBR5gLxzG0WZfp4OOa3Ek7a3cj2TkddjDJGbrWVVQRq0riGNucDRGrSmIY45zG26pXCcY62332LWjh4Trf30NXFYVn9yDDeGyjFmTHcSQtZSbg9Yg0yRndpFYUQZF0FLLv6/MdJgW99WIHKm1qSbJzq94QfXtvKIzB34u+sN5t8SMi1qQq7MY9YZMNkyB8tn/P5X7IcVy0D/LfZmw2sBB8ROr6ZRRe0h5QreX1DNf/69cJ3qrrZ0V1zHKVyI0ZG1Z/qw/88OHDhw8fPnz48OHDhw9/gv8MGbKQ5cX6A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00" y="1828800"/>
            <a:ext cx="3428100"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75" y="4343400"/>
            <a:ext cx="3959225"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7" y="228600"/>
            <a:ext cx="8528177" cy="990600"/>
          </a:xfrm>
        </p:spPr>
        <p:txBody>
          <a:bodyPr>
            <a:normAutofit fontScale="90000"/>
          </a:bodyPr>
          <a:lstStyle/>
          <a:p>
            <a:r>
              <a:rPr lang="en-US" dirty="0"/>
              <a:t>Principle of Figure-Ground - ambiguous</a:t>
            </a:r>
          </a:p>
        </p:txBody>
      </p:sp>
      <p:pic>
        <p:nvPicPr>
          <p:cNvPr id="2050" name="Picture 2" descr="Image result for M.C. Es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9140825" cy="457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1633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Principle of Figure-Ground  </a:t>
            </a:r>
          </a:p>
        </p:txBody>
      </p:sp>
      <p:grpSp>
        <p:nvGrpSpPr>
          <p:cNvPr id="3" name="Group 7"/>
          <p:cNvGrpSpPr/>
          <p:nvPr/>
        </p:nvGrpSpPr>
        <p:grpSpPr>
          <a:xfrm>
            <a:off x="4552950" y="1644650"/>
            <a:ext cx="4514850" cy="2470150"/>
            <a:chOff x="1687513" y="2627313"/>
            <a:chExt cx="6484937" cy="3271837"/>
          </a:xfrm>
        </p:grpSpPr>
        <p:sp>
          <p:nvSpPr>
            <p:cNvPr id="9" name="Oval 2"/>
            <p:cNvSpPr>
              <a:spLocks noChangeArrowheads="1"/>
            </p:cNvSpPr>
            <p:nvPr/>
          </p:nvSpPr>
          <p:spPr bwMode="auto">
            <a:xfrm>
              <a:off x="1687513" y="2628900"/>
              <a:ext cx="458787" cy="738188"/>
            </a:xfrm>
            <a:prstGeom prst="ellipse">
              <a:avLst/>
            </a:prstGeom>
            <a:noFill/>
            <a:ln w="31425">
              <a:solidFill>
                <a:srgbClr val="000000"/>
              </a:solidFill>
              <a:round/>
              <a:headEnd/>
              <a:tailEnd/>
            </a:ln>
          </p:spPr>
          <p:txBody>
            <a:bodyPr wrap="none" anchor="ctr"/>
            <a:lstStyle/>
            <a:p>
              <a:endParaRPr lang="en-US"/>
            </a:p>
          </p:txBody>
        </p:sp>
        <p:sp>
          <p:nvSpPr>
            <p:cNvPr id="10" name="Oval 3"/>
            <p:cNvSpPr>
              <a:spLocks noChangeArrowheads="1"/>
            </p:cNvSpPr>
            <p:nvPr/>
          </p:nvSpPr>
          <p:spPr bwMode="auto">
            <a:xfrm>
              <a:off x="1955800" y="3851275"/>
              <a:ext cx="457200" cy="738188"/>
            </a:xfrm>
            <a:prstGeom prst="ellipse">
              <a:avLst/>
            </a:prstGeom>
            <a:noFill/>
            <a:ln w="31425">
              <a:solidFill>
                <a:srgbClr val="000000"/>
              </a:solidFill>
              <a:round/>
              <a:headEnd/>
              <a:tailEnd/>
            </a:ln>
          </p:spPr>
          <p:txBody>
            <a:bodyPr wrap="none" anchor="ctr"/>
            <a:lstStyle/>
            <a:p>
              <a:endParaRPr lang="en-US"/>
            </a:p>
          </p:txBody>
        </p:sp>
        <p:sp>
          <p:nvSpPr>
            <p:cNvPr id="11" name="Oval 4"/>
            <p:cNvSpPr>
              <a:spLocks noChangeArrowheads="1"/>
            </p:cNvSpPr>
            <p:nvPr/>
          </p:nvSpPr>
          <p:spPr bwMode="auto">
            <a:xfrm>
              <a:off x="2235200" y="5160963"/>
              <a:ext cx="458788" cy="738187"/>
            </a:xfrm>
            <a:prstGeom prst="ellipse">
              <a:avLst/>
            </a:prstGeom>
            <a:noFill/>
            <a:ln w="31425">
              <a:solidFill>
                <a:srgbClr val="000000"/>
              </a:solidFill>
              <a:round/>
              <a:headEnd/>
              <a:tailEnd/>
            </a:ln>
          </p:spPr>
          <p:txBody>
            <a:bodyPr wrap="none" anchor="ctr"/>
            <a:lstStyle/>
            <a:p>
              <a:endParaRPr lang="en-US"/>
            </a:p>
          </p:txBody>
        </p:sp>
        <p:sp>
          <p:nvSpPr>
            <p:cNvPr id="12" name="Line 5"/>
            <p:cNvSpPr>
              <a:spLocks noChangeShapeType="1"/>
            </p:cNvSpPr>
            <p:nvPr/>
          </p:nvSpPr>
          <p:spPr bwMode="auto">
            <a:xfrm>
              <a:off x="1928813" y="2627313"/>
              <a:ext cx="5351462" cy="0"/>
            </a:xfrm>
            <a:prstGeom prst="line">
              <a:avLst/>
            </a:prstGeom>
            <a:noFill/>
            <a:ln w="31425">
              <a:solidFill>
                <a:srgbClr val="000000"/>
              </a:solidFill>
              <a:round/>
              <a:headEnd/>
              <a:tailEnd/>
            </a:ln>
          </p:spPr>
          <p:txBody>
            <a:bodyPr/>
            <a:lstStyle/>
            <a:p>
              <a:endParaRPr lang="en-US"/>
            </a:p>
          </p:txBody>
        </p:sp>
        <p:sp>
          <p:nvSpPr>
            <p:cNvPr id="13" name="Line 6"/>
            <p:cNvSpPr>
              <a:spLocks noChangeShapeType="1"/>
            </p:cNvSpPr>
            <p:nvPr/>
          </p:nvSpPr>
          <p:spPr bwMode="auto">
            <a:xfrm>
              <a:off x="2476500" y="5899150"/>
              <a:ext cx="5683250" cy="0"/>
            </a:xfrm>
            <a:prstGeom prst="line">
              <a:avLst/>
            </a:prstGeom>
            <a:noFill/>
            <a:ln w="31425">
              <a:solidFill>
                <a:srgbClr val="000000"/>
              </a:solidFill>
              <a:round/>
              <a:headEnd/>
              <a:tailEnd/>
            </a:ln>
          </p:spPr>
          <p:txBody>
            <a:bodyPr/>
            <a:lstStyle/>
            <a:p>
              <a:endParaRPr lang="en-US"/>
            </a:p>
          </p:txBody>
        </p:sp>
        <p:sp>
          <p:nvSpPr>
            <p:cNvPr id="14" name="Line 7"/>
            <p:cNvSpPr>
              <a:spLocks noChangeShapeType="1"/>
            </p:cNvSpPr>
            <p:nvPr/>
          </p:nvSpPr>
          <p:spPr bwMode="auto">
            <a:xfrm>
              <a:off x="7280275" y="2627313"/>
              <a:ext cx="892175" cy="2533650"/>
            </a:xfrm>
            <a:prstGeom prst="line">
              <a:avLst/>
            </a:prstGeom>
            <a:noFill/>
            <a:ln w="31425">
              <a:solidFill>
                <a:srgbClr val="000000"/>
              </a:solidFill>
              <a:round/>
              <a:headEnd/>
              <a:tailEnd/>
            </a:ln>
          </p:spPr>
          <p:txBody>
            <a:bodyPr/>
            <a:lstStyle/>
            <a:p>
              <a:endParaRPr lang="en-US"/>
            </a:p>
          </p:txBody>
        </p:sp>
        <p:sp>
          <p:nvSpPr>
            <p:cNvPr id="15" name="Line 8"/>
            <p:cNvSpPr>
              <a:spLocks noChangeShapeType="1"/>
            </p:cNvSpPr>
            <p:nvPr/>
          </p:nvSpPr>
          <p:spPr bwMode="auto">
            <a:xfrm>
              <a:off x="2476500" y="5160963"/>
              <a:ext cx="5695950" cy="0"/>
            </a:xfrm>
            <a:prstGeom prst="line">
              <a:avLst/>
            </a:prstGeom>
            <a:noFill/>
            <a:ln w="31425">
              <a:solidFill>
                <a:srgbClr val="000000"/>
              </a:solidFill>
              <a:round/>
              <a:headEnd/>
              <a:tailEnd/>
            </a:ln>
          </p:spPr>
          <p:txBody>
            <a:bodyPr/>
            <a:lstStyle/>
            <a:p>
              <a:endParaRPr lang="en-US"/>
            </a:p>
          </p:txBody>
        </p:sp>
        <p:sp>
          <p:nvSpPr>
            <p:cNvPr id="16" name="Line 9"/>
            <p:cNvSpPr>
              <a:spLocks noChangeShapeType="1"/>
            </p:cNvSpPr>
            <p:nvPr/>
          </p:nvSpPr>
          <p:spPr bwMode="auto">
            <a:xfrm>
              <a:off x="2184400" y="4587875"/>
              <a:ext cx="4484688" cy="0"/>
            </a:xfrm>
            <a:prstGeom prst="line">
              <a:avLst/>
            </a:prstGeom>
            <a:noFill/>
            <a:ln w="31425">
              <a:solidFill>
                <a:srgbClr val="000000"/>
              </a:solidFill>
              <a:round/>
              <a:headEnd/>
              <a:tailEnd/>
            </a:ln>
          </p:spPr>
          <p:txBody>
            <a:bodyPr/>
            <a:lstStyle/>
            <a:p>
              <a:endParaRPr lang="en-US"/>
            </a:p>
          </p:txBody>
        </p:sp>
        <p:sp>
          <p:nvSpPr>
            <p:cNvPr id="17" name="Line 10"/>
            <p:cNvSpPr>
              <a:spLocks noChangeShapeType="1"/>
            </p:cNvSpPr>
            <p:nvPr/>
          </p:nvSpPr>
          <p:spPr bwMode="auto">
            <a:xfrm flipV="1">
              <a:off x="1928813" y="3352800"/>
              <a:ext cx="4321175" cy="1588"/>
            </a:xfrm>
            <a:prstGeom prst="line">
              <a:avLst/>
            </a:prstGeom>
            <a:noFill/>
            <a:ln w="31425">
              <a:solidFill>
                <a:srgbClr val="000000"/>
              </a:solidFill>
              <a:round/>
              <a:headEnd/>
              <a:tailEnd/>
            </a:ln>
          </p:spPr>
          <p:txBody>
            <a:bodyPr/>
            <a:lstStyle/>
            <a:p>
              <a:endParaRPr lang="en-US"/>
            </a:p>
          </p:txBody>
        </p:sp>
        <p:sp>
          <p:nvSpPr>
            <p:cNvPr id="18" name="Line 11"/>
            <p:cNvSpPr>
              <a:spLocks noChangeShapeType="1"/>
            </p:cNvSpPr>
            <p:nvPr/>
          </p:nvSpPr>
          <p:spPr bwMode="auto">
            <a:xfrm flipH="1" flipV="1">
              <a:off x="6273800" y="3367088"/>
              <a:ext cx="385763" cy="1220787"/>
            </a:xfrm>
            <a:prstGeom prst="line">
              <a:avLst/>
            </a:prstGeom>
            <a:noFill/>
            <a:ln w="31425">
              <a:solidFill>
                <a:srgbClr val="000000"/>
              </a:solidFill>
              <a:round/>
              <a:headEnd/>
              <a:tailEnd/>
            </a:ln>
          </p:spPr>
          <p:txBody>
            <a:bodyPr/>
            <a:lstStyle/>
            <a:p>
              <a:endParaRPr lang="en-US"/>
            </a:p>
          </p:txBody>
        </p:sp>
        <p:sp>
          <p:nvSpPr>
            <p:cNvPr id="19" name="Line 12"/>
            <p:cNvSpPr>
              <a:spLocks noChangeShapeType="1"/>
            </p:cNvSpPr>
            <p:nvPr/>
          </p:nvSpPr>
          <p:spPr bwMode="auto">
            <a:xfrm flipV="1">
              <a:off x="2171700" y="3849688"/>
              <a:ext cx="4078288" cy="1587"/>
            </a:xfrm>
            <a:prstGeom prst="line">
              <a:avLst/>
            </a:prstGeom>
            <a:noFill/>
            <a:ln w="31425">
              <a:solidFill>
                <a:srgbClr val="000000"/>
              </a:solidFill>
              <a:round/>
              <a:headEnd/>
              <a:tailEnd/>
            </a:ln>
          </p:spPr>
          <p:txBody>
            <a:bodyPr/>
            <a:lstStyle/>
            <a:p>
              <a:endParaRPr lang="en-US"/>
            </a:p>
          </p:txBody>
        </p:sp>
        <p:sp>
          <p:nvSpPr>
            <p:cNvPr id="20" name="Line 13"/>
            <p:cNvSpPr>
              <a:spLocks noChangeShapeType="1"/>
            </p:cNvSpPr>
            <p:nvPr/>
          </p:nvSpPr>
          <p:spPr bwMode="auto">
            <a:xfrm flipH="1">
              <a:off x="6262688" y="3365500"/>
              <a:ext cx="0" cy="498475"/>
            </a:xfrm>
            <a:prstGeom prst="line">
              <a:avLst/>
            </a:prstGeom>
            <a:noFill/>
            <a:ln w="31425">
              <a:solidFill>
                <a:srgbClr val="000000"/>
              </a:solidFill>
              <a:round/>
              <a:headEnd/>
              <a:tailEnd/>
            </a:ln>
          </p:spPr>
          <p:txBody>
            <a:bodyPr/>
            <a:lstStyle/>
            <a:p>
              <a:endParaRPr lang="en-US"/>
            </a:p>
          </p:txBody>
        </p:sp>
        <p:sp>
          <p:nvSpPr>
            <p:cNvPr id="21" name="Line 14"/>
            <p:cNvSpPr>
              <a:spLocks noChangeShapeType="1"/>
            </p:cNvSpPr>
            <p:nvPr/>
          </p:nvSpPr>
          <p:spPr bwMode="auto">
            <a:xfrm flipH="1" flipV="1">
              <a:off x="6249988" y="3836988"/>
              <a:ext cx="176212" cy="725487"/>
            </a:xfrm>
            <a:prstGeom prst="line">
              <a:avLst/>
            </a:prstGeom>
            <a:noFill/>
            <a:ln w="31425">
              <a:solidFill>
                <a:srgbClr val="000000"/>
              </a:solidFill>
              <a:round/>
              <a:headEnd/>
              <a:tailEnd/>
            </a:ln>
          </p:spPr>
          <p:txBody>
            <a:bodyPr/>
            <a:lstStyle/>
            <a:p>
              <a:endParaRPr lang="en-US"/>
            </a:p>
          </p:txBody>
        </p:sp>
        <p:sp>
          <p:nvSpPr>
            <p:cNvPr id="22" name="Line 15"/>
            <p:cNvSpPr>
              <a:spLocks noChangeShapeType="1"/>
            </p:cNvSpPr>
            <p:nvPr/>
          </p:nvSpPr>
          <p:spPr bwMode="auto">
            <a:xfrm>
              <a:off x="8172450" y="5160963"/>
              <a:ext cx="0" cy="738187"/>
            </a:xfrm>
            <a:prstGeom prst="line">
              <a:avLst/>
            </a:prstGeom>
            <a:noFill/>
            <a:ln w="31425">
              <a:solidFill>
                <a:srgbClr val="000000"/>
              </a:solidFill>
              <a:round/>
              <a:headEnd/>
              <a:tailEnd/>
            </a:ln>
          </p:spPr>
          <p:txBody>
            <a:bodyPr/>
            <a:lstStyle/>
            <a:p>
              <a:endParaRPr lang="en-US"/>
            </a:p>
          </p:txBody>
        </p:sp>
      </p:grpSp>
      <p:pic>
        <p:nvPicPr>
          <p:cNvPr id="23" name="Picture 2"/>
          <p:cNvPicPr>
            <a:picLocks noChangeAspect="1" noChangeArrowheads="1"/>
          </p:cNvPicPr>
          <p:nvPr/>
        </p:nvPicPr>
        <p:blipFill>
          <a:blip r:embed="rId2" cstate="print"/>
          <a:srcRect/>
          <a:stretch>
            <a:fillRect/>
          </a:stretch>
        </p:blipFill>
        <p:spPr bwMode="auto">
          <a:xfrm>
            <a:off x="5181600" y="4764181"/>
            <a:ext cx="3581400" cy="1027019"/>
          </a:xfrm>
          <a:prstGeom prst="rect">
            <a:avLst/>
          </a:prstGeom>
          <a:noFill/>
          <a:ln w="9525">
            <a:noFill/>
            <a:miter lim="800000"/>
            <a:headEnd/>
            <a:tailEnd/>
          </a:ln>
          <a:effectLst/>
        </p:spPr>
      </p:pic>
      <p:pic>
        <p:nvPicPr>
          <p:cNvPr id="24" name="Picture 3"/>
          <p:cNvPicPr>
            <a:picLocks noChangeAspect="1" noChangeArrowheads="1"/>
          </p:cNvPicPr>
          <p:nvPr/>
        </p:nvPicPr>
        <p:blipFill>
          <a:blip r:embed="rId3" cstate="print"/>
          <a:srcRect/>
          <a:stretch>
            <a:fillRect/>
          </a:stretch>
        </p:blipFill>
        <p:spPr bwMode="auto">
          <a:xfrm>
            <a:off x="533400" y="2133600"/>
            <a:ext cx="1000125" cy="1257300"/>
          </a:xfrm>
          <a:prstGeom prst="rect">
            <a:avLst/>
          </a:prstGeom>
          <a:noFill/>
          <a:ln w="9525">
            <a:noFill/>
            <a:miter lim="800000"/>
            <a:headEnd/>
            <a:tailEnd/>
          </a:ln>
          <a:effectLst/>
        </p:spPr>
      </p:pic>
      <p:pic>
        <p:nvPicPr>
          <p:cNvPr id="25" name="Picture 4"/>
          <p:cNvPicPr>
            <a:picLocks noChangeAspect="1" noChangeArrowheads="1"/>
          </p:cNvPicPr>
          <p:nvPr/>
        </p:nvPicPr>
        <p:blipFill>
          <a:blip r:embed="rId4" cstate="print"/>
          <a:srcRect/>
          <a:stretch>
            <a:fillRect/>
          </a:stretch>
        </p:blipFill>
        <p:spPr bwMode="auto">
          <a:xfrm>
            <a:off x="2438400" y="1905000"/>
            <a:ext cx="1600200" cy="1857375"/>
          </a:xfrm>
          <a:prstGeom prst="rect">
            <a:avLst/>
          </a:prstGeom>
          <a:noFill/>
          <a:ln w="9525">
            <a:noFill/>
            <a:miter lim="800000"/>
            <a:headEnd/>
            <a:tailEnd/>
          </a:ln>
          <a:effectLst/>
        </p:spPr>
      </p:pic>
      <p:pic>
        <p:nvPicPr>
          <p:cNvPr id="26" name="Picture 2" descr="examples of effective and ineffective navigation structure"/>
          <p:cNvPicPr>
            <a:picLocks noChangeAspect="1" noChangeArrowheads="1"/>
          </p:cNvPicPr>
          <p:nvPr/>
        </p:nvPicPr>
        <p:blipFill>
          <a:blip r:embed="rId5" cstate="print"/>
          <a:srcRect/>
          <a:stretch>
            <a:fillRect/>
          </a:stretch>
        </p:blipFill>
        <p:spPr bwMode="auto">
          <a:xfrm>
            <a:off x="228600" y="4343400"/>
            <a:ext cx="4648200" cy="1918306"/>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Principle of Figure-Ground </a:t>
            </a:r>
          </a:p>
        </p:txBody>
      </p:sp>
      <p:pic>
        <p:nvPicPr>
          <p:cNvPr id="262146" name="Picture 2" descr="the complex made simple for determining what is content and what is background"/>
          <p:cNvPicPr>
            <a:picLocks noChangeAspect="1" noChangeArrowheads="1"/>
          </p:cNvPicPr>
          <p:nvPr/>
        </p:nvPicPr>
        <p:blipFill>
          <a:blip r:embed="rId2" cstate="print"/>
          <a:srcRect/>
          <a:stretch>
            <a:fillRect/>
          </a:stretch>
        </p:blipFill>
        <p:spPr bwMode="auto">
          <a:xfrm>
            <a:off x="516178" y="1752600"/>
            <a:ext cx="8323022" cy="4267200"/>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fontScale="77500" lnSpcReduction="20000"/>
          </a:bodyPr>
          <a:lstStyle/>
          <a:p>
            <a:pPr fontAlgn="base"/>
            <a:r>
              <a:rPr lang="en-US" dirty="0"/>
              <a:t>Visual elements moving together in the same direction simultaneously tend to be perceived as a group.</a:t>
            </a:r>
          </a:p>
          <a:p>
            <a:pPr fontAlgn="base"/>
            <a:r>
              <a:rPr lang="en-US" dirty="0"/>
              <a:t>For example, in Microsoft Windows or Mac OS, if you select a number of icons and then drag-and-drop them, partially-transparent copies of all of the selected icons move together </a:t>
            </a:r>
          </a:p>
          <a:p>
            <a:endParaRPr lang="en-US" dirty="0"/>
          </a:p>
        </p:txBody>
      </p:sp>
      <p:sp>
        <p:nvSpPr>
          <p:cNvPr id="2" name="Title 1"/>
          <p:cNvSpPr>
            <a:spLocks noGrp="1"/>
          </p:cNvSpPr>
          <p:nvPr>
            <p:ph type="title"/>
          </p:nvPr>
        </p:nvSpPr>
        <p:spPr/>
        <p:txBody>
          <a:bodyPr/>
          <a:lstStyle/>
          <a:p>
            <a:r>
              <a:rPr lang="en-US" dirty="0"/>
              <a:t>Principle of Common Fate </a:t>
            </a:r>
          </a:p>
        </p:txBody>
      </p:sp>
    </p:spTree>
    <p:extLst>
      <p:ext uri="{BB962C8B-B14F-4D97-AF65-F5344CB8AC3E}">
        <p14:creationId xmlns:p14="http://schemas.microsoft.com/office/powerpoint/2010/main" val="3341217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sp>
        <p:nvSpPr>
          <p:cNvPr id="3" name="Content Placeholder 2"/>
          <p:cNvSpPr>
            <a:spLocks noGrp="1"/>
          </p:cNvSpPr>
          <p:nvPr>
            <p:ph sz="quarter" idx="1"/>
          </p:nvPr>
        </p:nvSpPr>
        <p:spPr/>
        <p:txBody>
          <a:bodyPr/>
          <a:lstStyle/>
          <a:p>
            <a:r>
              <a:rPr lang="en-US" dirty="0"/>
              <a:t>This principal deals with motion and animated objects</a:t>
            </a:r>
          </a:p>
          <a:p>
            <a:r>
              <a:rPr lang="en-US" dirty="0"/>
              <a:t>All things being equal, if a group of objects moves in a similar way, they are perceived to be a related group</a:t>
            </a:r>
          </a:p>
          <a:p>
            <a:r>
              <a:rPr lang="en-US" dirty="0"/>
              <a:t>Common motion = common fate</a:t>
            </a:r>
          </a:p>
        </p:txBody>
      </p:sp>
    </p:spTree>
    <p:extLst>
      <p:ext uri="{BB962C8B-B14F-4D97-AF65-F5344CB8AC3E}">
        <p14:creationId xmlns:p14="http://schemas.microsoft.com/office/powerpoint/2010/main" val="88137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pic>
        <p:nvPicPr>
          <p:cNvPr id="308226" name="Picture 2" descr="File:Red-billed quelea flocking at waterhole.jpg"/>
          <p:cNvPicPr>
            <a:picLocks noChangeAspect="1" noChangeArrowheads="1"/>
          </p:cNvPicPr>
          <p:nvPr/>
        </p:nvPicPr>
        <p:blipFill>
          <a:blip r:embed="rId2" cstate="print"/>
          <a:srcRect/>
          <a:stretch>
            <a:fillRect/>
          </a:stretch>
        </p:blipFill>
        <p:spPr bwMode="auto">
          <a:xfrm>
            <a:off x="1219200" y="1561407"/>
            <a:ext cx="7112000" cy="5334000"/>
          </a:xfrm>
          <a:prstGeom prst="rect">
            <a:avLst/>
          </a:prstGeom>
          <a:noFill/>
        </p:spPr>
      </p:pic>
    </p:spTree>
    <p:extLst>
      <p:ext uri="{BB962C8B-B14F-4D97-AF65-F5344CB8AC3E}">
        <p14:creationId xmlns:p14="http://schemas.microsoft.com/office/powerpoint/2010/main" val="32482686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Common Fate </a:t>
            </a:r>
          </a:p>
        </p:txBody>
      </p:sp>
      <p:sp>
        <p:nvSpPr>
          <p:cNvPr id="312322" name="AutoShape 2" descr="slide-out menu"/>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5" descr="common-fate"/>
          <p:cNvPicPr>
            <a:picLocks noChangeAspect="1" noChangeArrowheads="1"/>
          </p:cNvPicPr>
          <p:nvPr/>
        </p:nvPicPr>
        <p:blipFill>
          <a:blip r:embed="rId2" cstate="print"/>
          <a:srcRect l="3922" t="7843" r="21568" b="5882"/>
          <a:stretch>
            <a:fillRect/>
          </a:stretch>
        </p:blipFill>
        <p:spPr bwMode="auto">
          <a:xfrm>
            <a:off x="5257800" y="1524000"/>
            <a:ext cx="3657600" cy="2117725"/>
          </a:xfrm>
          <a:prstGeom prst="rect">
            <a:avLst/>
          </a:prstGeom>
          <a:noFill/>
        </p:spPr>
      </p:pic>
      <p:pic>
        <p:nvPicPr>
          <p:cNvPr id="6" name="Picture 4" descr="slide-out menu"/>
          <p:cNvPicPr>
            <a:picLocks noChangeAspect="1" noChangeArrowheads="1"/>
          </p:cNvPicPr>
          <p:nvPr/>
        </p:nvPicPr>
        <p:blipFill>
          <a:blip r:embed="rId3" cstate="print"/>
          <a:srcRect/>
          <a:stretch>
            <a:fillRect/>
          </a:stretch>
        </p:blipFill>
        <p:spPr bwMode="auto">
          <a:xfrm>
            <a:off x="247650" y="3705224"/>
            <a:ext cx="6000750" cy="3000376"/>
          </a:xfrm>
          <a:prstGeom prst="rect">
            <a:avLst/>
          </a:prstGeom>
          <a:noFill/>
        </p:spPr>
      </p:pic>
    </p:spTree>
    <p:extLst>
      <p:ext uri="{BB962C8B-B14F-4D97-AF65-F5344CB8AC3E}">
        <p14:creationId xmlns:p14="http://schemas.microsoft.com/office/powerpoint/2010/main" val="27744101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743200"/>
            <a:ext cx="7808913" cy="1673225"/>
          </a:xfrm>
        </p:spPr>
        <p:txBody>
          <a:bodyPr>
            <a:normAutofit fontScale="85000" lnSpcReduction="10000"/>
          </a:bodyPr>
          <a:lstStyle/>
          <a:p>
            <a:r>
              <a:rPr lang="en-US" dirty="0"/>
              <a:t>The law of connectedness states that elements that are connected to each other using colors, lines, frames, or other shapes are perceived as a single unit when compared with other elements that are not linked in the same manner.</a:t>
            </a:r>
          </a:p>
        </p:txBody>
      </p:sp>
      <p:sp>
        <p:nvSpPr>
          <p:cNvPr id="2" name="Title 1"/>
          <p:cNvSpPr>
            <a:spLocks noGrp="1"/>
          </p:cNvSpPr>
          <p:nvPr>
            <p:ph type="title"/>
          </p:nvPr>
        </p:nvSpPr>
        <p:spPr/>
        <p:txBody>
          <a:bodyPr/>
          <a:lstStyle/>
          <a:p>
            <a:r>
              <a:rPr lang="en-US" dirty="0"/>
              <a:t>Principle of Connectedness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Connectedness </a:t>
            </a:r>
          </a:p>
        </p:txBody>
      </p:sp>
      <p:pic>
        <p:nvPicPr>
          <p:cNvPr id="269314" name="Picture 2" descr="uniform connectedness"/>
          <p:cNvPicPr>
            <a:picLocks noChangeAspect="1" noChangeArrowheads="1"/>
          </p:cNvPicPr>
          <p:nvPr/>
        </p:nvPicPr>
        <p:blipFill rotWithShape="1">
          <a:blip r:embed="rId2" cstate="print"/>
          <a:srcRect l="12000" t="3999" r="12000" b="10001"/>
          <a:stretch/>
        </p:blipFill>
        <p:spPr bwMode="auto">
          <a:xfrm>
            <a:off x="2010217" y="1476374"/>
            <a:ext cx="7133784" cy="5381626"/>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Connectedness </a:t>
            </a:r>
          </a:p>
        </p:txBody>
      </p:sp>
      <p:pic>
        <p:nvPicPr>
          <p:cNvPr id="268290" name="Picture 2" descr="tabs"/>
          <p:cNvPicPr>
            <a:picLocks noChangeAspect="1" noChangeArrowheads="1"/>
          </p:cNvPicPr>
          <p:nvPr/>
        </p:nvPicPr>
        <p:blipFill>
          <a:blip r:embed="rId2" cstate="print"/>
          <a:srcRect/>
          <a:stretch>
            <a:fillRect/>
          </a:stretch>
        </p:blipFill>
        <p:spPr bwMode="auto">
          <a:xfrm>
            <a:off x="76200" y="2145790"/>
            <a:ext cx="8991600" cy="3416810"/>
          </a:xfrm>
          <a:prstGeom prst="rect">
            <a:avLst/>
          </a:prstGeom>
          <a:noFill/>
        </p:spPr>
      </p:pic>
      <p:cxnSp>
        <p:nvCxnSpPr>
          <p:cNvPr id="4" name="Straight Connector 3">
            <a:extLst>
              <a:ext uri="{FF2B5EF4-FFF2-40B4-BE49-F238E27FC236}">
                <a16:creationId xmlns:a16="http://schemas.microsoft.com/office/drawing/2014/main" id="{8C49E9D9-805B-4ABA-A195-B494EEB55612}"/>
              </a:ext>
            </a:extLst>
          </p:cNvPr>
          <p:cNvCxnSpPr/>
          <p:nvPr/>
        </p:nvCxnSpPr>
        <p:spPr>
          <a:xfrm>
            <a:off x="2514600" y="2145790"/>
            <a:ext cx="0" cy="273101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1FB1BC2-2DCC-4F99-B6EC-CD1055E01CA5}"/>
              </a:ext>
            </a:extLst>
          </p:cNvPr>
          <p:cNvCxnSpPr>
            <a:cxnSpLocks/>
          </p:cNvCxnSpPr>
          <p:nvPr/>
        </p:nvCxnSpPr>
        <p:spPr>
          <a:xfrm>
            <a:off x="3733800" y="2145790"/>
            <a:ext cx="0" cy="90221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ED254CB-1254-4C6D-BFC0-D5285CC796EC}"/>
              </a:ext>
            </a:extLst>
          </p:cNvPr>
          <p:cNvCxnSpPr>
            <a:cxnSpLocks/>
          </p:cNvCxnSpPr>
          <p:nvPr/>
        </p:nvCxnSpPr>
        <p:spPr>
          <a:xfrm flipH="1">
            <a:off x="3733800" y="3048000"/>
            <a:ext cx="457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Connectedness </a:t>
            </a:r>
          </a:p>
        </p:txBody>
      </p:sp>
      <p:pic>
        <p:nvPicPr>
          <p:cNvPr id="270338" name="Picture 2" descr="the dashboard of a 747"/>
          <p:cNvPicPr>
            <a:picLocks noChangeAspect="1" noChangeArrowheads="1"/>
          </p:cNvPicPr>
          <p:nvPr/>
        </p:nvPicPr>
        <p:blipFill>
          <a:blip r:embed="rId2" cstate="print"/>
          <a:srcRect/>
          <a:stretch>
            <a:fillRect/>
          </a:stretch>
        </p:blipFill>
        <p:spPr bwMode="auto">
          <a:xfrm>
            <a:off x="1" y="1478280"/>
            <a:ext cx="9144000" cy="408432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886200"/>
          </a:xfrm>
        </p:spPr>
        <p:txBody>
          <a:bodyPr>
            <a:normAutofit/>
          </a:bodyPr>
          <a:lstStyle/>
          <a:p>
            <a:r>
              <a:rPr lang="en-US" dirty="0" err="1"/>
              <a:t>Prägnanz</a:t>
            </a:r>
            <a:r>
              <a:rPr lang="en-US" dirty="0"/>
              <a:t> is a German word that means “good figure” or “pithiness” (literally defined as, “brief, forceful and meaningful in expression”). </a:t>
            </a:r>
          </a:p>
          <a:p>
            <a:endParaRPr lang="en-US" dirty="0"/>
          </a:p>
          <a:p>
            <a:r>
              <a:rPr lang="en-US" dirty="0"/>
              <a:t>The human eye likes to find simplicity and order in complex shapes</a:t>
            </a:r>
          </a:p>
        </p:txBody>
      </p:sp>
      <p:sp>
        <p:nvSpPr>
          <p:cNvPr id="2" name="Title 1"/>
          <p:cNvSpPr>
            <a:spLocks noGrp="1"/>
          </p:cNvSpPr>
          <p:nvPr>
            <p:ph type="title"/>
          </p:nvPr>
        </p:nvSpPr>
        <p:spPr/>
        <p:txBody>
          <a:bodyPr>
            <a:normAutofit fontScale="90000"/>
          </a:bodyPr>
          <a:lstStyle/>
          <a:p>
            <a:r>
              <a:rPr lang="en-US" dirty="0"/>
              <a:t>Principle of Simplicity (or </a:t>
            </a:r>
            <a:r>
              <a:rPr lang="en-US" dirty="0" err="1"/>
              <a:t>Prägnanz</a:t>
            </a:r>
            <a:r>
              <a:rPr lang="en-US" dirty="0"/>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Principle of Simplicity </a:t>
            </a:r>
          </a:p>
        </p:txBody>
      </p:sp>
      <p:grpSp>
        <p:nvGrpSpPr>
          <p:cNvPr id="2" name="Group 57"/>
          <p:cNvGrpSpPr>
            <a:grpSpLocks/>
          </p:cNvGrpSpPr>
          <p:nvPr/>
        </p:nvGrpSpPr>
        <p:grpSpPr bwMode="auto">
          <a:xfrm>
            <a:off x="1762125" y="2517775"/>
            <a:ext cx="2559050" cy="1481138"/>
            <a:chOff x="1110" y="1586"/>
            <a:chExt cx="1612" cy="933"/>
          </a:xfrm>
        </p:grpSpPr>
        <p:sp>
          <p:nvSpPr>
            <p:cNvPr id="10" name="AutoShape 55"/>
            <p:cNvSpPr>
              <a:spLocks noChangeArrowheads="1"/>
            </p:cNvSpPr>
            <p:nvPr/>
          </p:nvSpPr>
          <p:spPr bwMode="auto">
            <a:xfrm flipV="1">
              <a:off x="1110" y="1586"/>
              <a:ext cx="792" cy="933"/>
            </a:xfrm>
            <a:prstGeom prst="roundRect">
              <a:avLst>
                <a:gd name="adj" fmla="val 0"/>
              </a:avLst>
            </a:prstGeom>
            <a:noFill/>
            <a:ln w="18485">
              <a:solidFill>
                <a:srgbClr val="000000"/>
              </a:solidFill>
              <a:round/>
              <a:headEnd/>
              <a:tailEnd/>
            </a:ln>
          </p:spPr>
          <p:txBody>
            <a:bodyPr wrap="none" anchor="ctr"/>
            <a:lstStyle/>
            <a:p>
              <a:endParaRPr lang="en-US"/>
            </a:p>
          </p:txBody>
        </p:sp>
        <p:sp>
          <p:nvSpPr>
            <p:cNvPr id="11" name="Oval 56"/>
            <p:cNvSpPr>
              <a:spLocks noChangeArrowheads="1"/>
            </p:cNvSpPr>
            <p:nvPr/>
          </p:nvSpPr>
          <p:spPr bwMode="auto">
            <a:xfrm>
              <a:off x="1597" y="1771"/>
              <a:ext cx="1125" cy="498"/>
            </a:xfrm>
            <a:prstGeom prst="ellipse">
              <a:avLst/>
            </a:prstGeom>
            <a:noFill/>
            <a:ln w="18485">
              <a:solidFill>
                <a:srgbClr val="000000"/>
              </a:solidFill>
              <a:round/>
              <a:headEnd/>
              <a:tailEnd/>
            </a:ln>
          </p:spPr>
          <p:txBody>
            <a:bodyPr wrap="none" anchor="ctr"/>
            <a:lstStyle/>
            <a:p>
              <a:endParaRPr lang="en-US"/>
            </a:p>
          </p:txBody>
        </p:sp>
      </p:grpSp>
      <p:grpSp>
        <p:nvGrpSpPr>
          <p:cNvPr id="3" name="Group 63"/>
          <p:cNvGrpSpPr>
            <a:grpSpLocks/>
          </p:cNvGrpSpPr>
          <p:nvPr/>
        </p:nvGrpSpPr>
        <p:grpSpPr bwMode="auto">
          <a:xfrm>
            <a:off x="5013325" y="2506663"/>
            <a:ext cx="3178175" cy="1476375"/>
            <a:chOff x="3158" y="1579"/>
            <a:chExt cx="2002" cy="930"/>
          </a:xfrm>
        </p:grpSpPr>
        <p:grpSp>
          <p:nvGrpSpPr>
            <p:cNvPr id="4" name="Group 61"/>
            <p:cNvGrpSpPr>
              <a:grpSpLocks/>
            </p:cNvGrpSpPr>
            <p:nvPr/>
          </p:nvGrpSpPr>
          <p:grpSpPr bwMode="auto">
            <a:xfrm>
              <a:off x="3158" y="1579"/>
              <a:ext cx="2002" cy="930"/>
              <a:chOff x="3158" y="1579"/>
              <a:chExt cx="2002" cy="930"/>
            </a:xfrm>
          </p:grpSpPr>
          <p:sp>
            <p:nvSpPr>
              <p:cNvPr id="15" name="Freeform 58"/>
              <p:cNvSpPr>
                <a:spLocks/>
              </p:cNvSpPr>
              <p:nvPr/>
            </p:nvSpPr>
            <p:spPr bwMode="auto">
              <a:xfrm>
                <a:off x="3158" y="1579"/>
                <a:ext cx="792" cy="930"/>
              </a:xfrm>
              <a:custGeom>
                <a:avLst/>
                <a:gdLst>
                  <a:gd name="T0" fmla="*/ 780 w 792"/>
                  <a:gd name="T1" fmla="*/ 224 h 930"/>
                  <a:gd name="T2" fmla="*/ 791 w 792"/>
                  <a:gd name="T3" fmla="*/ 224 h 930"/>
                  <a:gd name="T4" fmla="*/ 788 w 792"/>
                  <a:gd name="T5" fmla="*/ 0 h 930"/>
                  <a:gd name="T6" fmla="*/ 0 w 792"/>
                  <a:gd name="T7" fmla="*/ 7 h 930"/>
                  <a:gd name="T8" fmla="*/ 0 w 792"/>
                  <a:gd name="T9" fmla="*/ 929 h 930"/>
                  <a:gd name="T10" fmla="*/ 780 w 792"/>
                  <a:gd name="T11" fmla="*/ 929 h 930"/>
                  <a:gd name="T12" fmla="*/ 780 w 792"/>
                  <a:gd name="T13" fmla="*/ 657 h 930"/>
                  <a:gd name="T14" fmla="*/ 0 60000 65536"/>
                  <a:gd name="T15" fmla="*/ 0 60000 65536"/>
                  <a:gd name="T16" fmla="*/ 0 60000 65536"/>
                  <a:gd name="T17" fmla="*/ 0 60000 65536"/>
                  <a:gd name="T18" fmla="*/ 0 60000 65536"/>
                  <a:gd name="T19" fmla="*/ 0 60000 65536"/>
                  <a:gd name="T20" fmla="*/ 0 60000 65536"/>
                  <a:gd name="T21" fmla="*/ 0 w 792"/>
                  <a:gd name="T22" fmla="*/ 0 h 930"/>
                  <a:gd name="T23" fmla="*/ 792 w 792"/>
                  <a:gd name="T24" fmla="*/ 930 h 93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92" h="930">
                    <a:moveTo>
                      <a:pt x="780" y="224"/>
                    </a:moveTo>
                    <a:lnTo>
                      <a:pt x="791" y="224"/>
                    </a:lnTo>
                    <a:lnTo>
                      <a:pt x="788" y="0"/>
                    </a:lnTo>
                    <a:lnTo>
                      <a:pt x="0" y="7"/>
                    </a:lnTo>
                    <a:lnTo>
                      <a:pt x="0" y="929"/>
                    </a:lnTo>
                    <a:lnTo>
                      <a:pt x="780" y="929"/>
                    </a:lnTo>
                    <a:lnTo>
                      <a:pt x="780" y="657"/>
                    </a:lnTo>
                  </a:path>
                </a:pathLst>
              </a:custGeom>
              <a:noFill/>
              <a:ln w="18485">
                <a:solidFill>
                  <a:srgbClr val="000080"/>
                </a:solidFill>
                <a:round/>
                <a:headEnd/>
                <a:tailEnd/>
              </a:ln>
            </p:spPr>
            <p:txBody>
              <a:bodyPr/>
              <a:lstStyle/>
              <a:p>
                <a:endParaRPr lang="en-US"/>
              </a:p>
            </p:txBody>
          </p:sp>
          <p:sp>
            <p:nvSpPr>
              <p:cNvPr id="16" name="Freeform 59"/>
              <p:cNvSpPr>
                <a:spLocks/>
              </p:cNvSpPr>
              <p:nvPr/>
            </p:nvSpPr>
            <p:spPr bwMode="auto">
              <a:xfrm>
                <a:off x="3648" y="1808"/>
                <a:ext cx="298" cy="426"/>
              </a:xfrm>
              <a:custGeom>
                <a:avLst/>
                <a:gdLst>
                  <a:gd name="T0" fmla="*/ 297 w 298"/>
                  <a:gd name="T1" fmla="*/ 0 h 426"/>
                  <a:gd name="T2" fmla="*/ 269 w 298"/>
                  <a:gd name="T3" fmla="*/ 10 h 426"/>
                  <a:gd name="T4" fmla="*/ 242 w 298"/>
                  <a:gd name="T5" fmla="*/ 19 h 426"/>
                  <a:gd name="T6" fmla="*/ 215 w 298"/>
                  <a:gd name="T7" fmla="*/ 29 h 426"/>
                  <a:gd name="T8" fmla="*/ 190 w 298"/>
                  <a:gd name="T9" fmla="*/ 38 h 426"/>
                  <a:gd name="T10" fmla="*/ 164 w 298"/>
                  <a:gd name="T11" fmla="*/ 49 h 426"/>
                  <a:gd name="T12" fmla="*/ 139 w 298"/>
                  <a:gd name="T13" fmla="*/ 60 h 426"/>
                  <a:gd name="T14" fmla="*/ 115 w 298"/>
                  <a:gd name="T15" fmla="*/ 72 h 426"/>
                  <a:gd name="T16" fmla="*/ 94 w 298"/>
                  <a:gd name="T17" fmla="*/ 83 h 426"/>
                  <a:gd name="T18" fmla="*/ 73 w 298"/>
                  <a:gd name="T19" fmla="*/ 97 h 426"/>
                  <a:gd name="T20" fmla="*/ 54 w 298"/>
                  <a:gd name="T21" fmla="*/ 110 h 426"/>
                  <a:gd name="T22" fmla="*/ 38 w 298"/>
                  <a:gd name="T23" fmla="*/ 125 h 426"/>
                  <a:gd name="T24" fmla="*/ 25 w 298"/>
                  <a:gd name="T25" fmla="*/ 140 h 426"/>
                  <a:gd name="T26" fmla="*/ 13 w 298"/>
                  <a:gd name="T27" fmla="*/ 157 h 426"/>
                  <a:gd name="T28" fmla="*/ 6 w 298"/>
                  <a:gd name="T29" fmla="*/ 174 h 426"/>
                  <a:gd name="T30" fmla="*/ 0 w 298"/>
                  <a:gd name="T31" fmla="*/ 194 h 426"/>
                  <a:gd name="T32" fmla="*/ 0 w 298"/>
                  <a:gd name="T33" fmla="*/ 213 h 426"/>
                  <a:gd name="T34" fmla="*/ 0 w 298"/>
                  <a:gd name="T35" fmla="*/ 235 h 426"/>
                  <a:gd name="T36" fmla="*/ 6 w 298"/>
                  <a:gd name="T37" fmla="*/ 254 h 426"/>
                  <a:gd name="T38" fmla="*/ 13 w 298"/>
                  <a:gd name="T39" fmla="*/ 273 h 426"/>
                  <a:gd name="T40" fmla="*/ 25 w 298"/>
                  <a:gd name="T41" fmla="*/ 290 h 426"/>
                  <a:gd name="T42" fmla="*/ 38 w 298"/>
                  <a:gd name="T43" fmla="*/ 306 h 426"/>
                  <a:gd name="T44" fmla="*/ 55 w 298"/>
                  <a:gd name="T45" fmla="*/ 321 h 426"/>
                  <a:gd name="T46" fmla="*/ 73 w 298"/>
                  <a:gd name="T47" fmla="*/ 335 h 426"/>
                  <a:gd name="T48" fmla="*/ 94 w 298"/>
                  <a:gd name="T49" fmla="*/ 347 h 426"/>
                  <a:gd name="T50" fmla="*/ 116 w 298"/>
                  <a:gd name="T51" fmla="*/ 359 h 426"/>
                  <a:gd name="T52" fmla="*/ 139 w 298"/>
                  <a:gd name="T53" fmla="*/ 370 h 426"/>
                  <a:gd name="T54" fmla="*/ 164 w 298"/>
                  <a:gd name="T55" fmla="*/ 381 h 426"/>
                  <a:gd name="T56" fmla="*/ 190 w 298"/>
                  <a:gd name="T57" fmla="*/ 390 h 426"/>
                  <a:gd name="T58" fmla="*/ 216 w 298"/>
                  <a:gd name="T59" fmla="*/ 400 h 426"/>
                  <a:gd name="T60" fmla="*/ 243 w 298"/>
                  <a:gd name="T61" fmla="*/ 409 h 426"/>
                  <a:gd name="T62" fmla="*/ 270 w 298"/>
                  <a:gd name="T63" fmla="*/ 418 h 426"/>
                  <a:gd name="T64" fmla="*/ 297 w 298"/>
                  <a:gd name="T65" fmla="*/ 425 h 4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98"/>
                  <a:gd name="T100" fmla="*/ 0 h 426"/>
                  <a:gd name="T101" fmla="*/ 298 w 298"/>
                  <a:gd name="T102" fmla="*/ 426 h 4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98" h="426">
                    <a:moveTo>
                      <a:pt x="297" y="0"/>
                    </a:moveTo>
                    <a:lnTo>
                      <a:pt x="269" y="10"/>
                    </a:lnTo>
                    <a:lnTo>
                      <a:pt x="242" y="19"/>
                    </a:lnTo>
                    <a:lnTo>
                      <a:pt x="215" y="29"/>
                    </a:lnTo>
                    <a:lnTo>
                      <a:pt x="190" y="38"/>
                    </a:lnTo>
                    <a:lnTo>
                      <a:pt x="164" y="49"/>
                    </a:lnTo>
                    <a:lnTo>
                      <a:pt x="139" y="60"/>
                    </a:lnTo>
                    <a:lnTo>
                      <a:pt x="115" y="72"/>
                    </a:lnTo>
                    <a:lnTo>
                      <a:pt x="94" y="83"/>
                    </a:lnTo>
                    <a:lnTo>
                      <a:pt x="73" y="97"/>
                    </a:lnTo>
                    <a:lnTo>
                      <a:pt x="54" y="110"/>
                    </a:lnTo>
                    <a:lnTo>
                      <a:pt x="38" y="125"/>
                    </a:lnTo>
                    <a:lnTo>
                      <a:pt x="25" y="140"/>
                    </a:lnTo>
                    <a:lnTo>
                      <a:pt x="13" y="157"/>
                    </a:lnTo>
                    <a:lnTo>
                      <a:pt x="6" y="174"/>
                    </a:lnTo>
                    <a:lnTo>
                      <a:pt x="0" y="194"/>
                    </a:lnTo>
                    <a:lnTo>
                      <a:pt x="0" y="213"/>
                    </a:lnTo>
                    <a:lnTo>
                      <a:pt x="0" y="235"/>
                    </a:lnTo>
                    <a:lnTo>
                      <a:pt x="6" y="254"/>
                    </a:lnTo>
                    <a:lnTo>
                      <a:pt x="13" y="273"/>
                    </a:lnTo>
                    <a:lnTo>
                      <a:pt x="25" y="290"/>
                    </a:lnTo>
                    <a:lnTo>
                      <a:pt x="38" y="306"/>
                    </a:lnTo>
                    <a:lnTo>
                      <a:pt x="55" y="321"/>
                    </a:lnTo>
                    <a:lnTo>
                      <a:pt x="73" y="335"/>
                    </a:lnTo>
                    <a:lnTo>
                      <a:pt x="94" y="347"/>
                    </a:lnTo>
                    <a:lnTo>
                      <a:pt x="116" y="359"/>
                    </a:lnTo>
                    <a:lnTo>
                      <a:pt x="139" y="370"/>
                    </a:lnTo>
                    <a:lnTo>
                      <a:pt x="164" y="381"/>
                    </a:lnTo>
                    <a:lnTo>
                      <a:pt x="190" y="390"/>
                    </a:lnTo>
                    <a:lnTo>
                      <a:pt x="216" y="400"/>
                    </a:lnTo>
                    <a:lnTo>
                      <a:pt x="243" y="409"/>
                    </a:lnTo>
                    <a:lnTo>
                      <a:pt x="270" y="418"/>
                    </a:lnTo>
                    <a:lnTo>
                      <a:pt x="297" y="425"/>
                    </a:lnTo>
                  </a:path>
                </a:pathLst>
              </a:custGeom>
              <a:noFill/>
              <a:ln w="18485">
                <a:solidFill>
                  <a:srgbClr val="000080"/>
                </a:solidFill>
                <a:round/>
                <a:headEnd/>
                <a:tailEnd/>
              </a:ln>
            </p:spPr>
            <p:txBody>
              <a:bodyPr/>
              <a:lstStyle/>
              <a:p>
                <a:endParaRPr lang="en-US"/>
              </a:p>
            </p:txBody>
          </p:sp>
          <p:sp>
            <p:nvSpPr>
              <p:cNvPr id="17" name="Freeform 60"/>
              <p:cNvSpPr>
                <a:spLocks/>
              </p:cNvSpPr>
              <p:nvPr/>
            </p:nvSpPr>
            <p:spPr bwMode="auto">
              <a:xfrm>
                <a:off x="4337" y="1775"/>
                <a:ext cx="823" cy="495"/>
              </a:xfrm>
              <a:custGeom>
                <a:avLst/>
                <a:gdLst>
                  <a:gd name="T0" fmla="*/ 0 w 823"/>
                  <a:gd name="T1" fmla="*/ 458 h 495"/>
                  <a:gd name="T2" fmla="*/ 71 w 823"/>
                  <a:gd name="T3" fmla="*/ 477 h 495"/>
                  <a:gd name="T4" fmla="*/ 144 w 823"/>
                  <a:gd name="T5" fmla="*/ 487 h 495"/>
                  <a:gd name="T6" fmla="*/ 216 w 823"/>
                  <a:gd name="T7" fmla="*/ 494 h 495"/>
                  <a:gd name="T8" fmla="*/ 288 w 823"/>
                  <a:gd name="T9" fmla="*/ 494 h 495"/>
                  <a:gd name="T10" fmla="*/ 358 w 823"/>
                  <a:gd name="T11" fmla="*/ 490 h 495"/>
                  <a:gd name="T12" fmla="*/ 426 w 823"/>
                  <a:gd name="T13" fmla="*/ 482 h 495"/>
                  <a:gd name="T14" fmla="*/ 491 w 823"/>
                  <a:gd name="T15" fmla="*/ 469 h 495"/>
                  <a:gd name="T16" fmla="*/ 553 w 823"/>
                  <a:gd name="T17" fmla="*/ 453 h 495"/>
                  <a:gd name="T18" fmla="*/ 609 w 823"/>
                  <a:gd name="T19" fmla="*/ 434 h 495"/>
                  <a:gd name="T20" fmla="*/ 661 w 823"/>
                  <a:gd name="T21" fmla="*/ 412 h 495"/>
                  <a:gd name="T22" fmla="*/ 706 w 823"/>
                  <a:gd name="T23" fmla="*/ 388 h 495"/>
                  <a:gd name="T24" fmla="*/ 746 w 823"/>
                  <a:gd name="T25" fmla="*/ 362 h 495"/>
                  <a:gd name="T26" fmla="*/ 777 w 823"/>
                  <a:gd name="T27" fmla="*/ 334 h 495"/>
                  <a:gd name="T28" fmla="*/ 801 w 823"/>
                  <a:gd name="T29" fmla="*/ 305 h 495"/>
                  <a:gd name="T30" fmla="*/ 816 w 823"/>
                  <a:gd name="T31" fmla="*/ 276 h 495"/>
                  <a:gd name="T32" fmla="*/ 822 w 823"/>
                  <a:gd name="T33" fmla="*/ 246 h 495"/>
                  <a:gd name="T34" fmla="*/ 816 w 823"/>
                  <a:gd name="T35" fmla="*/ 213 h 495"/>
                  <a:gd name="T36" fmla="*/ 801 w 823"/>
                  <a:gd name="T37" fmla="*/ 181 h 495"/>
                  <a:gd name="T38" fmla="*/ 776 w 823"/>
                  <a:gd name="T39" fmla="*/ 151 h 495"/>
                  <a:gd name="T40" fmla="*/ 745 w 823"/>
                  <a:gd name="T41" fmla="*/ 123 h 495"/>
                  <a:gd name="T42" fmla="*/ 705 w 823"/>
                  <a:gd name="T43" fmla="*/ 97 h 495"/>
                  <a:gd name="T44" fmla="*/ 658 w 823"/>
                  <a:gd name="T45" fmla="*/ 74 h 495"/>
                  <a:gd name="T46" fmla="*/ 606 w 823"/>
                  <a:gd name="T47" fmla="*/ 54 h 495"/>
                  <a:gd name="T48" fmla="*/ 549 w 823"/>
                  <a:gd name="T49" fmla="*/ 35 h 495"/>
                  <a:gd name="T50" fmla="*/ 487 w 823"/>
                  <a:gd name="T51" fmla="*/ 21 h 495"/>
                  <a:gd name="T52" fmla="*/ 422 w 823"/>
                  <a:gd name="T53" fmla="*/ 10 h 495"/>
                  <a:gd name="T54" fmla="*/ 354 w 823"/>
                  <a:gd name="T55" fmla="*/ 4 h 495"/>
                  <a:gd name="T56" fmla="*/ 284 w 823"/>
                  <a:gd name="T57" fmla="*/ 0 h 495"/>
                  <a:gd name="T58" fmla="*/ 212 w 823"/>
                  <a:gd name="T59" fmla="*/ 2 h 495"/>
                  <a:gd name="T60" fmla="*/ 141 w 823"/>
                  <a:gd name="T61" fmla="*/ 7 h 495"/>
                  <a:gd name="T62" fmla="*/ 69 w 823"/>
                  <a:gd name="T63" fmla="*/ 18 h 495"/>
                  <a:gd name="T64" fmla="*/ 0 w 823"/>
                  <a:gd name="T65" fmla="*/ 33 h 4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3"/>
                  <a:gd name="T100" fmla="*/ 0 h 495"/>
                  <a:gd name="T101" fmla="*/ 823 w 823"/>
                  <a:gd name="T102" fmla="*/ 495 h 4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3" h="495">
                    <a:moveTo>
                      <a:pt x="0" y="458"/>
                    </a:moveTo>
                    <a:lnTo>
                      <a:pt x="71" y="477"/>
                    </a:lnTo>
                    <a:lnTo>
                      <a:pt x="144" y="487"/>
                    </a:lnTo>
                    <a:lnTo>
                      <a:pt x="216" y="494"/>
                    </a:lnTo>
                    <a:lnTo>
                      <a:pt x="288" y="494"/>
                    </a:lnTo>
                    <a:lnTo>
                      <a:pt x="358" y="490"/>
                    </a:lnTo>
                    <a:lnTo>
                      <a:pt x="426" y="482"/>
                    </a:lnTo>
                    <a:lnTo>
                      <a:pt x="491" y="469"/>
                    </a:lnTo>
                    <a:lnTo>
                      <a:pt x="553" y="453"/>
                    </a:lnTo>
                    <a:lnTo>
                      <a:pt x="609" y="434"/>
                    </a:lnTo>
                    <a:lnTo>
                      <a:pt x="661" y="412"/>
                    </a:lnTo>
                    <a:lnTo>
                      <a:pt x="706" y="388"/>
                    </a:lnTo>
                    <a:lnTo>
                      <a:pt x="746" y="362"/>
                    </a:lnTo>
                    <a:lnTo>
                      <a:pt x="777" y="334"/>
                    </a:lnTo>
                    <a:lnTo>
                      <a:pt x="801" y="305"/>
                    </a:lnTo>
                    <a:lnTo>
                      <a:pt x="816" y="276"/>
                    </a:lnTo>
                    <a:lnTo>
                      <a:pt x="822" y="246"/>
                    </a:lnTo>
                    <a:lnTo>
                      <a:pt x="816" y="213"/>
                    </a:lnTo>
                    <a:lnTo>
                      <a:pt x="801" y="181"/>
                    </a:lnTo>
                    <a:lnTo>
                      <a:pt x="776" y="151"/>
                    </a:lnTo>
                    <a:lnTo>
                      <a:pt x="745" y="123"/>
                    </a:lnTo>
                    <a:lnTo>
                      <a:pt x="705" y="97"/>
                    </a:lnTo>
                    <a:lnTo>
                      <a:pt x="658" y="74"/>
                    </a:lnTo>
                    <a:lnTo>
                      <a:pt x="606" y="54"/>
                    </a:lnTo>
                    <a:lnTo>
                      <a:pt x="549" y="35"/>
                    </a:lnTo>
                    <a:lnTo>
                      <a:pt x="487" y="21"/>
                    </a:lnTo>
                    <a:lnTo>
                      <a:pt x="422" y="10"/>
                    </a:lnTo>
                    <a:lnTo>
                      <a:pt x="354" y="4"/>
                    </a:lnTo>
                    <a:lnTo>
                      <a:pt x="284" y="0"/>
                    </a:lnTo>
                    <a:lnTo>
                      <a:pt x="212" y="2"/>
                    </a:lnTo>
                    <a:lnTo>
                      <a:pt x="141" y="7"/>
                    </a:lnTo>
                    <a:lnTo>
                      <a:pt x="69" y="18"/>
                    </a:lnTo>
                    <a:lnTo>
                      <a:pt x="0" y="33"/>
                    </a:lnTo>
                  </a:path>
                </a:pathLst>
              </a:custGeom>
              <a:noFill/>
              <a:ln w="18485">
                <a:solidFill>
                  <a:srgbClr val="000080"/>
                </a:solidFill>
                <a:round/>
                <a:headEnd/>
                <a:tailEnd/>
              </a:ln>
            </p:spPr>
            <p:txBody>
              <a:bodyPr/>
              <a:lstStyle/>
              <a:p>
                <a:endParaRPr lang="en-US"/>
              </a:p>
            </p:txBody>
          </p:sp>
        </p:grpSp>
        <p:sp>
          <p:nvSpPr>
            <p:cNvPr id="14" name="Line 62"/>
            <p:cNvSpPr>
              <a:spLocks noChangeShapeType="1"/>
            </p:cNvSpPr>
            <p:nvPr/>
          </p:nvSpPr>
          <p:spPr bwMode="auto">
            <a:xfrm>
              <a:off x="4336" y="1805"/>
              <a:ext cx="0" cy="435"/>
            </a:xfrm>
            <a:prstGeom prst="line">
              <a:avLst/>
            </a:prstGeom>
            <a:noFill/>
            <a:ln w="18485">
              <a:solidFill>
                <a:srgbClr val="000080"/>
              </a:solidFill>
              <a:round/>
              <a:headEnd/>
              <a:tailEnd/>
            </a:ln>
          </p:spPr>
          <p:txBody>
            <a:bodyPr/>
            <a:lstStyle/>
            <a:p>
              <a:endParaRPr lang="en-US"/>
            </a:p>
          </p:txBody>
        </p:sp>
      </p:gr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0513"/>
          <p:cNvPicPr>
            <a:picLocks noChangeAspect="1" noChangeArrowheads="1"/>
          </p:cNvPicPr>
          <p:nvPr/>
        </p:nvPicPr>
        <p:blipFill>
          <a:blip r:embed="rId3" cstate="print"/>
          <a:srcRect b="3343"/>
          <a:stretch>
            <a:fillRect/>
          </a:stretch>
        </p:blipFill>
        <p:spPr bwMode="auto">
          <a:xfrm>
            <a:off x="76200" y="2514600"/>
            <a:ext cx="3962400" cy="3810000"/>
          </a:xfrm>
          <a:prstGeom prst="rect">
            <a:avLst/>
          </a:prstGeom>
          <a:noFill/>
          <a:ln w="9525">
            <a:noFill/>
            <a:miter lim="800000"/>
            <a:headEnd/>
            <a:tailEnd/>
          </a:ln>
        </p:spPr>
      </p:pic>
      <p:pic>
        <p:nvPicPr>
          <p:cNvPr id="5" name="Picture 3"/>
          <p:cNvPicPr>
            <a:picLocks noChangeAspect="1" noChangeArrowheads="1"/>
          </p:cNvPicPr>
          <p:nvPr/>
        </p:nvPicPr>
        <p:blipFill>
          <a:blip r:embed="rId4" cstate="print"/>
          <a:srcRect/>
          <a:stretch>
            <a:fillRect/>
          </a:stretch>
        </p:blipFill>
        <p:spPr>
          <a:xfrm>
            <a:off x="4963886" y="1752600"/>
            <a:ext cx="4180114" cy="5029200"/>
          </a:xfrm>
          <a:prstGeom prst="rect">
            <a:avLst/>
          </a:prstGeom>
        </p:spPr>
      </p:pic>
      <p:sp>
        <p:nvSpPr>
          <p:cNvPr id="8" name="Title 7"/>
          <p:cNvSpPr>
            <a:spLocks noGrp="1"/>
          </p:cNvSpPr>
          <p:nvPr>
            <p:ph type="title"/>
          </p:nvPr>
        </p:nvSpPr>
        <p:spPr/>
        <p:txBody>
          <a:bodyPr/>
          <a:lstStyle/>
          <a:p>
            <a:r>
              <a:rPr lang="en-US" dirty="0"/>
              <a:t>Principle of Simplicity </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4" name="Picture 3"/>
          <p:cNvPicPr>
            <a:picLocks noChangeAspect="1"/>
          </p:cNvPicPr>
          <p:nvPr/>
        </p:nvPicPr>
        <p:blipFill>
          <a:blip r:embed="rId2"/>
          <a:stretch>
            <a:fillRect/>
          </a:stretch>
        </p:blipFill>
        <p:spPr>
          <a:xfrm>
            <a:off x="12572" y="1524001"/>
            <a:ext cx="9082982" cy="5313018"/>
          </a:xfrm>
          <a:prstGeom prst="rect">
            <a:avLst/>
          </a:prstGeom>
        </p:spPr>
      </p:pic>
    </p:spTree>
    <p:extLst>
      <p:ext uri="{BB962C8B-B14F-4D97-AF65-F5344CB8AC3E}">
        <p14:creationId xmlns:p14="http://schemas.microsoft.com/office/powerpoint/2010/main" val="30059308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5" name="Picture 8" descr="twitterThen1"/>
          <p:cNvPicPr>
            <a:picLocks noChangeAspect="1" noChangeArrowheads="1"/>
          </p:cNvPicPr>
          <p:nvPr/>
        </p:nvPicPr>
        <p:blipFill>
          <a:blip r:embed="rId2" cstate="print"/>
          <a:srcRect/>
          <a:stretch>
            <a:fillRect/>
          </a:stretch>
        </p:blipFill>
        <p:spPr bwMode="auto">
          <a:xfrm>
            <a:off x="374748" y="1524000"/>
            <a:ext cx="8629200" cy="5334000"/>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Simplicity </a:t>
            </a:r>
          </a:p>
        </p:txBody>
      </p:sp>
      <p:pic>
        <p:nvPicPr>
          <p:cNvPr id="4" name="Picture 10" descr="twitter-now"/>
          <p:cNvPicPr>
            <a:picLocks noChangeAspect="1" noChangeArrowheads="1"/>
          </p:cNvPicPr>
          <p:nvPr/>
        </p:nvPicPr>
        <p:blipFill>
          <a:blip r:embed="rId2" cstate="print"/>
          <a:srcRect l="10976" r="11649"/>
          <a:stretch>
            <a:fillRect/>
          </a:stretch>
        </p:blipFill>
        <p:spPr bwMode="auto">
          <a:xfrm>
            <a:off x="458542" y="1524000"/>
            <a:ext cx="8461611" cy="5334000"/>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3810000"/>
          </a:xfrm>
        </p:spPr>
        <p:txBody>
          <a:bodyPr/>
          <a:lstStyle/>
          <a:p>
            <a:r>
              <a:rPr lang="en-US" dirty="0"/>
              <a:t>Elements or objects frequently seen together in the past experience of a person are perceived to be included in one group.</a:t>
            </a:r>
          </a:p>
          <a:p>
            <a:endParaRPr lang="en-US" dirty="0"/>
          </a:p>
          <a:p>
            <a:r>
              <a:rPr lang="en-US" dirty="0"/>
              <a:t>Elements tend to be grouped together if they were together often in the past experience of the observer.</a:t>
            </a:r>
          </a:p>
        </p:txBody>
      </p:sp>
      <p:sp>
        <p:nvSpPr>
          <p:cNvPr id="2" name="Title 1"/>
          <p:cNvSpPr>
            <a:spLocks noGrp="1"/>
          </p:cNvSpPr>
          <p:nvPr>
            <p:ph type="title"/>
          </p:nvPr>
        </p:nvSpPr>
        <p:spPr/>
        <p:txBody>
          <a:bodyPr/>
          <a:lstStyle/>
          <a:p>
            <a:r>
              <a:rPr lang="en-US" dirty="0"/>
              <a:t>Principle of Past Experience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Past Experience </a:t>
            </a:r>
          </a:p>
        </p:txBody>
      </p:sp>
      <p:pic>
        <p:nvPicPr>
          <p:cNvPr id="4" name="Picture 3"/>
          <p:cNvPicPr>
            <a:picLocks noChangeAspect="1"/>
          </p:cNvPicPr>
          <p:nvPr/>
        </p:nvPicPr>
        <p:blipFill>
          <a:blip r:embed="rId2"/>
          <a:stretch>
            <a:fillRect/>
          </a:stretch>
        </p:blipFill>
        <p:spPr>
          <a:xfrm>
            <a:off x="698321" y="1524000"/>
            <a:ext cx="3662464" cy="685800"/>
          </a:xfrm>
          <a:prstGeom prst="rect">
            <a:avLst/>
          </a:prstGeom>
        </p:spPr>
      </p:pic>
      <p:pic>
        <p:nvPicPr>
          <p:cNvPr id="5" name="Picture 4"/>
          <p:cNvPicPr>
            <a:picLocks noChangeAspect="1"/>
          </p:cNvPicPr>
          <p:nvPr/>
        </p:nvPicPr>
        <p:blipFill>
          <a:blip r:embed="rId3"/>
          <a:stretch>
            <a:fillRect/>
          </a:stretch>
        </p:blipFill>
        <p:spPr>
          <a:xfrm>
            <a:off x="612648" y="2514600"/>
            <a:ext cx="4371975" cy="685800"/>
          </a:xfrm>
          <a:prstGeom prst="rect">
            <a:avLst/>
          </a:prstGeom>
        </p:spPr>
      </p:pic>
      <p:pic>
        <p:nvPicPr>
          <p:cNvPr id="6" name="Picture 5"/>
          <p:cNvPicPr>
            <a:picLocks noChangeAspect="1"/>
          </p:cNvPicPr>
          <p:nvPr/>
        </p:nvPicPr>
        <p:blipFill>
          <a:blip r:embed="rId4"/>
          <a:stretch>
            <a:fillRect/>
          </a:stretch>
        </p:blipFill>
        <p:spPr>
          <a:xfrm>
            <a:off x="612647" y="3650806"/>
            <a:ext cx="3883153" cy="636837"/>
          </a:xfrm>
          <a:prstGeom prst="rect">
            <a:avLst/>
          </a:prstGeom>
        </p:spPr>
      </p:pic>
      <p:pic>
        <p:nvPicPr>
          <p:cNvPr id="7" name="Picture 6"/>
          <p:cNvPicPr>
            <a:picLocks noChangeAspect="1"/>
          </p:cNvPicPr>
          <p:nvPr/>
        </p:nvPicPr>
        <p:blipFill>
          <a:blip r:embed="rId5"/>
          <a:stretch>
            <a:fillRect/>
          </a:stretch>
        </p:blipFill>
        <p:spPr>
          <a:xfrm>
            <a:off x="612647" y="4687703"/>
            <a:ext cx="3833813" cy="666750"/>
          </a:xfrm>
          <a:prstGeom prst="rect">
            <a:avLst/>
          </a:prstGeom>
        </p:spPr>
      </p:pic>
    </p:spTree>
    <p:extLst>
      <p:ext uri="{BB962C8B-B14F-4D97-AF65-F5344CB8AC3E}">
        <p14:creationId xmlns:p14="http://schemas.microsoft.com/office/powerpoint/2010/main" val="342793427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8534</TotalTime>
  <Words>1836</Words>
  <Application>Microsoft Office PowerPoint</Application>
  <PresentationFormat>On-screen Show (4:3)</PresentationFormat>
  <Paragraphs>266</Paragraphs>
  <Slides>88</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Arial</vt:lpstr>
      <vt:lpstr>Calibri</vt:lpstr>
      <vt:lpstr>Times New Roman</vt:lpstr>
      <vt:lpstr>Tw Cen MT</vt:lpstr>
      <vt:lpstr>Wingdings</vt:lpstr>
      <vt:lpstr>Wingdings 2</vt:lpstr>
      <vt:lpstr>Median</vt:lpstr>
      <vt:lpstr>Human Computer Interaction   </vt:lpstr>
      <vt:lpstr>Perception </vt:lpstr>
      <vt:lpstr>Perceptual process</vt:lpstr>
      <vt:lpstr>Perceptual organization</vt:lpstr>
      <vt:lpstr>Perceptual Illusions </vt:lpstr>
      <vt:lpstr>Cognitive Processing </vt:lpstr>
      <vt:lpstr>Perceptual Illusions </vt:lpstr>
      <vt:lpstr>Perceptual Illusions </vt:lpstr>
      <vt:lpstr>Perceptual Illusions </vt:lpstr>
      <vt:lpstr>Perceptual Illusions: Contextual</vt:lpstr>
      <vt:lpstr>2. Pre-Attention </vt:lpstr>
      <vt:lpstr>Pre-attentive Processing</vt:lpstr>
      <vt:lpstr>How many 3’s ?</vt:lpstr>
      <vt:lpstr>How many 3’s ?</vt:lpstr>
      <vt:lpstr>Pre-attentive Processing</vt:lpstr>
      <vt:lpstr>PowerPoint Presentation</vt:lpstr>
      <vt:lpstr>Example:  Color Selection</vt:lpstr>
      <vt:lpstr>Example: Shape Selection</vt:lpstr>
      <vt:lpstr>Example: Conjunction of Features</vt:lpstr>
      <vt:lpstr>Pre-attentive features</vt:lpstr>
      <vt:lpstr>Pre-attentive features</vt:lpstr>
      <vt:lpstr>Pre-attentive features</vt:lpstr>
      <vt:lpstr>Influences on Perception</vt:lpstr>
      <vt:lpstr>Influences on Perception</vt:lpstr>
      <vt:lpstr>PowerPoint Presentation</vt:lpstr>
      <vt:lpstr>Influences on Perception</vt:lpstr>
      <vt:lpstr>Gestalt principles (laws)</vt:lpstr>
      <vt:lpstr>Gestalt principles (laws)</vt:lpstr>
      <vt:lpstr>Gestalt principles (laws)</vt:lpstr>
      <vt:lpstr>Principle of Proximity </vt:lpstr>
      <vt:lpstr>Principle of Proximity</vt:lpstr>
      <vt:lpstr>Principle of Proximity</vt:lpstr>
      <vt:lpstr>Principle of Proximity</vt:lpstr>
      <vt:lpstr>Principle of Proximity</vt:lpstr>
      <vt:lpstr>PowerPoint Presentation</vt:lpstr>
      <vt:lpstr>PowerPoint Presentation</vt:lpstr>
      <vt:lpstr>PowerPoint Presentation</vt:lpstr>
      <vt:lpstr>Principle of Proximity </vt:lpstr>
      <vt:lpstr>Principle of Proximity </vt:lpstr>
      <vt:lpstr>Principle of Similarity </vt:lpstr>
      <vt:lpstr>Principle of Similarity </vt:lpstr>
      <vt:lpstr>PowerPoint Presentation</vt:lpstr>
      <vt:lpstr>Principle of Similarity </vt:lpstr>
      <vt:lpstr>Principle of Similarity </vt:lpstr>
      <vt:lpstr>Principle of Similarity </vt:lpstr>
      <vt:lpstr>PowerPoint Presentation</vt:lpstr>
      <vt:lpstr>Principle of Continuity </vt:lpstr>
      <vt:lpstr>Principle of Continuity </vt:lpstr>
      <vt:lpstr>Principle of Continuity </vt:lpstr>
      <vt:lpstr>Principle of Continuity </vt:lpstr>
      <vt:lpstr>Principle of Continuity </vt:lpstr>
      <vt:lpstr>Law of Continuity </vt:lpstr>
      <vt:lpstr>Principle of Closure </vt:lpstr>
      <vt:lpstr>Principle of Closure </vt:lpstr>
      <vt:lpstr>Principle of Closure </vt:lpstr>
      <vt:lpstr>Principle of Closure </vt:lpstr>
      <vt:lpstr>Principle of Closure </vt:lpstr>
      <vt:lpstr>Principle of Symmetry</vt:lpstr>
      <vt:lpstr>Principle of Symmetry</vt:lpstr>
      <vt:lpstr>Principle of Symmetry</vt:lpstr>
      <vt:lpstr>Principle of Symmetry</vt:lpstr>
      <vt:lpstr>Principle of Symmetry</vt:lpstr>
      <vt:lpstr>Principle of Symmetry</vt:lpstr>
      <vt:lpstr>Law of symmetry  </vt:lpstr>
      <vt:lpstr>Principle of Figure-Ground </vt:lpstr>
      <vt:lpstr>Principle of Figure-Ground </vt:lpstr>
      <vt:lpstr>Principle of Figure-Ground </vt:lpstr>
      <vt:lpstr>Principle of Figure-Ground </vt:lpstr>
      <vt:lpstr>Principle of Figure-Ground - reversible </vt:lpstr>
      <vt:lpstr>Principle of Figure-Ground - ambiguous</vt:lpstr>
      <vt:lpstr>Using Principle of Figure-Ground  </vt:lpstr>
      <vt:lpstr>Using Principle of Figure-Ground </vt:lpstr>
      <vt:lpstr>Principle of Common Fate </vt:lpstr>
      <vt:lpstr>Principle of Common Fate </vt:lpstr>
      <vt:lpstr>Principle of Common Fate </vt:lpstr>
      <vt:lpstr>Principle of Common Fate </vt:lpstr>
      <vt:lpstr>Principle of Connectedness </vt:lpstr>
      <vt:lpstr>Principle of Connectedness </vt:lpstr>
      <vt:lpstr>Principle of Connectedness </vt:lpstr>
      <vt:lpstr>Principle of Connectedness </vt:lpstr>
      <vt:lpstr>Principle of Simplicity (or Prägnanz) </vt:lpstr>
      <vt:lpstr>Principle of Simplicity </vt:lpstr>
      <vt:lpstr>Principle of Simplicity </vt:lpstr>
      <vt:lpstr>Principle of Simplicity </vt:lpstr>
      <vt:lpstr>Principle of Simplicity </vt:lpstr>
      <vt:lpstr>Principle of Simplicity </vt:lpstr>
      <vt:lpstr>Principle of Past Experience </vt:lpstr>
      <vt:lpstr>Principle of Past Experience </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cp:revision>552</cp:revision>
  <dcterms:created xsi:type="dcterms:W3CDTF">2010-02-07T17:56:13Z</dcterms:created>
  <dcterms:modified xsi:type="dcterms:W3CDTF">2021-01-20T10:35:18Z</dcterms:modified>
</cp:coreProperties>
</file>